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96" r:id="rId1"/>
  </p:sldMasterIdLst>
  <p:notesMasterIdLst>
    <p:notesMasterId r:id="rId34"/>
  </p:notesMasterIdLst>
  <p:sldIdLst>
    <p:sldId id="256" r:id="rId2"/>
    <p:sldId id="257" r:id="rId3"/>
    <p:sldId id="305" r:id="rId4"/>
    <p:sldId id="306" r:id="rId5"/>
    <p:sldId id="259" r:id="rId6"/>
    <p:sldId id="288" r:id="rId7"/>
    <p:sldId id="289" r:id="rId8"/>
    <p:sldId id="303" r:id="rId9"/>
    <p:sldId id="301" r:id="rId10"/>
    <p:sldId id="304" r:id="rId11"/>
    <p:sldId id="302" r:id="rId12"/>
    <p:sldId id="310" r:id="rId13"/>
    <p:sldId id="298" r:id="rId14"/>
    <p:sldId id="299" r:id="rId15"/>
    <p:sldId id="300" r:id="rId16"/>
    <p:sldId id="307" r:id="rId17"/>
    <p:sldId id="309" r:id="rId18"/>
    <p:sldId id="311" r:id="rId19"/>
    <p:sldId id="312" r:id="rId20"/>
    <p:sldId id="260" r:id="rId21"/>
    <p:sldId id="290" r:id="rId22"/>
    <p:sldId id="291" r:id="rId23"/>
    <p:sldId id="292" r:id="rId24"/>
    <p:sldId id="294" r:id="rId25"/>
    <p:sldId id="295" r:id="rId26"/>
    <p:sldId id="293" r:id="rId27"/>
    <p:sldId id="296" r:id="rId28"/>
    <p:sldId id="297" r:id="rId29"/>
    <p:sldId id="287" r:id="rId30"/>
    <p:sldId id="313" r:id="rId31"/>
    <p:sldId id="314" r:id="rId32"/>
    <p:sldId id="315" r:id="rId3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1966" autoAdjust="0"/>
  </p:normalViewPr>
  <p:slideViewPr>
    <p:cSldViewPr snapToGrid="0">
      <p:cViewPr varScale="1">
        <p:scale>
          <a:sx n="95" d="100"/>
          <a:sy n="95" d="100"/>
        </p:scale>
        <p:origin x="1158" y="30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AR"/>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0F4B06C-CC8E-4D7C-B96D-EC7A919F13C4}" type="datetimeFigureOut">
              <a:rPr lang="es-AR" smtClean="0"/>
              <a:t>12/8/2025</a:t>
            </a:fld>
            <a:endParaRPr lang="es-AR"/>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AR"/>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AR"/>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9C31C20-CFF6-4D02-9F93-8A584230D82D}" type="slidenum">
              <a:rPr lang="es-AR" smtClean="0"/>
              <a:t>‹Nº›</a:t>
            </a:fld>
            <a:endParaRPr lang="es-AR"/>
          </a:p>
        </p:txBody>
      </p:sp>
    </p:spTree>
    <p:extLst>
      <p:ext uri="{BB962C8B-B14F-4D97-AF65-F5344CB8AC3E}">
        <p14:creationId xmlns:p14="http://schemas.microsoft.com/office/powerpoint/2010/main" val="24121168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59C31C20-CFF6-4D02-9F93-8A584230D82D}" type="slidenum">
              <a:rPr lang="es-AR" smtClean="0"/>
              <a:t>1</a:t>
            </a:fld>
            <a:endParaRPr lang="es-AR"/>
          </a:p>
        </p:txBody>
      </p:sp>
    </p:spTree>
    <p:extLst>
      <p:ext uri="{BB962C8B-B14F-4D97-AF65-F5344CB8AC3E}">
        <p14:creationId xmlns:p14="http://schemas.microsoft.com/office/powerpoint/2010/main" val="31489675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59C31C20-CFF6-4D02-9F93-8A584230D82D}" type="slidenum">
              <a:rPr lang="es-AR" smtClean="0"/>
              <a:t>14</a:t>
            </a:fld>
            <a:endParaRPr lang="es-AR"/>
          </a:p>
        </p:txBody>
      </p:sp>
    </p:spTree>
    <p:extLst>
      <p:ext uri="{BB962C8B-B14F-4D97-AF65-F5344CB8AC3E}">
        <p14:creationId xmlns:p14="http://schemas.microsoft.com/office/powerpoint/2010/main" val="42124020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59C31C20-CFF6-4D02-9F93-8A584230D82D}" type="slidenum">
              <a:rPr lang="es-AR" smtClean="0"/>
              <a:t>23</a:t>
            </a:fld>
            <a:endParaRPr lang="es-AR"/>
          </a:p>
        </p:txBody>
      </p:sp>
    </p:spTree>
    <p:extLst>
      <p:ext uri="{BB962C8B-B14F-4D97-AF65-F5344CB8AC3E}">
        <p14:creationId xmlns:p14="http://schemas.microsoft.com/office/powerpoint/2010/main" val="9197828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8037F8-A7CD-9661-4711-E862C08CB8C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6039BC0-B105-1FA9-D0E9-669555F13FC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CC6FB10-8CC8-BEA5-40E7-416C50AE3600}"/>
              </a:ext>
            </a:extLst>
          </p:cNvPr>
          <p:cNvSpPr>
            <a:spLocks noGrp="1"/>
          </p:cNvSpPr>
          <p:nvPr>
            <p:ph type="body" idx="1"/>
          </p:nvPr>
        </p:nvSpPr>
        <p:spPr/>
        <p:txBody>
          <a:bodyPr/>
          <a:lstStyle/>
          <a:p>
            <a:endParaRPr lang="es-AR" dirty="0"/>
          </a:p>
        </p:txBody>
      </p:sp>
      <p:sp>
        <p:nvSpPr>
          <p:cNvPr id="4" name="Marcador de número de diapositiva 3">
            <a:extLst>
              <a:ext uri="{FF2B5EF4-FFF2-40B4-BE49-F238E27FC236}">
                <a16:creationId xmlns:a16="http://schemas.microsoft.com/office/drawing/2014/main" id="{088BFF92-1D3A-164A-E601-13524C86807D}"/>
              </a:ext>
            </a:extLst>
          </p:cNvPr>
          <p:cNvSpPr>
            <a:spLocks noGrp="1"/>
          </p:cNvSpPr>
          <p:nvPr>
            <p:ph type="sldNum" sz="quarter" idx="5"/>
          </p:nvPr>
        </p:nvSpPr>
        <p:spPr/>
        <p:txBody>
          <a:bodyPr/>
          <a:lstStyle/>
          <a:p>
            <a:fld id="{59C31C20-CFF6-4D02-9F93-8A584230D82D}" type="slidenum">
              <a:rPr lang="es-AR" smtClean="0"/>
              <a:t>24</a:t>
            </a:fld>
            <a:endParaRPr lang="es-AR"/>
          </a:p>
        </p:txBody>
      </p:sp>
    </p:spTree>
    <p:extLst>
      <p:ext uri="{BB962C8B-B14F-4D97-AF65-F5344CB8AC3E}">
        <p14:creationId xmlns:p14="http://schemas.microsoft.com/office/powerpoint/2010/main" val="29581561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56EBCF-CA6C-5C11-0304-99EE8C37C88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95FE3B2-49B0-CA03-B002-0091080CAD7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500033B-E14F-A377-4EFB-3A4650366626}"/>
              </a:ext>
            </a:extLst>
          </p:cNvPr>
          <p:cNvSpPr>
            <a:spLocks noGrp="1"/>
          </p:cNvSpPr>
          <p:nvPr>
            <p:ph type="body" idx="1"/>
          </p:nvPr>
        </p:nvSpPr>
        <p:spPr/>
        <p:txBody>
          <a:bodyPr/>
          <a:lstStyle/>
          <a:p>
            <a:endParaRPr lang="es-AR" dirty="0"/>
          </a:p>
        </p:txBody>
      </p:sp>
      <p:sp>
        <p:nvSpPr>
          <p:cNvPr id="4" name="Marcador de número de diapositiva 3">
            <a:extLst>
              <a:ext uri="{FF2B5EF4-FFF2-40B4-BE49-F238E27FC236}">
                <a16:creationId xmlns:a16="http://schemas.microsoft.com/office/drawing/2014/main" id="{1CEFC8EF-0740-520F-923C-A3FABF72F85B}"/>
              </a:ext>
            </a:extLst>
          </p:cNvPr>
          <p:cNvSpPr>
            <a:spLocks noGrp="1"/>
          </p:cNvSpPr>
          <p:nvPr>
            <p:ph type="sldNum" sz="quarter" idx="5"/>
          </p:nvPr>
        </p:nvSpPr>
        <p:spPr/>
        <p:txBody>
          <a:bodyPr/>
          <a:lstStyle/>
          <a:p>
            <a:fld id="{59C31C20-CFF6-4D02-9F93-8A584230D82D}" type="slidenum">
              <a:rPr lang="es-AR" smtClean="0"/>
              <a:t>25</a:t>
            </a:fld>
            <a:endParaRPr lang="es-AR"/>
          </a:p>
        </p:txBody>
      </p:sp>
    </p:spTree>
    <p:extLst>
      <p:ext uri="{BB962C8B-B14F-4D97-AF65-F5344CB8AC3E}">
        <p14:creationId xmlns:p14="http://schemas.microsoft.com/office/powerpoint/2010/main" val="12624333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156FB2-8FF5-5B33-CA93-15F74A513AD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59158B7-09F7-E662-D4D2-1BCB1A67DD24}"/>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15C8C68-25CD-14C0-52A7-ECDD3FD83E3B}"/>
              </a:ext>
            </a:extLst>
          </p:cNvPr>
          <p:cNvSpPr>
            <a:spLocks noGrp="1"/>
          </p:cNvSpPr>
          <p:nvPr>
            <p:ph type="body" idx="1"/>
          </p:nvPr>
        </p:nvSpPr>
        <p:spPr/>
        <p:txBody>
          <a:bodyPr/>
          <a:lstStyle/>
          <a:p>
            <a:endParaRPr lang="es-AR" dirty="0"/>
          </a:p>
        </p:txBody>
      </p:sp>
      <p:sp>
        <p:nvSpPr>
          <p:cNvPr id="4" name="Marcador de número de diapositiva 3">
            <a:extLst>
              <a:ext uri="{FF2B5EF4-FFF2-40B4-BE49-F238E27FC236}">
                <a16:creationId xmlns:a16="http://schemas.microsoft.com/office/drawing/2014/main" id="{2B431759-C9CD-834D-F97B-23E2380C287C}"/>
              </a:ext>
            </a:extLst>
          </p:cNvPr>
          <p:cNvSpPr>
            <a:spLocks noGrp="1"/>
          </p:cNvSpPr>
          <p:nvPr>
            <p:ph type="sldNum" sz="quarter" idx="5"/>
          </p:nvPr>
        </p:nvSpPr>
        <p:spPr/>
        <p:txBody>
          <a:bodyPr/>
          <a:lstStyle/>
          <a:p>
            <a:fld id="{59C31C20-CFF6-4D02-9F93-8A584230D82D}" type="slidenum">
              <a:rPr lang="es-AR" smtClean="0"/>
              <a:t>26</a:t>
            </a:fld>
            <a:endParaRPr lang="es-AR"/>
          </a:p>
        </p:txBody>
      </p:sp>
    </p:spTree>
    <p:extLst>
      <p:ext uri="{BB962C8B-B14F-4D97-AF65-F5344CB8AC3E}">
        <p14:creationId xmlns:p14="http://schemas.microsoft.com/office/powerpoint/2010/main" val="16341609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A60D08-CD44-4F42-56FA-7678A7FF1F9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79FEBD1-FD55-F514-B3DC-2B1083E683EF}"/>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F2D1D8E-C804-98F1-7A9E-38230B7891CB}"/>
              </a:ext>
            </a:extLst>
          </p:cNvPr>
          <p:cNvSpPr>
            <a:spLocks noGrp="1"/>
          </p:cNvSpPr>
          <p:nvPr>
            <p:ph type="body" idx="1"/>
          </p:nvPr>
        </p:nvSpPr>
        <p:spPr/>
        <p:txBody>
          <a:bodyPr/>
          <a:lstStyle/>
          <a:p>
            <a:endParaRPr lang="es-AR" dirty="0"/>
          </a:p>
        </p:txBody>
      </p:sp>
      <p:sp>
        <p:nvSpPr>
          <p:cNvPr id="4" name="Marcador de número de diapositiva 3">
            <a:extLst>
              <a:ext uri="{FF2B5EF4-FFF2-40B4-BE49-F238E27FC236}">
                <a16:creationId xmlns:a16="http://schemas.microsoft.com/office/drawing/2014/main" id="{0497DE92-BA5B-BBF3-9033-53AAB30A4F32}"/>
              </a:ext>
            </a:extLst>
          </p:cNvPr>
          <p:cNvSpPr>
            <a:spLocks noGrp="1"/>
          </p:cNvSpPr>
          <p:nvPr>
            <p:ph type="sldNum" sz="quarter" idx="5"/>
          </p:nvPr>
        </p:nvSpPr>
        <p:spPr/>
        <p:txBody>
          <a:bodyPr/>
          <a:lstStyle/>
          <a:p>
            <a:fld id="{59C31C20-CFF6-4D02-9F93-8A584230D82D}" type="slidenum">
              <a:rPr lang="es-AR" smtClean="0"/>
              <a:t>27</a:t>
            </a:fld>
            <a:endParaRPr lang="es-AR"/>
          </a:p>
        </p:txBody>
      </p:sp>
    </p:spTree>
    <p:extLst>
      <p:ext uri="{BB962C8B-B14F-4D97-AF65-F5344CB8AC3E}">
        <p14:creationId xmlns:p14="http://schemas.microsoft.com/office/powerpoint/2010/main" val="36565180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7D2748-D843-59A3-D103-0085046F7FE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7748688-860C-01C9-065E-874DCC3F743A}"/>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CA567C1-7404-FCDE-AF67-BC6D18F43190}"/>
              </a:ext>
            </a:extLst>
          </p:cNvPr>
          <p:cNvSpPr>
            <a:spLocks noGrp="1"/>
          </p:cNvSpPr>
          <p:nvPr>
            <p:ph type="body" idx="1"/>
          </p:nvPr>
        </p:nvSpPr>
        <p:spPr/>
        <p:txBody>
          <a:bodyPr/>
          <a:lstStyle/>
          <a:p>
            <a:endParaRPr lang="es-AR" dirty="0"/>
          </a:p>
        </p:txBody>
      </p:sp>
      <p:sp>
        <p:nvSpPr>
          <p:cNvPr id="4" name="Marcador de número de diapositiva 3">
            <a:extLst>
              <a:ext uri="{FF2B5EF4-FFF2-40B4-BE49-F238E27FC236}">
                <a16:creationId xmlns:a16="http://schemas.microsoft.com/office/drawing/2014/main" id="{1148D62A-5F80-6E3F-94DE-F7B8E85F3B61}"/>
              </a:ext>
            </a:extLst>
          </p:cNvPr>
          <p:cNvSpPr>
            <a:spLocks noGrp="1"/>
          </p:cNvSpPr>
          <p:nvPr>
            <p:ph type="sldNum" sz="quarter" idx="5"/>
          </p:nvPr>
        </p:nvSpPr>
        <p:spPr/>
        <p:txBody>
          <a:bodyPr/>
          <a:lstStyle/>
          <a:p>
            <a:fld id="{59C31C20-CFF6-4D02-9F93-8A584230D82D}" type="slidenum">
              <a:rPr lang="es-AR" smtClean="0"/>
              <a:t>28</a:t>
            </a:fld>
            <a:endParaRPr lang="es-AR"/>
          </a:p>
        </p:txBody>
      </p:sp>
    </p:spTree>
    <p:extLst>
      <p:ext uri="{BB962C8B-B14F-4D97-AF65-F5344CB8AC3E}">
        <p14:creationId xmlns:p14="http://schemas.microsoft.com/office/powerpoint/2010/main" val="780654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28CAFE-0492-075E-8C01-C05F2E144CB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698299E-ECE0-360E-5051-1315448CB39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DE6CBCE-814F-F345-F426-0E908D120E57}"/>
              </a:ext>
            </a:extLst>
          </p:cNvPr>
          <p:cNvSpPr>
            <a:spLocks noGrp="1"/>
          </p:cNvSpPr>
          <p:nvPr>
            <p:ph type="body" idx="1"/>
          </p:nvPr>
        </p:nvSpPr>
        <p:spPr/>
        <p:txBody>
          <a:bodyPr/>
          <a:lstStyle/>
          <a:p>
            <a:endParaRPr lang="es-AR" dirty="0"/>
          </a:p>
        </p:txBody>
      </p:sp>
      <p:sp>
        <p:nvSpPr>
          <p:cNvPr id="4" name="Marcador de número de diapositiva 3">
            <a:extLst>
              <a:ext uri="{FF2B5EF4-FFF2-40B4-BE49-F238E27FC236}">
                <a16:creationId xmlns:a16="http://schemas.microsoft.com/office/drawing/2014/main" id="{916374B7-383E-FEA4-B123-7F3098DBDA66}"/>
              </a:ext>
            </a:extLst>
          </p:cNvPr>
          <p:cNvSpPr>
            <a:spLocks noGrp="1"/>
          </p:cNvSpPr>
          <p:nvPr>
            <p:ph type="sldNum" sz="quarter" idx="5"/>
          </p:nvPr>
        </p:nvSpPr>
        <p:spPr/>
        <p:txBody>
          <a:bodyPr/>
          <a:lstStyle/>
          <a:p>
            <a:fld id="{59C31C20-CFF6-4D02-9F93-8A584230D82D}" type="slidenum">
              <a:rPr lang="es-AR" smtClean="0"/>
              <a:t>29</a:t>
            </a:fld>
            <a:endParaRPr lang="es-AR"/>
          </a:p>
        </p:txBody>
      </p:sp>
    </p:spTree>
    <p:extLst>
      <p:ext uri="{BB962C8B-B14F-4D97-AF65-F5344CB8AC3E}">
        <p14:creationId xmlns:p14="http://schemas.microsoft.com/office/powerpoint/2010/main" val="15063856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B1D5F6-E8A0-9F96-FDAE-D75BCAFA9CA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C65200A-F41F-F27B-A0ED-6D872ED4776D}"/>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520E703C-8D96-5E11-4830-D85184C07985}"/>
              </a:ext>
            </a:extLst>
          </p:cNvPr>
          <p:cNvSpPr>
            <a:spLocks noGrp="1"/>
          </p:cNvSpPr>
          <p:nvPr>
            <p:ph type="body" idx="1"/>
          </p:nvPr>
        </p:nvSpPr>
        <p:spPr/>
        <p:txBody>
          <a:bodyPr/>
          <a:lstStyle/>
          <a:p>
            <a:endParaRPr lang="es-AR" dirty="0"/>
          </a:p>
        </p:txBody>
      </p:sp>
      <p:sp>
        <p:nvSpPr>
          <p:cNvPr id="4" name="Marcador de número de diapositiva 3">
            <a:extLst>
              <a:ext uri="{FF2B5EF4-FFF2-40B4-BE49-F238E27FC236}">
                <a16:creationId xmlns:a16="http://schemas.microsoft.com/office/drawing/2014/main" id="{CC1663A2-E22C-4B33-8180-D2D049BD98F3}"/>
              </a:ext>
            </a:extLst>
          </p:cNvPr>
          <p:cNvSpPr>
            <a:spLocks noGrp="1"/>
          </p:cNvSpPr>
          <p:nvPr>
            <p:ph type="sldNum" sz="quarter" idx="5"/>
          </p:nvPr>
        </p:nvSpPr>
        <p:spPr/>
        <p:txBody>
          <a:bodyPr/>
          <a:lstStyle/>
          <a:p>
            <a:fld id="{59C31C20-CFF6-4D02-9F93-8A584230D82D}" type="slidenum">
              <a:rPr lang="es-AR" smtClean="0"/>
              <a:t>30</a:t>
            </a:fld>
            <a:endParaRPr lang="es-AR"/>
          </a:p>
        </p:txBody>
      </p:sp>
    </p:spTree>
    <p:extLst>
      <p:ext uri="{BB962C8B-B14F-4D97-AF65-F5344CB8AC3E}">
        <p14:creationId xmlns:p14="http://schemas.microsoft.com/office/powerpoint/2010/main" val="26713363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1FB3F9-318A-9F5E-A815-A1494D84D9B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7EF3A21-D999-41AE-39F9-7C3694E16CC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52C61AE2-709A-56C8-4189-F13599B3DF15}"/>
              </a:ext>
            </a:extLst>
          </p:cNvPr>
          <p:cNvSpPr>
            <a:spLocks noGrp="1"/>
          </p:cNvSpPr>
          <p:nvPr>
            <p:ph type="body" idx="1"/>
          </p:nvPr>
        </p:nvSpPr>
        <p:spPr/>
        <p:txBody>
          <a:bodyPr/>
          <a:lstStyle/>
          <a:p>
            <a:endParaRPr lang="es-AR" dirty="0"/>
          </a:p>
        </p:txBody>
      </p:sp>
      <p:sp>
        <p:nvSpPr>
          <p:cNvPr id="4" name="Marcador de número de diapositiva 3">
            <a:extLst>
              <a:ext uri="{FF2B5EF4-FFF2-40B4-BE49-F238E27FC236}">
                <a16:creationId xmlns:a16="http://schemas.microsoft.com/office/drawing/2014/main" id="{E9812C0E-0AEC-AE64-0ACA-B5BD1549CBF4}"/>
              </a:ext>
            </a:extLst>
          </p:cNvPr>
          <p:cNvSpPr>
            <a:spLocks noGrp="1"/>
          </p:cNvSpPr>
          <p:nvPr>
            <p:ph type="sldNum" sz="quarter" idx="5"/>
          </p:nvPr>
        </p:nvSpPr>
        <p:spPr/>
        <p:txBody>
          <a:bodyPr/>
          <a:lstStyle/>
          <a:p>
            <a:fld id="{59C31C20-CFF6-4D02-9F93-8A584230D82D}" type="slidenum">
              <a:rPr lang="es-AR" smtClean="0"/>
              <a:t>31</a:t>
            </a:fld>
            <a:endParaRPr lang="es-AR"/>
          </a:p>
        </p:txBody>
      </p:sp>
    </p:spTree>
    <p:extLst>
      <p:ext uri="{BB962C8B-B14F-4D97-AF65-F5344CB8AC3E}">
        <p14:creationId xmlns:p14="http://schemas.microsoft.com/office/powerpoint/2010/main" val="19609347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B6733A-3DA3-BB5C-EBA4-5FA31818B56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8E4FF9A-BA7F-81DF-A4C1-159E6C2ED26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7F95D10-E2F2-CE22-C7C5-79EA53214CE3}"/>
              </a:ext>
            </a:extLst>
          </p:cNvPr>
          <p:cNvSpPr>
            <a:spLocks noGrp="1"/>
          </p:cNvSpPr>
          <p:nvPr>
            <p:ph type="body" idx="1"/>
          </p:nvPr>
        </p:nvSpPr>
        <p:spPr/>
        <p:txBody>
          <a:bodyPr/>
          <a:lstStyle/>
          <a:p>
            <a:endParaRPr lang="es-AR" dirty="0"/>
          </a:p>
        </p:txBody>
      </p:sp>
      <p:sp>
        <p:nvSpPr>
          <p:cNvPr id="4" name="Marcador de número de diapositiva 3">
            <a:extLst>
              <a:ext uri="{FF2B5EF4-FFF2-40B4-BE49-F238E27FC236}">
                <a16:creationId xmlns:a16="http://schemas.microsoft.com/office/drawing/2014/main" id="{3D7DC665-3962-91D2-F557-32B8BB2B520F}"/>
              </a:ext>
            </a:extLst>
          </p:cNvPr>
          <p:cNvSpPr>
            <a:spLocks noGrp="1"/>
          </p:cNvSpPr>
          <p:nvPr>
            <p:ph type="sldNum" sz="quarter" idx="5"/>
          </p:nvPr>
        </p:nvSpPr>
        <p:spPr/>
        <p:txBody>
          <a:bodyPr/>
          <a:lstStyle/>
          <a:p>
            <a:fld id="{59C31C20-CFF6-4D02-9F93-8A584230D82D}" type="slidenum">
              <a:rPr lang="es-AR" smtClean="0"/>
              <a:t>32</a:t>
            </a:fld>
            <a:endParaRPr lang="es-AR"/>
          </a:p>
        </p:txBody>
      </p:sp>
    </p:spTree>
    <p:extLst>
      <p:ext uri="{BB962C8B-B14F-4D97-AF65-F5344CB8AC3E}">
        <p14:creationId xmlns:p14="http://schemas.microsoft.com/office/powerpoint/2010/main" val="23178328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 y="6334316"/>
            <a:ext cx="12192000"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A18B0E31-E166-4429-8D93-59E0EEE29F09}" type="datetime1">
              <a:rPr lang="es-AR" smtClean="0"/>
              <a:t>12/8/2025</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6C8ECD1B-3F01-46F8-A46F-31A31EFC5ABF}" type="slidenum">
              <a:rPr lang="es-AR" smtClean="0"/>
              <a:t>‹Nº›</a:t>
            </a:fld>
            <a:endParaRPr lang="es-AR"/>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476940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332F0DB7-33C9-42EC-8ADD-109566451DAF}" type="datetime1">
              <a:rPr lang="es-AR" smtClean="0"/>
              <a:t>12/8/2025</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6C8ECD1B-3F01-46F8-A46F-31A31EFC5ABF}" type="slidenum">
              <a:rPr lang="es-AR" smtClean="0"/>
              <a:t>‹Nº›</a:t>
            </a:fld>
            <a:endParaRPr lang="es-AR"/>
          </a:p>
        </p:txBody>
      </p:sp>
    </p:spTree>
    <p:extLst>
      <p:ext uri="{BB962C8B-B14F-4D97-AF65-F5344CB8AC3E}">
        <p14:creationId xmlns:p14="http://schemas.microsoft.com/office/powerpoint/2010/main" val="1285620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13C7C9E8-4407-43C8-A0A3-C92CF745C5E1}" type="datetime1">
              <a:rPr lang="es-AR" smtClean="0"/>
              <a:t>12/8/2025</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6C8ECD1B-3F01-46F8-A46F-31A31EFC5ABF}" type="slidenum">
              <a:rPr lang="es-AR" smtClean="0"/>
              <a:t>‹Nº›</a:t>
            </a:fld>
            <a:endParaRPr lang="es-AR"/>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98163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097280" y="1845734"/>
            <a:ext cx="4937760" cy="4023359"/>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451F62BB-1419-4B23-9372-BAECA7682902}" type="datetime1">
              <a:rPr lang="es-AR" smtClean="0"/>
              <a:t>12/8/2025</a:t>
            </a:fld>
            <a:endParaRPr lang="es-AR"/>
          </a:p>
        </p:txBody>
      </p:sp>
      <p:sp>
        <p:nvSpPr>
          <p:cNvPr id="6" name="Footer Placeholder 5"/>
          <p:cNvSpPr>
            <a:spLocks noGrp="1"/>
          </p:cNvSpPr>
          <p:nvPr>
            <p:ph type="ftr" sz="quarter" idx="11"/>
          </p:nvPr>
        </p:nvSpPr>
        <p:spPr/>
        <p:txBody>
          <a:bodyPr/>
          <a:lstStyle/>
          <a:p>
            <a:endParaRPr lang="es-AR"/>
          </a:p>
        </p:txBody>
      </p:sp>
      <p:sp>
        <p:nvSpPr>
          <p:cNvPr id="7" name="Slide Number Placeholder 6"/>
          <p:cNvSpPr>
            <a:spLocks noGrp="1"/>
          </p:cNvSpPr>
          <p:nvPr>
            <p:ph type="sldNum" sz="quarter" idx="12"/>
          </p:nvPr>
        </p:nvSpPr>
        <p:spPr/>
        <p:txBody>
          <a:bodyPr/>
          <a:lstStyle/>
          <a:p>
            <a:fld id="{6C8ECD1B-3F01-46F8-A46F-31A31EFC5ABF}" type="slidenum">
              <a:rPr lang="es-AR" smtClean="0"/>
              <a:t>‹Nº›</a:t>
            </a:fld>
            <a:endParaRPr lang="es-AR"/>
          </a:p>
        </p:txBody>
      </p:sp>
    </p:spTree>
    <p:extLst>
      <p:ext uri="{BB962C8B-B14F-4D97-AF65-F5344CB8AC3E}">
        <p14:creationId xmlns:p14="http://schemas.microsoft.com/office/powerpoint/2010/main" val="11552746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1097280" y="2582335"/>
            <a:ext cx="4937760" cy="328676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6217920" y="2582334"/>
            <a:ext cx="4937760" cy="328676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78A023DE-62F8-4ABA-9542-EFCF60082CDE}" type="datetime1">
              <a:rPr lang="es-AR" smtClean="0"/>
              <a:t>12/8/2025</a:t>
            </a:fld>
            <a:endParaRPr lang="es-AR"/>
          </a:p>
        </p:txBody>
      </p:sp>
      <p:sp>
        <p:nvSpPr>
          <p:cNvPr id="8" name="Footer Placeholder 7"/>
          <p:cNvSpPr>
            <a:spLocks noGrp="1"/>
          </p:cNvSpPr>
          <p:nvPr>
            <p:ph type="ftr" sz="quarter" idx="11"/>
          </p:nvPr>
        </p:nvSpPr>
        <p:spPr/>
        <p:txBody>
          <a:bodyPr/>
          <a:lstStyle/>
          <a:p>
            <a:endParaRPr lang="es-AR"/>
          </a:p>
        </p:txBody>
      </p:sp>
      <p:sp>
        <p:nvSpPr>
          <p:cNvPr id="9" name="Slide Number Placeholder 8"/>
          <p:cNvSpPr>
            <a:spLocks noGrp="1"/>
          </p:cNvSpPr>
          <p:nvPr>
            <p:ph type="sldNum" sz="quarter" idx="12"/>
          </p:nvPr>
        </p:nvSpPr>
        <p:spPr/>
        <p:txBody>
          <a:bodyPr/>
          <a:lstStyle/>
          <a:p>
            <a:fld id="{6C8ECD1B-3F01-46F8-A46F-31A31EFC5ABF}" type="slidenum">
              <a:rPr lang="es-AR" smtClean="0"/>
              <a:t>‹Nº›</a:t>
            </a:fld>
            <a:endParaRPr lang="es-AR"/>
          </a:p>
        </p:txBody>
      </p:sp>
    </p:spTree>
    <p:extLst>
      <p:ext uri="{BB962C8B-B14F-4D97-AF65-F5344CB8AC3E}">
        <p14:creationId xmlns:p14="http://schemas.microsoft.com/office/powerpoint/2010/main" val="16624377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0F147E75-8D9D-4E77-946F-E91CF384C506}" type="datetime1">
              <a:rPr lang="es-AR" smtClean="0"/>
              <a:t>12/8/2025</a:t>
            </a:fld>
            <a:endParaRPr lang="es-AR"/>
          </a:p>
        </p:txBody>
      </p:sp>
      <p:sp>
        <p:nvSpPr>
          <p:cNvPr id="4" name="Footer Placeholder 3"/>
          <p:cNvSpPr>
            <a:spLocks noGrp="1"/>
          </p:cNvSpPr>
          <p:nvPr>
            <p:ph type="ftr" sz="quarter" idx="11"/>
          </p:nvPr>
        </p:nvSpPr>
        <p:spPr/>
        <p:txBody>
          <a:bodyPr/>
          <a:lstStyle/>
          <a:p>
            <a:endParaRPr lang="es-AR"/>
          </a:p>
        </p:txBody>
      </p:sp>
      <p:sp>
        <p:nvSpPr>
          <p:cNvPr id="5" name="Slide Number Placeholder 4"/>
          <p:cNvSpPr>
            <a:spLocks noGrp="1"/>
          </p:cNvSpPr>
          <p:nvPr>
            <p:ph type="sldNum" sz="quarter" idx="12"/>
          </p:nvPr>
        </p:nvSpPr>
        <p:spPr/>
        <p:txBody>
          <a:bodyPr/>
          <a:lstStyle/>
          <a:p>
            <a:fld id="{6C8ECD1B-3F01-46F8-A46F-31A31EFC5ABF}" type="slidenum">
              <a:rPr lang="es-AR" smtClean="0"/>
              <a:t>‹Nº›</a:t>
            </a:fld>
            <a:endParaRPr lang="es-AR"/>
          </a:p>
        </p:txBody>
      </p:sp>
    </p:spTree>
    <p:extLst>
      <p:ext uri="{BB962C8B-B14F-4D97-AF65-F5344CB8AC3E}">
        <p14:creationId xmlns:p14="http://schemas.microsoft.com/office/powerpoint/2010/main" val="19806091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En blanco">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30DD0582-0E59-4C86-A105-E652692CA503}" type="datetime1">
              <a:rPr lang="es-AR" smtClean="0"/>
              <a:t>12/8/2025</a:t>
            </a:fld>
            <a:endParaRPr lang="es-AR"/>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s-AR"/>
          </a:p>
        </p:txBody>
      </p:sp>
      <p:sp>
        <p:nvSpPr>
          <p:cNvPr id="9" name="Slide Number Placeholder 8"/>
          <p:cNvSpPr>
            <a:spLocks noGrp="1"/>
          </p:cNvSpPr>
          <p:nvPr>
            <p:ph type="sldNum" sz="quarter" idx="12"/>
          </p:nvPr>
        </p:nvSpPr>
        <p:spPr/>
        <p:txBody>
          <a:bodyPr/>
          <a:lstStyle/>
          <a:p>
            <a:fld id="{6C8ECD1B-3F01-46F8-A46F-31A31EFC5ABF}" type="slidenum">
              <a:rPr lang="es-AR" smtClean="0"/>
              <a:t>‹Nº›</a:t>
            </a:fld>
            <a:endParaRPr lang="es-AR"/>
          </a:p>
        </p:txBody>
      </p:sp>
    </p:spTree>
    <p:extLst>
      <p:ext uri="{BB962C8B-B14F-4D97-AF65-F5344CB8AC3E}">
        <p14:creationId xmlns:p14="http://schemas.microsoft.com/office/powerpoint/2010/main" val="35548009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ido con título">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s-ES"/>
              <a:t>Haga clic para modificar el estilo de título del patrón</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97121831-2A2E-4197-A959-861469F3C2FE}" type="datetime1">
              <a:rPr lang="es-AR" smtClean="0"/>
              <a:t>12/8/2025</a:t>
            </a:fld>
            <a:endParaRPr lang="es-AR"/>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s-AR"/>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6C8ECD1B-3F01-46F8-A46F-31A31EFC5ABF}" type="slidenum">
              <a:rPr lang="es-AR" smtClean="0"/>
              <a:t>‹Nº›</a:t>
            </a:fld>
            <a:endParaRPr lang="es-AR"/>
          </a:p>
        </p:txBody>
      </p:sp>
    </p:spTree>
    <p:extLst>
      <p:ext uri="{BB962C8B-B14F-4D97-AF65-F5344CB8AC3E}">
        <p14:creationId xmlns:p14="http://schemas.microsoft.com/office/powerpoint/2010/main" val="3861838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n con título">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tIns="0" bIns="0" anchor="b">
            <a:noAutofit/>
          </a:bodyPr>
          <a:lstStyle>
            <a:lvl1pPr>
              <a:defRPr sz="3600" b="0">
                <a:solidFill>
                  <a:srgbClr val="FFFFFF"/>
                </a:solidFill>
              </a:defRPr>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D2318435-648D-4F03-BCE6-73CF2325A227}" type="datetime1">
              <a:rPr lang="es-AR" smtClean="0"/>
              <a:t>12/8/2025</a:t>
            </a:fld>
            <a:endParaRPr lang="es-AR"/>
          </a:p>
        </p:txBody>
      </p:sp>
      <p:sp>
        <p:nvSpPr>
          <p:cNvPr id="6" name="Footer Placeholder 5"/>
          <p:cNvSpPr>
            <a:spLocks noGrp="1"/>
          </p:cNvSpPr>
          <p:nvPr>
            <p:ph type="ftr" sz="quarter" idx="11"/>
          </p:nvPr>
        </p:nvSpPr>
        <p:spPr/>
        <p:txBody>
          <a:bodyPr/>
          <a:lstStyle/>
          <a:p>
            <a:endParaRPr lang="es-AR"/>
          </a:p>
        </p:txBody>
      </p:sp>
      <p:sp>
        <p:nvSpPr>
          <p:cNvPr id="7" name="Slide Number Placeholder 6"/>
          <p:cNvSpPr>
            <a:spLocks noGrp="1"/>
          </p:cNvSpPr>
          <p:nvPr>
            <p:ph type="sldNum" sz="quarter" idx="12"/>
          </p:nvPr>
        </p:nvSpPr>
        <p:spPr/>
        <p:txBody>
          <a:bodyPr/>
          <a:lstStyle/>
          <a:p>
            <a:fld id="{6C8ECD1B-3F01-46F8-A46F-31A31EFC5ABF}" type="slidenum">
              <a:rPr lang="es-AR" smtClean="0"/>
              <a:t>‹Nº›</a:t>
            </a:fld>
            <a:endParaRPr lang="es-AR"/>
          </a:p>
        </p:txBody>
      </p:sp>
    </p:spTree>
    <p:extLst>
      <p:ext uri="{BB962C8B-B14F-4D97-AF65-F5344CB8AC3E}">
        <p14:creationId xmlns:p14="http://schemas.microsoft.com/office/powerpoint/2010/main" val="6153648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7F9C3651-DCEB-4800-AC7F-34EF633FC578}" type="datetime1">
              <a:rPr lang="es-AR" smtClean="0"/>
              <a:t>12/8/2025</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6C8ECD1B-3F01-46F8-A46F-31A31EFC5ABF}" type="slidenum">
              <a:rPr lang="es-AR" smtClean="0"/>
              <a:t>‹Nº›</a:t>
            </a:fld>
            <a:endParaRPr lang="es-AR"/>
          </a:p>
        </p:txBody>
      </p:sp>
    </p:spTree>
    <p:extLst>
      <p:ext uri="{BB962C8B-B14F-4D97-AF65-F5344CB8AC3E}">
        <p14:creationId xmlns:p14="http://schemas.microsoft.com/office/powerpoint/2010/main" val="21139181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ítulo vertical y texto">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EFBF54F7-4526-4ACE-92EA-B121D77744F9}" type="datetime1">
              <a:rPr lang="es-AR" smtClean="0"/>
              <a:t>12/8/2025</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6C8ECD1B-3F01-46F8-A46F-31A31EFC5ABF}" type="slidenum">
              <a:rPr lang="es-AR" smtClean="0"/>
              <a:t>‹Nº›</a:t>
            </a:fld>
            <a:endParaRPr lang="es-AR"/>
          </a:p>
        </p:txBody>
      </p:sp>
    </p:spTree>
    <p:extLst>
      <p:ext uri="{BB962C8B-B14F-4D97-AF65-F5344CB8AC3E}">
        <p14:creationId xmlns:p14="http://schemas.microsoft.com/office/powerpoint/2010/main" val="16357896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7E5E7404-478C-4606-9AD3-7AD6EC75AF62}" type="datetime1">
              <a:rPr lang="es-AR" smtClean="0"/>
              <a:t>12/8/2025</a:t>
            </a:fld>
            <a:endParaRPr lang="es-AR"/>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s-AR"/>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6C8ECD1B-3F01-46F8-A46F-31A31EFC5ABF}" type="slidenum">
              <a:rPr lang="es-AR" smtClean="0"/>
              <a:t>‹Nº›</a:t>
            </a:fld>
            <a:endParaRPr lang="es-AR"/>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14683697"/>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www.java.com/es/download/manual.jsp" TargetMode="Externa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5.xml.rels><?xml version="1.0" encoding="UTF-8" standalone="yes"?>
<Relationships xmlns="http://schemas.openxmlformats.org/package/2006/relationships"><Relationship Id="rId3" Type="http://schemas.openxmlformats.org/officeDocument/2006/relationships/hyperlink" Target="https://www.oracle.com/latam/java/technologies/downloads/#jdk24-windows"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png"/><Relationship Id="rId4" Type="http://schemas.openxmlformats.org/officeDocument/2006/relationships/hyperlink" Target="https://docs.oracle.com/en/java/javase/24/index.html" TargetMode="Externa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27.xml.rels><?xml version="1.0" encoding="UTF-8" standalone="yes"?>
<Relationships xmlns="http://schemas.openxmlformats.org/package/2006/relationships"><Relationship Id="rId3" Type="http://schemas.openxmlformats.org/officeDocument/2006/relationships/hyperlink" Target="https://www.jetbrains.com/es-es/idea/download/?section=windows"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png"/></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2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0FB78ED-15BE-C64C-6F6A-3F9A1780B36B}"/>
              </a:ext>
            </a:extLst>
          </p:cNvPr>
          <p:cNvSpPr>
            <a:spLocks noGrp="1"/>
          </p:cNvSpPr>
          <p:nvPr>
            <p:ph type="ctrTitle"/>
          </p:nvPr>
        </p:nvSpPr>
        <p:spPr/>
        <p:txBody>
          <a:bodyPr anchor="t">
            <a:normAutofit/>
          </a:bodyPr>
          <a:lstStyle/>
          <a:p>
            <a:br>
              <a:rPr lang="es-AR" sz="5400" dirty="0"/>
            </a:br>
            <a:r>
              <a:rPr lang="es-AR" sz="4800" dirty="0"/>
              <a:t>PARADIGMA ORIENTADO A OBJETOS</a:t>
            </a:r>
            <a:br>
              <a:rPr lang="es-AR" sz="5400" dirty="0"/>
            </a:br>
            <a:br>
              <a:rPr lang="es-AR" sz="6000" dirty="0"/>
            </a:br>
            <a:r>
              <a:rPr lang="es-AR" sz="4800" dirty="0"/>
              <a:t>Clase 2</a:t>
            </a:r>
          </a:p>
        </p:txBody>
      </p:sp>
      <p:sp>
        <p:nvSpPr>
          <p:cNvPr id="3" name="Subtítulo 2">
            <a:extLst>
              <a:ext uri="{FF2B5EF4-FFF2-40B4-BE49-F238E27FC236}">
                <a16:creationId xmlns:a16="http://schemas.microsoft.com/office/drawing/2014/main" id="{4CE69D2D-49C9-764A-9382-72122873E520}"/>
              </a:ext>
            </a:extLst>
          </p:cNvPr>
          <p:cNvSpPr>
            <a:spLocks noGrp="1"/>
          </p:cNvSpPr>
          <p:nvPr>
            <p:ph type="subTitle" idx="1"/>
          </p:nvPr>
        </p:nvSpPr>
        <p:spPr>
          <a:xfrm>
            <a:off x="1100051" y="4455620"/>
            <a:ext cx="10058400" cy="1643427"/>
          </a:xfrm>
        </p:spPr>
        <p:txBody>
          <a:bodyPr/>
          <a:lstStyle/>
          <a:p>
            <a:endParaRPr lang="es-AR" dirty="0"/>
          </a:p>
          <a:p>
            <a:r>
              <a:rPr lang="es-AR" dirty="0"/>
              <a:t>Ing. Maximiliano Coedo</a:t>
            </a:r>
          </a:p>
          <a:p>
            <a:r>
              <a:rPr lang="es-AR" dirty="0"/>
              <a:t>E-mail: mcoedo@uade.edu.ar</a:t>
            </a:r>
          </a:p>
        </p:txBody>
      </p:sp>
      <p:pic>
        <p:nvPicPr>
          <p:cNvPr id="5" name="Imagen 4">
            <a:extLst>
              <a:ext uri="{FF2B5EF4-FFF2-40B4-BE49-F238E27FC236}">
                <a16:creationId xmlns:a16="http://schemas.microsoft.com/office/drawing/2014/main" id="{5D1DAC32-DB33-3B3B-60B6-FD52556E458B}"/>
              </a:ext>
            </a:extLst>
          </p:cNvPr>
          <p:cNvPicPr>
            <a:picLocks noChangeAspect="1"/>
          </p:cNvPicPr>
          <p:nvPr/>
        </p:nvPicPr>
        <p:blipFill>
          <a:blip r:embed="rId3"/>
          <a:stretch>
            <a:fillRect/>
          </a:stretch>
        </p:blipFill>
        <p:spPr>
          <a:xfrm>
            <a:off x="10184257" y="757082"/>
            <a:ext cx="971423" cy="502297"/>
          </a:xfrm>
          <a:prstGeom prst="rect">
            <a:avLst/>
          </a:prstGeom>
        </p:spPr>
      </p:pic>
    </p:spTree>
    <p:extLst>
      <p:ext uri="{BB962C8B-B14F-4D97-AF65-F5344CB8AC3E}">
        <p14:creationId xmlns:p14="http://schemas.microsoft.com/office/powerpoint/2010/main" val="27641963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1C4336F-5AC0-811A-82EF-889F5ADC2AB2}"/>
              </a:ext>
            </a:extLst>
          </p:cNvPr>
          <p:cNvSpPr>
            <a:spLocks noGrp="1"/>
          </p:cNvSpPr>
          <p:nvPr>
            <p:ph type="title"/>
          </p:nvPr>
        </p:nvSpPr>
        <p:spPr/>
        <p:txBody>
          <a:bodyPr/>
          <a:lstStyle/>
          <a:p>
            <a:r>
              <a:rPr lang="es-AR" dirty="0"/>
              <a:t>¿Qué vamos a ver hoy?</a:t>
            </a:r>
          </a:p>
        </p:txBody>
      </p:sp>
      <p:sp>
        <p:nvSpPr>
          <p:cNvPr id="3" name="Marcador de contenido 2">
            <a:extLst>
              <a:ext uri="{FF2B5EF4-FFF2-40B4-BE49-F238E27FC236}">
                <a16:creationId xmlns:a16="http://schemas.microsoft.com/office/drawing/2014/main" id="{603049D7-A436-B632-A882-0EB667660D33}"/>
              </a:ext>
            </a:extLst>
          </p:cNvPr>
          <p:cNvSpPr>
            <a:spLocks noGrp="1"/>
          </p:cNvSpPr>
          <p:nvPr>
            <p:ph idx="1"/>
          </p:nvPr>
        </p:nvSpPr>
        <p:spPr/>
        <p:txBody>
          <a:bodyPr/>
          <a:lstStyle/>
          <a:p>
            <a:endParaRPr lang="es-AR" dirty="0"/>
          </a:p>
          <a:p>
            <a:endParaRPr lang="es-AR" dirty="0"/>
          </a:p>
          <a:p>
            <a:r>
              <a:rPr lang="es-AR" b="1" dirty="0"/>
              <a:t>Introducción al lenguaje Java. </a:t>
            </a:r>
          </a:p>
          <a:p>
            <a:r>
              <a:rPr lang="es-AR" b="1" dirty="0"/>
              <a:t>Funcionamiento de la máquina virtual</a:t>
            </a:r>
          </a:p>
          <a:p>
            <a:r>
              <a:rPr lang="es-AR" b="1" dirty="0"/>
              <a:t>Primera aproximación a java</a:t>
            </a:r>
          </a:p>
          <a:p>
            <a:r>
              <a:rPr lang="es-AR" b="1" dirty="0"/>
              <a:t>Instalación ambiente</a:t>
            </a:r>
          </a:p>
          <a:p>
            <a:r>
              <a:rPr lang="es-AR" b="1" dirty="0"/>
              <a:t>Ejercicios</a:t>
            </a:r>
          </a:p>
          <a:p>
            <a:endParaRPr lang="es-AR" dirty="0"/>
          </a:p>
          <a:p>
            <a:endParaRPr lang="es-AR" dirty="0"/>
          </a:p>
          <a:p>
            <a:pPr marL="0" indent="0">
              <a:buNone/>
            </a:pPr>
            <a:endParaRPr lang="es-AR" dirty="0"/>
          </a:p>
          <a:p>
            <a:pPr marL="0" indent="0">
              <a:buNone/>
            </a:pPr>
            <a:endParaRPr lang="es-AR" dirty="0"/>
          </a:p>
        </p:txBody>
      </p:sp>
      <p:pic>
        <p:nvPicPr>
          <p:cNvPr id="4" name="Imagen 3">
            <a:extLst>
              <a:ext uri="{FF2B5EF4-FFF2-40B4-BE49-F238E27FC236}">
                <a16:creationId xmlns:a16="http://schemas.microsoft.com/office/drawing/2014/main" id="{D1654074-BFA5-0824-1101-1D544D52443D}"/>
              </a:ext>
            </a:extLst>
          </p:cNvPr>
          <p:cNvPicPr>
            <a:picLocks noChangeAspect="1"/>
          </p:cNvPicPr>
          <p:nvPr/>
        </p:nvPicPr>
        <p:blipFill>
          <a:blip r:embed="rId2"/>
          <a:stretch>
            <a:fillRect/>
          </a:stretch>
        </p:blipFill>
        <p:spPr>
          <a:xfrm>
            <a:off x="10184257" y="757082"/>
            <a:ext cx="971423" cy="502297"/>
          </a:xfrm>
          <a:prstGeom prst="rect">
            <a:avLst/>
          </a:prstGeom>
        </p:spPr>
      </p:pic>
      <p:sp>
        <p:nvSpPr>
          <p:cNvPr id="5" name="Marcador de número de diapositiva 4">
            <a:extLst>
              <a:ext uri="{FF2B5EF4-FFF2-40B4-BE49-F238E27FC236}">
                <a16:creationId xmlns:a16="http://schemas.microsoft.com/office/drawing/2014/main" id="{8D7E52AA-425A-C91D-D5B2-BAC74DD73A6B}"/>
              </a:ext>
            </a:extLst>
          </p:cNvPr>
          <p:cNvSpPr>
            <a:spLocks noGrp="1"/>
          </p:cNvSpPr>
          <p:nvPr>
            <p:ph type="sldNum" sz="quarter" idx="12"/>
          </p:nvPr>
        </p:nvSpPr>
        <p:spPr/>
        <p:txBody>
          <a:bodyPr/>
          <a:lstStyle/>
          <a:p>
            <a:fld id="{6C8ECD1B-3F01-46F8-A46F-31A31EFC5ABF}" type="slidenum">
              <a:rPr lang="es-AR" smtClean="0"/>
              <a:t>2</a:t>
            </a:fld>
            <a:endParaRPr lang="es-AR"/>
          </a:p>
        </p:txBody>
      </p:sp>
    </p:spTree>
    <p:extLst>
      <p:ext uri="{BB962C8B-B14F-4D97-AF65-F5344CB8AC3E}">
        <p14:creationId xmlns:p14="http://schemas.microsoft.com/office/powerpoint/2010/main" val="41627655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EF12DB-7C86-7456-52F0-DBC85C65122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9A2BBA8-4097-B7CA-346A-FC9125877DB6}"/>
              </a:ext>
            </a:extLst>
          </p:cNvPr>
          <p:cNvSpPr>
            <a:spLocks noGrp="1"/>
          </p:cNvSpPr>
          <p:nvPr>
            <p:ph type="title"/>
          </p:nvPr>
        </p:nvSpPr>
        <p:spPr/>
        <p:txBody>
          <a:bodyPr/>
          <a:lstStyle/>
          <a:p>
            <a:r>
              <a:rPr lang="es-AR" dirty="0"/>
              <a:t>Introducción al lenguaje Java</a:t>
            </a:r>
          </a:p>
        </p:txBody>
      </p:sp>
      <p:sp>
        <p:nvSpPr>
          <p:cNvPr id="3" name="Marcador de contenido 2">
            <a:extLst>
              <a:ext uri="{FF2B5EF4-FFF2-40B4-BE49-F238E27FC236}">
                <a16:creationId xmlns:a16="http://schemas.microsoft.com/office/drawing/2014/main" id="{9C833E58-C7C1-E1CA-8353-80DB496B2714}"/>
              </a:ext>
            </a:extLst>
          </p:cNvPr>
          <p:cNvSpPr>
            <a:spLocks noGrp="1"/>
          </p:cNvSpPr>
          <p:nvPr>
            <p:ph idx="1"/>
          </p:nvPr>
        </p:nvSpPr>
        <p:spPr/>
        <p:txBody>
          <a:bodyPr>
            <a:normAutofit fontScale="92500" lnSpcReduction="10000"/>
          </a:bodyPr>
          <a:lstStyle/>
          <a:p>
            <a:pPr algn="ctr"/>
            <a:r>
              <a:rPr lang="es-ES" sz="2800" b="1" dirty="0"/>
              <a:t>JAVA</a:t>
            </a:r>
          </a:p>
          <a:p>
            <a:pPr algn="just"/>
            <a:r>
              <a:rPr lang="es-ES" dirty="0"/>
              <a:t>Java es un lenguaje de programación de propósito general, orientado a objetos, que se ejecuta en una variedad de plataformas. Es conocido por su portabilidad, lo que significa que el código escrito en Java puede ejecutarse en diferentes sistemas operativos sin necesidad de ser modificado. Java es ampliamente utilizado para desarrollar aplicaciones web, software empresarial, aplicaciones móviles (como Android) y muchas otras. </a:t>
            </a:r>
          </a:p>
          <a:p>
            <a:pPr algn="ctr"/>
            <a:r>
              <a:rPr lang="es-ES" b="1" dirty="0"/>
              <a:t>¿Cómo funciona Java?</a:t>
            </a:r>
          </a:p>
          <a:p>
            <a:pPr algn="just"/>
            <a:r>
              <a:rPr lang="es-ES" dirty="0"/>
              <a:t>El código Java se compila en un formato llamado "</a:t>
            </a:r>
            <a:r>
              <a:rPr lang="es-ES" b="1" dirty="0" err="1"/>
              <a:t>bytecode</a:t>
            </a:r>
            <a:r>
              <a:rPr lang="es-ES" dirty="0"/>
              <a:t>", que es independiente del hardware y del sistema operativo. La JVM interpreta este </a:t>
            </a:r>
            <a:r>
              <a:rPr lang="es-ES" dirty="0" err="1"/>
              <a:t>bytecode</a:t>
            </a:r>
            <a:r>
              <a:rPr lang="es-ES" dirty="0"/>
              <a:t> y lo ejecuta en la plataforma específica donde se encuentra. Esta característica es la que permite </a:t>
            </a:r>
            <a:r>
              <a:rPr lang="es-ES" b="1" dirty="0"/>
              <a:t>la portabilidad de Java</a:t>
            </a:r>
            <a:r>
              <a:rPr lang="es-ES" dirty="0"/>
              <a:t>. Java Virtual Machine actúa como una capa de abstracción adicional entre la plataforma de Java y el hardware de la máquina subyacente. El código fuente de Java solo puede ejecutarse en aquellas máquinas en las que se haya instalado JVM. </a:t>
            </a:r>
          </a:p>
          <a:p>
            <a:endParaRPr lang="es-AR" dirty="0"/>
          </a:p>
        </p:txBody>
      </p:sp>
      <p:pic>
        <p:nvPicPr>
          <p:cNvPr id="4" name="Imagen 3">
            <a:extLst>
              <a:ext uri="{FF2B5EF4-FFF2-40B4-BE49-F238E27FC236}">
                <a16:creationId xmlns:a16="http://schemas.microsoft.com/office/drawing/2014/main" id="{C7DFE1DA-5EBF-16CD-7B2D-55D530F865A3}"/>
              </a:ext>
            </a:extLst>
          </p:cNvPr>
          <p:cNvPicPr>
            <a:picLocks noChangeAspect="1"/>
          </p:cNvPicPr>
          <p:nvPr/>
        </p:nvPicPr>
        <p:blipFill>
          <a:blip r:embed="rId2"/>
          <a:stretch>
            <a:fillRect/>
          </a:stretch>
        </p:blipFill>
        <p:spPr>
          <a:xfrm>
            <a:off x="10184257" y="757082"/>
            <a:ext cx="971423" cy="502297"/>
          </a:xfrm>
          <a:prstGeom prst="rect">
            <a:avLst/>
          </a:prstGeom>
        </p:spPr>
      </p:pic>
      <p:sp>
        <p:nvSpPr>
          <p:cNvPr id="5" name="Marcador de número de diapositiva 4">
            <a:extLst>
              <a:ext uri="{FF2B5EF4-FFF2-40B4-BE49-F238E27FC236}">
                <a16:creationId xmlns:a16="http://schemas.microsoft.com/office/drawing/2014/main" id="{3F905AD7-A2D4-E08B-8780-F4ECD2BD8C6B}"/>
              </a:ext>
            </a:extLst>
          </p:cNvPr>
          <p:cNvSpPr>
            <a:spLocks noGrp="1"/>
          </p:cNvSpPr>
          <p:nvPr>
            <p:ph type="sldNum" sz="quarter" idx="12"/>
          </p:nvPr>
        </p:nvSpPr>
        <p:spPr/>
        <p:txBody>
          <a:bodyPr/>
          <a:lstStyle/>
          <a:p>
            <a:fld id="{6C8ECD1B-3F01-46F8-A46F-31A31EFC5ABF}" type="slidenum">
              <a:rPr lang="es-AR" smtClean="0"/>
              <a:t>3</a:t>
            </a:fld>
            <a:endParaRPr lang="es-AR"/>
          </a:p>
        </p:txBody>
      </p:sp>
    </p:spTree>
    <p:extLst>
      <p:ext uri="{BB962C8B-B14F-4D97-AF65-F5344CB8AC3E}">
        <p14:creationId xmlns:p14="http://schemas.microsoft.com/office/powerpoint/2010/main" val="4570041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A1C195-2FDA-ABD3-2F06-6A73102439E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4FECB7F-1449-130A-9FAD-B87B72AA5438}"/>
              </a:ext>
            </a:extLst>
          </p:cNvPr>
          <p:cNvSpPr>
            <a:spLocks noGrp="1"/>
          </p:cNvSpPr>
          <p:nvPr>
            <p:ph type="title"/>
          </p:nvPr>
        </p:nvSpPr>
        <p:spPr/>
        <p:txBody>
          <a:bodyPr/>
          <a:lstStyle/>
          <a:p>
            <a:r>
              <a:rPr lang="es-AR" dirty="0"/>
              <a:t>Introducción al lenguaje Java</a:t>
            </a:r>
          </a:p>
        </p:txBody>
      </p:sp>
      <p:pic>
        <p:nvPicPr>
          <p:cNvPr id="4" name="Imagen 3">
            <a:extLst>
              <a:ext uri="{FF2B5EF4-FFF2-40B4-BE49-F238E27FC236}">
                <a16:creationId xmlns:a16="http://schemas.microsoft.com/office/drawing/2014/main" id="{2A2EFB78-9345-BB99-D7DE-B90BA3F26896}"/>
              </a:ext>
            </a:extLst>
          </p:cNvPr>
          <p:cNvPicPr>
            <a:picLocks noChangeAspect="1"/>
          </p:cNvPicPr>
          <p:nvPr/>
        </p:nvPicPr>
        <p:blipFill>
          <a:blip r:embed="rId2"/>
          <a:stretch>
            <a:fillRect/>
          </a:stretch>
        </p:blipFill>
        <p:spPr>
          <a:xfrm>
            <a:off x="10184257" y="757082"/>
            <a:ext cx="971423" cy="502297"/>
          </a:xfrm>
          <a:prstGeom prst="rect">
            <a:avLst/>
          </a:prstGeom>
        </p:spPr>
      </p:pic>
      <p:sp>
        <p:nvSpPr>
          <p:cNvPr id="5" name="Marcador de número de diapositiva 4">
            <a:extLst>
              <a:ext uri="{FF2B5EF4-FFF2-40B4-BE49-F238E27FC236}">
                <a16:creationId xmlns:a16="http://schemas.microsoft.com/office/drawing/2014/main" id="{6BAA365A-8D37-D042-7DDE-F69C9C5387BC}"/>
              </a:ext>
            </a:extLst>
          </p:cNvPr>
          <p:cNvSpPr>
            <a:spLocks noGrp="1"/>
          </p:cNvSpPr>
          <p:nvPr>
            <p:ph type="sldNum" sz="quarter" idx="12"/>
          </p:nvPr>
        </p:nvSpPr>
        <p:spPr/>
        <p:txBody>
          <a:bodyPr/>
          <a:lstStyle/>
          <a:p>
            <a:fld id="{6C8ECD1B-3F01-46F8-A46F-31A31EFC5ABF}" type="slidenum">
              <a:rPr lang="es-AR" smtClean="0"/>
              <a:t>4</a:t>
            </a:fld>
            <a:endParaRPr lang="es-AR"/>
          </a:p>
        </p:txBody>
      </p:sp>
      <p:pic>
        <p:nvPicPr>
          <p:cNvPr id="1026" name="Picture 2" descr="La máquina virtual Java (JVM o Java Virtual Machine). Compilador e  intérprete. Bytecode. (CU00611B)">
            <a:extLst>
              <a:ext uri="{FF2B5EF4-FFF2-40B4-BE49-F238E27FC236}">
                <a16:creationId xmlns:a16="http://schemas.microsoft.com/office/drawing/2014/main" id="{2758258A-1FF8-05E0-6068-6821C569D71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97100" y="1737165"/>
            <a:ext cx="7480299" cy="4543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296748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B976BD-D5DC-9CA7-1A7D-F925A11761D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4AE32E1-FD50-3A53-28B5-0B521EEA9C47}"/>
              </a:ext>
            </a:extLst>
          </p:cNvPr>
          <p:cNvSpPr>
            <a:spLocks noGrp="1"/>
          </p:cNvSpPr>
          <p:nvPr>
            <p:ph type="title"/>
          </p:nvPr>
        </p:nvSpPr>
        <p:spPr/>
        <p:txBody>
          <a:bodyPr/>
          <a:lstStyle/>
          <a:p>
            <a:pPr algn="ctr"/>
            <a:r>
              <a:rPr lang="es-ES" b="1" dirty="0"/>
              <a:t>JDK, JVM y JRE</a:t>
            </a:r>
          </a:p>
        </p:txBody>
      </p:sp>
      <p:sp>
        <p:nvSpPr>
          <p:cNvPr id="3" name="Marcador de contenido 2">
            <a:extLst>
              <a:ext uri="{FF2B5EF4-FFF2-40B4-BE49-F238E27FC236}">
                <a16:creationId xmlns:a16="http://schemas.microsoft.com/office/drawing/2014/main" id="{5BF3878C-14BB-61A0-2291-E93C1EC99242}"/>
              </a:ext>
            </a:extLst>
          </p:cNvPr>
          <p:cNvSpPr>
            <a:spLocks noGrp="1"/>
          </p:cNvSpPr>
          <p:nvPr>
            <p:ph idx="1"/>
          </p:nvPr>
        </p:nvSpPr>
        <p:spPr>
          <a:xfrm>
            <a:off x="1097280" y="1845734"/>
            <a:ext cx="10058400" cy="4351866"/>
          </a:xfrm>
        </p:spPr>
        <p:txBody>
          <a:bodyPr>
            <a:normAutofit fontScale="85000" lnSpcReduction="20000"/>
          </a:bodyPr>
          <a:lstStyle/>
          <a:p>
            <a:pPr algn="ctr"/>
            <a:r>
              <a:rPr lang="es-ES" sz="2800" b="1" dirty="0"/>
              <a:t>JDK, JVM y JRE</a:t>
            </a:r>
          </a:p>
          <a:p>
            <a:pPr algn="just"/>
            <a:r>
              <a:rPr lang="es-ES" dirty="0"/>
              <a:t>Para instalar JAVA se necesita instalar el “kit de desarrollo”. El entorno de desarrollo se denomina JDK (</a:t>
            </a:r>
            <a:r>
              <a:rPr lang="es-ES" b="1" dirty="0"/>
              <a:t>Java </a:t>
            </a:r>
            <a:r>
              <a:rPr lang="es-ES" b="1" dirty="0" err="1"/>
              <a:t>Development</a:t>
            </a:r>
            <a:r>
              <a:rPr lang="es-ES" b="1" dirty="0"/>
              <a:t> Kit</a:t>
            </a:r>
            <a:r>
              <a:rPr lang="es-ES" dirty="0"/>
              <a:t>)</a:t>
            </a:r>
            <a:r>
              <a:rPr lang="es-ES" b="1" dirty="0"/>
              <a:t> </a:t>
            </a:r>
            <a:r>
              <a:rPr lang="es-ES" dirty="0"/>
              <a:t>que involucra tanto la JVM (</a:t>
            </a:r>
            <a:r>
              <a:rPr lang="es-ES" b="1" dirty="0"/>
              <a:t>Java Virtual Machine</a:t>
            </a:r>
            <a:r>
              <a:rPr lang="es-ES" dirty="0"/>
              <a:t>) como también el JRE (</a:t>
            </a:r>
            <a:r>
              <a:rPr lang="es-ES" b="1" dirty="0"/>
              <a:t>Java </a:t>
            </a:r>
            <a:r>
              <a:rPr lang="es-ES" b="1" dirty="0" err="1"/>
              <a:t>Runtime</a:t>
            </a:r>
            <a:r>
              <a:rPr lang="es-ES" b="1" dirty="0"/>
              <a:t> </a:t>
            </a:r>
            <a:r>
              <a:rPr lang="es-ES" b="1" dirty="0" err="1"/>
              <a:t>Enviroment</a:t>
            </a:r>
            <a:r>
              <a:rPr lang="es-ES" dirty="0"/>
              <a:t>).</a:t>
            </a:r>
          </a:p>
          <a:p>
            <a:pPr algn="just"/>
            <a:r>
              <a:rPr lang="es-ES" dirty="0"/>
              <a:t>• JDK: Tiene muchas herramientas de desarrollo, como ser el compilador, el motor para hacer documentación, etc.</a:t>
            </a:r>
          </a:p>
          <a:p>
            <a:pPr algn="just"/>
            <a:r>
              <a:rPr lang="es-ES" dirty="0"/>
              <a:t>• JRE:   Sirve para ejecutar código Java, para correr programas Java.</a:t>
            </a:r>
          </a:p>
          <a:p>
            <a:pPr algn="just"/>
            <a:r>
              <a:rPr lang="es-ES" dirty="0"/>
              <a:t>• JVM:  Una máquina virtual corre entre el lenguaje y el SO. Cuando se escribe código Java no se compila a código de máquina. En C cuando se compila se hace en lenguaje de máquina; por ejemplo: Si tengo Linux, debo compilar en C para Linux (lo mismo sucedería en caso de Windows o Mac).</a:t>
            </a:r>
          </a:p>
          <a:p>
            <a:pPr algn="just"/>
            <a:r>
              <a:rPr lang="es-ES" dirty="0"/>
              <a:t>Con una máquina virtual, como es en el caso de Java (o </a:t>
            </a:r>
            <a:r>
              <a:rPr lang="es-ES" dirty="0" err="1"/>
              <a:t>.Net</a:t>
            </a:r>
            <a:r>
              <a:rPr lang="es-ES" dirty="0"/>
              <a:t> para el caso), cuando se compila, se hace para el lenguaje de la máquina virtual y no para lenguaje de máquina. Lo que se instala para diferentes plataformas es la máquina virtual. Cuando se instala Java, se está instala el JRE (y la JVM). El JRE sí se instala para Linux, Windows, Mac…. La máquina virtual es lo que cambia en cada plataforma. En cambio, el código, se compila una vez en cualquier plataforma y luego puede correr en cualquier máquina virtual de cualquier otra (</a:t>
            </a:r>
            <a:r>
              <a:rPr lang="es-ES" dirty="0" err="1"/>
              <a:t>Ej</a:t>
            </a:r>
            <a:r>
              <a:rPr lang="es-ES" dirty="0"/>
              <a:t>: escribo y compilo con un JDK en Windows, pero puedo corro el programa en un JRE para Linux)</a:t>
            </a:r>
            <a:endParaRPr lang="es-AR" dirty="0"/>
          </a:p>
        </p:txBody>
      </p:sp>
      <p:pic>
        <p:nvPicPr>
          <p:cNvPr id="4" name="Imagen 3">
            <a:extLst>
              <a:ext uri="{FF2B5EF4-FFF2-40B4-BE49-F238E27FC236}">
                <a16:creationId xmlns:a16="http://schemas.microsoft.com/office/drawing/2014/main" id="{B666B58E-5198-3F08-F0C6-C82233A11CA1}"/>
              </a:ext>
            </a:extLst>
          </p:cNvPr>
          <p:cNvPicPr>
            <a:picLocks noChangeAspect="1"/>
          </p:cNvPicPr>
          <p:nvPr/>
        </p:nvPicPr>
        <p:blipFill>
          <a:blip r:embed="rId2"/>
          <a:stretch>
            <a:fillRect/>
          </a:stretch>
        </p:blipFill>
        <p:spPr>
          <a:xfrm>
            <a:off x="10184257" y="757082"/>
            <a:ext cx="971423" cy="502297"/>
          </a:xfrm>
          <a:prstGeom prst="rect">
            <a:avLst/>
          </a:prstGeom>
        </p:spPr>
      </p:pic>
      <p:sp>
        <p:nvSpPr>
          <p:cNvPr id="5" name="Marcador de número de diapositiva 4">
            <a:extLst>
              <a:ext uri="{FF2B5EF4-FFF2-40B4-BE49-F238E27FC236}">
                <a16:creationId xmlns:a16="http://schemas.microsoft.com/office/drawing/2014/main" id="{5351795E-4163-33A0-957B-AA7C39EE6823}"/>
              </a:ext>
            </a:extLst>
          </p:cNvPr>
          <p:cNvSpPr>
            <a:spLocks noGrp="1"/>
          </p:cNvSpPr>
          <p:nvPr>
            <p:ph type="sldNum" sz="quarter" idx="12"/>
          </p:nvPr>
        </p:nvSpPr>
        <p:spPr/>
        <p:txBody>
          <a:bodyPr/>
          <a:lstStyle/>
          <a:p>
            <a:fld id="{6C8ECD1B-3F01-46F8-A46F-31A31EFC5ABF}" type="slidenum">
              <a:rPr lang="es-AR" smtClean="0"/>
              <a:t>5</a:t>
            </a:fld>
            <a:endParaRPr lang="es-AR"/>
          </a:p>
        </p:txBody>
      </p:sp>
    </p:spTree>
    <p:extLst>
      <p:ext uri="{BB962C8B-B14F-4D97-AF65-F5344CB8AC3E}">
        <p14:creationId xmlns:p14="http://schemas.microsoft.com/office/powerpoint/2010/main" val="16314736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14DD5A-CF63-F42D-DFC5-CACEEE2F124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827E1DE-B7DC-9D9E-38E8-71704C7D254C}"/>
              </a:ext>
            </a:extLst>
          </p:cNvPr>
          <p:cNvSpPr>
            <a:spLocks noGrp="1"/>
          </p:cNvSpPr>
          <p:nvPr>
            <p:ph type="title"/>
          </p:nvPr>
        </p:nvSpPr>
        <p:spPr/>
        <p:txBody>
          <a:bodyPr/>
          <a:lstStyle/>
          <a:p>
            <a:pPr algn="ctr"/>
            <a:r>
              <a:rPr lang="es-ES" dirty="0"/>
              <a:t>JDK, JVM y JRE</a:t>
            </a:r>
            <a:endParaRPr lang="es-AR" dirty="0"/>
          </a:p>
        </p:txBody>
      </p:sp>
      <p:sp>
        <p:nvSpPr>
          <p:cNvPr id="3" name="Marcador de contenido 2">
            <a:extLst>
              <a:ext uri="{FF2B5EF4-FFF2-40B4-BE49-F238E27FC236}">
                <a16:creationId xmlns:a16="http://schemas.microsoft.com/office/drawing/2014/main" id="{3352A00C-1766-1B10-E455-FF841CE1D67B}"/>
              </a:ext>
            </a:extLst>
          </p:cNvPr>
          <p:cNvSpPr>
            <a:spLocks noGrp="1"/>
          </p:cNvSpPr>
          <p:nvPr>
            <p:ph idx="1"/>
          </p:nvPr>
        </p:nvSpPr>
        <p:spPr/>
        <p:txBody>
          <a:bodyPr/>
          <a:lstStyle/>
          <a:p>
            <a:endParaRPr lang="es-AR" dirty="0"/>
          </a:p>
          <a:p>
            <a:pPr marL="0" indent="0">
              <a:buNone/>
            </a:pPr>
            <a:endParaRPr lang="es-AR" dirty="0"/>
          </a:p>
          <a:p>
            <a:pPr marL="0" indent="0">
              <a:buNone/>
            </a:pPr>
            <a:endParaRPr lang="es-AR" dirty="0"/>
          </a:p>
        </p:txBody>
      </p:sp>
      <p:pic>
        <p:nvPicPr>
          <p:cNvPr id="4" name="Imagen 3">
            <a:extLst>
              <a:ext uri="{FF2B5EF4-FFF2-40B4-BE49-F238E27FC236}">
                <a16:creationId xmlns:a16="http://schemas.microsoft.com/office/drawing/2014/main" id="{9C672460-1151-3C3A-0823-8A6E56C3424A}"/>
              </a:ext>
            </a:extLst>
          </p:cNvPr>
          <p:cNvPicPr>
            <a:picLocks noChangeAspect="1"/>
          </p:cNvPicPr>
          <p:nvPr/>
        </p:nvPicPr>
        <p:blipFill>
          <a:blip r:embed="rId2"/>
          <a:stretch>
            <a:fillRect/>
          </a:stretch>
        </p:blipFill>
        <p:spPr>
          <a:xfrm>
            <a:off x="10184257" y="757082"/>
            <a:ext cx="971423" cy="502297"/>
          </a:xfrm>
          <a:prstGeom prst="rect">
            <a:avLst/>
          </a:prstGeom>
        </p:spPr>
      </p:pic>
      <p:sp>
        <p:nvSpPr>
          <p:cNvPr id="5" name="Marcador de número de diapositiva 4">
            <a:extLst>
              <a:ext uri="{FF2B5EF4-FFF2-40B4-BE49-F238E27FC236}">
                <a16:creationId xmlns:a16="http://schemas.microsoft.com/office/drawing/2014/main" id="{8EF55BF7-930E-081B-FF9D-352176ADDCF2}"/>
              </a:ext>
            </a:extLst>
          </p:cNvPr>
          <p:cNvSpPr>
            <a:spLocks noGrp="1"/>
          </p:cNvSpPr>
          <p:nvPr>
            <p:ph type="sldNum" sz="quarter" idx="12"/>
          </p:nvPr>
        </p:nvSpPr>
        <p:spPr/>
        <p:txBody>
          <a:bodyPr/>
          <a:lstStyle/>
          <a:p>
            <a:fld id="{6C8ECD1B-3F01-46F8-A46F-31A31EFC5ABF}" type="slidenum">
              <a:rPr lang="es-AR" smtClean="0"/>
              <a:t>6</a:t>
            </a:fld>
            <a:endParaRPr lang="es-AR"/>
          </a:p>
        </p:txBody>
      </p:sp>
      <p:pic>
        <p:nvPicPr>
          <p:cNvPr id="7" name="Imagen 6">
            <a:extLst>
              <a:ext uri="{FF2B5EF4-FFF2-40B4-BE49-F238E27FC236}">
                <a16:creationId xmlns:a16="http://schemas.microsoft.com/office/drawing/2014/main" id="{68CFC659-DEF5-0744-BF78-DC8C9C8690E7}"/>
              </a:ext>
            </a:extLst>
          </p:cNvPr>
          <p:cNvPicPr>
            <a:picLocks noChangeAspect="1"/>
          </p:cNvPicPr>
          <p:nvPr/>
        </p:nvPicPr>
        <p:blipFill>
          <a:blip r:embed="rId3"/>
          <a:stretch>
            <a:fillRect/>
          </a:stretch>
        </p:blipFill>
        <p:spPr>
          <a:xfrm>
            <a:off x="1505997" y="1917856"/>
            <a:ext cx="9240965" cy="4183062"/>
          </a:xfrm>
          <a:prstGeom prst="rect">
            <a:avLst/>
          </a:prstGeom>
        </p:spPr>
      </p:pic>
    </p:spTree>
    <p:extLst>
      <p:ext uri="{BB962C8B-B14F-4D97-AF65-F5344CB8AC3E}">
        <p14:creationId xmlns:p14="http://schemas.microsoft.com/office/powerpoint/2010/main" val="18850174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4D291C-FC3A-E533-D818-974C9BB4F90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1FDA96A-0E9B-F49E-5057-78A6DEEC1D50}"/>
              </a:ext>
            </a:extLst>
          </p:cNvPr>
          <p:cNvSpPr>
            <a:spLocks noGrp="1"/>
          </p:cNvSpPr>
          <p:nvPr>
            <p:ph type="title"/>
          </p:nvPr>
        </p:nvSpPr>
        <p:spPr/>
        <p:txBody>
          <a:bodyPr/>
          <a:lstStyle/>
          <a:p>
            <a:pPr algn="ctr"/>
            <a:r>
              <a:rPr lang="es-ES" dirty="0"/>
              <a:t>JDK, JVM y JRE</a:t>
            </a:r>
            <a:endParaRPr lang="es-AR" dirty="0"/>
          </a:p>
        </p:txBody>
      </p:sp>
      <p:sp>
        <p:nvSpPr>
          <p:cNvPr id="3" name="Marcador de contenido 2">
            <a:extLst>
              <a:ext uri="{FF2B5EF4-FFF2-40B4-BE49-F238E27FC236}">
                <a16:creationId xmlns:a16="http://schemas.microsoft.com/office/drawing/2014/main" id="{3F15984F-8C78-CA73-203C-98DE174B95CD}"/>
              </a:ext>
            </a:extLst>
          </p:cNvPr>
          <p:cNvSpPr>
            <a:spLocks noGrp="1"/>
          </p:cNvSpPr>
          <p:nvPr>
            <p:ph idx="1"/>
          </p:nvPr>
        </p:nvSpPr>
        <p:spPr/>
        <p:txBody>
          <a:bodyPr/>
          <a:lstStyle/>
          <a:p>
            <a:pPr algn="ctr"/>
            <a:r>
              <a:rPr lang="es-ES" b="1" dirty="0"/>
              <a:t>Procedimiento | Primera parte</a:t>
            </a:r>
          </a:p>
          <a:p>
            <a:pPr algn="just"/>
            <a:r>
              <a:rPr lang="es-ES" dirty="0"/>
              <a:t>• Lo primero que se hace es escribir el Archivo de código fuente. El código fuente consiste en instrucciones en lenguaje natural, en inglés.</a:t>
            </a:r>
          </a:p>
          <a:p>
            <a:pPr algn="just"/>
            <a:r>
              <a:rPr lang="es-ES" dirty="0"/>
              <a:t>• El código fuente se debe compilar. El compilador es una de las herramientas que tiene el JDK, con el cual se logra un código en </a:t>
            </a:r>
            <a:r>
              <a:rPr lang="es-ES" dirty="0" err="1"/>
              <a:t>Bytecode</a:t>
            </a:r>
            <a:r>
              <a:rPr lang="es-ES" dirty="0"/>
              <a:t>. El producto del compilador no es lo que la JVM ejecuta en forma directa. Tampoco es código de máquina.</a:t>
            </a:r>
          </a:p>
          <a:p>
            <a:pPr algn="just"/>
            <a:r>
              <a:rPr lang="es-ES" dirty="0"/>
              <a:t>• El archivo compilado que está en </a:t>
            </a:r>
            <a:r>
              <a:rPr lang="es-ES" dirty="0" err="1"/>
              <a:t>Bytecode</a:t>
            </a:r>
            <a:r>
              <a:rPr lang="es-ES" dirty="0"/>
              <a:t> es un archivo binario. La JVM no interpreta </a:t>
            </a:r>
            <a:r>
              <a:rPr lang="es-ES" dirty="0" err="1"/>
              <a:t>Bytecode</a:t>
            </a:r>
            <a:r>
              <a:rPr lang="es-ES" dirty="0"/>
              <a:t> directamente. Hay lenguajes que son interpretados (por ejemplo: PHP, Pearl) y otros que son compilados (por ejemplo: C). Java no es un lenguaje interpretado ni compilado.</a:t>
            </a:r>
            <a:endParaRPr lang="es-AR" dirty="0"/>
          </a:p>
          <a:p>
            <a:pPr marL="0" indent="0">
              <a:buNone/>
            </a:pPr>
            <a:endParaRPr lang="es-AR" dirty="0"/>
          </a:p>
          <a:p>
            <a:pPr marL="0" indent="0">
              <a:buNone/>
            </a:pPr>
            <a:endParaRPr lang="es-AR" dirty="0"/>
          </a:p>
        </p:txBody>
      </p:sp>
      <p:pic>
        <p:nvPicPr>
          <p:cNvPr id="4" name="Imagen 3">
            <a:extLst>
              <a:ext uri="{FF2B5EF4-FFF2-40B4-BE49-F238E27FC236}">
                <a16:creationId xmlns:a16="http://schemas.microsoft.com/office/drawing/2014/main" id="{BE54E2CF-529F-C77E-1E22-A667A876B445}"/>
              </a:ext>
            </a:extLst>
          </p:cNvPr>
          <p:cNvPicPr>
            <a:picLocks noChangeAspect="1"/>
          </p:cNvPicPr>
          <p:nvPr/>
        </p:nvPicPr>
        <p:blipFill>
          <a:blip r:embed="rId2"/>
          <a:stretch>
            <a:fillRect/>
          </a:stretch>
        </p:blipFill>
        <p:spPr>
          <a:xfrm>
            <a:off x="10184257" y="757082"/>
            <a:ext cx="971423" cy="502297"/>
          </a:xfrm>
          <a:prstGeom prst="rect">
            <a:avLst/>
          </a:prstGeom>
        </p:spPr>
      </p:pic>
      <p:sp>
        <p:nvSpPr>
          <p:cNvPr id="5" name="Marcador de número de diapositiva 4">
            <a:extLst>
              <a:ext uri="{FF2B5EF4-FFF2-40B4-BE49-F238E27FC236}">
                <a16:creationId xmlns:a16="http://schemas.microsoft.com/office/drawing/2014/main" id="{1A5882BC-AAD6-0182-910F-6F2165711FCC}"/>
              </a:ext>
            </a:extLst>
          </p:cNvPr>
          <p:cNvSpPr>
            <a:spLocks noGrp="1"/>
          </p:cNvSpPr>
          <p:nvPr>
            <p:ph type="sldNum" sz="quarter" idx="12"/>
          </p:nvPr>
        </p:nvSpPr>
        <p:spPr/>
        <p:txBody>
          <a:bodyPr/>
          <a:lstStyle/>
          <a:p>
            <a:fld id="{6C8ECD1B-3F01-46F8-A46F-31A31EFC5ABF}" type="slidenum">
              <a:rPr lang="es-AR" smtClean="0"/>
              <a:t>7</a:t>
            </a:fld>
            <a:endParaRPr lang="es-AR"/>
          </a:p>
        </p:txBody>
      </p:sp>
    </p:spTree>
    <p:extLst>
      <p:ext uri="{BB962C8B-B14F-4D97-AF65-F5344CB8AC3E}">
        <p14:creationId xmlns:p14="http://schemas.microsoft.com/office/powerpoint/2010/main" val="19697741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F086D3-4903-DBB8-ED5D-CBFE8ED2826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DD99897-6988-C613-1D87-15C2ABC5D597}"/>
              </a:ext>
            </a:extLst>
          </p:cNvPr>
          <p:cNvSpPr>
            <a:spLocks noGrp="1"/>
          </p:cNvSpPr>
          <p:nvPr>
            <p:ph type="title"/>
          </p:nvPr>
        </p:nvSpPr>
        <p:spPr/>
        <p:txBody>
          <a:bodyPr/>
          <a:lstStyle/>
          <a:p>
            <a:pPr algn="ctr"/>
            <a:r>
              <a:rPr lang="es-ES" dirty="0"/>
              <a:t>JDK, JVM y JRE</a:t>
            </a:r>
            <a:endParaRPr lang="es-AR" dirty="0"/>
          </a:p>
        </p:txBody>
      </p:sp>
      <p:sp>
        <p:nvSpPr>
          <p:cNvPr id="3" name="Marcador de contenido 2">
            <a:extLst>
              <a:ext uri="{FF2B5EF4-FFF2-40B4-BE49-F238E27FC236}">
                <a16:creationId xmlns:a16="http://schemas.microsoft.com/office/drawing/2014/main" id="{B5A08884-6A06-DF76-34A6-06F45B41C38D}"/>
              </a:ext>
            </a:extLst>
          </p:cNvPr>
          <p:cNvSpPr>
            <a:spLocks noGrp="1"/>
          </p:cNvSpPr>
          <p:nvPr>
            <p:ph idx="1"/>
          </p:nvPr>
        </p:nvSpPr>
        <p:spPr/>
        <p:txBody>
          <a:bodyPr/>
          <a:lstStyle/>
          <a:p>
            <a:endParaRPr lang="es-AR" dirty="0"/>
          </a:p>
          <a:p>
            <a:pPr marL="0" indent="0">
              <a:buNone/>
            </a:pPr>
            <a:endParaRPr lang="es-AR" dirty="0"/>
          </a:p>
          <a:p>
            <a:pPr marL="0" indent="0">
              <a:buNone/>
            </a:pPr>
            <a:endParaRPr lang="es-AR" dirty="0"/>
          </a:p>
        </p:txBody>
      </p:sp>
      <p:pic>
        <p:nvPicPr>
          <p:cNvPr id="4" name="Imagen 3">
            <a:extLst>
              <a:ext uri="{FF2B5EF4-FFF2-40B4-BE49-F238E27FC236}">
                <a16:creationId xmlns:a16="http://schemas.microsoft.com/office/drawing/2014/main" id="{EB9FED58-54F7-43C7-BCB5-283745E38A2E}"/>
              </a:ext>
            </a:extLst>
          </p:cNvPr>
          <p:cNvPicPr>
            <a:picLocks noChangeAspect="1"/>
          </p:cNvPicPr>
          <p:nvPr/>
        </p:nvPicPr>
        <p:blipFill>
          <a:blip r:embed="rId2"/>
          <a:stretch>
            <a:fillRect/>
          </a:stretch>
        </p:blipFill>
        <p:spPr>
          <a:xfrm>
            <a:off x="10184257" y="757082"/>
            <a:ext cx="971423" cy="502297"/>
          </a:xfrm>
          <a:prstGeom prst="rect">
            <a:avLst/>
          </a:prstGeom>
        </p:spPr>
      </p:pic>
      <p:sp>
        <p:nvSpPr>
          <p:cNvPr id="5" name="Marcador de número de diapositiva 4">
            <a:extLst>
              <a:ext uri="{FF2B5EF4-FFF2-40B4-BE49-F238E27FC236}">
                <a16:creationId xmlns:a16="http://schemas.microsoft.com/office/drawing/2014/main" id="{C91C9BEE-596E-EDA6-49DD-43E4A4AA59DC}"/>
              </a:ext>
            </a:extLst>
          </p:cNvPr>
          <p:cNvSpPr>
            <a:spLocks noGrp="1"/>
          </p:cNvSpPr>
          <p:nvPr>
            <p:ph type="sldNum" sz="quarter" idx="12"/>
          </p:nvPr>
        </p:nvSpPr>
        <p:spPr/>
        <p:txBody>
          <a:bodyPr/>
          <a:lstStyle/>
          <a:p>
            <a:fld id="{6C8ECD1B-3F01-46F8-A46F-31A31EFC5ABF}" type="slidenum">
              <a:rPr lang="es-AR" smtClean="0"/>
              <a:t>8</a:t>
            </a:fld>
            <a:endParaRPr lang="es-AR"/>
          </a:p>
        </p:txBody>
      </p:sp>
      <p:pic>
        <p:nvPicPr>
          <p:cNvPr id="8" name="Imagen 7">
            <a:extLst>
              <a:ext uri="{FF2B5EF4-FFF2-40B4-BE49-F238E27FC236}">
                <a16:creationId xmlns:a16="http://schemas.microsoft.com/office/drawing/2014/main" id="{7E078E95-B4FC-2B29-146C-3C09AD859456}"/>
              </a:ext>
            </a:extLst>
          </p:cNvPr>
          <p:cNvPicPr>
            <a:picLocks noChangeAspect="1"/>
          </p:cNvPicPr>
          <p:nvPr/>
        </p:nvPicPr>
        <p:blipFill>
          <a:blip r:embed="rId3"/>
          <a:stretch>
            <a:fillRect/>
          </a:stretch>
        </p:blipFill>
        <p:spPr>
          <a:xfrm>
            <a:off x="1595437" y="1955472"/>
            <a:ext cx="9001125" cy="4145446"/>
          </a:xfrm>
          <a:prstGeom prst="rect">
            <a:avLst/>
          </a:prstGeom>
        </p:spPr>
      </p:pic>
    </p:spTree>
    <p:extLst>
      <p:ext uri="{BB962C8B-B14F-4D97-AF65-F5344CB8AC3E}">
        <p14:creationId xmlns:p14="http://schemas.microsoft.com/office/powerpoint/2010/main" val="1214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5DDF4D-CFC8-B31A-DB37-9DDBE9DFF3B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1B44A31-3DD2-4BD1-114B-7C4E0EF4E084}"/>
              </a:ext>
            </a:extLst>
          </p:cNvPr>
          <p:cNvSpPr>
            <a:spLocks noGrp="1"/>
          </p:cNvSpPr>
          <p:nvPr>
            <p:ph type="title"/>
          </p:nvPr>
        </p:nvSpPr>
        <p:spPr/>
        <p:txBody>
          <a:bodyPr/>
          <a:lstStyle/>
          <a:p>
            <a:pPr algn="ctr"/>
            <a:r>
              <a:rPr lang="es-ES" dirty="0"/>
              <a:t>JDK, JVM y JRE</a:t>
            </a:r>
            <a:endParaRPr lang="es-AR" dirty="0"/>
          </a:p>
        </p:txBody>
      </p:sp>
      <p:sp>
        <p:nvSpPr>
          <p:cNvPr id="3" name="Marcador de contenido 2">
            <a:extLst>
              <a:ext uri="{FF2B5EF4-FFF2-40B4-BE49-F238E27FC236}">
                <a16:creationId xmlns:a16="http://schemas.microsoft.com/office/drawing/2014/main" id="{11BEF233-99C1-8D48-72A3-52B7D3AEBDAD}"/>
              </a:ext>
            </a:extLst>
          </p:cNvPr>
          <p:cNvSpPr>
            <a:spLocks noGrp="1"/>
          </p:cNvSpPr>
          <p:nvPr>
            <p:ph idx="1"/>
          </p:nvPr>
        </p:nvSpPr>
        <p:spPr>
          <a:xfrm>
            <a:off x="1097280" y="1845734"/>
            <a:ext cx="10058400" cy="4136070"/>
          </a:xfrm>
        </p:spPr>
        <p:txBody>
          <a:bodyPr>
            <a:normAutofit fontScale="92500" lnSpcReduction="10000"/>
          </a:bodyPr>
          <a:lstStyle/>
          <a:p>
            <a:pPr algn="ctr"/>
            <a:r>
              <a:rPr lang="es-ES" b="1" dirty="0"/>
              <a:t>Procedimiento | Segunda parte</a:t>
            </a:r>
          </a:p>
          <a:p>
            <a:pPr algn="just"/>
            <a:r>
              <a:rPr lang="es-ES" dirty="0"/>
              <a:t>• Cuando el programa se ejecuta, el JRE (Java </a:t>
            </a:r>
            <a:r>
              <a:rPr lang="es-ES" dirty="0" err="1"/>
              <a:t>Runtime</a:t>
            </a:r>
            <a:r>
              <a:rPr lang="es-ES" dirty="0"/>
              <a:t> </a:t>
            </a:r>
            <a:r>
              <a:rPr lang="es-ES" dirty="0" err="1"/>
              <a:t>Enviroment</a:t>
            </a:r>
            <a:r>
              <a:rPr lang="es-ES" dirty="0"/>
              <a:t>) toma los archivos en </a:t>
            </a:r>
            <a:r>
              <a:rPr lang="es-ES" dirty="0" err="1"/>
              <a:t>Bytecode</a:t>
            </a:r>
            <a:r>
              <a:rPr lang="es-ES" dirty="0"/>
              <a:t> y lo pasa por el JIT (Just In Time </a:t>
            </a:r>
            <a:r>
              <a:rPr lang="es-ES" dirty="0" err="1"/>
              <a:t>compiler</a:t>
            </a:r>
            <a:r>
              <a:rPr lang="es-ES" dirty="0"/>
              <a:t>), para entonces procesarlo y enviarlo al lenguaje que entiende la JVM (Java Virtual Machine).</a:t>
            </a:r>
          </a:p>
          <a:p>
            <a:pPr algn="just"/>
            <a:r>
              <a:rPr lang="es-ES" dirty="0"/>
              <a:t>• Una vez procesado se utiliza el módulo </a:t>
            </a:r>
            <a:r>
              <a:rPr lang="es-ES" dirty="0" err="1"/>
              <a:t>ClassLoader</a:t>
            </a:r>
            <a:r>
              <a:rPr lang="es-ES" dirty="0"/>
              <a:t>, el cual carga en memoria todo lo necesario para poder ejecutar el programa. El </a:t>
            </a:r>
            <a:r>
              <a:rPr lang="es-ES" dirty="0" err="1"/>
              <a:t>ClassLoader</a:t>
            </a:r>
            <a:r>
              <a:rPr lang="es-ES" dirty="0"/>
              <a:t> carga en memoria clases, objetos, etc. mediante el módulo de </a:t>
            </a:r>
            <a:r>
              <a:rPr lang="es-ES" dirty="0" err="1"/>
              <a:t>Memory</a:t>
            </a:r>
            <a:r>
              <a:rPr lang="es-ES" dirty="0"/>
              <a:t> Manager, este módulo se comunica tanto con la memoria física de la máquina, como con la plataforma si es que necesita paginar, etc.</a:t>
            </a:r>
          </a:p>
          <a:p>
            <a:pPr algn="just"/>
            <a:r>
              <a:rPr lang="es-ES" dirty="0"/>
              <a:t>• El </a:t>
            </a:r>
            <a:r>
              <a:rPr lang="es-ES" dirty="0" err="1"/>
              <a:t>Garbage</a:t>
            </a:r>
            <a:r>
              <a:rPr lang="es-ES" dirty="0"/>
              <a:t> </a:t>
            </a:r>
            <a:r>
              <a:rPr lang="es-ES" dirty="0" err="1"/>
              <a:t>Collector</a:t>
            </a:r>
            <a:r>
              <a:rPr lang="es-ES" dirty="0"/>
              <a:t>, a diferencia de C, administra la memoria, es decir, cuando una variable o referencia ya no se usa más, lo elimina automáticamente de la memoria. Entonces al haber una liberación automática de la memoria no hay que hacer una reserva previa (en Java no necesitamos </a:t>
            </a:r>
            <a:r>
              <a:rPr lang="es-ES" dirty="0" err="1"/>
              <a:t>malloc</a:t>
            </a:r>
            <a:r>
              <a:rPr lang="es-ES" dirty="0"/>
              <a:t> ni tampoco necesitamos liberar la memoria una vez utilizada)</a:t>
            </a:r>
          </a:p>
          <a:p>
            <a:pPr algn="just"/>
            <a:r>
              <a:rPr lang="es-ES" dirty="0"/>
              <a:t>• Por último, está el </a:t>
            </a:r>
            <a:r>
              <a:rPr lang="es-ES" dirty="0" err="1"/>
              <a:t>Exception</a:t>
            </a:r>
            <a:r>
              <a:rPr lang="es-ES" dirty="0"/>
              <a:t> </a:t>
            </a:r>
            <a:r>
              <a:rPr lang="es-ES" dirty="0" err="1"/>
              <a:t>Handler</a:t>
            </a:r>
            <a:r>
              <a:rPr lang="es-ES" dirty="0"/>
              <a:t>, es un módulo que lo que hace es manejar los posibles errores que puedan llegar a lanzarse durante la ejecución del programa.</a:t>
            </a:r>
            <a:endParaRPr lang="es-AR" dirty="0"/>
          </a:p>
        </p:txBody>
      </p:sp>
      <p:pic>
        <p:nvPicPr>
          <p:cNvPr id="4" name="Imagen 3">
            <a:extLst>
              <a:ext uri="{FF2B5EF4-FFF2-40B4-BE49-F238E27FC236}">
                <a16:creationId xmlns:a16="http://schemas.microsoft.com/office/drawing/2014/main" id="{5AFE8EAE-D13C-E9B4-0B7D-21D6DB8E6164}"/>
              </a:ext>
            </a:extLst>
          </p:cNvPr>
          <p:cNvPicPr>
            <a:picLocks noChangeAspect="1"/>
          </p:cNvPicPr>
          <p:nvPr/>
        </p:nvPicPr>
        <p:blipFill>
          <a:blip r:embed="rId2"/>
          <a:stretch>
            <a:fillRect/>
          </a:stretch>
        </p:blipFill>
        <p:spPr>
          <a:xfrm>
            <a:off x="10184257" y="757082"/>
            <a:ext cx="971423" cy="502297"/>
          </a:xfrm>
          <a:prstGeom prst="rect">
            <a:avLst/>
          </a:prstGeom>
        </p:spPr>
      </p:pic>
      <p:sp>
        <p:nvSpPr>
          <p:cNvPr id="5" name="Marcador de número de diapositiva 4">
            <a:extLst>
              <a:ext uri="{FF2B5EF4-FFF2-40B4-BE49-F238E27FC236}">
                <a16:creationId xmlns:a16="http://schemas.microsoft.com/office/drawing/2014/main" id="{E37AC43E-EEE8-19B1-BFA0-E3743CB3ADD0}"/>
              </a:ext>
            </a:extLst>
          </p:cNvPr>
          <p:cNvSpPr>
            <a:spLocks noGrp="1"/>
          </p:cNvSpPr>
          <p:nvPr>
            <p:ph type="sldNum" sz="quarter" idx="12"/>
          </p:nvPr>
        </p:nvSpPr>
        <p:spPr/>
        <p:txBody>
          <a:bodyPr/>
          <a:lstStyle/>
          <a:p>
            <a:fld id="{6C8ECD1B-3F01-46F8-A46F-31A31EFC5ABF}" type="slidenum">
              <a:rPr lang="es-AR" smtClean="0"/>
              <a:t>9</a:t>
            </a:fld>
            <a:endParaRPr lang="es-AR"/>
          </a:p>
        </p:txBody>
      </p:sp>
    </p:spTree>
    <p:extLst>
      <p:ext uri="{BB962C8B-B14F-4D97-AF65-F5344CB8AC3E}">
        <p14:creationId xmlns:p14="http://schemas.microsoft.com/office/powerpoint/2010/main" val="19102196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D75D0E-165D-D255-803C-B1B3C60ACB1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BF4EF72-2DB5-67EC-D038-BCAF80F7D179}"/>
              </a:ext>
            </a:extLst>
          </p:cNvPr>
          <p:cNvSpPr>
            <a:spLocks noGrp="1"/>
          </p:cNvSpPr>
          <p:nvPr>
            <p:ph type="title"/>
          </p:nvPr>
        </p:nvSpPr>
        <p:spPr/>
        <p:txBody>
          <a:bodyPr/>
          <a:lstStyle/>
          <a:p>
            <a:pPr algn="ctr"/>
            <a:r>
              <a:rPr lang="es-ES" dirty="0"/>
              <a:t>JDK, JVM y JRE</a:t>
            </a:r>
            <a:endParaRPr lang="es-AR" dirty="0"/>
          </a:p>
        </p:txBody>
      </p:sp>
      <p:sp>
        <p:nvSpPr>
          <p:cNvPr id="3" name="Marcador de contenido 2">
            <a:extLst>
              <a:ext uri="{FF2B5EF4-FFF2-40B4-BE49-F238E27FC236}">
                <a16:creationId xmlns:a16="http://schemas.microsoft.com/office/drawing/2014/main" id="{D56DD2AD-DA88-26BB-E993-401D5E739536}"/>
              </a:ext>
            </a:extLst>
          </p:cNvPr>
          <p:cNvSpPr>
            <a:spLocks noGrp="1"/>
          </p:cNvSpPr>
          <p:nvPr>
            <p:ph idx="1"/>
          </p:nvPr>
        </p:nvSpPr>
        <p:spPr/>
        <p:txBody>
          <a:bodyPr/>
          <a:lstStyle/>
          <a:p>
            <a:endParaRPr lang="es-AR" dirty="0"/>
          </a:p>
          <a:p>
            <a:pPr marL="0" indent="0">
              <a:buNone/>
            </a:pPr>
            <a:endParaRPr lang="es-AR" dirty="0"/>
          </a:p>
          <a:p>
            <a:pPr marL="0" indent="0">
              <a:buNone/>
            </a:pPr>
            <a:endParaRPr lang="es-AR" dirty="0"/>
          </a:p>
        </p:txBody>
      </p:sp>
      <p:pic>
        <p:nvPicPr>
          <p:cNvPr id="4" name="Imagen 3">
            <a:extLst>
              <a:ext uri="{FF2B5EF4-FFF2-40B4-BE49-F238E27FC236}">
                <a16:creationId xmlns:a16="http://schemas.microsoft.com/office/drawing/2014/main" id="{B9629546-BADC-A3C4-E66B-83E5E052F0F1}"/>
              </a:ext>
            </a:extLst>
          </p:cNvPr>
          <p:cNvPicPr>
            <a:picLocks noChangeAspect="1"/>
          </p:cNvPicPr>
          <p:nvPr/>
        </p:nvPicPr>
        <p:blipFill>
          <a:blip r:embed="rId2"/>
          <a:stretch>
            <a:fillRect/>
          </a:stretch>
        </p:blipFill>
        <p:spPr>
          <a:xfrm>
            <a:off x="10184257" y="757082"/>
            <a:ext cx="971423" cy="502297"/>
          </a:xfrm>
          <a:prstGeom prst="rect">
            <a:avLst/>
          </a:prstGeom>
        </p:spPr>
      </p:pic>
      <p:sp>
        <p:nvSpPr>
          <p:cNvPr id="5" name="Marcador de número de diapositiva 4">
            <a:extLst>
              <a:ext uri="{FF2B5EF4-FFF2-40B4-BE49-F238E27FC236}">
                <a16:creationId xmlns:a16="http://schemas.microsoft.com/office/drawing/2014/main" id="{3487AA82-3DD1-18D9-B44A-A1A27D02A6F4}"/>
              </a:ext>
            </a:extLst>
          </p:cNvPr>
          <p:cNvSpPr>
            <a:spLocks noGrp="1"/>
          </p:cNvSpPr>
          <p:nvPr>
            <p:ph type="sldNum" sz="quarter" idx="12"/>
          </p:nvPr>
        </p:nvSpPr>
        <p:spPr/>
        <p:txBody>
          <a:bodyPr/>
          <a:lstStyle/>
          <a:p>
            <a:fld id="{6C8ECD1B-3F01-46F8-A46F-31A31EFC5ABF}" type="slidenum">
              <a:rPr lang="es-AR" smtClean="0"/>
              <a:t>10</a:t>
            </a:fld>
            <a:endParaRPr lang="es-AR"/>
          </a:p>
        </p:txBody>
      </p:sp>
      <p:pic>
        <p:nvPicPr>
          <p:cNvPr id="8" name="Imagen 7">
            <a:extLst>
              <a:ext uri="{FF2B5EF4-FFF2-40B4-BE49-F238E27FC236}">
                <a16:creationId xmlns:a16="http://schemas.microsoft.com/office/drawing/2014/main" id="{53244BF6-6F14-7857-BF68-03D47096F39A}"/>
              </a:ext>
            </a:extLst>
          </p:cNvPr>
          <p:cNvPicPr>
            <a:picLocks noChangeAspect="1"/>
          </p:cNvPicPr>
          <p:nvPr/>
        </p:nvPicPr>
        <p:blipFill>
          <a:blip r:embed="rId3"/>
          <a:stretch>
            <a:fillRect/>
          </a:stretch>
        </p:blipFill>
        <p:spPr>
          <a:xfrm>
            <a:off x="1607344" y="1998034"/>
            <a:ext cx="8977312" cy="4102884"/>
          </a:xfrm>
          <a:prstGeom prst="rect">
            <a:avLst/>
          </a:prstGeom>
        </p:spPr>
      </p:pic>
    </p:spTree>
    <p:extLst>
      <p:ext uri="{BB962C8B-B14F-4D97-AF65-F5344CB8AC3E}">
        <p14:creationId xmlns:p14="http://schemas.microsoft.com/office/powerpoint/2010/main" val="25037213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CA2A40-B775-1D92-2EED-2DE01B253C9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3C963A7-3B3C-A5EA-B9E0-A43B7A5314A9}"/>
              </a:ext>
            </a:extLst>
          </p:cNvPr>
          <p:cNvSpPr>
            <a:spLocks noGrp="1"/>
          </p:cNvSpPr>
          <p:nvPr>
            <p:ph type="title"/>
          </p:nvPr>
        </p:nvSpPr>
        <p:spPr/>
        <p:txBody>
          <a:bodyPr/>
          <a:lstStyle/>
          <a:p>
            <a:pPr algn="ctr"/>
            <a:r>
              <a:rPr lang="es-ES" dirty="0"/>
              <a:t>JDK, JVM y JRE</a:t>
            </a:r>
            <a:endParaRPr lang="es-AR" dirty="0"/>
          </a:p>
        </p:txBody>
      </p:sp>
      <p:sp>
        <p:nvSpPr>
          <p:cNvPr id="3" name="Marcador de contenido 2">
            <a:extLst>
              <a:ext uri="{FF2B5EF4-FFF2-40B4-BE49-F238E27FC236}">
                <a16:creationId xmlns:a16="http://schemas.microsoft.com/office/drawing/2014/main" id="{C7B1D547-3982-FE63-B32B-4971C8E36C19}"/>
              </a:ext>
            </a:extLst>
          </p:cNvPr>
          <p:cNvSpPr>
            <a:spLocks noGrp="1"/>
          </p:cNvSpPr>
          <p:nvPr>
            <p:ph idx="1"/>
          </p:nvPr>
        </p:nvSpPr>
        <p:spPr>
          <a:xfrm>
            <a:off x="1097280" y="1845734"/>
            <a:ext cx="10058400" cy="4136070"/>
          </a:xfrm>
        </p:spPr>
        <p:txBody>
          <a:bodyPr>
            <a:normAutofit fontScale="92500" lnSpcReduction="10000"/>
          </a:bodyPr>
          <a:lstStyle/>
          <a:p>
            <a:pPr algn="ctr"/>
            <a:r>
              <a:rPr lang="es-ES" b="1" dirty="0"/>
              <a:t>Procedimiento | Tercera parte</a:t>
            </a:r>
          </a:p>
          <a:p>
            <a:pPr algn="just"/>
            <a:r>
              <a:rPr lang="es-ES" dirty="0"/>
              <a:t>• El </a:t>
            </a:r>
            <a:r>
              <a:rPr lang="es-ES" dirty="0" err="1"/>
              <a:t>ClassLoader</a:t>
            </a:r>
            <a:r>
              <a:rPr lang="es-ES" dirty="0"/>
              <a:t> hace uso del </a:t>
            </a:r>
            <a:r>
              <a:rPr lang="es-ES" dirty="0" err="1"/>
              <a:t>Memory</a:t>
            </a:r>
            <a:r>
              <a:rPr lang="es-ES" dirty="0"/>
              <a:t> Manager para acceder a la memoria RAM de la computadora. JAVA es un lenguaje que utiliza una Virtual Machine. Es ésta la que usa la memoria física, pero nuestro programa no usa memoria física, sino que usa un área de memoria que la VM administra.</a:t>
            </a:r>
          </a:p>
          <a:p>
            <a:pPr algn="just"/>
            <a:r>
              <a:rPr lang="es-ES" dirty="0"/>
              <a:t>• La JVM reserva una cantidad física de memoria para poder funcionar. Esa memoria está dividida en 3 partes fundamentales: 1. HEAP, como la palabra lo dice, es el “montón” de objetos y demás datos que están ejecutándose en un momento determinado; 2. el área de STACK que maneja la pila de llamadas, es decir, cuando una función llama a otra y le pasa argumentos (y llama a otra que le pasa otros argumentos y así sucesivamente…), no sólo se va</a:t>
            </a:r>
          </a:p>
          <a:p>
            <a:pPr algn="just"/>
            <a:r>
              <a:rPr lang="es-ES" dirty="0"/>
              <a:t>almacenando qué función llama a qué otra función sino también los argumentos que se van pasando entre funciones y los valores retornados por cada una. Y, por último, 3. el área de CLASS que es responsables de manejar los valores de variables que son “de Clase” o también llamados “estáticos”.</a:t>
            </a:r>
          </a:p>
          <a:p>
            <a:pPr algn="just"/>
            <a:r>
              <a:rPr lang="es-ES" dirty="0"/>
              <a:t>• El JRE junto con la JVM interactúan con el disco rígido (u otros recursos) o con el SO, con la plataforma. El programa nunca interactuará los recursos directamente, siempre mediante VM.</a:t>
            </a:r>
            <a:endParaRPr lang="es-AR" dirty="0"/>
          </a:p>
        </p:txBody>
      </p:sp>
      <p:pic>
        <p:nvPicPr>
          <p:cNvPr id="4" name="Imagen 3">
            <a:extLst>
              <a:ext uri="{FF2B5EF4-FFF2-40B4-BE49-F238E27FC236}">
                <a16:creationId xmlns:a16="http://schemas.microsoft.com/office/drawing/2014/main" id="{67FF4384-330A-690B-3671-B6A89D9CE699}"/>
              </a:ext>
            </a:extLst>
          </p:cNvPr>
          <p:cNvPicPr>
            <a:picLocks noChangeAspect="1"/>
          </p:cNvPicPr>
          <p:nvPr/>
        </p:nvPicPr>
        <p:blipFill>
          <a:blip r:embed="rId2"/>
          <a:stretch>
            <a:fillRect/>
          </a:stretch>
        </p:blipFill>
        <p:spPr>
          <a:xfrm>
            <a:off x="10184257" y="757082"/>
            <a:ext cx="971423" cy="502297"/>
          </a:xfrm>
          <a:prstGeom prst="rect">
            <a:avLst/>
          </a:prstGeom>
        </p:spPr>
      </p:pic>
      <p:sp>
        <p:nvSpPr>
          <p:cNvPr id="5" name="Marcador de número de diapositiva 4">
            <a:extLst>
              <a:ext uri="{FF2B5EF4-FFF2-40B4-BE49-F238E27FC236}">
                <a16:creationId xmlns:a16="http://schemas.microsoft.com/office/drawing/2014/main" id="{538143D8-7A3A-8C22-EF04-C4378183825B}"/>
              </a:ext>
            </a:extLst>
          </p:cNvPr>
          <p:cNvSpPr>
            <a:spLocks noGrp="1"/>
          </p:cNvSpPr>
          <p:nvPr>
            <p:ph type="sldNum" sz="quarter" idx="12"/>
          </p:nvPr>
        </p:nvSpPr>
        <p:spPr/>
        <p:txBody>
          <a:bodyPr/>
          <a:lstStyle/>
          <a:p>
            <a:fld id="{6C8ECD1B-3F01-46F8-A46F-31A31EFC5ABF}" type="slidenum">
              <a:rPr lang="es-AR" smtClean="0"/>
              <a:t>11</a:t>
            </a:fld>
            <a:endParaRPr lang="es-AR"/>
          </a:p>
        </p:txBody>
      </p:sp>
    </p:spTree>
    <p:extLst>
      <p:ext uri="{BB962C8B-B14F-4D97-AF65-F5344CB8AC3E}">
        <p14:creationId xmlns:p14="http://schemas.microsoft.com/office/powerpoint/2010/main" val="19391594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C44CB3-31DF-8828-3DB6-3261D74F75F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D69DB36-1DF6-9BE2-DDDB-1C93E9754A59}"/>
              </a:ext>
            </a:extLst>
          </p:cNvPr>
          <p:cNvSpPr>
            <a:spLocks noGrp="1"/>
          </p:cNvSpPr>
          <p:nvPr>
            <p:ph type="title"/>
          </p:nvPr>
        </p:nvSpPr>
        <p:spPr/>
        <p:txBody>
          <a:bodyPr/>
          <a:lstStyle/>
          <a:p>
            <a:r>
              <a:rPr lang="es-AR" dirty="0"/>
              <a:t>Ejecución en  Java</a:t>
            </a:r>
          </a:p>
        </p:txBody>
      </p:sp>
      <p:pic>
        <p:nvPicPr>
          <p:cNvPr id="4" name="Imagen 3">
            <a:extLst>
              <a:ext uri="{FF2B5EF4-FFF2-40B4-BE49-F238E27FC236}">
                <a16:creationId xmlns:a16="http://schemas.microsoft.com/office/drawing/2014/main" id="{15D66757-0BC1-7325-4628-AEF677F5806A}"/>
              </a:ext>
            </a:extLst>
          </p:cNvPr>
          <p:cNvPicPr>
            <a:picLocks noChangeAspect="1"/>
          </p:cNvPicPr>
          <p:nvPr/>
        </p:nvPicPr>
        <p:blipFill>
          <a:blip r:embed="rId2"/>
          <a:stretch>
            <a:fillRect/>
          </a:stretch>
        </p:blipFill>
        <p:spPr>
          <a:xfrm>
            <a:off x="10184257" y="757082"/>
            <a:ext cx="971423" cy="502297"/>
          </a:xfrm>
          <a:prstGeom prst="rect">
            <a:avLst/>
          </a:prstGeom>
        </p:spPr>
      </p:pic>
      <p:sp>
        <p:nvSpPr>
          <p:cNvPr id="5" name="Marcador de número de diapositiva 4">
            <a:extLst>
              <a:ext uri="{FF2B5EF4-FFF2-40B4-BE49-F238E27FC236}">
                <a16:creationId xmlns:a16="http://schemas.microsoft.com/office/drawing/2014/main" id="{C73BCA65-E754-132A-DD72-9B132E0B1E65}"/>
              </a:ext>
            </a:extLst>
          </p:cNvPr>
          <p:cNvSpPr>
            <a:spLocks noGrp="1"/>
          </p:cNvSpPr>
          <p:nvPr>
            <p:ph type="sldNum" sz="quarter" idx="12"/>
          </p:nvPr>
        </p:nvSpPr>
        <p:spPr/>
        <p:txBody>
          <a:bodyPr/>
          <a:lstStyle/>
          <a:p>
            <a:fld id="{6C8ECD1B-3F01-46F8-A46F-31A31EFC5ABF}" type="slidenum">
              <a:rPr lang="es-AR" smtClean="0"/>
              <a:t>12</a:t>
            </a:fld>
            <a:endParaRPr lang="es-AR"/>
          </a:p>
        </p:txBody>
      </p:sp>
      <p:pic>
        <p:nvPicPr>
          <p:cNvPr id="1026" name="Picture 2" descr="La máquina virtual Java (JVM o Java Virtual Machine). Compilador e  intérprete. Bytecode. (CU00611B)">
            <a:extLst>
              <a:ext uri="{FF2B5EF4-FFF2-40B4-BE49-F238E27FC236}">
                <a16:creationId xmlns:a16="http://schemas.microsoft.com/office/drawing/2014/main" id="{CAC1F831-680F-70DB-19AB-75D4043073D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97100" y="1737165"/>
            <a:ext cx="7480299" cy="4543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399211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83A1E8-8078-CAEB-A5BE-47C36F89A75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C93089F-139F-EF18-4E67-81284250F04B}"/>
              </a:ext>
            </a:extLst>
          </p:cNvPr>
          <p:cNvSpPr>
            <a:spLocks noGrp="1"/>
          </p:cNvSpPr>
          <p:nvPr>
            <p:ph type="title"/>
          </p:nvPr>
        </p:nvSpPr>
        <p:spPr/>
        <p:txBody>
          <a:bodyPr/>
          <a:lstStyle/>
          <a:p>
            <a:r>
              <a:rPr lang="es-AR" dirty="0" err="1"/>
              <a:t>Classpath</a:t>
            </a:r>
            <a:endParaRPr lang="es-AR" dirty="0"/>
          </a:p>
        </p:txBody>
      </p:sp>
      <p:sp>
        <p:nvSpPr>
          <p:cNvPr id="3" name="Marcador de contenido 2">
            <a:extLst>
              <a:ext uri="{FF2B5EF4-FFF2-40B4-BE49-F238E27FC236}">
                <a16:creationId xmlns:a16="http://schemas.microsoft.com/office/drawing/2014/main" id="{7CF074AE-6603-4FA0-994F-6FBC2DAF7F88}"/>
              </a:ext>
            </a:extLst>
          </p:cNvPr>
          <p:cNvSpPr>
            <a:spLocks noGrp="1"/>
          </p:cNvSpPr>
          <p:nvPr>
            <p:ph idx="1"/>
          </p:nvPr>
        </p:nvSpPr>
        <p:spPr/>
        <p:txBody>
          <a:bodyPr>
            <a:normAutofit/>
          </a:bodyPr>
          <a:lstStyle/>
          <a:p>
            <a:endParaRPr lang="es-AR" dirty="0"/>
          </a:p>
          <a:p>
            <a:pPr marL="0" indent="0" algn="just">
              <a:buNone/>
            </a:pPr>
            <a:r>
              <a:rPr lang="es-ES" dirty="0"/>
              <a:t>Es el espacio definido en el SO, accedido por el JRE donde se encontrarán todas las librerías del lenguaje para que pueda ejecutar la JVM, funcionar el JRE y ejecutarse nuestros programas. Cualquier librería de utilidades que necesitamos agregar a nuestras aplicaciones (</a:t>
            </a:r>
            <a:r>
              <a:rPr lang="es-ES" dirty="0" err="1"/>
              <a:t>frameworks</a:t>
            </a:r>
            <a:r>
              <a:rPr lang="es-ES" dirty="0"/>
              <a:t> web, utilidades de audio, librerías de estadísticas, </a:t>
            </a:r>
            <a:r>
              <a:rPr lang="es-ES" dirty="0" err="1"/>
              <a:t>frameworks</a:t>
            </a:r>
            <a:r>
              <a:rPr lang="es-ES" dirty="0"/>
              <a:t> de persistencia, controladores de bases de datos, etc., etc.)</a:t>
            </a:r>
            <a:endParaRPr lang="es-AR" dirty="0"/>
          </a:p>
          <a:p>
            <a:pPr marL="0" indent="0" algn="just">
              <a:buNone/>
            </a:pPr>
            <a:r>
              <a:rPr lang="es-ES" dirty="0"/>
              <a:t>CLASSPATH es una variable de entorno del SO que tenemos que establecer para ejecutar nuestros programas Java. Por defecto el valor de esta variable es el “directorio actual”.  Por lo tanto, podríamos hacerla “apuntar” a un directorio donde tenemos todas las librerías y listo. Normalmente esto no es muy práctico y existen un montón de herramientas para solucionar este problema. Los IDE por lo general manejan el CLASSPATH por nosotros.</a:t>
            </a:r>
            <a:endParaRPr lang="es-AR" dirty="0"/>
          </a:p>
        </p:txBody>
      </p:sp>
      <p:pic>
        <p:nvPicPr>
          <p:cNvPr id="4" name="Imagen 3">
            <a:extLst>
              <a:ext uri="{FF2B5EF4-FFF2-40B4-BE49-F238E27FC236}">
                <a16:creationId xmlns:a16="http://schemas.microsoft.com/office/drawing/2014/main" id="{A0DF6BE8-8DFA-DE2B-E8B5-2E6D2CE274EE}"/>
              </a:ext>
            </a:extLst>
          </p:cNvPr>
          <p:cNvPicPr>
            <a:picLocks noChangeAspect="1"/>
          </p:cNvPicPr>
          <p:nvPr/>
        </p:nvPicPr>
        <p:blipFill>
          <a:blip r:embed="rId2"/>
          <a:stretch>
            <a:fillRect/>
          </a:stretch>
        </p:blipFill>
        <p:spPr>
          <a:xfrm>
            <a:off x="10184257" y="757082"/>
            <a:ext cx="971423" cy="502297"/>
          </a:xfrm>
          <a:prstGeom prst="rect">
            <a:avLst/>
          </a:prstGeom>
        </p:spPr>
      </p:pic>
      <p:sp>
        <p:nvSpPr>
          <p:cNvPr id="5" name="Marcador de número de diapositiva 4">
            <a:extLst>
              <a:ext uri="{FF2B5EF4-FFF2-40B4-BE49-F238E27FC236}">
                <a16:creationId xmlns:a16="http://schemas.microsoft.com/office/drawing/2014/main" id="{9BE6FF05-A5AE-8444-484A-5B438966DE43}"/>
              </a:ext>
            </a:extLst>
          </p:cNvPr>
          <p:cNvSpPr>
            <a:spLocks noGrp="1"/>
          </p:cNvSpPr>
          <p:nvPr>
            <p:ph type="sldNum" sz="quarter" idx="12"/>
          </p:nvPr>
        </p:nvSpPr>
        <p:spPr/>
        <p:txBody>
          <a:bodyPr/>
          <a:lstStyle/>
          <a:p>
            <a:fld id="{6C8ECD1B-3F01-46F8-A46F-31A31EFC5ABF}" type="slidenum">
              <a:rPr lang="es-AR" smtClean="0"/>
              <a:t>13</a:t>
            </a:fld>
            <a:endParaRPr lang="es-AR"/>
          </a:p>
        </p:txBody>
      </p:sp>
    </p:spTree>
    <p:extLst>
      <p:ext uri="{BB962C8B-B14F-4D97-AF65-F5344CB8AC3E}">
        <p14:creationId xmlns:p14="http://schemas.microsoft.com/office/powerpoint/2010/main" val="12230565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D29B02-6DC9-4B9C-3027-CE552B13669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0C14C14-3405-0F03-DDDE-A087DCEF6534}"/>
              </a:ext>
            </a:extLst>
          </p:cNvPr>
          <p:cNvSpPr>
            <a:spLocks noGrp="1"/>
          </p:cNvSpPr>
          <p:nvPr>
            <p:ph type="title"/>
          </p:nvPr>
        </p:nvSpPr>
        <p:spPr/>
        <p:txBody>
          <a:bodyPr/>
          <a:lstStyle/>
          <a:p>
            <a:r>
              <a:rPr lang="es-AR" dirty="0"/>
              <a:t>Uso de convenciones de nomenclatura</a:t>
            </a:r>
          </a:p>
        </p:txBody>
      </p:sp>
      <p:sp>
        <p:nvSpPr>
          <p:cNvPr id="3" name="Marcador de contenido 2">
            <a:extLst>
              <a:ext uri="{FF2B5EF4-FFF2-40B4-BE49-F238E27FC236}">
                <a16:creationId xmlns:a16="http://schemas.microsoft.com/office/drawing/2014/main" id="{887C1A36-D64E-7707-447C-F2915268D156}"/>
              </a:ext>
            </a:extLst>
          </p:cNvPr>
          <p:cNvSpPr>
            <a:spLocks noGrp="1"/>
          </p:cNvSpPr>
          <p:nvPr>
            <p:ph idx="1"/>
          </p:nvPr>
        </p:nvSpPr>
        <p:spPr/>
        <p:txBody>
          <a:bodyPr>
            <a:normAutofit/>
          </a:bodyPr>
          <a:lstStyle/>
          <a:p>
            <a:pPr marL="0" indent="0" algn="ctr">
              <a:buNone/>
            </a:pPr>
            <a:r>
              <a:rPr lang="es-ES" b="1" dirty="0"/>
              <a:t>“SI UN NOMBRE REQUIERE UN COMENTARIO PARA DESCRIBIRSE A SÍ MISMO, ENTONCES EL NOMBRE NO SE EXPLICA POR SÍ MISMO</a:t>
            </a:r>
            <a:r>
              <a:rPr lang="es-ES" dirty="0"/>
              <a:t>.”</a:t>
            </a:r>
            <a:endParaRPr lang="es-AR" dirty="0"/>
          </a:p>
          <a:p>
            <a:pPr marL="0" indent="0" algn="just">
              <a:buNone/>
            </a:pPr>
            <a:r>
              <a:rPr lang="es-ES" b="1" dirty="0" err="1"/>
              <a:t>Autoexplicativo</a:t>
            </a:r>
            <a:r>
              <a:rPr lang="es-ES" dirty="0"/>
              <a:t>: Un nombre debe revelar su intención para que todos puedan entender y cambiar el código fácilmente. Por ejemplo, los nombres d o </a:t>
            </a:r>
            <a:r>
              <a:rPr lang="es-ES" dirty="0" err="1"/>
              <a:t>str</a:t>
            </a:r>
            <a:r>
              <a:rPr lang="es-ES" dirty="0"/>
              <a:t> no revelan nada; sin embargo, los nombres </a:t>
            </a:r>
            <a:r>
              <a:rPr lang="es-ES" dirty="0" err="1"/>
              <a:t>daysToExpire</a:t>
            </a:r>
            <a:r>
              <a:rPr lang="es-ES" dirty="0"/>
              <a:t> o </a:t>
            </a:r>
            <a:r>
              <a:rPr lang="es-ES" dirty="0" err="1"/>
              <a:t>inputText</a:t>
            </a:r>
            <a:r>
              <a:rPr lang="es-ES" dirty="0"/>
              <a:t> revelan claramente su intención. Si un nombre requiere un comentario para describirse a sí mismo, entonces el nombre no se explica por sí mismo.</a:t>
            </a:r>
          </a:p>
          <a:p>
            <a:pPr marL="0" indent="0" algn="just">
              <a:buNone/>
            </a:pPr>
            <a:r>
              <a:rPr lang="es-ES" b="1" dirty="0"/>
              <a:t>Distinciones significativas</a:t>
            </a:r>
            <a:r>
              <a:rPr lang="es-ES" dirty="0"/>
              <a:t>:  Si los nombres deben ser diferentes, también deberían significar algo diferente. Por ejemplo, los nombres a1 y a2 son distinciones sin sentido; y los nombres fuente y destino son distinciones significativas</a:t>
            </a:r>
          </a:p>
          <a:p>
            <a:pPr marL="0" indent="0" algn="just">
              <a:buNone/>
            </a:pPr>
            <a:r>
              <a:rPr lang="es-ES" b="1" dirty="0"/>
              <a:t>Pronunciable: </a:t>
            </a:r>
            <a:r>
              <a:rPr lang="es-ES" dirty="0"/>
              <a:t>Los nombres deben ser pronunciables tan naturalmente como el lenguaje hablado porque somos humanos, muy buenos con las palabras. Por ejemplo, ¿qué nombre puede pronunciar y recordar fácilmente: </a:t>
            </a:r>
            <a:r>
              <a:rPr lang="es-ES" dirty="0" err="1"/>
              <a:t>genStamp</a:t>
            </a:r>
            <a:r>
              <a:rPr lang="es-ES" dirty="0"/>
              <a:t> o </a:t>
            </a:r>
            <a:r>
              <a:rPr lang="es-ES" dirty="0" err="1"/>
              <a:t>generationTimestamp</a:t>
            </a:r>
            <a:r>
              <a:rPr lang="es-ES" dirty="0"/>
              <a:t> ?</a:t>
            </a:r>
            <a:endParaRPr lang="es-AR" dirty="0"/>
          </a:p>
        </p:txBody>
      </p:sp>
      <p:pic>
        <p:nvPicPr>
          <p:cNvPr id="4" name="Imagen 3">
            <a:extLst>
              <a:ext uri="{FF2B5EF4-FFF2-40B4-BE49-F238E27FC236}">
                <a16:creationId xmlns:a16="http://schemas.microsoft.com/office/drawing/2014/main" id="{5A597F58-5D25-C08A-588C-37439308F149}"/>
              </a:ext>
            </a:extLst>
          </p:cNvPr>
          <p:cNvPicPr>
            <a:picLocks noChangeAspect="1"/>
          </p:cNvPicPr>
          <p:nvPr/>
        </p:nvPicPr>
        <p:blipFill>
          <a:blip r:embed="rId3"/>
          <a:stretch>
            <a:fillRect/>
          </a:stretch>
        </p:blipFill>
        <p:spPr>
          <a:xfrm>
            <a:off x="10184257" y="757082"/>
            <a:ext cx="971423" cy="502297"/>
          </a:xfrm>
          <a:prstGeom prst="rect">
            <a:avLst/>
          </a:prstGeom>
        </p:spPr>
      </p:pic>
      <p:sp>
        <p:nvSpPr>
          <p:cNvPr id="5" name="Marcador de número de diapositiva 4">
            <a:extLst>
              <a:ext uri="{FF2B5EF4-FFF2-40B4-BE49-F238E27FC236}">
                <a16:creationId xmlns:a16="http://schemas.microsoft.com/office/drawing/2014/main" id="{C6263A42-81D2-D6B1-773A-7571D0A3CEC8}"/>
              </a:ext>
            </a:extLst>
          </p:cNvPr>
          <p:cNvSpPr>
            <a:spLocks noGrp="1"/>
          </p:cNvSpPr>
          <p:nvPr>
            <p:ph type="sldNum" sz="quarter" idx="12"/>
          </p:nvPr>
        </p:nvSpPr>
        <p:spPr/>
        <p:txBody>
          <a:bodyPr/>
          <a:lstStyle/>
          <a:p>
            <a:fld id="{6C8ECD1B-3F01-46F8-A46F-31A31EFC5ABF}" type="slidenum">
              <a:rPr lang="es-AR" smtClean="0"/>
              <a:t>14</a:t>
            </a:fld>
            <a:endParaRPr lang="es-AR"/>
          </a:p>
        </p:txBody>
      </p:sp>
    </p:spTree>
    <p:extLst>
      <p:ext uri="{BB962C8B-B14F-4D97-AF65-F5344CB8AC3E}">
        <p14:creationId xmlns:p14="http://schemas.microsoft.com/office/powerpoint/2010/main" val="495624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E40E19-F2D0-C009-A5C5-53ED2BF0F3A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EFE11ED-41F1-6D35-19F1-B640DDA0FD01}"/>
              </a:ext>
            </a:extLst>
          </p:cNvPr>
          <p:cNvSpPr>
            <a:spLocks noGrp="1"/>
          </p:cNvSpPr>
          <p:nvPr>
            <p:ph type="title"/>
          </p:nvPr>
        </p:nvSpPr>
        <p:spPr/>
        <p:txBody>
          <a:bodyPr/>
          <a:lstStyle/>
          <a:p>
            <a:r>
              <a:rPr lang="es-AR" dirty="0"/>
              <a:t>Uso de convenciones de nomenclatura</a:t>
            </a:r>
          </a:p>
        </p:txBody>
      </p:sp>
      <p:sp>
        <p:nvSpPr>
          <p:cNvPr id="3" name="Marcador de contenido 2">
            <a:extLst>
              <a:ext uri="{FF2B5EF4-FFF2-40B4-BE49-F238E27FC236}">
                <a16:creationId xmlns:a16="http://schemas.microsoft.com/office/drawing/2014/main" id="{271F8269-37F2-C4E8-90C2-308309CECF8B}"/>
              </a:ext>
            </a:extLst>
          </p:cNvPr>
          <p:cNvSpPr>
            <a:spLocks noGrp="1"/>
          </p:cNvSpPr>
          <p:nvPr>
            <p:ph idx="1"/>
          </p:nvPr>
        </p:nvSpPr>
        <p:spPr/>
        <p:txBody>
          <a:bodyPr>
            <a:normAutofit/>
          </a:bodyPr>
          <a:lstStyle/>
          <a:p>
            <a:pPr marL="0" indent="0">
              <a:buNone/>
            </a:pPr>
            <a:r>
              <a:rPr lang="es-ES" dirty="0"/>
              <a:t>Ejemplos:</a:t>
            </a:r>
          </a:p>
          <a:p>
            <a:pPr marL="0" indent="0" algn="just">
              <a:buNone/>
            </a:pPr>
            <a:r>
              <a:rPr lang="es-ES" dirty="0"/>
              <a:t>• Los nombres de clase e interfaz deben ser sustantivos, comenzando con una letra mayúscula. Por ejemplo: Estudiante , Automóvil , Rectángulo , Pintor , etc. </a:t>
            </a:r>
          </a:p>
          <a:p>
            <a:pPr marL="0" indent="0" algn="just">
              <a:buNone/>
            </a:pPr>
            <a:r>
              <a:rPr lang="es-ES" dirty="0"/>
              <a:t>• Los nombres de las variables deben ser sustantivos, comenzando con una letra minúscula. Por ejemplo: número , </a:t>
            </a:r>
            <a:r>
              <a:rPr lang="es-ES" dirty="0" err="1"/>
              <a:t>contadorPersona</a:t>
            </a:r>
            <a:r>
              <a:rPr lang="es-ES" dirty="0"/>
              <a:t> , </a:t>
            </a:r>
            <a:r>
              <a:rPr lang="es-ES" dirty="0" err="1"/>
              <a:t>cumpleaño</a:t>
            </a:r>
            <a:r>
              <a:rPr lang="es-ES" dirty="0"/>
              <a:t> , </a:t>
            </a:r>
            <a:r>
              <a:rPr lang="es-ES" dirty="0" err="1"/>
              <a:t>géneroPersona</a:t>
            </a:r>
            <a:r>
              <a:rPr lang="es-ES" dirty="0"/>
              <a:t> , etc. </a:t>
            </a:r>
          </a:p>
          <a:p>
            <a:pPr marL="0" indent="0" algn="just">
              <a:buNone/>
            </a:pPr>
            <a:r>
              <a:rPr lang="es-ES" dirty="0"/>
              <a:t>• Los nombres de los métodos deben ser verbos, comenzando con una letra minúscula. Por ejemplo: </a:t>
            </a:r>
            <a:r>
              <a:rPr lang="es-ES" dirty="0" err="1"/>
              <a:t>ejecutarAlgo</a:t>
            </a:r>
            <a:r>
              <a:rPr lang="es-ES" dirty="0"/>
              <a:t> , </a:t>
            </a:r>
            <a:r>
              <a:rPr lang="es-ES" dirty="0" err="1"/>
              <a:t>iniciarProceso</a:t>
            </a:r>
            <a:r>
              <a:rPr lang="es-ES" dirty="0"/>
              <a:t> , </a:t>
            </a:r>
            <a:r>
              <a:rPr lang="es-ES" dirty="0" err="1"/>
              <a:t>detenerProceso</a:t>
            </a:r>
            <a:r>
              <a:rPr lang="es-ES" dirty="0"/>
              <a:t> , </a:t>
            </a:r>
            <a:r>
              <a:rPr lang="es-ES" dirty="0" err="1"/>
              <a:t>ejecutarOtraCosa</a:t>
            </a:r>
            <a:r>
              <a:rPr lang="es-ES" dirty="0"/>
              <a:t> , etc.</a:t>
            </a:r>
          </a:p>
          <a:p>
            <a:pPr marL="0" indent="0" algn="just">
              <a:buNone/>
            </a:pPr>
            <a:r>
              <a:rPr lang="es-ES" dirty="0"/>
              <a:t>• Los nombres constantes deben tener todas las letras MAYÚSCULAS y las palabras están separadas por guiones bajos. Por ejemplo: MAX _ SIZE , MIN _ WIDTH , MIN _ HEIGHT , etc. </a:t>
            </a:r>
          </a:p>
          <a:p>
            <a:pPr marL="0" indent="0" algn="just">
              <a:buNone/>
            </a:pPr>
            <a:r>
              <a:rPr lang="es-ES" dirty="0"/>
              <a:t>• Usando la notación </a:t>
            </a:r>
            <a:r>
              <a:rPr lang="es-ES" dirty="0" err="1"/>
              <a:t>camelCase</a:t>
            </a:r>
            <a:r>
              <a:rPr lang="es-ES" dirty="0"/>
              <a:t> para nombres. Por ejemplo: </a:t>
            </a:r>
            <a:r>
              <a:rPr lang="es-ES" dirty="0" err="1"/>
              <a:t>StudentManager</a:t>
            </a:r>
            <a:r>
              <a:rPr lang="es-ES" dirty="0"/>
              <a:t> , </a:t>
            </a:r>
            <a:r>
              <a:rPr lang="es-ES" dirty="0" err="1"/>
              <a:t>CarController</a:t>
            </a:r>
            <a:r>
              <a:rPr lang="es-ES" dirty="0"/>
              <a:t> , </a:t>
            </a:r>
            <a:r>
              <a:rPr lang="es-ES" dirty="0" err="1"/>
              <a:t>numberOfStudents</a:t>
            </a:r>
            <a:r>
              <a:rPr lang="es-ES" dirty="0"/>
              <a:t> , </a:t>
            </a:r>
            <a:r>
              <a:rPr lang="es-ES" dirty="0" err="1"/>
              <a:t>runAnalysis</a:t>
            </a:r>
            <a:r>
              <a:rPr lang="es-ES" dirty="0"/>
              <a:t> , etc.</a:t>
            </a:r>
            <a:endParaRPr lang="es-AR" dirty="0"/>
          </a:p>
          <a:p>
            <a:pPr marL="0" indent="0">
              <a:buNone/>
            </a:pPr>
            <a:endParaRPr lang="es-AR" dirty="0"/>
          </a:p>
        </p:txBody>
      </p:sp>
      <p:pic>
        <p:nvPicPr>
          <p:cNvPr id="4" name="Imagen 3">
            <a:extLst>
              <a:ext uri="{FF2B5EF4-FFF2-40B4-BE49-F238E27FC236}">
                <a16:creationId xmlns:a16="http://schemas.microsoft.com/office/drawing/2014/main" id="{DFF470E2-C27C-EB63-B06B-F2004FC1BB52}"/>
              </a:ext>
            </a:extLst>
          </p:cNvPr>
          <p:cNvPicPr>
            <a:picLocks noChangeAspect="1"/>
          </p:cNvPicPr>
          <p:nvPr/>
        </p:nvPicPr>
        <p:blipFill>
          <a:blip r:embed="rId2"/>
          <a:stretch>
            <a:fillRect/>
          </a:stretch>
        </p:blipFill>
        <p:spPr>
          <a:xfrm>
            <a:off x="10184257" y="757082"/>
            <a:ext cx="971423" cy="502297"/>
          </a:xfrm>
          <a:prstGeom prst="rect">
            <a:avLst/>
          </a:prstGeom>
        </p:spPr>
      </p:pic>
      <p:sp>
        <p:nvSpPr>
          <p:cNvPr id="5" name="Marcador de número de diapositiva 4">
            <a:extLst>
              <a:ext uri="{FF2B5EF4-FFF2-40B4-BE49-F238E27FC236}">
                <a16:creationId xmlns:a16="http://schemas.microsoft.com/office/drawing/2014/main" id="{3E5D5718-3A1B-E0A2-559B-A56C5EE70AD7}"/>
              </a:ext>
            </a:extLst>
          </p:cNvPr>
          <p:cNvSpPr>
            <a:spLocks noGrp="1"/>
          </p:cNvSpPr>
          <p:nvPr>
            <p:ph type="sldNum" sz="quarter" idx="12"/>
          </p:nvPr>
        </p:nvSpPr>
        <p:spPr/>
        <p:txBody>
          <a:bodyPr/>
          <a:lstStyle/>
          <a:p>
            <a:fld id="{6C8ECD1B-3F01-46F8-A46F-31A31EFC5ABF}" type="slidenum">
              <a:rPr lang="es-AR" smtClean="0"/>
              <a:t>15</a:t>
            </a:fld>
            <a:endParaRPr lang="es-AR"/>
          </a:p>
        </p:txBody>
      </p:sp>
    </p:spTree>
    <p:extLst>
      <p:ext uri="{BB962C8B-B14F-4D97-AF65-F5344CB8AC3E}">
        <p14:creationId xmlns:p14="http://schemas.microsoft.com/office/powerpoint/2010/main" val="3114164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4D8F63-A4A7-ED6D-6A52-90F9E09D917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42324C5-531D-286A-DF55-233F2F4698E7}"/>
              </a:ext>
            </a:extLst>
          </p:cNvPr>
          <p:cNvSpPr>
            <a:spLocks noGrp="1"/>
          </p:cNvSpPr>
          <p:nvPr>
            <p:ph type="title"/>
          </p:nvPr>
        </p:nvSpPr>
        <p:spPr/>
        <p:txBody>
          <a:bodyPr/>
          <a:lstStyle/>
          <a:p>
            <a:r>
              <a:rPr lang="es-AR" dirty="0"/>
              <a:t>Tipos de notación</a:t>
            </a:r>
          </a:p>
        </p:txBody>
      </p:sp>
      <p:pic>
        <p:nvPicPr>
          <p:cNvPr id="4" name="Imagen 3">
            <a:extLst>
              <a:ext uri="{FF2B5EF4-FFF2-40B4-BE49-F238E27FC236}">
                <a16:creationId xmlns:a16="http://schemas.microsoft.com/office/drawing/2014/main" id="{04C96836-B794-28B5-FB69-E737F3F1EDC9}"/>
              </a:ext>
            </a:extLst>
          </p:cNvPr>
          <p:cNvPicPr>
            <a:picLocks noChangeAspect="1"/>
          </p:cNvPicPr>
          <p:nvPr/>
        </p:nvPicPr>
        <p:blipFill>
          <a:blip r:embed="rId2"/>
          <a:stretch>
            <a:fillRect/>
          </a:stretch>
        </p:blipFill>
        <p:spPr>
          <a:xfrm>
            <a:off x="10184257" y="757082"/>
            <a:ext cx="971423" cy="502297"/>
          </a:xfrm>
          <a:prstGeom prst="rect">
            <a:avLst/>
          </a:prstGeom>
        </p:spPr>
      </p:pic>
      <p:sp>
        <p:nvSpPr>
          <p:cNvPr id="5" name="Marcador de número de diapositiva 4">
            <a:extLst>
              <a:ext uri="{FF2B5EF4-FFF2-40B4-BE49-F238E27FC236}">
                <a16:creationId xmlns:a16="http://schemas.microsoft.com/office/drawing/2014/main" id="{48B86E2A-4607-83FE-25B6-C418191E3CE5}"/>
              </a:ext>
            </a:extLst>
          </p:cNvPr>
          <p:cNvSpPr>
            <a:spLocks noGrp="1"/>
          </p:cNvSpPr>
          <p:nvPr>
            <p:ph type="sldNum" sz="quarter" idx="12"/>
          </p:nvPr>
        </p:nvSpPr>
        <p:spPr/>
        <p:txBody>
          <a:bodyPr/>
          <a:lstStyle/>
          <a:p>
            <a:fld id="{6C8ECD1B-3F01-46F8-A46F-31A31EFC5ABF}" type="slidenum">
              <a:rPr lang="es-AR" smtClean="0"/>
              <a:t>16</a:t>
            </a:fld>
            <a:endParaRPr lang="es-AR"/>
          </a:p>
        </p:txBody>
      </p:sp>
      <p:sp>
        <p:nvSpPr>
          <p:cNvPr id="8" name="Marcador de contenido 2">
            <a:extLst>
              <a:ext uri="{FF2B5EF4-FFF2-40B4-BE49-F238E27FC236}">
                <a16:creationId xmlns:a16="http://schemas.microsoft.com/office/drawing/2014/main" id="{0D27C78A-BE2F-8DD5-EF44-C9CDCD4EE284}"/>
              </a:ext>
            </a:extLst>
          </p:cNvPr>
          <p:cNvSpPr txBox="1">
            <a:spLocks/>
          </p:cNvSpPr>
          <p:nvPr/>
        </p:nvSpPr>
        <p:spPr>
          <a:xfrm>
            <a:off x="1103630" y="1839384"/>
            <a:ext cx="10058400" cy="4401396"/>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lnSpc>
                <a:spcPct val="20000"/>
              </a:lnSpc>
              <a:buNone/>
            </a:pPr>
            <a:r>
              <a:rPr lang="es-ES" sz="1400" b="1" dirty="0"/>
              <a:t>Camel Case (</a:t>
            </a:r>
            <a:r>
              <a:rPr lang="es-ES" sz="1400" b="1" dirty="0" err="1"/>
              <a:t>CamelCase</a:t>
            </a:r>
            <a:r>
              <a:rPr lang="es-ES" sz="1400" b="1" dirty="0"/>
              <a:t>):</a:t>
            </a:r>
          </a:p>
          <a:p>
            <a:pPr marL="0" indent="0">
              <a:lnSpc>
                <a:spcPct val="20000"/>
              </a:lnSpc>
              <a:buNone/>
            </a:pPr>
            <a:r>
              <a:rPr lang="es-ES" sz="1400" dirty="0"/>
              <a:t>Se usa para nombres de variables y funciones.</a:t>
            </a:r>
          </a:p>
          <a:p>
            <a:pPr marL="0" indent="0">
              <a:lnSpc>
                <a:spcPct val="20000"/>
              </a:lnSpc>
              <a:buNone/>
            </a:pPr>
            <a:r>
              <a:rPr lang="es-ES" sz="1400" dirty="0"/>
              <a:t>La primera palabra va en minúscula.</a:t>
            </a:r>
          </a:p>
          <a:p>
            <a:pPr marL="0" indent="0">
              <a:lnSpc>
                <a:spcPct val="20000"/>
              </a:lnSpc>
              <a:buNone/>
            </a:pPr>
            <a:r>
              <a:rPr lang="es-ES" sz="1400" dirty="0"/>
              <a:t>Las siguientes palabras se escriben con la primera letra en mayúscula (sin espacios).</a:t>
            </a:r>
          </a:p>
          <a:p>
            <a:pPr marL="0" indent="0">
              <a:lnSpc>
                <a:spcPct val="20000"/>
              </a:lnSpc>
              <a:buNone/>
            </a:pPr>
            <a:r>
              <a:rPr lang="es-ES" sz="1400" dirty="0"/>
              <a:t>Ejemplo: </a:t>
            </a:r>
            <a:r>
              <a:rPr lang="es-ES" sz="1400" dirty="0" err="1"/>
              <a:t>nombreCompleto</a:t>
            </a:r>
            <a:r>
              <a:rPr lang="es-ES" sz="1400" dirty="0"/>
              <a:t>, </a:t>
            </a:r>
            <a:r>
              <a:rPr lang="es-ES" sz="1400" dirty="0" err="1"/>
              <a:t>calcularPrecioTotal</a:t>
            </a:r>
            <a:endParaRPr lang="es-ES" sz="1400" dirty="0"/>
          </a:p>
          <a:p>
            <a:pPr marL="0" indent="0">
              <a:lnSpc>
                <a:spcPct val="20000"/>
              </a:lnSpc>
              <a:buNone/>
            </a:pPr>
            <a:endParaRPr lang="es-ES" sz="1400" dirty="0"/>
          </a:p>
          <a:p>
            <a:pPr marL="0" indent="0">
              <a:lnSpc>
                <a:spcPct val="20000"/>
              </a:lnSpc>
              <a:buNone/>
            </a:pPr>
            <a:r>
              <a:rPr lang="es-ES" sz="1400" b="1" dirty="0"/>
              <a:t>Pascal Case (</a:t>
            </a:r>
            <a:r>
              <a:rPr lang="es-ES" sz="1400" b="1" dirty="0" err="1"/>
              <a:t>PascalCase</a:t>
            </a:r>
            <a:r>
              <a:rPr lang="es-ES" sz="1400" b="1" dirty="0"/>
              <a:t>):</a:t>
            </a:r>
          </a:p>
          <a:p>
            <a:pPr marL="0" indent="0">
              <a:lnSpc>
                <a:spcPct val="20000"/>
              </a:lnSpc>
              <a:buNone/>
            </a:pPr>
            <a:r>
              <a:rPr lang="es-ES" sz="1400" dirty="0"/>
              <a:t>Se usa para nombres de clases, tipos de datos y a veces para funciones.</a:t>
            </a:r>
          </a:p>
          <a:p>
            <a:pPr marL="0" indent="0">
              <a:lnSpc>
                <a:spcPct val="20000"/>
              </a:lnSpc>
              <a:buNone/>
            </a:pPr>
            <a:r>
              <a:rPr lang="es-ES" sz="1400" dirty="0"/>
              <a:t>Todas las palabras comienzan con mayúscula.</a:t>
            </a:r>
          </a:p>
          <a:p>
            <a:pPr marL="0" indent="0">
              <a:lnSpc>
                <a:spcPct val="20000"/>
              </a:lnSpc>
              <a:buNone/>
            </a:pPr>
            <a:r>
              <a:rPr lang="es-ES" sz="1400" dirty="0"/>
              <a:t>Ejemplo: </a:t>
            </a:r>
            <a:r>
              <a:rPr lang="es-ES" sz="1400" dirty="0" err="1"/>
              <a:t>UsuarioRegistrado</a:t>
            </a:r>
            <a:r>
              <a:rPr lang="es-ES" sz="1400" dirty="0"/>
              <a:t>, </a:t>
            </a:r>
            <a:r>
              <a:rPr lang="es-ES" sz="1400" dirty="0" err="1"/>
              <a:t>ClaseCalculadora</a:t>
            </a:r>
            <a:endParaRPr lang="es-ES" sz="1400" dirty="0"/>
          </a:p>
          <a:p>
            <a:pPr marL="0" indent="0">
              <a:lnSpc>
                <a:spcPct val="20000"/>
              </a:lnSpc>
              <a:buNone/>
            </a:pPr>
            <a:endParaRPr lang="es-ES" sz="1400" dirty="0"/>
          </a:p>
          <a:p>
            <a:pPr marL="0" indent="0">
              <a:lnSpc>
                <a:spcPct val="20000"/>
              </a:lnSpc>
              <a:buNone/>
            </a:pPr>
            <a:r>
              <a:rPr lang="es-ES" sz="1400" b="1" dirty="0"/>
              <a:t>Snake Case (</a:t>
            </a:r>
            <a:r>
              <a:rPr lang="es-ES" sz="1400" b="1" dirty="0" err="1"/>
              <a:t>snake_case</a:t>
            </a:r>
            <a:r>
              <a:rPr lang="es-ES" sz="1400" b="1" dirty="0"/>
              <a:t>):</a:t>
            </a:r>
          </a:p>
          <a:p>
            <a:pPr marL="0" indent="0">
              <a:lnSpc>
                <a:spcPct val="20000"/>
              </a:lnSpc>
              <a:buNone/>
            </a:pPr>
            <a:r>
              <a:rPr lang="es-ES" sz="1400" dirty="0"/>
              <a:t>Se usa para nombres de variables y constantes.</a:t>
            </a:r>
          </a:p>
          <a:p>
            <a:pPr marL="0" indent="0">
              <a:lnSpc>
                <a:spcPct val="20000"/>
              </a:lnSpc>
              <a:buNone/>
            </a:pPr>
            <a:r>
              <a:rPr lang="es-ES" sz="1400" dirty="0"/>
              <a:t>Todas las palabras van en minúscula y se separan por guiones bajos.</a:t>
            </a:r>
          </a:p>
          <a:p>
            <a:pPr marL="0" indent="0">
              <a:lnSpc>
                <a:spcPct val="20000"/>
              </a:lnSpc>
              <a:buNone/>
            </a:pPr>
            <a:r>
              <a:rPr lang="es-ES" sz="1400" dirty="0"/>
              <a:t>Ejemplo: </a:t>
            </a:r>
            <a:r>
              <a:rPr lang="es-ES" sz="1400" dirty="0" err="1"/>
              <a:t>precio_unitario</a:t>
            </a:r>
            <a:r>
              <a:rPr lang="es-ES" sz="1400" dirty="0"/>
              <a:t>, </a:t>
            </a:r>
            <a:r>
              <a:rPr lang="es-ES" sz="1400" dirty="0" err="1"/>
              <a:t>numero_de_teléfono</a:t>
            </a:r>
            <a:endParaRPr lang="es-ES" sz="1400" dirty="0"/>
          </a:p>
          <a:p>
            <a:pPr marL="0" indent="0">
              <a:lnSpc>
                <a:spcPct val="20000"/>
              </a:lnSpc>
              <a:buNone/>
            </a:pPr>
            <a:endParaRPr lang="es-ES" sz="1400" dirty="0"/>
          </a:p>
          <a:p>
            <a:pPr marL="0" indent="0">
              <a:lnSpc>
                <a:spcPct val="20000"/>
              </a:lnSpc>
              <a:buNone/>
            </a:pPr>
            <a:r>
              <a:rPr lang="es-ES" sz="1400" b="1" dirty="0"/>
              <a:t>Kebab Case:</a:t>
            </a:r>
          </a:p>
          <a:p>
            <a:pPr marL="0" indent="0">
              <a:lnSpc>
                <a:spcPct val="20000"/>
              </a:lnSpc>
              <a:buNone/>
            </a:pPr>
            <a:r>
              <a:rPr lang="es-ES" sz="1400" dirty="0"/>
              <a:t>En kebab case, las palabras se separan por guiones (-).</a:t>
            </a:r>
          </a:p>
          <a:p>
            <a:pPr marL="0" indent="0">
              <a:lnSpc>
                <a:spcPct val="20000"/>
              </a:lnSpc>
              <a:buNone/>
            </a:pPr>
            <a:r>
              <a:rPr lang="es-ES" sz="1400" dirty="0"/>
              <a:t>Ejemplo: mi-variable, esta-es-otra-variable.</a:t>
            </a:r>
          </a:p>
          <a:p>
            <a:pPr marL="0" indent="0">
              <a:lnSpc>
                <a:spcPct val="20000"/>
              </a:lnSpc>
              <a:buNone/>
            </a:pPr>
            <a:r>
              <a:rPr lang="es-ES" sz="1400" dirty="0"/>
              <a:t>Comúnmente utilizado en </a:t>
            </a:r>
            <a:r>
              <a:rPr lang="es-ES" sz="1400" dirty="0" err="1"/>
              <a:t>URLs</a:t>
            </a:r>
            <a:r>
              <a:rPr lang="es-ES" sz="1400" dirty="0"/>
              <a:t> y nombres de archivos, especialmente en tecnologías web</a:t>
            </a:r>
            <a:endParaRPr lang="es-AR" sz="1400" dirty="0"/>
          </a:p>
        </p:txBody>
      </p:sp>
      <p:pic>
        <p:nvPicPr>
          <p:cNvPr id="14" name="Marcador de contenido 13">
            <a:extLst>
              <a:ext uri="{FF2B5EF4-FFF2-40B4-BE49-F238E27FC236}">
                <a16:creationId xmlns:a16="http://schemas.microsoft.com/office/drawing/2014/main" id="{62ECBD4E-F417-9131-EDE2-2598D3C4E3DF}"/>
              </a:ext>
            </a:extLst>
          </p:cNvPr>
          <p:cNvPicPr>
            <a:picLocks noGrp="1" noChangeAspect="1"/>
          </p:cNvPicPr>
          <p:nvPr>
            <p:ph idx="1"/>
          </p:nvPr>
        </p:nvPicPr>
        <p:blipFill>
          <a:blip r:embed="rId3"/>
          <a:stretch>
            <a:fillRect/>
          </a:stretch>
        </p:blipFill>
        <p:spPr>
          <a:xfrm>
            <a:off x="9826713" y="2050395"/>
            <a:ext cx="1328967" cy="4022725"/>
          </a:xfrm>
          <a:prstGeom prst="rect">
            <a:avLst/>
          </a:prstGeom>
        </p:spPr>
      </p:pic>
    </p:spTree>
    <p:extLst>
      <p:ext uri="{BB962C8B-B14F-4D97-AF65-F5344CB8AC3E}">
        <p14:creationId xmlns:p14="http://schemas.microsoft.com/office/powerpoint/2010/main" val="9001546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B5FB0F-AC37-E6D5-4F93-5D7B1DDF709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9667FAB-8C3C-F610-9A9F-DBD2EDE8456D}"/>
              </a:ext>
            </a:extLst>
          </p:cNvPr>
          <p:cNvSpPr>
            <a:spLocks noGrp="1"/>
          </p:cNvSpPr>
          <p:nvPr>
            <p:ph type="title"/>
          </p:nvPr>
        </p:nvSpPr>
        <p:spPr/>
        <p:txBody>
          <a:bodyPr/>
          <a:lstStyle/>
          <a:p>
            <a:r>
              <a:rPr lang="es-AR" dirty="0"/>
              <a:t>Palabras reservadas en JAVA</a:t>
            </a:r>
          </a:p>
        </p:txBody>
      </p:sp>
      <p:pic>
        <p:nvPicPr>
          <p:cNvPr id="4" name="Imagen 3">
            <a:extLst>
              <a:ext uri="{FF2B5EF4-FFF2-40B4-BE49-F238E27FC236}">
                <a16:creationId xmlns:a16="http://schemas.microsoft.com/office/drawing/2014/main" id="{23723372-C850-9FCD-C97C-CBF841E9337F}"/>
              </a:ext>
            </a:extLst>
          </p:cNvPr>
          <p:cNvPicPr>
            <a:picLocks noChangeAspect="1"/>
          </p:cNvPicPr>
          <p:nvPr/>
        </p:nvPicPr>
        <p:blipFill>
          <a:blip r:embed="rId2"/>
          <a:stretch>
            <a:fillRect/>
          </a:stretch>
        </p:blipFill>
        <p:spPr>
          <a:xfrm>
            <a:off x="10184257" y="757082"/>
            <a:ext cx="971423" cy="502297"/>
          </a:xfrm>
          <a:prstGeom prst="rect">
            <a:avLst/>
          </a:prstGeom>
        </p:spPr>
      </p:pic>
      <p:sp>
        <p:nvSpPr>
          <p:cNvPr id="5" name="Marcador de número de diapositiva 4">
            <a:extLst>
              <a:ext uri="{FF2B5EF4-FFF2-40B4-BE49-F238E27FC236}">
                <a16:creationId xmlns:a16="http://schemas.microsoft.com/office/drawing/2014/main" id="{A1848E5F-E232-6E8B-78B9-DD275B19BCDB}"/>
              </a:ext>
            </a:extLst>
          </p:cNvPr>
          <p:cNvSpPr>
            <a:spLocks noGrp="1"/>
          </p:cNvSpPr>
          <p:nvPr>
            <p:ph type="sldNum" sz="quarter" idx="12"/>
          </p:nvPr>
        </p:nvSpPr>
        <p:spPr/>
        <p:txBody>
          <a:bodyPr/>
          <a:lstStyle/>
          <a:p>
            <a:fld id="{6C8ECD1B-3F01-46F8-A46F-31A31EFC5ABF}" type="slidenum">
              <a:rPr lang="es-AR" smtClean="0"/>
              <a:t>17</a:t>
            </a:fld>
            <a:endParaRPr lang="es-AR"/>
          </a:p>
        </p:txBody>
      </p:sp>
      <p:pic>
        <p:nvPicPr>
          <p:cNvPr id="4098" name="Picture 2" descr="Lenguaje de Programacion III: PALABRAS RESERVADAS">
            <a:extLst>
              <a:ext uri="{FF2B5EF4-FFF2-40B4-BE49-F238E27FC236}">
                <a16:creationId xmlns:a16="http://schemas.microsoft.com/office/drawing/2014/main" id="{0B70C7C1-20CA-4844-562F-905359959C6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90184" y="1847889"/>
            <a:ext cx="7672592" cy="43693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605849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4169C0-7947-8B16-1D1A-E37DD3C69E3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17ED112-7FD1-A0AF-90DD-CD7166DA1E1E}"/>
              </a:ext>
            </a:extLst>
          </p:cNvPr>
          <p:cNvSpPr>
            <a:spLocks noGrp="1"/>
          </p:cNvSpPr>
          <p:nvPr>
            <p:ph type="title"/>
          </p:nvPr>
        </p:nvSpPr>
        <p:spPr/>
        <p:txBody>
          <a:bodyPr/>
          <a:lstStyle/>
          <a:p>
            <a:r>
              <a:rPr lang="es-AR" dirty="0"/>
              <a:t>Tipos de datos</a:t>
            </a:r>
          </a:p>
        </p:txBody>
      </p:sp>
      <p:pic>
        <p:nvPicPr>
          <p:cNvPr id="4" name="Imagen 3">
            <a:extLst>
              <a:ext uri="{FF2B5EF4-FFF2-40B4-BE49-F238E27FC236}">
                <a16:creationId xmlns:a16="http://schemas.microsoft.com/office/drawing/2014/main" id="{A0012AE5-9530-13EE-99C1-6E1F8A695C34}"/>
              </a:ext>
            </a:extLst>
          </p:cNvPr>
          <p:cNvPicPr>
            <a:picLocks noChangeAspect="1"/>
          </p:cNvPicPr>
          <p:nvPr/>
        </p:nvPicPr>
        <p:blipFill>
          <a:blip r:embed="rId2"/>
          <a:stretch>
            <a:fillRect/>
          </a:stretch>
        </p:blipFill>
        <p:spPr>
          <a:xfrm>
            <a:off x="10184257" y="757082"/>
            <a:ext cx="971423" cy="502297"/>
          </a:xfrm>
          <a:prstGeom prst="rect">
            <a:avLst/>
          </a:prstGeom>
        </p:spPr>
      </p:pic>
      <p:sp>
        <p:nvSpPr>
          <p:cNvPr id="5" name="Marcador de número de diapositiva 4">
            <a:extLst>
              <a:ext uri="{FF2B5EF4-FFF2-40B4-BE49-F238E27FC236}">
                <a16:creationId xmlns:a16="http://schemas.microsoft.com/office/drawing/2014/main" id="{4AACCBA0-1C7E-6C19-F9E6-40F3B42812FA}"/>
              </a:ext>
            </a:extLst>
          </p:cNvPr>
          <p:cNvSpPr>
            <a:spLocks noGrp="1"/>
          </p:cNvSpPr>
          <p:nvPr>
            <p:ph type="sldNum" sz="quarter" idx="12"/>
          </p:nvPr>
        </p:nvSpPr>
        <p:spPr/>
        <p:txBody>
          <a:bodyPr/>
          <a:lstStyle/>
          <a:p>
            <a:fld id="{6C8ECD1B-3F01-46F8-A46F-31A31EFC5ABF}" type="slidenum">
              <a:rPr lang="es-AR" smtClean="0"/>
              <a:t>18</a:t>
            </a:fld>
            <a:endParaRPr lang="es-AR"/>
          </a:p>
        </p:txBody>
      </p:sp>
      <p:pic>
        <p:nvPicPr>
          <p:cNvPr id="7" name="Imagen 6">
            <a:extLst>
              <a:ext uri="{FF2B5EF4-FFF2-40B4-BE49-F238E27FC236}">
                <a16:creationId xmlns:a16="http://schemas.microsoft.com/office/drawing/2014/main" id="{56A56196-2ADA-CBBC-5074-1081DB04D9D9}"/>
              </a:ext>
            </a:extLst>
          </p:cNvPr>
          <p:cNvPicPr>
            <a:picLocks noChangeAspect="1"/>
          </p:cNvPicPr>
          <p:nvPr/>
        </p:nvPicPr>
        <p:blipFill>
          <a:blip r:embed="rId3"/>
          <a:stretch>
            <a:fillRect/>
          </a:stretch>
        </p:blipFill>
        <p:spPr>
          <a:xfrm>
            <a:off x="2867548" y="1867102"/>
            <a:ext cx="6456903" cy="4190064"/>
          </a:xfrm>
          <a:prstGeom prst="rect">
            <a:avLst/>
          </a:prstGeom>
        </p:spPr>
      </p:pic>
    </p:spTree>
    <p:extLst>
      <p:ext uri="{BB962C8B-B14F-4D97-AF65-F5344CB8AC3E}">
        <p14:creationId xmlns:p14="http://schemas.microsoft.com/office/powerpoint/2010/main" val="23845387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B5BF63-378F-3D11-6425-A95C671DA67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A49E568-80E5-6A05-C5A8-44FACFAC34E8}"/>
              </a:ext>
            </a:extLst>
          </p:cNvPr>
          <p:cNvSpPr>
            <a:spLocks noGrp="1"/>
          </p:cNvSpPr>
          <p:nvPr>
            <p:ph type="title"/>
          </p:nvPr>
        </p:nvSpPr>
        <p:spPr/>
        <p:txBody>
          <a:bodyPr/>
          <a:lstStyle/>
          <a:p>
            <a:r>
              <a:rPr lang="es-AR" dirty="0"/>
              <a:t>Tipos de datos</a:t>
            </a:r>
          </a:p>
        </p:txBody>
      </p:sp>
      <p:pic>
        <p:nvPicPr>
          <p:cNvPr id="4" name="Imagen 3">
            <a:extLst>
              <a:ext uri="{FF2B5EF4-FFF2-40B4-BE49-F238E27FC236}">
                <a16:creationId xmlns:a16="http://schemas.microsoft.com/office/drawing/2014/main" id="{5158553F-7486-4415-7DB0-5E1FFAF79CFF}"/>
              </a:ext>
            </a:extLst>
          </p:cNvPr>
          <p:cNvPicPr>
            <a:picLocks noChangeAspect="1"/>
          </p:cNvPicPr>
          <p:nvPr/>
        </p:nvPicPr>
        <p:blipFill>
          <a:blip r:embed="rId2"/>
          <a:stretch>
            <a:fillRect/>
          </a:stretch>
        </p:blipFill>
        <p:spPr>
          <a:xfrm>
            <a:off x="10184257" y="757082"/>
            <a:ext cx="971423" cy="502297"/>
          </a:xfrm>
          <a:prstGeom prst="rect">
            <a:avLst/>
          </a:prstGeom>
        </p:spPr>
      </p:pic>
      <p:sp>
        <p:nvSpPr>
          <p:cNvPr id="5" name="Marcador de número de diapositiva 4">
            <a:extLst>
              <a:ext uri="{FF2B5EF4-FFF2-40B4-BE49-F238E27FC236}">
                <a16:creationId xmlns:a16="http://schemas.microsoft.com/office/drawing/2014/main" id="{79B4BFF6-5644-A1EE-54F3-EFCB6428B44D}"/>
              </a:ext>
            </a:extLst>
          </p:cNvPr>
          <p:cNvSpPr>
            <a:spLocks noGrp="1"/>
          </p:cNvSpPr>
          <p:nvPr>
            <p:ph type="sldNum" sz="quarter" idx="12"/>
          </p:nvPr>
        </p:nvSpPr>
        <p:spPr/>
        <p:txBody>
          <a:bodyPr/>
          <a:lstStyle/>
          <a:p>
            <a:fld id="{6C8ECD1B-3F01-46F8-A46F-31A31EFC5ABF}" type="slidenum">
              <a:rPr lang="es-AR" smtClean="0"/>
              <a:t>19</a:t>
            </a:fld>
            <a:endParaRPr lang="es-AR"/>
          </a:p>
        </p:txBody>
      </p:sp>
      <p:pic>
        <p:nvPicPr>
          <p:cNvPr id="6146" name="Picture 2" descr="Tipos primitivos de datos | Mind Map">
            <a:extLst>
              <a:ext uri="{FF2B5EF4-FFF2-40B4-BE49-F238E27FC236}">
                <a16:creationId xmlns:a16="http://schemas.microsoft.com/office/drawing/2014/main" id="{4F223687-B368-31E9-ACB3-8655DCA4320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6079" y="2110153"/>
            <a:ext cx="4940801" cy="2045845"/>
          </a:xfrm>
          <a:prstGeom prst="rect">
            <a:avLst/>
          </a:prstGeom>
          <a:noFill/>
          <a:extLst>
            <a:ext uri="{909E8E84-426E-40DD-AFC4-6F175D3DCCD1}">
              <a14:hiddenFill xmlns:a14="http://schemas.microsoft.com/office/drawing/2010/main">
                <a:solidFill>
                  <a:srgbClr val="FFFFFF"/>
                </a:solidFill>
              </a14:hiddenFill>
            </a:ext>
          </a:extLst>
        </p:spPr>
      </p:pic>
      <p:sp>
        <p:nvSpPr>
          <p:cNvPr id="3" name="Marcador de contenido 2">
            <a:extLst>
              <a:ext uri="{FF2B5EF4-FFF2-40B4-BE49-F238E27FC236}">
                <a16:creationId xmlns:a16="http://schemas.microsoft.com/office/drawing/2014/main" id="{6066F005-CF51-02A4-8D8C-53FB3639B6F4}"/>
              </a:ext>
            </a:extLst>
          </p:cNvPr>
          <p:cNvSpPr>
            <a:spLocks noGrp="1"/>
          </p:cNvSpPr>
          <p:nvPr>
            <p:ph idx="1"/>
          </p:nvPr>
        </p:nvSpPr>
        <p:spPr>
          <a:xfrm>
            <a:off x="1154083" y="4528790"/>
            <a:ext cx="10058400" cy="1453013"/>
          </a:xfrm>
        </p:spPr>
        <p:txBody>
          <a:bodyPr>
            <a:normAutofit fontScale="92500"/>
          </a:bodyPr>
          <a:lstStyle/>
          <a:p>
            <a:pPr marL="0" indent="0" algn="just">
              <a:buNone/>
            </a:pPr>
            <a:r>
              <a:rPr lang="es-AR" dirty="0"/>
              <a:t>Los datos tipo ENVOLTURA o WRAPPERS </a:t>
            </a:r>
            <a:r>
              <a:rPr lang="es-ES" dirty="0"/>
              <a:t>se utilizan para tratar los tipos de datos primitivos como objetos. Las colecciones en Java, como </a:t>
            </a:r>
            <a:r>
              <a:rPr lang="es-ES" dirty="0" err="1"/>
              <a:t>ArrayList</a:t>
            </a:r>
            <a:r>
              <a:rPr lang="es-ES" dirty="0"/>
              <a:t> o </a:t>
            </a:r>
            <a:r>
              <a:rPr lang="es-ES" dirty="0" err="1"/>
              <a:t>HashMap</a:t>
            </a:r>
            <a:r>
              <a:rPr lang="es-ES" dirty="0"/>
              <a:t>, solo pueden almacenar objetos, no tipos primitivos. Las clases </a:t>
            </a:r>
            <a:r>
              <a:rPr lang="es-ES" dirty="0" err="1"/>
              <a:t>wrapper</a:t>
            </a:r>
            <a:r>
              <a:rPr lang="es-ES" dirty="0"/>
              <a:t> permiten "envolver" un tipo primitivo (por ejemplo, un </a:t>
            </a:r>
            <a:r>
              <a:rPr lang="es-ES" dirty="0" err="1"/>
              <a:t>int</a:t>
            </a:r>
            <a:r>
              <a:rPr lang="es-ES" dirty="0"/>
              <a:t>) en un objeto </a:t>
            </a:r>
            <a:r>
              <a:rPr lang="es-ES" dirty="0" err="1"/>
              <a:t>Integer</a:t>
            </a:r>
            <a:r>
              <a:rPr lang="es-ES" dirty="0"/>
              <a:t>, facilita su inserción en colecciones y tambien facilita operaciones como la conversión de tipos (la clase </a:t>
            </a:r>
            <a:r>
              <a:rPr lang="es-ES" dirty="0" err="1"/>
              <a:t>Integer</a:t>
            </a:r>
            <a:r>
              <a:rPr lang="es-ES" dirty="0"/>
              <a:t> para convertir un entero a una cadena .</a:t>
            </a:r>
            <a:r>
              <a:rPr lang="es-ES" dirty="0" err="1"/>
              <a:t>toString</a:t>
            </a:r>
            <a:r>
              <a:rPr lang="es-ES" dirty="0"/>
              <a:t>()) y el manejo de valores nulos.</a:t>
            </a:r>
            <a:endParaRPr lang="es-AR" dirty="0"/>
          </a:p>
          <a:p>
            <a:endParaRPr lang="es-AR" dirty="0"/>
          </a:p>
          <a:p>
            <a:pPr marL="0" indent="0">
              <a:buNone/>
            </a:pPr>
            <a:endParaRPr lang="es-AR" dirty="0"/>
          </a:p>
          <a:p>
            <a:pPr marL="0" indent="0">
              <a:buNone/>
            </a:pPr>
            <a:endParaRPr lang="es-AR" dirty="0"/>
          </a:p>
        </p:txBody>
      </p:sp>
    </p:spTree>
    <p:extLst>
      <p:ext uri="{BB962C8B-B14F-4D97-AF65-F5344CB8AC3E}">
        <p14:creationId xmlns:p14="http://schemas.microsoft.com/office/powerpoint/2010/main" val="37941346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AAE3A1-14E2-FC96-8FAC-196156195C5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11253B9-018F-3F56-137D-0D8CB84A6CEB}"/>
              </a:ext>
            </a:extLst>
          </p:cNvPr>
          <p:cNvSpPr>
            <a:spLocks noGrp="1"/>
          </p:cNvSpPr>
          <p:nvPr>
            <p:ph type="title"/>
          </p:nvPr>
        </p:nvSpPr>
        <p:spPr/>
        <p:txBody>
          <a:bodyPr/>
          <a:lstStyle/>
          <a:p>
            <a:pPr algn="ctr"/>
            <a:r>
              <a:rPr lang="es-AR" dirty="0"/>
              <a:t>Código java</a:t>
            </a:r>
          </a:p>
        </p:txBody>
      </p:sp>
      <p:pic>
        <p:nvPicPr>
          <p:cNvPr id="4" name="Imagen 3">
            <a:extLst>
              <a:ext uri="{FF2B5EF4-FFF2-40B4-BE49-F238E27FC236}">
                <a16:creationId xmlns:a16="http://schemas.microsoft.com/office/drawing/2014/main" id="{EEB5010B-D81D-C857-B6B1-6B678EF60405}"/>
              </a:ext>
            </a:extLst>
          </p:cNvPr>
          <p:cNvPicPr>
            <a:picLocks noChangeAspect="1"/>
          </p:cNvPicPr>
          <p:nvPr/>
        </p:nvPicPr>
        <p:blipFill>
          <a:blip r:embed="rId2"/>
          <a:stretch>
            <a:fillRect/>
          </a:stretch>
        </p:blipFill>
        <p:spPr>
          <a:xfrm>
            <a:off x="10184257" y="757082"/>
            <a:ext cx="971423" cy="502297"/>
          </a:xfrm>
          <a:prstGeom prst="rect">
            <a:avLst/>
          </a:prstGeom>
        </p:spPr>
      </p:pic>
      <p:sp>
        <p:nvSpPr>
          <p:cNvPr id="5" name="Marcador de número de diapositiva 4">
            <a:extLst>
              <a:ext uri="{FF2B5EF4-FFF2-40B4-BE49-F238E27FC236}">
                <a16:creationId xmlns:a16="http://schemas.microsoft.com/office/drawing/2014/main" id="{26B4C0EE-F6E7-B52C-B121-3E9C716E72A2}"/>
              </a:ext>
            </a:extLst>
          </p:cNvPr>
          <p:cNvSpPr>
            <a:spLocks noGrp="1"/>
          </p:cNvSpPr>
          <p:nvPr>
            <p:ph type="sldNum" sz="quarter" idx="12"/>
          </p:nvPr>
        </p:nvSpPr>
        <p:spPr/>
        <p:txBody>
          <a:bodyPr/>
          <a:lstStyle/>
          <a:p>
            <a:fld id="{6C8ECD1B-3F01-46F8-A46F-31A31EFC5ABF}" type="slidenum">
              <a:rPr lang="es-AR" smtClean="0"/>
              <a:t>20</a:t>
            </a:fld>
            <a:endParaRPr lang="es-AR"/>
          </a:p>
        </p:txBody>
      </p:sp>
      <p:pic>
        <p:nvPicPr>
          <p:cNvPr id="13" name="Imagen 12">
            <a:extLst>
              <a:ext uri="{FF2B5EF4-FFF2-40B4-BE49-F238E27FC236}">
                <a16:creationId xmlns:a16="http://schemas.microsoft.com/office/drawing/2014/main" id="{C142CBE9-267A-4CC3-096F-56525C721CB5}"/>
              </a:ext>
            </a:extLst>
          </p:cNvPr>
          <p:cNvPicPr>
            <a:picLocks noChangeAspect="1"/>
          </p:cNvPicPr>
          <p:nvPr/>
        </p:nvPicPr>
        <p:blipFill>
          <a:blip r:embed="rId3"/>
          <a:stretch>
            <a:fillRect/>
          </a:stretch>
        </p:blipFill>
        <p:spPr>
          <a:xfrm>
            <a:off x="3403504" y="1806310"/>
            <a:ext cx="5384991" cy="4049288"/>
          </a:xfrm>
          <a:prstGeom prst="rect">
            <a:avLst/>
          </a:prstGeom>
        </p:spPr>
      </p:pic>
      <p:sp>
        <p:nvSpPr>
          <p:cNvPr id="14" name="Marcador de contenido 2">
            <a:extLst>
              <a:ext uri="{FF2B5EF4-FFF2-40B4-BE49-F238E27FC236}">
                <a16:creationId xmlns:a16="http://schemas.microsoft.com/office/drawing/2014/main" id="{B200328B-607D-4A3C-E737-732B1B9EBBFC}"/>
              </a:ext>
            </a:extLst>
          </p:cNvPr>
          <p:cNvSpPr>
            <a:spLocks noGrp="1"/>
          </p:cNvSpPr>
          <p:nvPr>
            <p:ph idx="1"/>
          </p:nvPr>
        </p:nvSpPr>
        <p:spPr>
          <a:xfrm>
            <a:off x="1154083" y="5924548"/>
            <a:ext cx="10058400" cy="300446"/>
          </a:xfrm>
        </p:spPr>
        <p:txBody>
          <a:bodyPr>
            <a:normAutofit fontScale="85000" lnSpcReduction="20000"/>
          </a:bodyPr>
          <a:lstStyle/>
          <a:p>
            <a:pPr marL="0" indent="0" algn="just">
              <a:buNone/>
            </a:pPr>
            <a:r>
              <a:rPr lang="es-AR" dirty="0"/>
              <a:t>https://www.onlinegdb.com/online_java_compiler</a:t>
            </a:r>
          </a:p>
          <a:p>
            <a:pPr marL="0" indent="0">
              <a:buNone/>
            </a:pPr>
            <a:endParaRPr lang="es-AR" dirty="0"/>
          </a:p>
        </p:txBody>
      </p:sp>
    </p:spTree>
    <p:extLst>
      <p:ext uri="{BB962C8B-B14F-4D97-AF65-F5344CB8AC3E}">
        <p14:creationId xmlns:p14="http://schemas.microsoft.com/office/powerpoint/2010/main" val="26467686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90AC93-1F9D-ED71-8934-34BC15B5738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DA77043-110A-DB43-3F3F-74C16F658D22}"/>
              </a:ext>
            </a:extLst>
          </p:cNvPr>
          <p:cNvSpPr>
            <a:spLocks noGrp="1"/>
          </p:cNvSpPr>
          <p:nvPr>
            <p:ph type="title"/>
          </p:nvPr>
        </p:nvSpPr>
        <p:spPr/>
        <p:txBody>
          <a:bodyPr/>
          <a:lstStyle/>
          <a:p>
            <a:r>
              <a:rPr lang="es-AR" dirty="0"/>
              <a:t>Preparando el ambiente JAVA</a:t>
            </a:r>
          </a:p>
        </p:txBody>
      </p:sp>
      <p:sp>
        <p:nvSpPr>
          <p:cNvPr id="3" name="Marcador de contenido 2">
            <a:extLst>
              <a:ext uri="{FF2B5EF4-FFF2-40B4-BE49-F238E27FC236}">
                <a16:creationId xmlns:a16="http://schemas.microsoft.com/office/drawing/2014/main" id="{A8012875-B1AB-CA6F-6AA4-44540D3DF47C}"/>
              </a:ext>
            </a:extLst>
          </p:cNvPr>
          <p:cNvSpPr>
            <a:spLocks noGrp="1"/>
          </p:cNvSpPr>
          <p:nvPr>
            <p:ph idx="1"/>
          </p:nvPr>
        </p:nvSpPr>
        <p:spPr/>
        <p:txBody>
          <a:bodyPr/>
          <a:lstStyle/>
          <a:p>
            <a:r>
              <a:rPr lang="es-AR" b="1" dirty="0"/>
              <a:t>Sistemas                                                                                        Panel de control -&gt; Sistemas </a:t>
            </a:r>
          </a:p>
          <a:p>
            <a:endParaRPr lang="es-AR" dirty="0"/>
          </a:p>
          <a:p>
            <a:endParaRPr lang="es-AR" dirty="0"/>
          </a:p>
          <a:p>
            <a:pPr marL="0" indent="0">
              <a:buNone/>
            </a:pPr>
            <a:endParaRPr lang="es-AR" dirty="0"/>
          </a:p>
          <a:p>
            <a:pPr marL="0" indent="0">
              <a:buNone/>
            </a:pPr>
            <a:endParaRPr lang="es-AR" dirty="0"/>
          </a:p>
        </p:txBody>
      </p:sp>
      <p:pic>
        <p:nvPicPr>
          <p:cNvPr id="4" name="Imagen 3">
            <a:extLst>
              <a:ext uri="{FF2B5EF4-FFF2-40B4-BE49-F238E27FC236}">
                <a16:creationId xmlns:a16="http://schemas.microsoft.com/office/drawing/2014/main" id="{2CAEDF76-62FC-F862-5D03-205D944717F8}"/>
              </a:ext>
            </a:extLst>
          </p:cNvPr>
          <p:cNvPicPr>
            <a:picLocks noChangeAspect="1"/>
          </p:cNvPicPr>
          <p:nvPr/>
        </p:nvPicPr>
        <p:blipFill>
          <a:blip r:embed="rId2"/>
          <a:stretch>
            <a:fillRect/>
          </a:stretch>
        </p:blipFill>
        <p:spPr>
          <a:xfrm>
            <a:off x="10184257" y="757082"/>
            <a:ext cx="971423" cy="502297"/>
          </a:xfrm>
          <a:prstGeom prst="rect">
            <a:avLst/>
          </a:prstGeom>
        </p:spPr>
      </p:pic>
      <p:sp>
        <p:nvSpPr>
          <p:cNvPr id="5" name="Marcador de número de diapositiva 4">
            <a:extLst>
              <a:ext uri="{FF2B5EF4-FFF2-40B4-BE49-F238E27FC236}">
                <a16:creationId xmlns:a16="http://schemas.microsoft.com/office/drawing/2014/main" id="{C0CDBDF0-91BD-99E5-9433-264F0369EC2E}"/>
              </a:ext>
            </a:extLst>
          </p:cNvPr>
          <p:cNvSpPr>
            <a:spLocks noGrp="1"/>
          </p:cNvSpPr>
          <p:nvPr>
            <p:ph type="sldNum" sz="quarter" idx="12"/>
          </p:nvPr>
        </p:nvSpPr>
        <p:spPr/>
        <p:txBody>
          <a:bodyPr/>
          <a:lstStyle/>
          <a:p>
            <a:fld id="{6C8ECD1B-3F01-46F8-A46F-31A31EFC5ABF}" type="slidenum">
              <a:rPr lang="es-AR" smtClean="0"/>
              <a:t>21</a:t>
            </a:fld>
            <a:endParaRPr lang="es-AR"/>
          </a:p>
        </p:txBody>
      </p:sp>
      <p:pic>
        <p:nvPicPr>
          <p:cNvPr id="7" name="Imagen 6">
            <a:extLst>
              <a:ext uri="{FF2B5EF4-FFF2-40B4-BE49-F238E27FC236}">
                <a16:creationId xmlns:a16="http://schemas.microsoft.com/office/drawing/2014/main" id="{EC5D1171-A14C-CE58-6097-06E36A993B79}"/>
              </a:ext>
            </a:extLst>
          </p:cNvPr>
          <p:cNvPicPr>
            <a:picLocks noChangeAspect="1"/>
          </p:cNvPicPr>
          <p:nvPr/>
        </p:nvPicPr>
        <p:blipFill>
          <a:blip r:embed="rId3"/>
          <a:stretch>
            <a:fillRect/>
          </a:stretch>
        </p:blipFill>
        <p:spPr>
          <a:xfrm>
            <a:off x="5979585" y="2485029"/>
            <a:ext cx="5232898" cy="3384066"/>
          </a:xfrm>
          <a:prstGeom prst="rect">
            <a:avLst/>
          </a:prstGeom>
        </p:spPr>
      </p:pic>
      <p:pic>
        <p:nvPicPr>
          <p:cNvPr id="13" name="Imagen 12">
            <a:extLst>
              <a:ext uri="{FF2B5EF4-FFF2-40B4-BE49-F238E27FC236}">
                <a16:creationId xmlns:a16="http://schemas.microsoft.com/office/drawing/2014/main" id="{8EC3C21C-8501-23CC-C0A3-7604B1B28187}"/>
              </a:ext>
            </a:extLst>
          </p:cNvPr>
          <p:cNvPicPr>
            <a:picLocks noChangeAspect="1"/>
          </p:cNvPicPr>
          <p:nvPr/>
        </p:nvPicPr>
        <p:blipFill>
          <a:blip r:embed="rId4"/>
          <a:stretch>
            <a:fillRect/>
          </a:stretch>
        </p:blipFill>
        <p:spPr>
          <a:xfrm>
            <a:off x="533305" y="2484227"/>
            <a:ext cx="5427577" cy="2646574"/>
          </a:xfrm>
          <a:prstGeom prst="rect">
            <a:avLst/>
          </a:prstGeom>
        </p:spPr>
      </p:pic>
    </p:spTree>
    <p:extLst>
      <p:ext uri="{BB962C8B-B14F-4D97-AF65-F5344CB8AC3E}">
        <p14:creationId xmlns:p14="http://schemas.microsoft.com/office/powerpoint/2010/main" val="39941604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9EFF7F-B288-1F65-1B39-1DD71D2DBA2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A7CA509-7A27-BE6A-F5C6-968FE2CBD27A}"/>
              </a:ext>
            </a:extLst>
          </p:cNvPr>
          <p:cNvSpPr>
            <a:spLocks noGrp="1"/>
          </p:cNvSpPr>
          <p:nvPr>
            <p:ph type="title"/>
          </p:nvPr>
        </p:nvSpPr>
        <p:spPr/>
        <p:txBody>
          <a:bodyPr/>
          <a:lstStyle/>
          <a:p>
            <a:r>
              <a:rPr lang="es-AR" dirty="0"/>
              <a:t>Preparando el ambiente JAVA</a:t>
            </a:r>
          </a:p>
        </p:txBody>
      </p:sp>
      <p:sp>
        <p:nvSpPr>
          <p:cNvPr id="3" name="Marcador de contenido 2">
            <a:extLst>
              <a:ext uri="{FF2B5EF4-FFF2-40B4-BE49-F238E27FC236}">
                <a16:creationId xmlns:a16="http://schemas.microsoft.com/office/drawing/2014/main" id="{7089DEE7-1364-BF7E-0C29-02BBB8C97AF6}"/>
              </a:ext>
            </a:extLst>
          </p:cNvPr>
          <p:cNvSpPr>
            <a:spLocks noGrp="1"/>
          </p:cNvSpPr>
          <p:nvPr>
            <p:ph idx="1"/>
          </p:nvPr>
        </p:nvSpPr>
        <p:spPr/>
        <p:txBody>
          <a:bodyPr/>
          <a:lstStyle/>
          <a:p>
            <a:r>
              <a:rPr lang="es-AR" b="1" dirty="0"/>
              <a:t>Descarga java JRE: </a:t>
            </a:r>
            <a:r>
              <a:rPr lang="es-AR" b="1" dirty="0">
                <a:hlinkClick r:id="rId2"/>
              </a:rPr>
              <a:t>https://www.java.com/es/download/manual.jsp</a:t>
            </a:r>
            <a:endParaRPr lang="es-AR" b="1" dirty="0"/>
          </a:p>
          <a:p>
            <a:r>
              <a:rPr lang="es-AR" b="1" dirty="0"/>
              <a:t> </a:t>
            </a:r>
          </a:p>
          <a:p>
            <a:endParaRPr lang="es-AR" dirty="0"/>
          </a:p>
          <a:p>
            <a:endParaRPr lang="es-AR" dirty="0"/>
          </a:p>
          <a:p>
            <a:pPr marL="0" indent="0">
              <a:buNone/>
            </a:pPr>
            <a:endParaRPr lang="es-AR" dirty="0"/>
          </a:p>
          <a:p>
            <a:pPr marL="0" indent="0">
              <a:buNone/>
            </a:pPr>
            <a:endParaRPr lang="es-AR" dirty="0"/>
          </a:p>
        </p:txBody>
      </p:sp>
      <p:pic>
        <p:nvPicPr>
          <p:cNvPr id="4" name="Imagen 3">
            <a:extLst>
              <a:ext uri="{FF2B5EF4-FFF2-40B4-BE49-F238E27FC236}">
                <a16:creationId xmlns:a16="http://schemas.microsoft.com/office/drawing/2014/main" id="{C4A66538-0CF8-6EE7-5493-3B7529B2B897}"/>
              </a:ext>
            </a:extLst>
          </p:cNvPr>
          <p:cNvPicPr>
            <a:picLocks noChangeAspect="1"/>
          </p:cNvPicPr>
          <p:nvPr/>
        </p:nvPicPr>
        <p:blipFill>
          <a:blip r:embed="rId3"/>
          <a:stretch>
            <a:fillRect/>
          </a:stretch>
        </p:blipFill>
        <p:spPr>
          <a:xfrm>
            <a:off x="10184257" y="757082"/>
            <a:ext cx="971423" cy="502297"/>
          </a:xfrm>
          <a:prstGeom prst="rect">
            <a:avLst/>
          </a:prstGeom>
        </p:spPr>
      </p:pic>
      <p:sp>
        <p:nvSpPr>
          <p:cNvPr id="5" name="Marcador de número de diapositiva 4">
            <a:extLst>
              <a:ext uri="{FF2B5EF4-FFF2-40B4-BE49-F238E27FC236}">
                <a16:creationId xmlns:a16="http://schemas.microsoft.com/office/drawing/2014/main" id="{8CA2E115-1612-6DFC-3F1F-42A7158BD0B3}"/>
              </a:ext>
            </a:extLst>
          </p:cNvPr>
          <p:cNvSpPr>
            <a:spLocks noGrp="1"/>
          </p:cNvSpPr>
          <p:nvPr>
            <p:ph type="sldNum" sz="quarter" idx="12"/>
          </p:nvPr>
        </p:nvSpPr>
        <p:spPr/>
        <p:txBody>
          <a:bodyPr/>
          <a:lstStyle/>
          <a:p>
            <a:fld id="{6C8ECD1B-3F01-46F8-A46F-31A31EFC5ABF}" type="slidenum">
              <a:rPr lang="es-AR" smtClean="0"/>
              <a:t>22</a:t>
            </a:fld>
            <a:endParaRPr lang="es-AR"/>
          </a:p>
        </p:txBody>
      </p:sp>
      <p:pic>
        <p:nvPicPr>
          <p:cNvPr id="9" name="Imagen 8">
            <a:extLst>
              <a:ext uri="{FF2B5EF4-FFF2-40B4-BE49-F238E27FC236}">
                <a16:creationId xmlns:a16="http://schemas.microsoft.com/office/drawing/2014/main" id="{20C977A9-097E-05C8-D3EE-B9AC162D32E6}"/>
              </a:ext>
            </a:extLst>
          </p:cNvPr>
          <p:cNvPicPr>
            <a:picLocks noChangeAspect="1"/>
          </p:cNvPicPr>
          <p:nvPr/>
        </p:nvPicPr>
        <p:blipFill>
          <a:blip r:embed="rId4"/>
          <a:stretch>
            <a:fillRect/>
          </a:stretch>
        </p:blipFill>
        <p:spPr>
          <a:xfrm>
            <a:off x="944943" y="2207839"/>
            <a:ext cx="10563225" cy="3752850"/>
          </a:xfrm>
          <a:prstGeom prst="rect">
            <a:avLst/>
          </a:prstGeom>
        </p:spPr>
      </p:pic>
    </p:spTree>
    <p:extLst>
      <p:ext uri="{BB962C8B-B14F-4D97-AF65-F5344CB8AC3E}">
        <p14:creationId xmlns:p14="http://schemas.microsoft.com/office/powerpoint/2010/main" val="6783784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EDBB22-9CC9-EA21-3F49-4B058D89485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B9EF833-2E87-93FC-2B18-4973963FAF9B}"/>
              </a:ext>
            </a:extLst>
          </p:cNvPr>
          <p:cNvSpPr>
            <a:spLocks noGrp="1"/>
          </p:cNvSpPr>
          <p:nvPr>
            <p:ph type="title"/>
          </p:nvPr>
        </p:nvSpPr>
        <p:spPr/>
        <p:txBody>
          <a:bodyPr/>
          <a:lstStyle/>
          <a:p>
            <a:r>
              <a:rPr lang="es-AR" dirty="0"/>
              <a:t>Preparando el ambiente JAVA</a:t>
            </a:r>
          </a:p>
        </p:txBody>
      </p:sp>
      <p:sp>
        <p:nvSpPr>
          <p:cNvPr id="3" name="Marcador de contenido 2">
            <a:extLst>
              <a:ext uri="{FF2B5EF4-FFF2-40B4-BE49-F238E27FC236}">
                <a16:creationId xmlns:a16="http://schemas.microsoft.com/office/drawing/2014/main" id="{4BC47A87-C9E5-B367-BB76-6EFA766A54EF}"/>
              </a:ext>
            </a:extLst>
          </p:cNvPr>
          <p:cNvSpPr>
            <a:spLocks noGrp="1"/>
          </p:cNvSpPr>
          <p:nvPr>
            <p:ph idx="1"/>
          </p:nvPr>
        </p:nvSpPr>
        <p:spPr/>
        <p:txBody>
          <a:bodyPr/>
          <a:lstStyle/>
          <a:p>
            <a:r>
              <a:rPr lang="es-AR" b="1" dirty="0"/>
              <a:t> </a:t>
            </a:r>
          </a:p>
          <a:p>
            <a:endParaRPr lang="es-AR" dirty="0"/>
          </a:p>
          <a:p>
            <a:endParaRPr lang="es-AR" dirty="0"/>
          </a:p>
          <a:p>
            <a:pPr marL="0" indent="0">
              <a:buNone/>
            </a:pPr>
            <a:endParaRPr lang="es-AR" dirty="0"/>
          </a:p>
          <a:p>
            <a:pPr marL="0" indent="0">
              <a:buNone/>
            </a:pPr>
            <a:endParaRPr lang="es-AR" dirty="0"/>
          </a:p>
        </p:txBody>
      </p:sp>
      <p:pic>
        <p:nvPicPr>
          <p:cNvPr id="4" name="Imagen 3">
            <a:extLst>
              <a:ext uri="{FF2B5EF4-FFF2-40B4-BE49-F238E27FC236}">
                <a16:creationId xmlns:a16="http://schemas.microsoft.com/office/drawing/2014/main" id="{615C31A6-C966-9417-6525-77AE15AABEBD}"/>
              </a:ext>
            </a:extLst>
          </p:cNvPr>
          <p:cNvPicPr>
            <a:picLocks noChangeAspect="1"/>
          </p:cNvPicPr>
          <p:nvPr/>
        </p:nvPicPr>
        <p:blipFill>
          <a:blip r:embed="rId3"/>
          <a:stretch>
            <a:fillRect/>
          </a:stretch>
        </p:blipFill>
        <p:spPr>
          <a:xfrm>
            <a:off x="10184257" y="757082"/>
            <a:ext cx="971423" cy="502297"/>
          </a:xfrm>
          <a:prstGeom prst="rect">
            <a:avLst/>
          </a:prstGeom>
        </p:spPr>
      </p:pic>
      <p:sp>
        <p:nvSpPr>
          <p:cNvPr id="5" name="Marcador de número de diapositiva 4">
            <a:extLst>
              <a:ext uri="{FF2B5EF4-FFF2-40B4-BE49-F238E27FC236}">
                <a16:creationId xmlns:a16="http://schemas.microsoft.com/office/drawing/2014/main" id="{F39F2B97-C612-09AF-435E-04562265B72A}"/>
              </a:ext>
            </a:extLst>
          </p:cNvPr>
          <p:cNvSpPr>
            <a:spLocks noGrp="1"/>
          </p:cNvSpPr>
          <p:nvPr>
            <p:ph type="sldNum" sz="quarter" idx="12"/>
          </p:nvPr>
        </p:nvSpPr>
        <p:spPr/>
        <p:txBody>
          <a:bodyPr/>
          <a:lstStyle/>
          <a:p>
            <a:fld id="{6C8ECD1B-3F01-46F8-A46F-31A31EFC5ABF}" type="slidenum">
              <a:rPr lang="es-AR" smtClean="0"/>
              <a:t>23</a:t>
            </a:fld>
            <a:endParaRPr lang="es-AR"/>
          </a:p>
        </p:txBody>
      </p:sp>
      <p:pic>
        <p:nvPicPr>
          <p:cNvPr id="8" name="Imagen 7">
            <a:extLst>
              <a:ext uri="{FF2B5EF4-FFF2-40B4-BE49-F238E27FC236}">
                <a16:creationId xmlns:a16="http://schemas.microsoft.com/office/drawing/2014/main" id="{D1E376BC-0EFF-066B-877F-CFC05978F373}"/>
              </a:ext>
            </a:extLst>
          </p:cNvPr>
          <p:cNvPicPr>
            <a:picLocks noChangeAspect="1"/>
          </p:cNvPicPr>
          <p:nvPr/>
        </p:nvPicPr>
        <p:blipFill>
          <a:blip r:embed="rId4"/>
          <a:stretch>
            <a:fillRect/>
          </a:stretch>
        </p:blipFill>
        <p:spPr>
          <a:xfrm>
            <a:off x="4459605" y="2221549"/>
            <a:ext cx="6696075" cy="3648075"/>
          </a:xfrm>
          <a:prstGeom prst="rect">
            <a:avLst/>
          </a:prstGeom>
        </p:spPr>
      </p:pic>
      <p:pic>
        <p:nvPicPr>
          <p:cNvPr id="7" name="Imagen 6">
            <a:extLst>
              <a:ext uri="{FF2B5EF4-FFF2-40B4-BE49-F238E27FC236}">
                <a16:creationId xmlns:a16="http://schemas.microsoft.com/office/drawing/2014/main" id="{D0769B12-BD44-97D0-A64B-3881F3F73875}"/>
              </a:ext>
            </a:extLst>
          </p:cNvPr>
          <p:cNvPicPr>
            <a:picLocks noChangeAspect="1"/>
          </p:cNvPicPr>
          <p:nvPr/>
        </p:nvPicPr>
        <p:blipFill>
          <a:blip r:embed="rId5"/>
          <a:stretch>
            <a:fillRect/>
          </a:stretch>
        </p:blipFill>
        <p:spPr>
          <a:xfrm>
            <a:off x="1655921" y="3021648"/>
            <a:ext cx="1752600" cy="2047875"/>
          </a:xfrm>
          <a:prstGeom prst="rect">
            <a:avLst/>
          </a:prstGeom>
        </p:spPr>
      </p:pic>
    </p:spTree>
    <p:extLst>
      <p:ext uri="{BB962C8B-B14F-4D97-AF65-F5344CB8AC3E}">
        <p14:creationId xmlns:p14="http://schemas.microsoft.com/office/powerpoint/2010/main" val="9157545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F96255-4129-56F6-E0BD-F493A97F400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0BED2FE-6BFA-6E12-8660-A43862539A3C}"/>
              </a:ext>
            </a:extLst>
          </p:cNvPr>
          <p:cNvSpPr>
            <a:spLocks noGrp="1"/>
          </p:cNvSpPr>
          <p:nvPr>
            <p:ph type="title"/>
          </p:nvPr>
        </p:nvSpPr>
        <p:spPr/>
        <p:txBody>
          <a:bodyPr/>
          <a:lstStyle/>
          <a:p>
            <a:r>
              <a:rPr lang="es-AR" dirty="0"/>
              <a:t>Preparando el ambiente JAVA</a:t>
            </a:r>
          </a:p>
        </p:txBody>
      </p:sp>
      <p:sp>
        <p:nvSpPr>
          <p:cNvPr id="3" name="Marcador de contenido 2">
            <a:extLst>
              <a:ext uri="{FF2B5EF4-FFF2-40B4-BE49-F238E27FC236}">
                <a16:creationId xmlns:a16="http://schemas.microsoft.com/office/drawing/2014/main" id="{1C18A1AA-9732-5C7F-2652-898A20380045}"/>
              </a:ext>
            </a:extLst>
          </p:cNvPr>
          <p:cNvSpPr>
            <a:spLocks noGrp="1"/>
          </p:cNvSpPr>
          <p:nvPr>
            <p:ph idx="1"/>
          </p:nvPr>
        </p:nvSpPr>
        <p:spPr/>
        <p:txBody>
          <a:bodyPr/>
          <a:lstStyle/>
          <a:p>
            <a:r>
              <a:rPr lang="es-AR" b="1" dirty="0"/>
              <a:t> </a:t>
            </a:r>
          </a:p>
          <a:p>
            <a:endParaRPr lang="es-AR" dirty="0"/>
          </a:p>
          <a:p>
            <a:endParaRPr lang="es-AR" dirty="0"/>
          </a:p>
          <a:p>
            <a:pPr marL="0" indent="0">
              <a:buNone/>
            </a:pPr>
            <a:endParaRPr lang="es-AR" dirty="0"/>
          </a:p>
          <a:p>
            <a:pPr marL="0" indent="0">
              <a:buNone/>
            </a:pPr>
            <a:endParaRPr lang="es-AR" dirty="0"/>
          </a:p>
        </p:txBody>
      </p:sp>
      <p:pic>
        <p:nvPicPr>
          <p:cNvPr id="4" name="Imagen 3">
            <a:extLst>
              <a:ext uri="{FF2B5EF4-FFF2-40B4-BE49-F238E27FC236}">
                <a16:creationId xmlns:a16="http://schemas.microsoft.com/office/drawing/2014/main" id="{2374862A-7D54-1B66-A17F-B91C4C784C15}"/>
              </a:ext>
            </a:extLst>
          </p:cNvPr>
          <p:cNvPicPr>
            <a:picLocks noChangeAspect="1"/>
          </p:cNvPicPr>
          <p:nvPr/>
        </p:nvPicPr>
        <p:blipFill>
          <a:blip r:embed="rId3"/>
          <a:stretch>
            <a:fillRect/>
          </a:stretch>
        </p:blipFill>
        <p:spPr>
          <a:xfrm>
            <a:off x="10184257" y="757082"/>
            <a:ext cx="971423" cy="502297"/>
          </a:xfrm>
          <a:prstGeom prst="rect">
            <a:avLst/>
          </a:prstGeom>
        </p:spPr>
      </p:pic>
      <p:sp>
        <p:nvSpPr>
          <p:cNvPr id="5" name="Marcador de número de diapositiva 4">
            <a:extLst>
              <a:ext uri="{FF2B5EF4-FFF2-40B4-BE49-F238E27FC236}">
                <a16:creationId xmlns:a16="http://schemas.microsoft.com/office/drawing/2014/main" id="{EA0E66B8-02E8-1B40-F9AF-63CB1A4BA526}"/>
              </a:ext>
            </a:extLst>
          </p:cNvPr>
          <p:cNvSpPr>
            <a:spLocks noGrp="1"/>
          </p:cNvSpPr>
          <p:nvPr>
            <p:ph type="sldNum" sz="quarter" idx="12"/>
          </p:nvPr>
        </p:nvSpPr>
        <p:spPr/>
        <p:txBody>
          <a:bodyPr/>
          <a:lstStyle/>
          <a:p>
            <a:fld id="{6C8ECD1B-3F01-46F8-A46F-31A31EFC5ABF}" type="slidenum">
              <a:rPr lang="es-AR" smtClean="0"/>
              <a:t>24</a:t>
            </a:fld>
            <a:endParaRPr lang="es-AR"/>
          </a:p>
        </p:txBody>
      </p:sp>
      <p:pic>
        <p:nvPicPr>
          <p:cNvPr id="9" name="Imagen 8">
            <a:extLst>
              <a:ext uri="{FF2B5EF4-FFF2-40B4-BE49-F238E27FC236}">
                <a16:creationId xmlns:a16="http://schemas.microsoft.com/office/drawing/2014/main" id="{45D05776-C314-8081-817C-B0158E39EBE0}"/>
              </a:ext>
            </a:extLst>
          </p:cNvPr>
          <p:cNvPicPr>
            <a:picLocks noChangeAspect="1"/>
          </p:cNvPicPr>
          <p:nvPr/>
        </p:nvPicPr>
        <p:blipFill>
          <a:blip r:embed="rId4"/>
          <a:stretch>
            <a:fillRect/>
          </a:stretch>
        </p:blipFill>
        <p:spPr>
          <a:xfrm>
            <a:off x="1934924" y="2910731"/>
            <a:ext cx="8322151" cy="1635867"/>
          </a:xfrm>
          <a:prstGeom prst="rect">
            <a:avLst/>
          </a:prstGeom>
        </p:spPr>
      </p:pic>
    </p:spTree>
    <p:extLst>
      <p:ext uri="{BB962C8B-B14F-4D97-AF65-F5344CB8AC3E}">
        <p14:creationId xmlns:p14="http://schemas.microsoft.com/office/powerpoint/2010/main" val="7140983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F91BED-BCA9-7B1A-BF4A-B514E2E11AB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69034EA-4C10-E1E1-1B14-8B9231B6BF1A}"/>
              </a:ext>
            </a:extLst>
          </p:cNvPr>
          <p:cNvSpPr>
            <a:spLocks noGrp="1"/>
          </p:cNvSpPr>
          <p:nvPr>
            <p:ph type="title"/>
          </p:nvPr>
        </p:nvSpPr>
        <p:spPr/>
        <p:txBody>
          <a:bodyPr/>
          <a:lstStyle/>
          <a:p>
            <a:r>
              <a:rPr lang="es-AR" dirty="0"/>
              <a:t>Preparando el ambiente</a:t>
            </a:r>
          </a:p>
        </p:txBody>
      </p:sp>
      <p:sp>
        <p:nvSpPr>
          <p:cNvPr id="3" name="Marcador de contenido 2">
            <a:extLst>
              <a:ext uri="{FF2B5EF4-FFF2-40B4-BE49-F238E27FC236}">
                <a16:creationId xmlns:a16="http://schemas.microsoft.com/office/drawing/2014/main" id="{276A87C7-9FF3-0C36-1E5D-5E71983615FB}"/>
              </a:ext>
            </a:extLst>
          </p:cNvPr>
          <p:cNvSpPr>
            <a:spLocks noGrp="1"/>
          </p:cNvSpPr>
          <p:nvPr>
            <p:ph idx="1"/>
          </p:nvPr>
        </p:nvSpPr>
        <p:spPr>
          <a:xfrm>
            <a:off x="1097280" y="1845734"/>
            <a:ext cx="10058400" cy="4440766"/>
          </a:xfrm>
        </p:spPr>
        <p:txBody>
          <a:bodyPr>
            <a:normAutofit/>
          </a:bodyPr>
          <a:lstStyle/>
          <a:p>
            <a:r>
              <a:rPr lang="es-AR" b="1" dirty="0"/>
              <a:t>Instalando JDK: </a:t>
            </a:r>
            <a:r>
              <a:rPr lang="es-AR" b="1" dirty="0">
                <a:hlinkClick r:id="rId3"/>
              </a:rPr>
              <a:t>https://www.oracle.com/latam/java/technologies/downloads/#jdk24-windows</a:t>
            </a:r>
            <a:endParaRPr lang="es-AR" b="1" dirty="0"/>
          </a:p>
          <a:p>
            <a:endParaRPr lang="pt-BR" b="1" dirty="0"/>
          </a:p>
          <a:p>
            <a:endParaRPr lang="pt-BR" b="1" dirty="0"/>
          </a:p>
          <a:p>
            <a:r>
              <a:rPr lang="pt-BR" b="1" dirty="0"/>
              <a:t>C:\Program Files\Java\jdk-24\</a:t>
            </a:r>
          </a:p>
          <a:p>
            <a:endParaRPr lang="pt-BR" b="1" dirty="0"/>
          </a:p>
          <a:p>
            <a:endParaRPr lang="pt-BR" b="1" dirty="0"/>
          </a:p>
          <a:p>
            <a:endParaRPr lang="pt-BR" b="1" dirty="0"/>
          </a:p>
          <a:p>
            <a:r>
              <a:rPr lang="pt-BR" b="1" dirty="0"/>
              <a:t>Documentación:</a:t>
            </a:r>
          </a:p>
          <a:p>
            <a:r>
              <a:rPr lang="es-AR" b="1" dirty="0">
                <a:hlinkClick r:id="rId4"/>
              </a:rPr>
              <a:t>https://docs.oracle.com/en/java/javase/24/index.html</a:t>
            </a:r>
            <a:endParaRPr lang="es-AR" dirty="0"/>
          </a:p>
        </p:txBody>
      </p:sp>
      <p:pic>
        <p:nvPicPr>
          <p:cNvPr id="4" name="Imagen 3">
            <a:extLst>
              <a:ext uri="{FF2B5EF4-FFF2-40B4-BE49-F238E27FC236}">
                <a16:creationId xmlns:a16="http://schemas.microsoft.com/office/drawing/2014/main" id="{7E89F906-3FC3-44EF-06A6-FC5423BC3F04}"/>
              </a:ext>
            </a:extLst>
          </p:cNvPr>
          <p:cNvPicPr>
            <a:picLocks noChangeAspect="1"/>
          </p:cNvPicPr>
          <p:nvPr/>
        </p:nvPicPr>
        <p:blipFill>
          <a:blip r:embed="rId5"/>
          <a:stretch>
            <a:fillRect/>
          </a:stretch>
        </p:blipFill>
        <p:spPr>
          <a:xfrm>
            <a:off x="10184257" y="757082"/>
            <a:ext cx="971423" cy="502297"/>
          </a:xfrm>
          <a:prstGeom prst="rect">
            <a:avLst/>
          </a:prstGeom>
        </p:spPr>
      </p:pic>
      <p:sp>
        <p:nvSpPr>
          <p:cNvPr id="5" name="Marcador de número de diapositiva 4">
            <a:extLst>
              <a:ext uri="{FF2B5EF4-FFF2-40B4-BE49-F238E27FC236}">
                <a16:creationId xmlns:a16="http://schemas.microsoft.com/office/drawing/2014/main" id="{FB829EA6-F590-9272-1927-80C6710C5919}"/>
              </a:ext>
            </a:extLst>
          </p:cNvPr>
          <p:cNvSpPr>
            <a:spLocks noGrp="1"/>
          </p:cNvSpPr>
          <p:nvPr>
            <p:ph type="sldNum" sz="quarter" idx="12"/>
          </p:nvPr>
        </p:nvSpPr>
        <p:spPr/>
        <p:txBody>
          <a:bodyPr/>
          <a:lstStyle/>
          <a:p>
            <a:fld id="{6C8ECD1B-3F01-46F8-A46F-31A31EFC5ABF}" type="slidenum">
              <a:rPr lang="es-AR" smtClean="0"/>
              <a:t>25</a:t>
            </a:fld>
            <a:endParaRPr lang="es-AR"/>
          </a:p>
        </p:txBody>
      </p:sp>
      <p:pic>
        <p:nvPicPr>
          <p:cNvPr id="9" name="Imagen 8">
            <a:extLst>
              <a:ext uri="{FF2B5EF4-FFF2-40B4-BE49-F238E27FC236}">
                <a16:creationId xmlns:a16="http://schemas.microsoft.com/office/drawing/2014/main" id="{B0DDEE95-9B47-D4DB-1969-BC406F7F1DDA}"/>
              </a:ext>
            </a:extLst>
          </p:cNvPr>
          <p:cNvPicPr>
            <a:picLocks noChangeAspect="1"/>
          </p:cNvPicPr>
          <p:nvPr/>
        </p:nvPicPr>
        <p:blipFill>
          <a:blip r:embed="rId6"/>
          <a:stretch>
            <a:fillRect/>
          </a:stretch>
        </p:blipFill>
        <p:spPr>
          <a:xfrm>
            <a:off x="5828949" y="2233718"/>
            <a:ext cx="4841019" cy="3247391"/>
          </a:xfrm>
          <a:prstGeom prst="rect">
            <a:avLst/>
          </a:prstGeom>
        </p:spPr>
      </p:pic>
    </p:spTree>
    <p:extLst>
      <p:ext uri="{BB962C8B-B14F-4D97-AF65-F5344CB8AC3E}">
        <p14:creationId xmlns:p14="http://schemas.microsoft.com/office/powerpoint/2010/main" val="106750780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0C9C99-6B9D-6686-72C7-8D00E9F7D39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EA0D557-1B43-D22C-77BE-2C9C34EC2EC9}"/>
              </a:ext>
            </a:extLst>
          </p:cNvPr>
          <p:cNvSpPr>
            <a:spLocks noGrp="1"/>
          </p:cNvSpPr>
          <p:nvPr>
            <p:ph type="title"/>
          </p:nvPr>
        </p:nvSpPr>
        <p:spPr/>
        <p:txBody>
          <a:bodyPr/>
          <a:lstStyle/>
          <a:p>
            <a:r>
              <a:rPr lang="es-AR" dirty="0"/>
              <a:t>Preparando el ambiente JAVA</a:t>
            </a:r>
          </a:p>
        </p:txBody>
      </p:sp>
      <p:sp>
        <p:nvSpPr>
          <p:cNvPr id="3" name="Marcador de contenido 2">
            <a:extLst>
              <a:ext uri="{FF2B5EF4-FFF2-40B4-BE49-F238E27FC236}">
                <a16:creationId xmlns:a16="http://schemas.microsoft.com/office/drawing/2014/main" id="{92C1021F-EAE0-99B9-2BAE-C3CC4A519AA3}"/>
              </a:ext>
            </a:extLst>
          </p:cNvPr>
          <p:cNvSpPr>
            <a:spLocks noGrp="1"/>
          </p:cNvSpPr>
          <p:nvPr>
            <p:ph idx="1"/>
          </p:nvPr>
        </p:nvSpPr>
        <p:spPr/>
        <p:txBody>
          <a:bodyPr/>
          <a:lstStyle/>
          <a:p>
            <a:r>
              <a:rPr lang="es-AR" b="1" dirty="0"/>
              <a:t> </a:t>
            </a:r>
          </a:p>
          <a:p>
            <a:endParaRPr lang="es-AR" dirty="0"/>
          </a:p>
          <a:p>
            <a:endParaRPr lang="es-AR" dirty="0"/>
          </a:p>
          <a:p>
            <a:pPr marL="0" indent="0">
              <a:buNone/>
            </a:pPr>
            <a:endParaRPr lang="es-AR" dirty="0"/>
          </a:p>
          <a:p>
            <a:pPr marL="0" indent="0">
              <a:buNone/>
            </a:pPr>
            <a:endParaRPr lang="es-AR" dirty="0"/>
          </a:p>
        </p:txBody>
      </p:sp>
      <p:pic>
        <p:nvPicPr>
          <p:cNvPr id="4" name="Imagen 3">
            <a:extLst>
              <a:ext uri="{FF2B5EF4-FFF2-40B4-BE49-F238E27FC236}">
                <a16:creationId xmlns:a16="http://schemas.microsoft.com/office/drawing/2014/main" id="{8F3AFB98-E400-F73D-742D-9C93FC38C039}"/>
              </a:ext>
            </a:extLst>
          </p:cNvPr>
          <p:cNvPicPr>
            <a:picLocks noChangeAspect="1"/>
          </p:cNvPicPr>
          <p:nvPr/>
        </p:nvPicPr>
        <p:blipFill>
          <a:blip r:embed="rId3"/>
          <a:stretch>
            <a:fillRect/>
          </a:stretch>
        </p:blipFill>
        <p:spPr>
          <a:xfrm>
            <a:off x="10184257" y="757082"/>
            <a:ext cx="971423" cy="502297"/>
          </a:xfrm>
          <a:prstGeom prst="rect">
            <a:avLst/>
          </a:prstGeom>
        </p:spPr>
      </p:pic>
      <p:sp>
        <p:nvSpPr>
          <p:cNvPr id="5" name="Marcador de número de diapositiva 4">
            <a:extLst>
              <a:ext uri="{FF2B5EF4-FFF2-40B4-BE49-F238E27FC236}">
                <a16:creationId xmlns:a16="http://schemas.microsoft.com/office/drawing/2014/main" id="{0E5C86D8-3CF3-8731-62CD-8CDE555BC6F6}"/>
              </a:ext>
            </a:extLst>
          </p:cNvPr>
          <p:cNvSpPr>
            <a:spLocks noGrp="1"/>
          </p:cNvSpPr>
          <p:nvPr>
            <p:ph type="sldNum" sz="quarter" idx="12"/>
          </p:nvPr>
        </p:nvSpPr>
        <p:spPr/>
        <p:txBody>
          <a:bodyPr/>
          <a:lstStyle/>
          <a:p>
            <a:fld id="{6C8ECD1B-3F01-46F8-A46F-31A31EFC5ABF}" type="slidenum">
              <a:rPr lang="es-AR" smtClean="0"/>
              <a:t>26</a:t>
            </a:fld>
            <a:endParaRPr lang="es-AR"/>
          </a:p>
        </p:txBody>
      </p:sp>
      <p:pic>
        <p:nvPicPr>
          <p:cNvPr id="13" name="Imagen 12">
            <a:extLst>
              <a:ext uri="{FF2B5EF4-FFF2-40B4-BE49-F238E27FC236}">
                <a16:creationId xmlns:a16="http://schemas.microsoft.com/office/drawing/2014/main" id="{2DD71E23-7AC9-EACB-667D-F54774CC079D}"/>
              </a:ext>
            </a:extLst>
          </p:cNvPr>
          <p:cNvPicPr>
            <a:picLocks noChangeAspect="1"/>
          </p:cNvPicPr>
          <p:nvPr/>
        </p:nvPicPr>
        <p:blipFill>
          <a:blip r:embed="rId4"/>
          <a:stretch>
            <a:fillRect/>
          </a:stretch>
        </p:blipFill>
        <p:spPr>
          <a:xfrm>
            <a:off x="3116580" y="2825750"/>
            <a:ext cx="6019800" cy="1562100"/>
          </a:xfrm>
          <a:prstGeom prst="rect">
            <a:avLst/>
          </a:prstGeom>
        </p:spPr>
      </p:pic>
    </p:spTree>
    <p:extLst>
      <p:ext uri="{BB962C8B-B14F-4D97-AF65-F5344CB8AC3E}">
        <p14:creationId xmlns:p14="http://schemas.microsoft.com/office/powerpoint/2010/main" val="425041208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9D3D9C-0344-C1B8-FE91-3D0FA9A6420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8CF3783-1E6A-719D-3CC7-42520E09FDCB}"/>
              </a:ext>
            </a:extLst>
          </p:cNvPr>
          <p:cNvSpPr>
            <a:spLocks noGrp="1"/>
          </p:cNvSpPr>
          <p:nvPr>
            <p:ph type="title"/>
          </p:nvPr>
        </p:nvSpPr>
        <p:spPr/>
        <p:txBody>
          <a:bodyPr/>
          <a:lstStyle/>
          <a:p>
            <a:r>
              <a:rPr lang="es-AR" dirty="0"/>
              <a:t>Preparando el ambiente IDE</a:t>
            </a:r>
          </a:p>
        </p:txBody>
      </p:sp>
      <p:sp>
        <p:nvSpPr>
          <p:cNvPr id="3" name="Marcador de contenido 2">
            <a:extLst>
              <a:ext uri="{FF2B5EF4-FFF2-40B4-BE49-F238E27FC236}">
                <a16:creationId xmlns:a16="http://schemas.microsoft.com/office/drawing/2014/main" id="{10C79D9B-74CE-140A-1605-11774C64F3E0}"/>
              </a:ext>
            </a:extLst>
          </p:cNvPr>
          <p:cNvSpPr>
            <a:spLocks noGrp="1"/>
          </p:cNvSpPr>
          <p:nvPr>
            <p:ph idx="1"/>
          </p:nvPr>
        </p:nvSpPr>
        <p:spPr/>
        <p:txBody>
          <a:bodyPr/>
          <a:lstStyle/>
          <a:p>
            <a:r>
              <a:rPr lang="es-AR" b="1" dirty="0"/>
              <a:t>Descargar IntelliJ IDEA </a:t>
            </a:r>
          </a:p>
          <a:p>
            <a:r>
              <a:rPr lang="es-AR" dirty="0">
                <a:hlinkClick r:id="rId3"/>
              </a:rPr>
              <a:t>https://www.jetbrains.com/es-es/idea/download/?section=windows</a:t>
            </a:r>
            <a:endParaRPr lang="es-AR" dirty="0"/>
          </a:p>
          <a:p>
            <a:endParaRPr lang="es-AR" dirty="0"/>
          </a:p>
          <a:p>
            <a:r>
              <a:rPr lang="es-AR" b="1" dirty="0"/>
              <a:t>Registrarse con correo UADE</a:t>
            </a:r>
            <a:endParaRPr lang="es-AR" dirty="0"/>
          </a:p>
          <a:p>
            <a:pPr marL="0" indent="0">
              <a:buNone/>
            </a:pPr>
            <a:endParaRPr lang="es-AR" dirty="0"/>
          </a:p>
          <a:p>
            <a:pPr marL="0" indent="0">
              <a:buNone/>
            </a:pPr>
            <a:endParaRPr lang="es-AR" dirty="0"/>
          </a:p>
        </p:txBody>
      </p:sp>
      <p:pic>
        <p:nvPicPr>
          <p:cNvPr id="4" name="Imagen 3">
            <a:extLst>
              <a:ext uri="{FF2B5EF4-FFF2-40B4-BE49-F238E27FC236}">
                <a16:creationId xmlns:a16="http://schemas.microsoft.com/office/drawing/2014/main" id="{AE5BDEB3-81E1-2AD7-CCB8-DCF0E8D8CE06}"/>
              </a:ext>
            </a:extLst>
          </p:cNvPr>
          <p:cNvPicPr>
            <a:picLocks noChangeAspect="1"/>
          </p:cNvPicPr>
          <p:nvPr/>
        </p:nvPicPr>
        <p:blipFill>
          <a:blip r:embed="rId4"/>
          <a:stretch>
            <a:fillRect/>
          </a:stretch>
        </p:blipFill>
        <p:spPr>
          <a:xfrm>
            <a:off x="10184257" y="757082"/>
            <a:ext cx="971423" cy="502297"/>
          </a:xfrm>
          <a:prstGeom prst="rect">
            <a:avLst/>
          </a:prstGeom>
        </p:spPr>
      </p:pic>
      <p:sp>
        <p:nvSpPr>
          <p:cNvPr id="5" name="Marcador de número de diapositiva 4">
            <a:extLst>
              <a:ext uri="{FF2B5EF4-FFF2-40B4-BE49-F238E27FC236}">
                <a16:creationId xmlns:a16="http://schemas.microsoft.com/office/drawing/2014/main" id="{4CD0BD38-3CFF-5950-8E7A-9A2F2439A7F9}"/>
              </a:ext>
            </a:extLst>
          </p:cNvPr>
          <p:cNvSpPr>
            <a:spLocks noGrp="1"/>
          </p:cNvSpPr>
          <p:nvPr>
            <p:ph type="sldNum" sz="quarter" idx="12"/>
          </p:nvPr>
        </p:nvSpPr>
        <p:spPr/>
        <p:txBody>
          <a:bodyPr/>
          <a:lstStyle/>
          <a:p>
            <a:fld id="{6C8ECD1B-3F01-46F8-A46F-31A31EFC5ABF}" type="slidenum">
              <a:rPr lang="es-AR" smtClean="0"/>
              <a:t>27</a:t>
            </a:fld>
            <a:endParaRPr lang="es-AR"/>
          </a:p>
        </p:txBody>
      </p:sp>
      <p:pic>
        <p:nvPicPr>
          <p:cNvPr id="7" name="Imagen 6">
            <a:extLst>
              <a:ext uri="{FF2B5EF4-FFF2-40B4-BE49-F238E27FC236}">
                <a16:creationId xmlns:a16="http://schemas.microsoft.com/office/drawing/2014/main" id="{7E7EA9B9-B490-8716-30BB-750E9EFFF3AD}"/>
              </a:ext>
            </a:extLst>
          </p:cNvPr>
          <p:cNvPicPr>
            <a:picLocks noChangeAspect="1"/>
          </p:cNvPicPr>
          <p:nvPr/>
        </p:nvPicPr>
        <p:blipFill>
          <a:blip r:embed="rId5"/>
          <a:stretch>
            <a:fillRect/>
          </a:stretch>
        </p:blipFill>
        <p:spPr>
          <a:xfrm>
            <a:off x="4606153" y="2718120"/>
            <a:ext cx="6549527" cy="3179762"/>
          </a:xfrm>
          <a:prstGeom prst="rect">
            <a:avLst/>
          </a:prstGeom>
        </p:spPr>
      </p:pic>
    </p:spTree>
    <p:extLst>
      <p:ext uri="{BB962C8B-B14F-4D97-AF65-F5344CB8AC3E}">
        <p14:creationId xmlns:p14="http://schemas.microsoft.com/office/powerpoint/2010/main" val="359733562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691331-6390-8C17-5F17-A610F1C36E3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0905C99-1D7D-840B-D8F7-17D99AD408D5}"/>
              </a:ext>
            </a:extLst>
          </p:cNvPr>
          <p:cNvSpPr>
            <a:spLocks noGrp="1"/>
          </p:cNvSpPr>
          <p:nvPr>
            <p:ph type="title"/>
          </p:nvPr>
        </p:nvSpPr>
        <p:spPr/>
        <p:txBody>
          <a:bodyPr/>
          <a:lstStyle/>
          <a:p>
            <a:r>
              <a:rPr lang="es-AR" dirty="0"/>
              <a:t>Preparando el ambiente IDE</a:t>
            </a:r>
          </a:p>
        </p:txBody>
      </p:sp>
      <p:sp>
        <p:nvSpPr>
          <p:cNvPr id="3" name="Marcador de contenido 2">
            <a:extLst>
              <a:ext uri="{FF2B5EF4-FFF2-40B4-BE49-F238E27FC236}">
                <a16:creationId xmlns:a16="http://schemas.microsoft.com/office/drawing/2014/main" id="{5DEC0091-AE58-5265-8F46-AC21B23DD7D5}"/>
              </a:ext>
            </a:extLst>
          </p:cNvPr>
          <p:cNvSpPr>
            <a:spLocks noGrp="1"/>
          </p:cNvSpPr>
          <p:nvPr>
            <p:ph idx="1"/>
          </p:nvPr>
        </p:nvSpPr>
        <p:spPr/>
        <p:txBody>
          <a:bodyPr/>
          <a:lstStyle/>
          <a:p>
            <a:pPr marL="0" indent="0">
              <a:buNone/>
            </a:pPr>
            <a:endParaRPr lang="es-AR" dirty="0"/>
          </a:p>
          <a:p>
            <a:pPr marL="0" indent="0">
              <a:buNone/>
            </a:pPr>
            <a:endParaRPr lang="es-AR" dirty="0"/>
          </a:p>
        </p:txBody>
      </p:sp>
      <p:pic>
        <p:nvPicPr>
          <p:cNvPr id="4" name="Imagen 3">
            <a:extLst>
              <a:ext uri="{FF2B5EF4-FFF2-40B4-BE49-F238E27FC236}">
                <a16:creationId xmlns:a16="http://schemas.microsoft.com/office/drawing/2014/main" id="{E66C6AB1-2A27-0CD9-340A-5CD5B9286C9C}"/>
              </a:ext>
            </a:extLst>
          </p:cNvPr>
          <p:cNvPicPr>
            <a:picLocks noChangeAspect="1"/>
          </p:cNvPicPr>
          <p:nvPr/>
        </p:nvPicPr>
        <p:blipFill>
          <a:blip r:embed="rId3"/>
          <a:stretch>
            <a:fillRect/>
          </a:stretch>
        </p:blipFill>
        <p:spPr>
          <a:xfrm>
            <a:off x="10184257" y="757082"/>
            <a:ext cx="971423" cy="502297"/>
          </a:xfrm>
          <a:prstGeom prst="rect">
            <a:avLst/>
          </a:prstGeom>
        </p:spPr>
      </p:pic>
      <p:sp>
        <p:nvSpPr>
          <p:cNvPr id="5" name="Marcador de número de diapositiva 4">
            <a:extLst>
              <a:ext uri="{FF2B5EF4-FFF2-40B4-BE49-F238E27FC236}">
                <a16:creationId xmlns:a16="http://schemas.microsoft.com/office/drawing/2014/main" id="{486B21BB-5E4A-5316-D31E-2079A102F7D9}"/>
              </a:ext>
            </a:extLst>
          </p:cNvPr>
          <p:cNvSpPr>
            <a:spLocks noGrp="1"/>
          </p:cNvSpPr>
          <p:nvPr>
            <p:ph type="sldNum" sz="quarter" idx="12"/>
          </p:nvPr>
        </p:nvSpPr>
        <p:spPr/>
        <p:txBody>
          <a:bodyPr/>
          <a:lstStyle/>
          <a:p>
            <a:fld id="{6C8ECD1B-3F01-46F8-A46F-31A31EFC5ABF}" type="slidenum">
              <a:rPr lang="es-AR" smtClean="0"/>
              <a:t>28</a:t>
            </a:fld>
            <a:endParaRPr lang="es-AR"/>
          </a:p>
        </p:txBody>
      </p:sp>
      <p:pic>
        <p:nvPicPr>
          <p:cNvPr id="8" name="Imagen 7">
            <a:extLst>
              <a:ext uri="{FF2B5EF4-FFF2-40B4-BE49-F238E27FC236}">
                <a16:creationId xmlns:a16="http://schemas.microsoft.com/office/drawing/2014/main" id="{1B63F1F6-7BCF-DFDB-CCDA-5FCA91B53B7B}"/>
              </a:ext>
            </a:extLst>
          </p:cNvPr>
          <p:cNvPicPr>
            <a:picLocks noChangeAspect="1"/>
          </p:cNvPicPr>
          <p:nvPr/>
        </p:nvPicPr>
        <p:blipFill>
          <a:blip r:embed="rId4"/>
          <a:stretch>
            <a:fillRect/>
          </a:stretch>
        </p:blipFill>
        <p:spPr>
          <a:xfrm>
            <a:off x="3121910" y="2141080"/>
            <a:ext cx="5948180" cy="4023360"/>
          </a:xfrm>
          <a:prstGeom prst="rect">
            <a:avLst/>
          </a:prstGeom>
        </p:spPr>
      </p:pic>
    </p:spTree>
    <p:extLst>
      <p:ext uri="{BB962C8B-B14F-4D97-AF65-F5344CB8AC3E}">
        <p14:creationId xmlns:p14="http://schemas.microsoft.com/office/powerpoint/2010/main" val="23335896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EF76E0-98C7-406D-20F7-E3718AD2D2C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A99DA90-01CB-101A-0089-5C8A2C11D41A}"/>
              </a:ext>
            </a:extLst>
          </p:cNvPr>
          <p:cNvSpPr>
            <a:spLocks noGrp="1"/>
          </p:cNvSpPr>
          <p:nvPr>
            <p:ph type="title"/>
          </p:nvPr>
        </p:nvSpPr>
        <p:spPr/>
        <p:txBody>
          <a:bodyPr>
            <a:normAutofit/>
          </a:bodyPr>
          <a:lstStyle/>
          <a:p>
            <a:r>
              <a:rPr lang="es-AR" dirty="0"/>
              <a:t>Ejercicio 1</a:t>
            </a:r>
            <a:br>
              <a:rPr lang="es-AR" dirty="0"/>
            </a:br>
            <a:r>
              <a:rPr lang="es-AR" sz="2200" dirty="0"/>
              <a:t>Programar, compilar y ejecutar código JAVA desde una terminal</a:t>
            </a:r>
            <a:r>
              <a:rPr lang="es-AR" dirty="0"/>
              <a:t>  </a:t>
            </a:r>
          </a:p>
        </p:txBody>
      </p:sp>
      <p:pic>
        <p:nvPicPr>
          <p:cNvPr id="4" name="Imagen 3">
            <a:extLst>
              <a:ext uri="{FF2B5EF4-FFF2-40B4-BE49-F238E27FC236}">
                <a16:creationId xmlns:a16="http://schemas.microsoft.com/office/drawing/2014/main" id="{1BD2DC44-522F-9D78-D7DE-C6D5A8D2541D}"/>
              </a:ext>
            </a:extLst>
          </p:cNvPr>
          <p:cNvPicPr>
            <a:picLocks noChangeAspect="1"/>
          </p:cNvPicPr>
          <p:nvPr/>
        </p:nvPicPr>
        <p:blipFill>
          <a:blip r:embed="rId3"/>
          <a:stretch>
            <a:fillRect/>
          </a:stretch>
        </p:blipFill>
        <p:spPr>
          <a:xfrm>
            <a:off x="10184257" y="757082"/>
            <a:ext cx="971423" cy="502297"/>
          </a:xfrm>
          <a:prstGeom prst="rect">
            <a:avLst/>
          </a:prstGeom>
        </p:spPr>
      </p:pic>
      <p:sp>
        <p:nvSpPr>
          <p:cNvPr id="5" name="Marcador de número de diapositiva 4">
            <a:extLst>
              <a:ext uri="{FF2B5EF4-FFF2-40B4-BE49-F238E27FC236}">
                <a16:creationId xmlns:a16="http://schemas.microsoft.com/office/drawing/2014/main" id="{57C0B193-8B6D-0140-DC98-6B6B05D089D2}"/>
              </a:ext>
            </a:extLst>
          </p:cNvPr>
          <p:cNvSpPr>
            <a:spLocks noGrp="1"/>
          </p:cNvSpPr>
          <p:nvPr>
            <p:ph type="sldNum" sz="quarter" idx="12"/>
          </p:nvPr>
        </p:nvSpPr>
        <p:spPr/>
        <p:txBody>
          <a:bodyPr/>
          <a:lstStyle/>
          <a:p>
            <a:fld id="{6C8ECD1B-3F01-46F8-A46F-31A31EFC5ABF}" type="slidenum">
              <a:rPr lang="es-AR" smtClean="0"/>
              <a:t>29</a:t>
            </a:fld>
            <a:endParaRPr lang="es-AR"/>
          </a:p>
        </p:txBody>
      </p:sp>
      <p:pic>
        <p:nvPicPr>
          <p:cNvPr id="14" name="Imagen 13">
            <a:extLst>
              <a:ext uri="{FF2B5EF4-FFF2-40B4-BE49-F238E27FC236}">
                <a16:creationId xmlns:a16="http://schemas.microsoft.com/office/drawing/2014/main" id="{C2DDD7C8-9D96-3720-8D78-46136B489E90}"/>
              </a:ext>
            </a:extLst>
          </p:cNvPr>
          <p:cNvPicPr>
            <a:picLocks noChangeAspect="1"/>
          </p:cNvPicPr>
          <p:nvPr/>
        </p:nvPicPr>
        <p:blipFill>
          <a:blip r:embed="rId4"/>
          <a:stretch>
            <a:fillRect/>
          </a:stretch>
        </p:blipFill>
        <p:spPr>
          <a:xfrm>
            <a:off x="1097280" y="1874485"/>
            <a:ext cx="4724400" cy="4352925"/>
          </a:xfrm>
          <a:prstGeom prst="rect">
            <a:avLst/>
          </a:prstGeom>
        </p:spPr>
      </p:pic>
      <p:sp>
        <p:nvSpPr>
          <p:cNvPr id="15" name="Marcador de contenido 2">
            <a:extLst>
              <a:ext uri="{FF2B5EF4-FFF2-40B4-BE49-F238E27FC236}">
                <a16:creationId xmlns:a16="http://schemas.microsoft.com/office/drawing/2014/main" id="{5423B190-3322-DA73-FCA9-082284D28D5F}"/>
              </a:ext>
            </a:extLst>
          </p:cNvPr>
          <p:cNvSpPr>
            <a:spLocks noGrp="1"/>
          </p:cNvSpPr>
          <p:nvPr>
            <p:ph idx="1"/>
          </p:nvPr>
        </p:nvSpPr>
        <p:spPr>
          <a:xfrm>
            <a:off x="6465570" y="3948349"/>
            <a:ext cx="4629150" cy="300446"/>
          </a:xfrm>
        </p:spPr>
        <p:txBody>
          <a:bodyPr>
            <a:normAutofit fontScale="85000" lnSpcReduction="20000"/>
          </a:bodyPr>
          <a:lstStyle/>
          <a:p>
            <a:pPr marL="0" indent="0" algn="just">
              <a:buNone/>
            </a:pPr>
            <a:r>
              <a:rPr lang="es-AR" dirty="0"/>
              <a:t>https://www.onlinegdb.com/online_java_compiler</a:t>
            </a:r>
          </a:p>
          <a:p>
            <a:pPr marL="0" indent="0">
              <a:buNone/>
            </a:pPr>
            <a:endParaRPr lang="es-AR" dirty="0"/>
          </a:p>
        </p:txBody>
      </p:sp>
    </p:spTree>
    <p:extLst>
      <p:ext uri="{BB962C8B-B14F-4D97-AF65-F5344CB8AC3E}">
        <p14:creationId xmlns:p14="http://schemas.microsoft.com/office/powerpoint/2010/main" val="318166591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06A4EF-F932-0EC0-DA60-DB0B2507C40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FF0144C-D7F7-1A1F-E254-F283EB4DE38A}"/>
              </a:ext>
            </a:extLst>
          </p:cNvPr>
          <p:cNvSpPr>
            <a:spLocks noGrp="1"/>
          </p:cNvSpPr>
          <p:nvPr>
            <p:ph type="title"/>
          </p:nvPr>
        </p:nvSpPr>
        <p:spPr/>
        <p:txBody>
          <a:bodyPr>
            <a:normAutofit/>
          </a:bodyPr>
          <a:lstStyle/>
          <a:p>
            <a:r>
              <a:rPr lang="es-AR" dirty="0"/>
              <a:t>Ejercicio 2</a:t>
            </a:r>
            <a:br>
              <a:rPr lang="es-AR" dirty="0"/>
            </a:br>
            <a:r>
              <a:rPr lang="es-AR" sz="2200" dirty="0"/>
              <a:t>Usar objetos</a:t>
            </a:r>
            <a:endParaRPr lang="es-AR" dirty="0"/>
          </a:p>
        </p:txBody>
      </p:sp>
      <p:pic>
        <p:nvPicPr>
          <p:cNvPr id="4" name="Imagen 3">
            <a:extLst>
              <a:ext uri="{FF2B5EF4-FFF2-40B4-BE49-F238E27FC236}">
                <a16:creationId xmlns:a16="http://schemas.microsoft.com/office/drawing/2014/main" id="{0D27540C-574C-5CB9-51F9-5F960E4FE13B}"/>
              </a:ext>
            </a:extLst>
          </p:cNvPr>
          <p:cNvPicPr>
            <a:picLocks noChangeAspect="1"/>
          </p:cNvPicPr>
          <p:nvPr/>
        </p:nvPicPr>
        <p:blipFill>
          <a:blip r:embed="rId3"/>
          <a:stretch>
            <a:fillRect/>
          </a:stretch>
        </p:blipFill>
        <p:spPr>
          <a:xfrm>
            <a:off x="10184257" y="757082"/>
            <a:ext cx="971423" cy="502297"/>
          </a:xfrm>
          <a:prstGeom prst="rect">
            <a:avLst/>
          </a:prstGeom>
        </p:spPr>
      </p:pic>
      <p:sp>
        <p:nvSpPr>
          <p:cNvPr id="5" name="Marcador de número de diapositiva 4">
            <a:extLst>
              <a:ext uri="{FF2B5EF4-FFF2-40B4-BE49-F238E27FC236}">
                <a16:creationId xmlns:a16="http://schemas.microsoft.com/office/drawing/2014/main" id="{F6FA7DA3-84B5-5BFB-ACBA-3B7C5B06B791}"/>
              </a:ext>
            </a:extLst>
          </p:cNvPr>
          <p:cNvSpPr>
            <a:spLocks noGrp="1"/>
          </p:cNvSpPr>
          <p:nvPr>
            <p:ph type="sldNum" sz="quarter" idx="12"/>
          </p:nvPr>
        </p:nvSpPr>
        <p:spPr/>
        <p:txBody>
          <a:bodyPr/>
          <a:lstStyle/>
          <a:p>
            <a:fld id="{6C8ECD1B-3F01-46F8-A46F-31A31EFC5ABF}" type="slidenum">
              <a:rPr lang="es-AR" smtClean="0"/>
              <a:t>30</a:t>
            </a:fld>
            <a:endParaRPr lang="es-AR"/>
          </a:p>
        </p:txBody>
      </p:sp>
      <p:sp>
        <p:nvSpPr>
          <p:cNvPr id="3" name="Marcador de contenido 2">
            <a:extLst>
              <a:ext uri="{FF2B5EF4-FFF2-40B4-BE49-F238E27FC236}">
                <a16:creationId xmlns:a16="http://schemas.microsoft.com/office/drawing/2014/main" id="{9178FE6D-3EEF-A8C5-3EE7-5B87434DDCD0}"/>
              </a:ext>
            </a:extLst>
          </p:cNvPr>
          <p:cNvSpPr>
            <a:spLocks noGrp="1"/>
          </p:cNvSpPr>
          <p:nvPr>
            <p:ph idx="1"/>
          </p:nvPr>
        </p:nvSpPr>
        <p:spPr>
          <a:xfrm>
            <a:off x="6526530" y="5592591"/>
            <a:ext cx="4629150" cy="300446"/>
          </a:xfrm>
        </p:spPr>
        <p:txBody>
          <a:bodyPr>
            <a:normAutofit fontScale="85000" lnSpcReduction="20000"/>
          </a:bodyPr>
          <a:lstStyle/>
          <a:p>
            <a:pPr marL="0" indent="0" algn="just">
              <a:buNone/>
            </a:pPr>
            <a:r>
              <a:rPr lang="es-AR" dirty="0"/>
              <a:t>https://www.onlinegdb.com/online_java_compiler</a:t>
            </a:r>
          </a:p>
          <a:p>
            <a:pPr marL="0" indent="0">
              <a:buNone/>
            </a:pPr>
            <a:endParaRPr lang="es-AR" dirty="0"/>
          </a:p>
        </p:txBody>
      </p:sp>
      <p:pic>
        <p:nvPicPr>
          <p:cNvPr id="7" name="Imagen 6">
            <a:extLst>
              <a:ext uri="{FF2B5EF4-FFF2-40B4-BE49-F238E27FC236}">
                <a16:creationId xmlns:a16="http://schemas.microsoft.com/office/drawing/2014/main" id="{DD0440EB-9565-6CDB-1B83-EDACE09200A6}"/>
              </a:ext>
            </a:extLst>
          </p:cNvPr>
          <p:cNvPicPr>
            <a:picLocks noChangeAspect="1"/>
          </p:cNvPicPr>
          <p:nvPr/>
        </p:nvPicPr>
        <p:blipFill>
          <a:blip r:embed="rId4"/>
          <a:stretch>
            <a:fillRect/>
          </a:stretch>
        </p:blipFill>
        <p:spPr>
          <a:xfrm>
            <a:off x="6831330" y="2464169"/>
            <a:ext cx="4362450" cy="2562225"/>
          </a:xfrm>
          <a:prstGeom prst="rect">
            <a:avLst/>
          </a:prstGeom>
        </p:spPr>
      </p:pic>
      <p:pic>
        <p:nvPicPr>
          <p:cNvPr id="9" name="Imagen 8">
            <a:extLst>
              <a:ext uri="{FF2B5EF4-FFF2-40B4-BE49-F238E27FC236}">
                <a16:creationId xmlns:a16="http://schemas.microsoft.com/office/drawing/2014/main" id="{B971E08B-C9C8-7970-8AA9-FC0359CE1E78}"/>
              </a:ext>
            </a:extLst>
          </p:cNvPr>
          <p:cNvPicPr>
            <a:picLocks noChangeAspect="1"/>
          </p:cNvPicPr>
          <p:nvPr/>
        </p:nvPicPr>
        <p:blipFill>
          <a:blip r:embed="rId5"/>
          <a:stretch>
            <a:fillRect/>
          </a:stretch>
        </p:blipFill>
        <p:spPr>
          <a:xfrm>
            <a:off x="1211580" y="2464169"/>
            <a:ext cx="5048002" cy="2302111"/>
          </a:xfrm>
          <a:prstGeom prst="rect">
            <a:avLst/>
          </a:prstGeom>
        </p:spPr>
      </p:pic>
      <p:sp>
        <p:nvSpPr>
          <p:cNvPr id="10" name="Marcador de contenido 6">
            <a:extLst>
              <a:ext uri="{FF2B5EF4-FFF2-40B4-BE49-F238E27FC236}">
                <a16:creationId xmlns:a16="http://schemas.microsoft.com/office/drawing/2014/main" id="{662E3642-333D-B7A7-F063-2C649C32DD1C}"/>
              </a:ext>
            </a:extLst>
          </p:cNvPr>
          <p:cNvSpPr txBox="1">
            <a:spLocks/>
          </p:cNvSpPr>
          <p:nvPr/>
        </p:nvSpPr>
        <p:spPr>
          <a:xfrm>
            <a:off x="1135380" y="1869677"/>
            <a:ext cx="10058400" cy="402336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s-AR" dirty="0"/>
              <a:t>Crear dos clases simples: Persona.java y Main.java.</a:t>
            </a:r>
          </a:p>
          <a:p>
            <a:endParaRPr lang="es-AR" dirty="0"/>
          </a:p>
          <a:p>
            <a:endParaRPr lang="es-AR" dirty="0"/>
          </a:p>
          <a:p>
            <a:endParaRPr lang="es-AR" dirty="0"/>
          </a:p>
          <a:p>
            <a:endParaRPr lang="es-AR" dirty="0"/>
          </a:p>
          <a:p>
            <a:endParaRPr lang="es-AR" dirty="0"/>
          </a:p>
          <a:p>
            <a:endParaRPr lang="es-AR" dirty="0"/>
          </a:p>
          <a:p>
            <a:r>
              <a:rPr lang="es-AR" dirty="0"/>
              <a:t>Para compilar : </a:t>
            </a:r>
            <a:r>
              <a:rPr lang="es-AR" dirty="0" err="1"/>
              <a:t>javac</a:t>
            </a:r>
            <a:r>
              <a:rPr lang="es-AR" dirty="0"/>
              <a:t> Persona.java Main.java</a:t>
            </a:r>
          </a:p>
          <a:p>
            <a:r>
              <a:rPr lang="es-AR" dirty="0"/>
              <a:t>Para ejecutar: java </a:t>
            </a:r>
            <a:r>
              <a:rPr lang="es-AR" dirty="0" err="1"/>
              <a:t>Main</a:t>
            </a:r>
            <a:endParaRPr lang="es-AR" dirty="0"/>
          </a:p>
          <a:p>
            <a:endParaRPr lang="es-AR" dirty="0"/>
          </a:p>
        </p:txBody>
      </p:sp>
    </p:spTree>
    <p:extLst>
      <p:ext uri="{BB962C8B-B14F-4D97-AF65-F5344CB8AC3E}">
        <p14:creationId xmlns:p14="http://schemas.microsoft.com/office/powerpoint/2010/main" val="349955627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AB91E0-20D7-FB97-BCEE-40B22F134AE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CA2C224-5FB7-3C65-C00B-D021F253ABC4}"/>
              </a:ext>
            </a:extLst>
          </p:cNvPr>
          <p:cNvSpPr>
            <a:spLocks noGrp="1"/>
          </p:cNvSpPr>
          <p:nvPr>
            <p:ph type="title"/>
          </p:nvPr>
        </p:nvSpPr>
        <p:spPr/>
        <p:txBody>
          <a:bodyPr>
            <a:normAutofit/>
          </a:bodyPr>
          <a:lstStyle/>
          <a:p>
            <a:r>
              <a:rPr lang="es-AR" dirty="0"/>
              <a:t>Ejercicio 3</a:t>
            </a:r>
            <a:br>
              <a:rPr lang="es-AR" dirty="0"/>
            </a:br>
            <a:r>
              <a:rPr lang="es-AR" sz="2200" dirty="0"/>
              <a:t>PARA RESOLVER Y PENSAR SIN COMPUTADORA</a:t>
            </a:r>
            <a:r>
              <a:rPr lang="es-AR" dirty="0"/>
              <a:t>  </a:t>
            </a:r>
          </a:p>
        </p:txBody>
      </p:sp>
      <p:pic>
        <p:nvPicPr>
          <p:cNvPr id="4" name="Imagen 3">
            <a:extLst>
              <a:ext uri="{FF2B5EF4-FFF2-40B4-BE49-F238E27FC236}">
                <a16:creationId xmlns:a16="http://schemas.microsoft.com/office/drawing/2014/main" id="{5D063C59-A31F-35F9-21D3-B9F65680AAEF}"/>
              </a:ext>
            </a:extLst>
          </p:cNvPr>
          <p:cNvPicPr>
            <a:picLocks noChangeAspect="1"/>
          </p:cNvPicPr>
          <p:nvPr/>
        </p:nvPicPr>
        <p:blipFill>
          <a:blip r:embed="rId3"/>
          <a:stretch>
            <a:fillRect/>
          </a:stretch>
        </p:blipFill>
        <p:spPr>
          <a:xfrm>
            <a:off x="10184257" y="757082"/>
            <a:ext cx="971423" cy="502297"/>
          </a:xfrm>
          <a:prstGeom prst="rect">
            <a:avLst/>
          </a:prstGeom>
        </p:spPr>
      </p:pic>
      <p:sp>
        <p:nvSpPr>
          <p:cNvPr id="5" name="Marcador de número de diapositiva 4">
            <a:extLst>
              <a:ext uri="{FF2B5EF4-FFF2-40B4-BE49-F238E27FC236}">
                <a16:creationId xmlns:a16="http://schemas.microsoft.com/office/drawing/2014/main" id="{B2F7C6E5-0317-C5C5-5B1E-18E8F90ECCD8}"/>
              </a:ext>
            </a:extLst>
          </p:cNvPr>
          <p:cNvSpPr>
            <a:spLocks noGrp="1"/>
          </p:cNvSpPr>
          <p:nvPr>
            <p:ph type="sldNum" sz="quarter" idx="12"/>
          </p:nvPr>
        </p:nvSpPr>
        <p:spPr/>
        <p:txBody>
          <a:bodyPr/>
          <a:lstStyle/>
          <a:p>
            <a:fld id="{6C8ECD1B-3F01-46F8-A46F-31A31EFC5ABF}" type="slidenum">
              <a:rPr lang="es-AR" smtClean="0"/>
              <a:t>31</a:t>
            </a:fld>
            <a:endParaRPr lang="es-AR"/>
          </a:p>
        </p:txBody>
      </p:sp>
      <p:sp>
        <p:nvSpPr>
          <p:cNvPr id="7" name="Marcador de contenido 6">
            <a:extLst>
              <a:ext uri="{FF2B5EF4-FFF2-40B4-BE49-F238E27FC236}">
                <a16:creationId xmlns:a16="http://schemas.microsoft.com/office/drawing/2014/main" id="{284CED3E-39C2-98B9-E83E-BA8E0D4DE674}"/>
              </a:ext>
            </a:extLst>
          </p:cNvPr>
          <p:cNvSpPr>
            <a:spLocks noGrp="1"/>
          </p:cNvSpPr>
          <p:nvPr>
            <p:ph idx="1"/>
          </p:nvPr>
        </p:nvSpPr>
        <p:spPr/>
        <p:txBody>
          <a:bodyPr/>
          <a:lstStyle/>
          <a:p>
            <a:r>
              <a:rPr lang="es-AR" dirty="0"/>
              <a:t>Malas prácticas, encontrar y corregir los errores en los siguientes programas:</a:t>
            </a:r>
          </a:p>
        </p:txBody>
      </p:sp>
      <p:pic>
        <p:nvPicPr>
          <p:cNvPr id="9" name="Imagen 8">
            <a:extLst>
              <a:ext uri="{FF2B5EF4-FFF2-40B4-BE49-F238E27FC236}">
                <a16:creationId xmlns:a16="http://schemas.microsoft.com/office/drawing/2014/main" id="{63DF5A84-6C10-2882-81A6-22848AB93E64}"/>
              </a:ext>
            </a:extLst>
          </p:cNvPr>
          <p:cNvPicPr>
            <a:picLocks noChangeAspect="1"/>
          </p:cNvPicPr>
          <p:nvPr/>
        </p:nvPicPr>
        <p:blipFill>
          <a:blip r:embed="rId4"/>
          <a:stretch>
            <a:fillRect/>
          </a:stretch>
        </p:blipFill>
        <p:spPr>
          <a:xfrm>
            <a:off x="3118485" y="2207331"/>
            <a:ext cx="5955030" cy="4100054"/>
          </a:xfrm>
          <a:prstGeom prst="rect">
            <a:avLst/>
          </a:prstGeom>
        </p:spPr>
      </p:pic>
    </p:spTree>
    <p:extLst>
      <p:ext uri="{BB962C8B-B14F-4D97-AF65-F5344CB8AC3E}">
        <p14:creationId xmlns:p14="http://schemas.microsoft.com/office/powerpoint/2010/main" val="245292912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E1E5B1-9A15-8B6B-B3CA-3D12D452EA1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00CCB50-7987-DD5B-D3C3-E046F68E3310}"/>
              </a:ext>
            </a:extLst>
          </p:cNvPr>
          <p:cNvSpPr>
            <a:spLocks noGrp="1"/>
          </p:cNvSpPr>
          <p:nvPr>
            <p:ph type="title"/>
          </p:nvPr>
        </p:nvSpPr>
        <p:spPr/>
        <p:txBody>
          <a:bodyPr>
            <a:normAutofit/>
          </a:bodyPr>
          <a:lstStyle/>
          <a:p>
            <a:r>
              <a:rPr lang="es-AR" dirty="0"/>
              <a:t>Ejercicio 3</a:t>
            </a:r>
            <a:br>
              <a:rPr lang="es-AR" dirty="0"/>
            </a:br>
            <a:r>
              <a:rPr lang="es-AR" sz="2200" dirty="0"/>
              <a:t>PARA RESOLVER Y PENSAR SIN COMPUTADORA</a:t>
            </a:r>
            <a:r>
              <a:rPr lang="es-AR" dirty="0"/>
              <a:t>  </a:t>
            </a:r>
          </a:p>
        </p:txBody>
      </p:sp>
      <p:pic>
        <p:nvPicPr>
          <p:cNvPr id="4" name="Imagen 3">
            <a:extLst>
              <a:ext uri="{FF2B5EF4-FFF2-40B4-BE49-F238E27FC236}">
                <a16:creationId xmlns:a16="http://schemas.microsoft.com/office/drawing/2014/main" id="{9081E14A-EBDA-261E-2C26-D8DACBAE9C48}"/>
              </a:ext>
            </a:extLst>
          </p:cNvPr>
          <p:cNvPicPr>
            <a:picLocks noChangeAspect="1"/>
          </p:cNvPicPr>
          <p:nvPr/>
        </p:nvPicPr>
        <p:blipFill>
          <a:blip r:embed="rId3"/>
          <a:stretch>
            <a:fillRect/>
          </a:stretch>
        </p:blipFill>
        <p:spPr>
          <a:xfrm>
            <a:off x="10184257" y="757082"/>
            <a:ext cx="971423" cy="502297"/>
          </a:xfrm>
          <a:prstGeom prst="rect">
            <a:avLst/>
          </a:prstGeom>
        </p:spPr>
      </p:pic>
      <p:sp>
        <p:nvSpPr>
          <p:cNvPr id="5" name="Marcador de número de diapositiva 4">
            <a:extLst>
              <a:ext uri="{FF2B5EF4-FFF2-40B4-BE49-F238E27FC236}">
                <a16:creationId xmlns:a16="http://schemas.microsoft.com/office/drawing/2014/main" id="{7B1D5CA6-66E7-E1C8-48D9-C4EEA5098F73}"/>
              </a:ext>
            </a:extLst>
          </p:cNvPr>
          <p:cNvSpPr>
            <a:spLocks noGrp="1"/>
          </p:cNvSpPr>
          <p:nvPr>
            <p:ph type="sldNum" sz="quarter" idx="12"/>
          </p:nvPr>
        </p:nvSpPr>
        <p:spPr/>
        <p:txBody>
          <a:bodyPr/>
          <a:lstStyle/>
          <a:p>
            <a:fld id="{6C8ECD1B-3F01-46F8-A46F-31A31EFC5ABF}" type="slidenum">
              <a:rPr lang="es-AR" smtClean="0"/>
              <a:t>32</a:t>
            </a:fld>
            <a:endParaRPr lang="es-AR"/>
          </a:p>
        </p:txBody>
      </p:sp>
      <p:sp>
        <p:nvSpPr>
          <p:cNvPr id="7" name="Marcador de contenido 6">
            <a:extLst>
              <a:ext uri="{FF2B5EF4-FFF2-40B4-BE49-F238E27FC236}">
                <a16:creationId xmlns:a16="http://schemas.microsoft.com/office/drawing/2014/main" id="{89E6508F-A291-953F-2E4B-CE0B9D6BF988}"/>
              </a:ext>
            </a:extLst>
          </p:cNvPr>
          <p:cNvSpPr>
            <a:spLocks noGrp="1"/>
          </p:cNvSpPr>
          <p:nvPr>
            <p:ph idx="1"/>
          </p:nvPr>
        </p:nvSpPr>
        <p:spPr/>
        <p:txBody>
          <a:bodyPr/>
          <a:lstStyle/>
          <a:p>
            <a:r>
              <a:rPr lang="es-AR" dirty="0"/>
              <a:t>Solución posible</a:t>
            </a:r>
          </a:p>
        </p:txBody>
      </p:sp>
      <p:pic>
        <p:nvPicPr>
          <p:cNvPr id="10" name="Imagen 9">
            <a:extLst>
              <a:ext uri="{FF2B5EF4-FFF2-40B4-BE49-F238E27FC236}">
                <a16:creationId xmlns:a16="http://schemas.microsoft.com/office/drawing/2014/main" id="{9D7531FA-8ACB-3074-33C5-31C9BB1076E2}"/>
              </a:ext>
            </a:extLst>
          </p:cNvPr>
          <p:cNvPicPr>
            <a:picLocks noChangeAspect="1"/>
          </p:cNvPicPr>
          <p:nvPr/>
        </p:nvPicPr>
        <p:blipFill>
          <a:blip r:embed="rId4"/>
          <a:stretch>
            <a:fillRect/>
          </a:stretch>
        </p:blipFill>
        <p:spPr>
          <a:xfrm>
            <a:off x="3059430" y="2465579"/>
            <a:ext cx="6134100" cy="3511889"/>
          </a:xfrm>
          <a:prstGeom prst="rect">
            <a:avLst/>
          </a:prstGeom>
        </p:spPr>
      </p:pic>
    </p:spTree>
    <p:extLst>
      <p:ext uri="{BB962C8B-B14F-4D97-AF65-F5344CB8AC3E}">
        <p14:creationId xmlns:p14="http://schemas.microsoft.com/office/powerpoint/2010/main" val="1096651218"/>
      </p:ext>
    </p:extLst>
  </p:cSld>
  <p:clrMapOvr>
    <a:masterClrMapping/>
  </p:clrMapOvr>
</p:sld>
</file>

<file path=ppt/theme/theme1.xml><?xml version="1.0" encoding="utf-8"?>
<a:theme xmlns:a="http://schemas.openxmlformats.org/drawingml/2006/main" name="Retrospección">
  <a:themeElements>
    <a:clrScheme name="Azul cálido">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Retrospección">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ción">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9CC26709-368C-4D72-9060-94E5B3FF3CD6}"/>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5084</TotalTime>
  <Words>2173</Words>
  <Application>Microsoft Office PowerPoint</Application>
  <PresentationFormat>Panorámica</PresentationFormat>
  <Paragraphs>192</Paragraphs>
  <Slides>32</Slides>
  <Notes>12</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32</vt:i4>
      </vt:variant>
    </vt:vector>
  </HeadingPairs>
  <TitlesOfParts>
    <vt:vector size="35" baseType="lpstr">
      <vt:lpstr>Calibri</vt:lpstr>
      <vt:lpstr>Calibri Light</vt:lpstr>
      <vt:lpstr>Retrospección</vt:lpstr>
      <vt:lpstr> PARADIGMA ORIENTADO A OBJETOS  Clase 2</vt:lpstr>
      <vt:lpstr>¿Qué vamos a ver hoy?</vt:lpstr>
      <vt:lpstr>Introducción al lenguaje Java</vt:lpstr>
      <vt:lpstr>Introducción al lenguaje Java</vt:lpstr>
      <vt:lpstr>JDK, JVM y JRE</vt:lpstr>
      <vt:lpstr>JDK, JVM y JRE</vt:lpstr>
      <vt:lpstr>JDK, JVM y JRE</vt:lpstr>
      <vt:lpstr>JDK, JVM y JRE</vt:lpstr>
      <vt:lpstr>JDK, JVM y JRE</vt:lpstr>
      <vt:lpstr>JDK, JVM y JRE</vt:lpstr>
      <vt:lpstr>JDK, JVM y JRE</vt:lpstr>
      <vt:lpstr>Ejecución en  Java</vt:lpstr>
      <vt:lpstr>Classpath</vt:lpstr>
      <vt:lpstr>Uso de convenciones de nomenclatura</vt:lpstr>
      <vt:lpstr>Uso de convenciones de nomenclatura</vt:lpstr>
      <vt:lpstr>Tipos de notación</vt:lpstr>
      <vt:lpstr>Palabras reservadas en JAVA</vt:lpstr>
      <vt:lpstr>Tipos de datos</vt:lpstr>
      <vt:lpstr>Tipos de datos</vt:lpstr>
      <vt:lpstr>Código java</vt:lpstr>
      <vt:lpstr>Preparando el ambiente JAVA</vt:lpstr>
      <vt:lpstr>Preparando el ambiente JAVA</vt:lpstr>
      <vt:lpstr>Preparando el ambiente JAVA</vt:lpstr>
      <vt:lpstr>Preparando el ambiente JAVA</vt:lpstr>
      <vt:lpstr>Preparando el ambiente</vt:lpstr>
      <vt:lpstr>Preparando el ambiente JAVA</vt:lpstr>
      <vt:lpstr>Preparando el ambiente IDE</vt:lpstr>
      <vt:lpstr>Preparando el ambiente IDE</vt:lpstr>
      <vt:lpstr>Ejercicio 1 Programar, compilar y ejecutar código JAVA desde una terminal  </vt:lpstr>
      <vt:lpstr>Ejercicio 2 Usar objetos</vt:lpstr>
      <vt:lpstr>Ejercicio 3 PARA RESOLVER Y PENSAR SIN COMPUTADORA  </vt:lpstr>
      <vt:lpstr>Ejercicio 3 PARA RESOLVER Y PENSAR SIN COMPUTADORA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Maximiliano</dc:creator>
  <cp:lastModifiedBy>maximiliano coedo</cp:lastModifiedBy>
  <cp:revision>37</cp:revision>
  <dcterms:created xsi:type="dcterms:W3CDTF">2025-03-04T22:20:11Z</dcterms:created>
  <dcterms:modified xsi:type="dcterms:W3CDTF">2025-08-12T15:00:01Z</dcterms:modified>
</cp:coreProperties>
</file>