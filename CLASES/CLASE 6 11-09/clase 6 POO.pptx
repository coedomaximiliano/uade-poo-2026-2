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84"/>
  </p:notesMasterIdLst>
  <p:sldIdLst>
    <p:sldId id="256" r:id="rId2"/>
    <p:sldId id="257" r:id="rId3"/>
    <p:sldId id="267" r:id="rId4"/>
    <p:sldId id="270" r:id="rId5"/>
    <p:sldId id="272" r:id="rId6"/>
    <p:sldId id="278" r:id="rId7"/>
    <p:sldId id="294" r:id="rId8"/>
    <p:sldId id="268" r:id="rId9"/>
    <p:sldId id="277" r:id="rId10"/>
    <p:sldId id="280" r:id="rId11"/>
    <p:sldId id="281" r:id="rId12"/>
    <p:sldId id="282" r:id="rId13"/>
    <p:sldId id="283" r:id="rId14"/>
    <p:sldId id="284" r:id="rId15"/>
    <p:sldId id="285" r:id="rId16"/>
    <p:sldId id="300" r:id="rId17"/>
    <p:sldId id="301" r:id="rId18"/>
    <p:sldId id="302" r:id="rId19"/>
    <p:sldId id="336" r:id="rId20"/>
    <p:sldId id="306" r:id="rId21"/>
    <p:sldId id="307" r:id="rId22"/>
    <p:sldId id="343" r:id="rId23"/>
    <p:sldId id="344" r:id="rId24"/>
    <p:sldId id="345" r:id="rId25"/>
    <p:sldId id="346" r:id="rId26"/>
    <p:sldId id="347" r:id="rId27"/>
    <p:sldId id="348" r:id="rId28"/>
    <p:sldId id="349" r:id="rId29"/>
    <p:sldId id="350" r:id="rId30"/>
    <p:sldId id="351" r:id="rId31"/>
    <p:sldId id="352" r:id="rId32"/>
    <p:sldId id="337" r:id="rId33"/>
    <p:sldId id="338" r:id="rId34"/>
    <p:sldId id="259" r:id="rId35"/>
    <p:sldId id="288" r:id="rId36"/>
    <p:sldId id="289" r:id="rId37"/>
    <p:sldId id="303" r:id="rId38"/>
    <p:sldId id="339" r:id="rId39"/>
    <p:sldId id="304" r:id="rId40"/>
    <p:sldId id="340" r:id="rId41"/>
    <p:sldId id="310" r:id="rId42"/>
    <p:sldId id="298" r:id="rId43"/>
    <p:sldId id="299" r:id="rId44"/>
    <p:sldId id="341" r:id="rId45"/>
    <p:sldId id="342" r:id="rId46"/>
    <p:sldId id="309" r:id="rId47"/>
    <p:sldId id="311" r:id="rId48"/>
    <p:sldId id="353" r:id="rId49"/>
    <p:sldId id="313" r:id="rId50"/>
    <p:sldId id="261" r:id="rId51"/>
    <p:sldId id="264" r:id="rId52"/>
    <p:sldId id="262" r:id="rId53"/>
    <p:sldId id="263" r:id="rId54"/>
    <p:sldId id="265" r:id="rId55"/>
    <p:sldId id="305" r:id="rId56"/>
    <p:sldId id="316" r:id="rId57"/>
    <p:sldId id="317" r:id="rId58"/>
    <p:sldId id="318" r:id="rId59"/>
    <p:sldId id="319" r:id="rId60"/>
    <p:sldId id="320" r:id="rId61"/>
    <p:sldId id="321" r:id="rId62"/>
    <p:sldId id="322" r:id="rId63"/>
    <p:sldId id="323" r:id="rId64"/>
    <p:sldId id="324" r:id="rId65"/>
    <p:sldId id="325" r:id="rId66"/>
    <p:sldId id="355" r:id="rId67"/>
    <p:sldId id="354" r:id="rId68"/>
    <p:sldId id="360" r:id="rId69"/>
    <p:sldId id="356" r:id="rId70"/>
    <p:sldId id="326" r:id="rId71"/>
    <p:sldId id="287" r:id="rId72"/>
    <p:sldId id="327" r:id="rId73"/>
    <p:sldId id="328" r:id="rId74"/>
    <p:sldId id="329" r:id="rId75"/>
    <p:sldId id="330" r:id="rId76"/>
    <p:sldId id="331" r:id="rId77"/>
    <p:sldId id="332" r:id="rId78"/>
    <p:sldId id="333" r:id="rId79"/>
    <p:sldId id="334" r:id="rId80"/>
    <p:sldId id="335" r:id="rId81"/>
    <p:sldId id="357" r:id="rId82"/>
    <p:sldId id="359" r:id="rId8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966" autoAdjust="0"/>
  </p:normalViewPr>
  <p:slideViewPr>
    <p:cSldViewPr snapToGrid="0">
      <p:cViewPr varScale="1">
        <p:scale>
          <a:sx n="103" d="100"/>
          <a:sy n="103" d="100"/>
        </p:scale>
        <p:origin x="87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F4B06C-CC8E-4D7C-B96D-EC7A919F13C4}" type="datetimeFigureOut">
              <a:rPr lang="es-AR" smtClean="0"/>
              <a:t>11/9/2026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C31C20-CFF6-4D02-9F93-8A584230D82D}" type="slidenum">
              <a:rPr lang="es-AR" smtClean="0"/>
              <a:t>‹Nº›</a:t>
            </a:fld>
            <a:endParaRPr lang="es-AR"/>
          </a:p>
        </p:txBody>
      </p:sp>
    </p:spTree>
    <p:extLst>
      <p:ext uri="{BB962C8B-B14F-4D97-AF65-F5344CB8AC3E}">
        <p14:creationId xmlns:p14="http://schemas.microsoft.com/office/powerpoint/2010/main" val="24121168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59C31C20-CFF6-4D02-9F93-8A584230D82D}" type="slidenum">
              <a:rPr lang="es-AR" smtClean="0"/>
              <a:t>1</a:t>
            </a:fld>
            <a:endParaRPr lang="es-AR"/>
          </a:p>
        </p:txBody>
      </p:sp>
    </p:spTree>
    <p:extLst>
      <p:ext uri="{BB962C8B-B14F-4D97-AF65-F5344CB8AC3E}">
        <p14:creationId xmlns:p14="http://schemas.microsoft.com/office/powerpoint/2010/main" val="31489675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29968-6E7B-D241-5335-D7D1B6B4750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8323C04-FB66-88AB-6864-097A80C95F4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53D2037-D293-FF6F-B079-6FD1BC6BC375}"/>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D884A39B-5005-58FA-51EB-1213E97F4881}"/>
              </a:ext>
            </a:extLst>
          </p:cNvPr>
          <p:cNvSpPr>
            <a:spLocks noGrp="1"/>
          </p:cNvSpPr>
          <p:nvPr>
            <p:ph type="sldNum" sz="quarter" idx="5"/>
          </p:nvPr>
        </p:nvSpPr>
        <p:spPr/>
        <p:txBody>
          <a:bodyPr/>
          <a:lstStyle/>
          <a:p>
            <a:fld id="{59C31C20-CFF6-4D02-9F93-8A584230D82D}" type="slidenum">
              <a:rPr lang="es-AR" smtClean="0"/>
              <a:t>8</a:t>
            </a:fld>
            <a:endParaRPr lang="es-AR"/>
          </a:p>
        </p:txBody>
      </p:sp>
    </p:spTree>
    <p:extLst>
      <p:ext uri="{BB962C8B-B14F-4D97-AF65-F5344CB8AC3E}">
        <p14:creationId xmlns:p14="http://schemas.microsoft.com/office/powerpoint/2010/main" val="1436070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8E94-E8CC-447A-59CE-12359A74342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3945B37-9B93-A42B-D320-3DB32C69378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C2D2C3A-617B-55E7-B1BB-FC38157AB260}"/>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02DC7688-1BD2-FDE0-0886-BC3351E06C53}"/>
              </a:ext>
            </a:extLst>
          </p:cNvPr>
          <p:cNvSpPr>
            <a:spLocks noGrp="1"/>
          </p:cNvSpPr>
          <p:nvPr>
            <p:ph type="sldNum" sz="quarter" idx="5"/>
          </p:nvPr>
        </p:nvSpPr>
        <p:spPr/>
        <p:txBody>
          <a:bodyPr/>
          <a:lstStyle/>
          <a:p>
            <a:fld id="{59C31C20-CFF6-4D02-9F93-8A584230D82D}" type="slidenum">
              <a:rPr lang="es-AR" smtClean="0"/>
              <a:t>16</a:t>
            </a:fld>
            <a:endParaRPr lang="es-AR"/>
          </a:p>
        </p:txBody>
      </p:sp>
    </p:spTree>
    <p:extLst>
      <p:ext uri="{BB962C8B-B14F-4D97-AF65-F5344CB8AC3E}">
        <p14:creationId xmlns:p14="http://schemas.microsoft.com/office/powerpoint/2010/main" val="39221123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47EFE-BB46-2B35-41FC-EACF306BF8C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7E7A000-0D49-BB56-7617-8708762BDE3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3E7F0FD-49C8-930C-AFCB-BFA40A74EAA0}"/>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93F80295-CF46-7D85-2B3C-F515BA4EC56C}"/>
              </a:ext>
            </a:extLst>
          </p:cNvPr>
          <p:cNvSpPr>
            <a:spLocks noGrp="1"/>
          </p:cNvSpPr>
          <p:nvPr>
            <p:ph type="sldNum" sz="quarter" idx="5"/>
          </p:nvPr>
        </p:nvSpPr>
        <p:spPr/>
        <p:txBody>
          <a:bodyPr/>
          <a:lstStyle/>
          <a:p>
            <a:fld id="{59C31C20-CFF6-4D02-9F93-8A584230D82D}" type="slidenum">
              <a:rPr lang="es-AR" smtClean="0"/>
              <a:t>17</a:t>
            </a:fld>
            <a:endParaRPr lang="es-AR"/>
          </a:p>
        </p:txBody>
      </p:sp>
    </p:spTree>
    <p:extLst>
      <p:ext uri="{BB962C8B-B14F-4D97-AF65-F5344CB8AC3E}">
        <p14:creationId xmlns:p14="http://schemas.microsoft.com/office/powerpoint/2010/main" val="30556414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B4D31-6C30-8CD2-8FAE-D75FD8C0271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40234B-8269-C751-A5B1-E51E12C255A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D84601F-EE47-90F4-BE79-EB5BFD863FC7}"/>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E208B998-E3B1-EE7B-D73D-70FB4379ECBC}"/>
              </a:ext>
            </a:extLst>
          </p:cNvPr>
          <p:cNvSpPr>
            <a:spLocks noGrp="1"/>
          </p:cNvSpPr>
          <p:nvPr>
            <p:ph type="sldNum" sz="quarter" idx="5"/>
          </p:nvPr>
        </p:nvSpPr>
        <p:spPr/>
        <p:txBody>
          <a:bodyPr/>
          <a:lstStyle/>
          <a:p>
            <a:fld id="{59C31C20-CFF6-4D02-9F93-8A584230D82D}" type="slidenum">
              <a:rPr lang="es-AR" smtClean="0"/>
              <a:t>18</a:t>
            </a:fld>
            <a:endParaRPr lang="es-AR"/>
          </a:p>
        </p:txBody>
      </p:sp>
    </p:spTree>
    <p:extLst>
      <p:ext uri="{BB962C8B-B14F-4D97-AF65-F5344CB8AC3E}">
        <p14:creationId xmlns:p14="http://schemas.microsoft.com/office/powerpoint/2010/main" val="3162416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E93EF-3F67-6763-BDFC-CB2E9FC33AC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CC242F-C66A-E2FF-3192-25BEB31C99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E05E0F9-0A9C-13D4-91D2-6422C67E48AF}"/>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78593C5A-5373-7D02-900C-82CEF66C18FB}"/>
              </a:ext>
            </a:extLst>
          </p:cNvPr>
          <p:cNvSpPr>
            <a:spLocks noGrp="1"/>
          </p:cNvSpPr>
          <p:nvPr>
            <p:ph type="sldNum" sz="quarter" idx="5"/>
          </p:nvPr>
        </p:nvSpPr>
        <p:spPr/>
        <p:txBody>
          <a:bodyPr/>
          <a:lstStyle/>
          <a:p>
            <a:fld id="{59C31C20-CFF6-4D02-9F93-8A584230D82D}" type="slidenum">
              <a:rPr lang="es-AR" smtClean="0"/>
              <a:t>19</a:t>
            </a:fld>
            <a:endParaRPr lang="es-AR"/>
          </a:p>
        </p:txBody>
      </p:sp>
    </p:spTree>
    <p:extLst>
      <p:ext uri="{BB962C8B-B14F-4D97-AF65-F5344CB8AC3E}">
        <p14:creationId xmlns:p14="http://schemas.microsoft.com/office/powerpoint/2010/main" val="4158019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C86A8-581F-B244-EDBE-502DBCD12F5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36C5794-CBB4-DC02-EB66-2F4D19CD6C4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23CEA30-D952-2365-756E-F5C503F111AC}"/>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94D2140B-2EF9-03AB-C910-99FA326EB713}"/>
              </a:ext>
            </a:extLst>
          </p:cNvPr>
          <p:cNvSpPr>
            <a:spLocks noGrp="1"/>
          </p:cNvSpPr>
          <p:nvPr>
            <p:ph type="sldNum" sz="quarter" idx="5"/>
          </p:nvPr>
        </p:nvSpPr>
        <p:spPr/>
        <p:txBody>
          <a:bodyPr/>
          <a:lstStyle/>
          <a:p>
            <a:fld id="{59C31C20-CFF6-4D02-9F93-8A584230D82D}" type="slidenum">
              <a:rPr lang="es-AR" smtClean="0"/>
              <a:t>20</a:t>
            </a:fld>
            <a:endParaRPr lang="es-AR"/>
          </a:p>
        </p:txBody>
      </p:sp>
    </p:spTree>
    <p:extLst>
      <p:ext uri="{BB962C8B-B14F-4D97-AF65-F5344CB8AC3E}">
        <p14:creationId xmlns:p14="http://schemas.microsoft.com/office/powerpoint/2010/main" val="3746313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DCFF9-488B-D69B-6A43-CD9C11692B3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FBB374C-1408-6EC6-86AD-FEC92CCFB1C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38E4C01-48B9-44F4-D8A2-1401C9C3349F}"/>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C96CE7A1-C815-DA87-A6B4-A68F904C66CB}"/>
              </a:ext>
            </a:extLst>
          </p:cNvPr>
          <p:cNvSpPr>
            <a:spLocks noGrp="1"/>
          </p:cNvSpPr>
          <p:nvPr>
            <p:ph type="sldNum" sz="quarter" idx="5"/>
          </p:nvPr>
        </p:nvSpPr>
        <p:spPr/>
        <p:txBody>
          <a:bodyPr/>
          <a:lstStyle/>
          <a:p>
            <a:fld id="{59C31C20-CFF6-4D02-9F93-8A584230D82D}" type="slidenum">
              <a:rPr lang="es-AR" smtClean="0"/>
              <a:t>21</a:t>
            </a:fld>
            <a:endParaRPr lang="es-AR"/>
          </a:p>
        </p:txBody>
      </p:sp>
    </p:spTree>
    <p:extLst>
      <p:ext uri="{BB962C8B-B14F-4D97-AF65-F5344CB8AC3E}">
        <p14:creationId xmlns:p14="http://schemas.microsoft.com/office/powerpoint/2010/main" val="25590923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0D490-9C80-E866-B69A-7B1E01403C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18A6BBA-6E81-80F6-A4EF-3EA33E6DBC7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8C05BF9-98FC-590A-8238-DC8EF693E76B}"/>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4B507C37-4C39-9307-3094-7E39F9224538}"/>
              </a:ext>
            </a:extLst>
          </p:cNvPr>
          <p:cNvSpPr>
            <a:spLocks noGrp="1"/>
          </p:cNvSpPr>
          <p:nvPr>
            <p:ph type="sldNum" sz="quarter" idx="5"/>
          </p:nvPr>
        </p:nvSpPr>
        <p:spPr/>
        <p:txBody>
          <a:bodyPr/>
          <a:lstStyle/>
          <a:p>
            <a:fld id="{59C31C20-CFF6-4D02-9F93-8A584230D82D}" type="slidenum">
              <a:rPr lang="es-AR" smtClean="0"/>
              <a:t>22</a:t>
            </a:fld>
            <a:endParaRPr lang="es-AR"/>
          </a:p>
        </p:txBody>
      </p:sp>
    </p:spTree>
    <p:extLst>
      <p:ext uri="{BB962C8B-B14F-4D97-AF65-F5344CB8AC3E}">
        <p14:creationId xmlns:p14="http://schemas.microsoft.com/office/powerpoint/2010/main" val="649044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E27F8-65C1-4554-3374-EDB1A595BA6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E915FAE-F013-AC96-A1A1-6AB61C7F8D7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8C25B2C-DE96-8414-D11A-BD06F0CF525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1" i="0" kern="1200" dirty="0">
                <a:solidFill>
                  <a:schemeClr val="tx1"/>
                </a:solidFill>
                <a:effectLst/>
                <a:latin typeface="+mn-lt"/>
                <a:ea typeface="+mn-ea"/>
                <a:cs typeface="+mn-cs"/>
              </a:rPr>
              <a:t>Diagrama de ESTRUCTURA: </a:t>
            </a:r>
            <a:r>
              <a:rPr lang="es-ES" sz="1200" b="0" i="0" kern="1200" dirty="0">
                <a:solidFill>
                  <a:schemeClr val="tx1"/>
                </a:solidFill>
                <a:effectLst/>
                <a:latin typeface="+mn-lt"/>
                <a:ea typeface="+mn-ea"/>
                <a:cs typeface="+mn-cs"/>
              </a:rPr>
              <a:t> Como su nombre lo indica, representan la estructura general de un sistema: sus objetos, atributos y relaciones entre las distintas entidades. Es decir, nos preocupamos más por lo que es el sistema y no por cómo se comporta.</a:t>
            </a:r>
            <a:br>
              <a:rPr lang="es-ES" sz="1200" b="0" i="0" kern="1200" dirty="0">
                <a:solidFill>
                  <a:schemeClr val="tx1"/>
                </a:solidFill>
                <a:effectLst/>
                <a:latin typeface="+mn-lt"/>
                <a:ea typeface="+mn-ea"/>
                <a:cs typeface="+mn-cs"/>
              </a:rPr>
            </a:br>
            <a:r>
              <a:rPr lang="es-ES" sz="1200" b="1" i="0" kern="1200" dirty="0">
                <a:solidFill>
                  <a:schemeClr val="tx1"/>
                </a:solidFill>
                <a:effectLst/>
                <a:latin typeface="+mn-lt"/>
                <a:ea typeface="+mn-ea"/>
                <a:cs typeface="+mn-cs"/>
              </a:rPr>
              <a:t>Diagrama de COMPORTAMIENTO: </a:t>
            </a:r>
            <a:r>
              <a:rPr lang="es-ES" sz="1200" b="0" i="0" kern="1200" dirty="0">
                <a:solidFill>
                  <a:schemeClr val="tx1"/>
                </a:solidFill>
                <a:effectLst/>
                <a:latin typeface="+mn-lt"/>
                <a:ea typeface="+mn-ea"/>
                <a:cs typeface="+mn-cs"/>
              </a:rPr>
              <a:t>Definen el comportamiento del sistema y la funcionalidad general de cada unidad. Además, algunos de estos diagramas representan también el flujo de información y control en el sistema.</a:t>
            </a:r>
            <a:br>
              <a:rPr lang="es-ES" sz="1200" b="0" i="0" kern="1200" dirty="0">
                <a:solidFill>
                  <a:schemeClr val="tx1"/>
                </a:solidFill>
                <a:effectLst/>
                <a:latin typeface="+mn-lt"/>
                <a:ea typeface="+mn-ea"/>
                <a:cs typeface="+mn-cs"/>
              </a:rPr>
            </a:br>
            <a:r>
              <a:rPr lang="es-ES" sz="1200" b="1" i="0" kern="1200" dirty="0">
                <a:solidFill>
                  <a:schemeClr val="tx1"/>
                </a:solidFill>
                <a:effectLst/>
                <a:latin typeface="+mn-lt"/>
                <a:ea typeface="+mn-ea"/>
                <a:cs typeface="+mn-cs"/>
              </a:rPr>
              <a:t>1. Diagrama de clases</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Este diagrama UML básico representa la bifurcación de un sistema en clases individuales. Utilizamos estos tipos de diagramas UML para proporcionar la representación estática del programa. Una clase tiene tres elementos principales: su nombre, sus atributos y su comportamiento.</a:t>
            </a:r>
          </a:p>
          <a:p>
            <a:r>
              <a:rPr lang="es-ES" sz="1200" b="1" i="0" kern="1200" dirty="0">
                <a:solidFill>
                  <a:schemeClr val="tx1"/>
                </a:solidFill>
                <a:effectLst/>
                <a:latin typeface="+mn-lt"/>
                <a:ea typeface="+mn-ea"/>
                <a:cs typeface="+mn-cs"/>
              </a:rPr>
              <a:t>2. Diagrama de componentes</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Los diagramas de componentes se crean sobre todo cuando un sistema es complejo y consta de demasiadas clases. Por lo tanto, desglosamos todo el sistema en diferentes componentes y mostramos cómo dependen unos de otros. Estos tipos de diagramas UML sólo constan de dos cosas, los componentes y las dependencias.</a:t>
            </a:r>
          </a:p>
          <a:p>
            <a:r>
              <a:rPr lang="es-ES" sz="1200" b="1" i="0" kern="1200" dirty="0">
                <a:solidFill>
                  <a:schemeClr val="tx1"/>
                </a:solidFill>
                <a:effectLst/>
                <a:latin typeface="+mn-lt"/>
                <a:ea typeface="+mn-ea"/>
                <a:cs typeface="+mn-cs"/>
              </a:rPr>
              <a:t>3. Diagrama de despliegue</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Esto proporciona la representación real del hardware del sistema (con la inclusión del componente de software en él). Este diagrama UML sigue un enfoque más real sobre cómo se desplegaría el sistema. Consta de dos unidades principales: nodos y artefactos. Los nodos representan el servidor de la base de datos o la unidad de hardware, mientras que los artefactos representan los clientes o los esquemas.</a:t>
            </a:r>
          </a:p>
          <a:p>
            <a:r>
              <a:rPr lang="es-ES" sz="1200" b="1" i="0" kern="1200" dirty="0">
                <a:solidFill>
                  <a:schemeClr val="tx1"/>
                </a:solidFill>
                <a:effectLst/>
                <a:latin typeface="+mn-lt"/>
                <a:ea typeface="+mn-ea"/>
                <a:cs typeface="+mn-cs"/>
              </a:rPr>
              <a:t>4. Diagrama de objetos</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Considera esto como un desglose de un diagrama de clases (ya que una clase es una colección de diferentes objetos). Sin embargo, estos tipos de diagramas UML se basan principalmente en entidades del mundo real. Presenta diferentes objetos con sus enlaces. Cada entidad tiene un nombre de objeto y su conjunto de atributos.</a:t>
            </a:r>
          </a:p>
          <a:p>
            <a:r>
              <a:rPr lang="es-ES" sz="1200" b="1" i="0" kern="1200" dirty="0">
                <a:solidFill>
                  <a:schemeClr val="tx1"/>
                </a:solidFill>
                <a:effectLst/>
                <a:latin typeface="+mn-lt"/>
                <a:ea typeface="+mn-ea"/>
                <a:cs typeface="+mn-cs"/>
              </a:rPr>
              <a:t>5. Diagrama de paquetes</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Esto proporciona una representación de un sistema con sus módulos y subsistemas de más alto nivel. En un diagrama de paquetes, podemos incluir varias estructuras de diagrama de despliegue. Se puede desglosar fácilmente todo el sistema y vincular sus componentes. Un paquete está representado por un icono de carpeta con un nombre. Un paquete puede tener diferentes paquetes para representar un enfoque descendente.</a:t>
            </a:r>
          </a:p>
          <a:p>
            <a:r>
              <a:rPr lang="es-ES" sz="1200" b="1" i="0" kern="1200" dirty="0">
                <a:solidFill>
                  <a:schemeClr val="tx1"/>
                </a:solidFill>
                <a:effectLst/>
                <a:latin typeface="+mn-lt"/>
                <a:ea typeface="+mn-ea"/>
                <a:cs typeface="+mn-cs"/>
              </a:rPr>
              <a:t>6. Diagrama de perfil</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Se trata de un nuevo tipo de diagrama UML que se introdujo en UML 2. Aunque estos tipos de diagramas UML no son tan populares, pueden utilizarse para representar la meta estructura del sistema. Es decir, cuáles son los perfiles principales, meta clases, y demás. Puede haber conexiones dentro de los elementos de un perfil y entre diferentes perfiles.</a:t>
            </a:r>
          </a:p>
          <a:p>
            <a:r>
              <a:rPr lang="es-ES" sz="1200" b="1" i="0" kern="1200" dirty="0">
                <a:solidFill>
                  <a:schemeClr val="tx1"/>
                </a:solidFill>
                <a:effectLst/>
                <a:latin typeface="+mn-lt"/>
                <a:ea typeface="+mn-ea"/>
                <a:cs typeface="+mn-cs"/>
              </a:rPr>
              <a:t>7. Diagrama de la estructura compuesta</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Estos tipos de diagramas UML se utilizan para representar la estructura interna de una clase. Con ellos podemos saber cómo se relacionan las diferentes entidades de una clase entre sí y cómo se asocia la propia clase con la entidad o sistema exterior. Cada elemento tiene un "rol" asignado aquí.</a:t>
            </a:r>
          </a:p>
          <a:p>
            <a:r>
              <a:rPr lang="es-ES" sz="1200" b="1" i="0" kern="1200" dirty="0">
                <a:solidFill>
                  <a:schemeClr val="tx1"/>
                </a:solidFill>
                <a:effectLst/>
                <a:latin typeface="+mn-lt"/>
                <a:ea typeface="+mn-ea"/>
                <a:cs typeface="+mn-cs"/>
              </a:rPr>
              <a:t>8. Diagrama de máquina de estado</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Se trata de un diagrama dinámico que describe los diferentes estados del sistema. Presenta todo tipo de acciones y cómo respondería una clase a ellas. En consecuencia, se establece un flujo centrado en el estado de las entidades centrales.</a:t>
            </a:r>
          </a:p>
          <a:p>
            <a:r>
              <a:rPr lang="es-ES" sz="1200" b="1" i="0" kern="1200" dirty="0">
                <a:solidFill>
                  <a:schemeClr val="tx1"/>
                </a:solidFill>
                <a:effectLst/>
                <a:latin typeface="+mn-lt"/>
                <a:ea typeface="+mn-ea"/>
                <a:cs typeface="+mn-cs"/>
              </a:rPr>
              <a:t>9. Diagrama de actividad</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Estos tipos de diagramas UML se utilizan ampliamente, ya que representan el flujo global del sistema con respecto a numerosas actividades. Toma una instancia del sistema y registra cómo reacciona. Estos diagramas se centran más en la implementación del sistema en el mundo real que en su estructura.</a:t>
            </a:r>
          </a:p>
          <a:p>
            <a:r>
              <a:rPr lang="es-ES" sz="1200" b="1" i="0" kern="1200" dirty="0">
                <a:solidFill>
                  <a:schemeClr val="tx1"/>
                </a:solidFill>
                <a:effectLst/>
                <a:latin typeface="+mn-lt"/>
                <a:ea typeface="+mn-ea"/>
                <a:cs typeface="+mn-cs"/>
              </a:rPr>
              <a:t>10. Diagrama de casos de uso</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Este es uno de los tipos más populares de diagramas UML que representan cómo el usuario final interactuaría con el sistema. Presenta diferentes actores clave (usuarios) y su interacción con componentes específicos del sistema. Aparte del desarrollo de software, también desempeña un papel fundamental en su despliegue.</a:t>
            </a:r>
          </a:p>
          <a:p>
            <a:r>
              <a:rPr lang="es-ES" sz="1200" b="1" i="0" kern="1200" dirty="0">
                <a:solidFill>
                  <a:schemeClr val="tx1"/>
                </a:solidFill>
                <a:effectLst/>
                <a:latin typeface="+mn-lt"/>
                <a:ea typeface="+mn-ea"/>
                <a:cs typeface="+mn-cs"/>
              </a:rPr>
              <a:t>DIAGRAMAS DE INTERACCIÓN</a:t>
            </a:r>
          </a:p>
          <a:p>
            <a:r>
              <a:rPr lang="es-ES" sz="1200" b="1" i="0" kern="1200" dirty="0">
                <a:solidFill>
                  <a:schemeClr val="tx1"/>
                </a:solidFill>
                <a:effectLst/>
                <a:latin typeface="+mn-lt"/>
                <a:ea typeface="+mn-ea"/>
                <a:cs typeface="+mn-cs"/>
              </a:rPr>
              <a:t>11. Diagrama de secuencia</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Como su nombre lo indica, describe el flujo de un proceso entre varios componentes de manera secuencial. Se utiliza sobre todo en el desarrollo de la arquitectura y en la implementación del sistema en el mundo real. Presenta diferentes componentes y describe cómo el flujo pasa de un componente a otro.</a:t>
            </a:r>
          </a:p>
          <a:p>
            <a:r>
              <a:rPr lang="es-ES" sz="1200" b="1" i="0" kern="1200" dirty="0">
                <a:solidFill>
                  <a:schemeClr val="tx1"/>
                </a:solidFill>
                <a:effectLst/>
                <a:latin typeface="+mn-lt"/>
                <a:ea typeface="+mn-ea"/>
                <a:cs typeface="+mn-cs"/>
              </a:rPr>
              <a:t>12. Diagrama de comunicación</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También conocido como diagrama de colaboración, representa de forma sencilla cómo se comunican entre sí las distintas entidades de un sistema. Aparte de los objetos, también presenta flechas y puntos numéricos para mostrar la comunicación global en el sistema.</a:t>
            </a:r>
            <a:br>
              <a:rPr lang="es-ES" dirty="0"/>
            </a:br>
            <a:r>
              <a:rPr lang="es-ES" sz="1200" b="1" i="0" kern="1200" dirty="0">
                <a:solidFill>
                  <a:schemeClr val="tx1"/>
                </a:solidFill>
                <a:effectLst/>
                <a:latin typeface="+mn-lt"/>
                <a:ea typeface="+mn-ea"/>
                <a:cs typeface="+mn-cs"/>
              </a:rPr>
              <a:t>13. Diagrama de tiempos</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Aunque son similares a los diagramas de secuencia, representan el comportamiento de cualquier objeto a lo largo de una duración específica. Estos tipos de diagramas UML se añadieron a UML 2 y se centran en el tiempo como restricción.</a:t>
            </a:r>
            <a:br>
              <a:rPr lang="es-ES" sz="1200" b="1" i="0" kern="1200" dirty="0">
                <a:solidFill>
                  <a:schemeClr val="tx1"/>
                </a:solidFill>
                <a:effectLst/>
                <a:latin typeface="+mn-lt"/>
                <a:ea typeface="+mn-ea"/>
                <a:cs typeface="+mn-cs"/>
              </a:rPr>
            </a:br>
            <a:r>
              <a:rPr lang="es-ES" sz="1200" b="1" i="0" kern="1200" dirty="0">
                <a:solidFill>
                  <a:schemeClr val="tx1"/>
                </a:solidFill>
                <a:effectLst/>
                <a:latin typeface="+mn-lt"/>
                <a:ea typeface="+mn-ea"/>
                <a:cs typeface="+mn-cs"/>
              </a:rPr>
              <a:t>14. Diagrama general interactivo o de interacción</a:t>
            </a:r>
            <a:endParaRPr lang="es-ES" sz="1200" b="0" i="0" kern="1200" dirty="0">
              <a:solidFill>
                <a:schemeClr val="tx1"/>
              </a:solidFill>
              <a:effectLst/>
              <a:latin typeface="+mn-lt"/>
              <a:ea typeface="+mn-ea"/>
              <a:cs typeface="+mn-cs"/>
            </a:endParaRPr>
          </a:p>
          <a:p>
            <a:r>
              <a:rPr lang="es-ES" sz="1200" b="0" i="0" kern="1200" dirty="0">
                <a:solidFill>
                  <a:schemeClr val="tx1"/>
                </a:solidFill>
                <a:effectLst/>
                <a:latin typeface="+mn-lt"/>
                <a:ea typeface="+mn-ea"/>
                <a:cs typeface="+mn-cs"/>
              </a:rPr>
              <a:t>Al principio, estos tipos de diagramas UML pueden parecer similares a los diagramas de actividad. Sin embargo, en lugar de actividades, muestran el flujo de varias secuencias interactivas. Una actividad está representada por un marco que puede tener diferentes unidades en su interior.</a:t>
            </a:r>
            <a:endParaRPr lang="es-AR" dirty="0"/>
          </a:p>
        </p:txBody>
      </p:sp>
      <p:sp>
        <p:nvSpPr>
          <p:cNvPr id="4" name="Marcador de número de diapositiva 3">
            <a:extLst>
              <a:ext uri="{FF2B5EF4-FFF2-40B4-BE49-F238E27FC236}">
                <a16:creationId xmlns:a16="http://schemas.microsoft.com/office/drawing/2014/main" id="{48256199-B512-927B-734C-D3FEA6495D82}"/>
              </a:ext>
            </a:extLst>
          </p:cNvPr>
          <p:cNvSpPr>
            <a:spLocks noGrp="1"/>
          </p:cNvSpPr>
          <p:nvPr>
            <p:ph type="sldNum" sz="quarter" idx="5"/>
          </p:nvPr>
        </p:nvSpPr>
        <p:spPr/>
        <p:txBody>
          <a:bodyPr/>
          <a:lstStyle/>
          <a:p>
            <a:fld id="{59C31C20-CFF6-4D02-9F93-8A584230D82D}" type="slidenum">
              <a:rPr lang="es-AR" smtClean="0"/>
              <a:t>23</a:t>
            </a:fld>
            <a:endParaRPr lang="es-AR"/>
          </a:p>
        </p:txBody>
      </p:sp>
    </p:spTree>
    <p:extLst>
      <p:ext uri="{BB962C8B-B14F-4D97-AF65-F5344CB8AC3E}">
        <p14:creationId xmlns:p14="http://schemas.microsoft.com/office/powerpoint/2010/main" val="16458657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71867-DB47-51BF-E7A3-422D317F15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88F2C0B-746B-5FF1-7322-6383A6A22F7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D047F77-A2AB-743A-4F7F-850F7D5A10B0}"/>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550942FA-AC39-85A2-BB00-1E4D93B5549F}"/>
              </a:ext>
            </a:extLst>
          </p:cNvPr>
          <p:cNvSpPr>
            <a:spLocks noGrp="1"/>
          </p:cNvSpPr>
          <p:nvPr>
            <p:ph type="sldNum" sz="quarter" idx="5"/>
          </p:nvPr>
        </p:nvSpPr>
        <p:spPr/>
        <p:txBody>
          <a:bodyPr/>
          <a:lstStyle/>
          <a:p>
            <a:fld id="{59C31C20-CFF6-4D02-9F93-8A584230D82D}" type="slidenum">
              <a:rPr lang="es-AR" smtClean="0"/>
              <a:t>24</a:t>
            </a:fld>
            <a:endParaRPr lang="es-AR"/>
          </a:p>
        </p:txBody>
      </p:sp>
    </p:spTree>
    <p:extLst>
      <p:ext uri="{BB962C8B-B14F-4D97-AF65-F5344CB8AC3E}">
        <p14:creationId xmlns:p14="http://schemas.microsoft.com/office/powerpoint/2010/main" val="25942697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7C4FA-61C8-9156-E44A-62FAB8BB8CA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D54D12B-22F8-5316-D880-4C27B54B318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7D89579-AD08-39CD-3415-428540534539}"/>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2087AEC9-D185-72C1-AD18-AF8554B04D6A}"/>
              </a:ext>
            </a:extLst>
          </p:cNvPr>
          <p:cNvSpPr>
            <a:spLocks noGrp="1"/>
          </p:cNvSpPr>
          <p:nvPr>
            <p:ph type="sldNum" sz="quarter" idx="5"/>
          </p:nvPr>
        </p:nvSpPr>
        <p:spPr/>
        <p:txBody>
          <a:bodyPr/>
          <a:lstStyle/>
          <a:p>
            <a:fld id="{59C31C20-CFF6-4D02-9F93-8A584230D82D}" type="slidenum">
              <a:rPr lang="es-AR" smtClean="0"/>
              <a:t>25</a:t>
            </a:fld>
            <a:endParaRPr lang="es-AR"/>
          </a:p>
        </p:txBody>
      </p:sp>
    </p:spTree>
    <p:extLst>
      <p:ext uri="{BB962C8B-B14F-4D97-AF65-F5344CB8AC3E}">
        <p14:creationId xmlns:p14="http://schemas.microsoft.com/office/powerpoint/2010/main" val="28455683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5D848-F7C0-B7F0-CF5D-52C978655C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FE2CFBB-4252-5C76-6C9F-58700965C9A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9394520-9BFA-7005-9604-14835D815183}"/>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02F63DC1-D931-D14A-0054-7043215DD264}"/>
              </a:ext>
            </a:extLst>
          </p:cNvPr>
          <p:cNvSpPr>
            <a:spLocks noGrp="1"/>
          </p:cNvSpPr>
          <p:nvPr>
            <p:ph type="sldNum" sz="quarter" idx="5"/>
          </p:nvPr>
        </p:nvSpPr>
        <p:spPr/>
        <p:txBody>
          <a:bodyPr/>
          <a:lstStyle/>
          <a:p>
            <a:fld id="{59C31C20-CFF6-4D02-9F93-8A584230D82D}" type="slidenum">
              <a:rPr lang="es-AR" smtClean="0"/>
              <a:t>26</a:t>
            </a:fld>
            <a:endParaRPr lang="es-AR"/>
          </a:p>
        </p:txBody>
      </p:sp>
    </p:spTree>
    <p:extLst>
      <p:ext uri="{BB962C8B-B14F-4D97-AF65-F5344CB8AC3E}">
        <p14:creationId xmlns:p14="http://schemas.microsoft.com/office/powerpoint/2010/main" val="24712060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518A6-A36F-0D4E-8FF2-438E52C8D90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7D1AFA2-777F-51FE-E30F-4E549F5C94D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BE77EF5-A1B6-C823-BC54-2C3B408BCFB1}"/>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70353329-1CFD-C1C2-B62C-50674144E6AD}"/>
              </a:ext>
            </a:extLst>
          </p:cNvPr>
          <p:cNvSpPr>
            <a:spLocks noGrp="1"/>
          </p:cNvSpPr>
          <p:nvPr>
            <p:ph type="sldNum" sz="quarter" idx="5"/>
          </p:nvPr>
        </p:nvSpPr>
        <p:spPr/>
        <p:txBody>
          <a:bodyPr/>
          <a:lstStyle/>
          <a:p>
            <a:fld id="{59C31C20-CFF6-4D02-9F93-8A584230D82D}" type="slidenum">
              <a:rPr lang="es-AR" smtClean="0"/>
              <a:t>27</a:t>
            </a:fld>
            <a:endParaRPr lang="es-AR"/>
          </a:p>
        </p:txBody>
      </p:sp>
    </p:spTree>
    <p:extLst>
      <p:ext uri="{BB962C8B-B14F-4D97-AF65-F5344CB8AC3E}">
        <p14:creationId xmlns:p14="http://schemas.microsoft.com/office/powerpoint/2010/main" val="8146872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A91F7-C8D8-2750-6450-C62CF5D88B4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DB81FF9-C5B8-9F5B-1A39-2BFF6BA87C5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7CD4439-D447-CD3F-8047-512D26F7E072}"/>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D15C816E-3D5E-DB41-BAD8-6959BE567344}"/>
              </a:ext>
            </a:extLst>
          </p:cNvPr>
          <p:cNvSpPr>
            <a:spLocks noGrp="1"/>
          </p:cNvSpPr>
          <p:nvPr>
            <p:ph type="sldNum" sz="quarter" idx="5"/>
          </p:nvPr>
        </p:nvSpPr>
        <p:spPr/>
        <p:txBody>
          <a:bodyPr/>
          <a:lstStyle/>
          <a:p>
            <a:fld id="{59C31C20-CFF6-4D02-9F93-8A584230D82D}" type="slidenum">
              <a:rPr lang="es-AR" smtClean="0"/>
              <a:t>28</a:t>
            </a:fld>
            <a:endParaRPr lang="es-AR"/>
          </a:p>
        </p:txBody>
      </p:sp>
    </p:spTree>
    <p:extLst>
      <p:ext uri="{BB962C8B-B14F-4D97-AF65-F5344CB8AC3E}">
        <p14:creationId xmlns:p14="http://schemas.microsoft.com/office/powerpoint/2010/main" val="40837781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36AB2-20DA-4A86-B6BD-7098AB4FC46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27EE07-7AE1-13F7-49CB-6E5EBA48399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CCBD5D3-8F9B-0DC9-07D4-31A87406D283}"/>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2C98EF2E-5620-1461-4360-595C2C0C5698}"/>
              </a:ext>
            </a:extLst>
          </p:cNvPr>
          <p:cNvSpPr>
            <a:spLocks noGrp="1"/>
          </p:cNvSpPr>
          <p:nvPr>
            <p:ph type="sldNum" sz="quarter" idx="5"/>
          </p:nvPr>
        </p:nvSpPr>
        <p:spPr/>
        <p:txBody>
          <a:bodyPr/>
          <a:lstStyle/>
          <a:p>
            <a:fld id="{59C31C20-CFF6-4D02-9F93-8A584230D82D}" type="slidenum">
              <a:rPr lang="es-AR" smtClean="0"/>
              <a:t>29</a:t>
            </a:fld>
            <a:endParaRPr lang="es-AR"/>
          </a:p>
        </p:txBody>
      </p:sp>
    </p:spTree>
    <p:extLst>
      <p:ext uri="{BB962C8B-B14F-4D97-AF65-F5344CB8AC3E}">
        <p14:creationId xmlns:p14="http://schemas.microsoft.com/office/powerpoint/2010/main" val="29187901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8EEE5-8FB5-8017-D34A-E7F5F7E6E43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6A1D151-A6C0-3665-5EC0-95B0DE795B6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279228D-2EA6-1355-AE3B-AB1AD61FFA14}"/>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1BAEAC95-AC05-416E-EA54-ABC79230A551}"/>
              </a:ext>
            </a:extLst>
          </p:cNvPr>
          <p:cNvSpPr>
            <a:spLocks noGrp="1"/>
          </p:cNvSpPr>
          <p:nvPr>
            <p:ph type="sldNum" sz="quarter" idx="5"/>
          </p:nvPr>
        </p:nvSpPr>
        <p:spPr/>
        <p:txBody>
          <a:bodyPr/>
          <a:lstStyle/>
          <a:p>
            <a:fld id="{59C31C20-CFF6-4D02-9F93-8A584230D82D}" type="slidenum">
              <a:rPr lang="es-AR" smtClean="0"/>
              <a:t>30</a:t>
            </a:fld>
            <a:endParaRPr lang="es-AR"/>
          </a:p>
        </p:txBody>
      </p:sp>
    </p:spTree>
    <p:extLst>
      <p:ext uri="{BB962C8B-B14F-4D97-AF65-F5344CB8AC3E}">
        <p14:creationId xmlns:p14="http://schemas.microsoft.com/office/powerpoint/2010/main" val="21360469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379C3-2FF7-DEA6-D628-C24403E2AAC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C4204BE-F797-E31F-BEC1-99014EF18D2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A0D92C8-746F-BAF2-21A3-1AC09D1736C3}"/>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A858E8EC-2D26-265B-141C-B11CAB3C3F58}"/>
              </a:ext>
            </a:extLst>
          </p:cNvPr>
          <p:cNvSpPr>
            <a:spLocks noGrp="1"/>
          </p:cNvSpPr>
          <p:nvPr>
            <p:ph type="sldNum" sz="quarter" idx="5"/>
          </p:nvPr>
        </p:nvSpPr>
        <p:spPr/>
        <p:txBody>
          <a:bodyPr/>
          <a:lstStyle/>
          <a:p>
            <a:fld id="{59C31C20-CFF6-4D02-9F93-8A584230D82D}" type="slidenum">
              <a:rPr lang="es-AR" smtClean="0"/>
              <a:t>31</a:t>
            </a:fld>
            <a:endParaRPr lang="es-AR"/>
          </a:p>
        </p:txBody>
      </p:sp>
    </p:spTree>
    <p:extLst>
      <p:ext uri="{BB962C8B-B14F-4D97-AF65-F5344CB8AC3E}">
        <p14:creationId xmlns:p14="http://schemas.microsoft.com/office/powerpoint/2010/main" val="33705628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59C31C20-CFF6-4D02-9F93-8A584230D82D}" type="slidenum">
              <a:rPr lang="es-AR" smtClean="0"/>
              <a:t>43</a:t>
            </a:fld>
            <a:endParaRPr lang="es-AR"/>
          </a:p>
        </p:txBody>
      </p:sp>
    </p:spTree>
    <p:extLst>
      <p:ext uri="{BB962C8B-B14F-4D97-AF65-F5344CB8AC3E}">
        <p14:creationId xmlns:p14="http://schemas.microsoft.com/office/powerpoint/2010/main" val="42124020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EA635-08F2-CC2E-70BD-0AC83F2DCB7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E5BB237-FB45-CF8A-DA31-153138547D4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A5203BC-876D-4DFB-FBB0-F39C572A5C40}"/>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C85C4246-BEA3-E2A5-5AF8-22FC699A5D6F}"/>
              </a:ext>
            </a:extLst>
          </p:cNvPr>
          <p:cNvSpPr>
            <a:spLocks noGrp="1"/>
          </p:cNvSpPr>
          <p:nvPr>
            <p:ph type="sldNum" sz="quarter" idx="5"/>
          </p:nvPr>
        </p:nvSpPr>
        <p:spPr/>
        <p:txBody>
          <a:bodyPr/>
          <a:lstStyle/>
          <a:p>
            <a:fld id="{59C31C20-CFF6-4D02-9F93-8A584230D82D}" type="slidenum">
              <a:rPr lang="es-AR" smtClean="0"/>
              <a:t>50</a:t>
            </a:fld>
            <a:endParaRPr lang="es-AR"/>
          </a:p>
        </p:txBody>
      </p:sp>
    </p:spTree>
    <p:extLst>
      <p:ext uri="{BB962C8B-B14F-4D97-AF65-F5344CB8AC3E}">
        <p14:creationId xmlns:p14="http://schemas.microsoft.com/office/powerpoint/2010/main" val="31390281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A2162-5BB2-88E9-4905-14B493E46C9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BAB2BE0-79A0-3C9C-CAE8-D96664CEFCC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59F140-342A-A2E2-CBA3-15B4DF222B25}"/>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385CAC31-DEF5-18D9-32FD-77A003A10019}"/>
              </a:ext>
            </a:extLst>
          </p:cNvPr>
          <p:cNvSpPr>
            <a:spLocks noGrp="1"/>
          </p:cNvSpPr>
          <p:nvPr>
            <p:ph type="sldNum" sz="quarter" idx="5"/>
          </p:nvPr>
        </p:nvSpPr>
        <p:spPr/>
        <p:txBody>
          <a:bodyPr/>
          <a:lstStyle/>
          <a:p>
            <a:fld id="{59C31C20-CFF6-4D02-9F93-8A584230D82D}" type="slidenum">
              <a:rPr lang="es-AR" smtClean="0"/>
              <a:t>51</a:t>
            </a:fld>
            <a:endParaRPr lang="es-AR"/>
          </a:p>
        </p:txBody>
      </p:sp>
    </p:spTree>
    <p:extLst>
      <p:ext uri="{BB962C8B-B14F-4D97-AF65-F5344CB8AC3E}">
        <p14:creationId xmlns:p14="http://schemas.microsoft.com/office/powerpoint/2010/main" val="13592238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BA06F-864C-4F38-3BD8-CF95E732A56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9DB902-ABCA-8A28-04A9-15BB38AFC41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BB975DC-2512-B547-D9D0-B12605870834}"/>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9E72256C-38A9-FE4B-6D66-885AD2C16E5D}"/>
              </a:ext>
            </a:extLst>
          </p:cNvPr>
          <p:cNvSpPr>
            <a:spLocks noGrp="1"/>
          </p:cNvSpPr>
          <p:nvPr>
            <p:ph type="sldNum" sz="quarter" idx="5"/>
          </p:nvPr>
        </p:nvSpPr>
        <p:spPr/>
        <p:txBody>
          <a:bodyPr/>
          <a:lstStyle/>
          <a:p>
            <a:fld id="{59C31C20-CFF6-4D02-9F93-8A584230D82D}" type="slidenum">
              <a:rPr lang="es-AR" smtClean="0"/>
              <a:t>52</a:t>
            </a:fld>
            <a:endParaRPr lang="es-AR"/>
          </a:p>
        </p:txBody>
      </p:sp>
    </p:spTree>
    <p:extLst>
      <p:ext uri="{BB962C8B-B14F-4D97-AF65-F5344CB8AC3E}">
        <p14:creationId xmlns:p14="http://schemas.microsoft.com/office/powerpoint/2010/main" val="2930267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E4ECE-B144-6505-B803-78F3199AADB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12369E7-7443-368B-FA57-31C9A488AAA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B012058-DEC7-93AF-E417-4CB3F6E9FDC7}"/>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5E536437-FA96-82F1-A6E7-2CC8471EAE39}"/>
              </a:ext>
            </a:extLst>
          </p:cNvPr>
          <p:cNvSpPr>
            <a:spLocks noGrp="1"/>
          </p:cNvSpPr>
          <p:nvPr>
            <p:ph type="sldNum" sz="quarter" idx="5"/>
          </p:nvPr>
        </p:nvSpPr>
        <p:spPr/>
        <p:txBody>
          <a:bodyPr/>
          <a:lstStyle/>
          <a:p>
            <a:fld id="{59C31C20-CFF6-4D02-9F93-8A584230D82D}" type="slidenum">
              <a:rPr lang="es-AR" smtClean="0"/>
              <a:t>53</a:t>
            </a:fld>
            <a:endParaRPr lang="es-AR"/>
          </a:p>
        </p:txBody>
      </p:sp>
    </p:spTree>
    <p:extLst>
      <p:ext uri="{BB962C8B-B14F-4D97-AF65-F5344CB8AC3E}">
        <p14:creationId xmlns:p14="http://schemas.microsoft.com/office/powerpoint/2010/main" val="40294858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56616-1BA8-BA14-C996-5ED76FBB94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27F42F3-1152-F90C-D03C-89D7FE5D583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22B6EF9-A9C0-52DE-B5EC-0FB4910550B5}"/>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79FE83C7-8B0A-1B6A-C156-E1A70BCA5B85}"/>
              </a:ext>
            </a:extLst>
          </p:cNvPr>
          <p:cNvSpPr>
            <a:spLocks noGrp="1"/>
          </p:cNvSpPr>
          <p:nvPr>
            <p:ph type="sldNum" sz="quarter" idx="5"/>
          </p:nvPr>
        </p:nvSpPr>
        <p:spPr/>
        <p:txBody>
          <a:bodyPr/>
          <a:lstStyle/>
          <a:p>
            <a:fld id="{59C31C20-CFF6-4D02-9F93-8A584230D82D}" type="slidenum">
              <a:rPr lang="es-AR" smtClean="0"/>
              <a:t>54</a:t>
            </a:fld>
            <a:endParaRPr lang="es-AR"/>
          </a:p>
        </p:txBody>
      </p:sp>
    </p:spTree>
    <p:extLst>
      <p:ext uri="{BB962C8B-B14F-4D97-AF65-F5344CB8AC3E}">
        <p14:creationId xmlns:p14="http://schemas.microsoft.com/office/powerpoint/2010/main" val="6819756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553E9-136F-A75A-2926-ED149B11600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CBA89D0-9128-648C-1145-0FD8417D9F9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6BE500E-AE74-AC71-27F8-DE1B23288D9A}"/>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FF9C054A-5468-01A8-4500-8ED7FC732FCE}"/>
              </a:ext>
            </a:extLst>
          </p:cNvPr>
          <p:cNvSpPr>
            <a:spLocks noGrp="1"/>
          </p:cNvSpPr>
          <p:nvPr>
            <p:ph type="sldNum" sz="quarter" idx="5"/>
          </p:nvPr>
        </p:nvSpPr>
        <p:spPr/>
        <p:txBody>
          <a:bodyPr/>
          <a:lstStyle/>
          <a:p>
            <a:fld id="{59C31C20-CFF6-4D02-9F93-8A584230D82D}" type="slidenum">
              <a:rPr lang="es-AR" smtClean="0"/>
              <a:t>66</a:t>
            </a:fld>
            <a:endParaRPr lang="es-AR"/>
          </a:p>
        </p:txBody>
      </p:sp>
    </p:spTree>
    <p:extLst>
      <p:ext uri="{BB962C8B-B14F-4D97-AF65-F5344CB8AC3E}">
        <p14:creationId xmlns:p14="http://schemas.microsoft.com/office/powerpoint/2010/main" val="3480407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92CE1-390A-DC47-9083-17755AB1E80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E0DF59A-965D-7E77-D0B4-E421AA57506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675DE4A-CE75-830E-1931-2202C3BA8A41}"/>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6DEDC82C-F138-8A58-61F5-F8A44DB4B920}"/>
              </a:ext>
            </a:extLst>
          </p:cNvPr>
          <p:cNvSpPr>
            <a:spLocks noGrp="1"/>
          </p:cNvSpPr>
          <p:nvPr>
            <p:ph type="sldNum" sz="quarter" idx="5"/>
          </p:nvPr>
        </p:nvSpPr>
        <p:spPr/>
        <p:txBody>
          <a:bodyPr/>
          <a:lstStyle/>
          <a:p>
            <a:fld id="{59C31C20-CFF6-4D02-9F93-8A584230D82D}" type="slidenum">
              <a:rPr lang="es-AR" smtClean="0"/>
              <a:t>67</a:t>
            </a:fld>
            <a:endParaRPr lang="es-AR"/>
          </a:p>
        </p:txBody>
      </p:sp>
    </p:spTree>
    <p:extLst>
      <p:ext uri="{BB962C8B-B14F-4D97-AF65-F5344CB8AC3E}">
        <p14:creationId xmlns:p14="http://schemas.microsoft.com/office/powerpoint/2010/main" val="31592841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028DF-7BD6-5D61-4227-10C81599F8A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4582520-B1AA-A2AA-2CDC-07A74CDA754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6F4C290-7515-EA51-48AD-A066581C2C67}"/>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08228CDA-3CF1-D167-B426-383343ABB0EF}"/>
              </a:ext>
            </a:extLst>
          </p:cNvPr>
          <p:cNvSpPr>
            <a:spLocks noGrp="1"/>
          </p:cNvSpPr>
          <p:nvPr>
            <p:ph type="sldNum" sz="quarter" idx="5"/>
          </p:nvPr>
        </p:nvSpPr>
        <p:spPr/>
        <p:txBody>
          <a:bodyPr/>
          <a:lstStyle/>
          <a:p>
            <a:fld id="{59C31C20-CFF6-4D02-9F93-8A584230D82D}" type="slidenum">
              <a:rPr lang="es-AR" smtClean="0"/>
              <a:t>68</a:t>
            </a:fld>
            <a:endParaRPr lang="es-AR"/>
          </a:p>
        </p:txBody>
      </p:sp>
    </p:spTree>
    <p:extLst>
      <p:ext uri="{BB962C8B-B14F-4D97-AF65-F5344CB8AC3E}">
        <p14:creationId xmlns:p14="http://schemas.microsoft.com/office/powerpoint/2010/main" val="380795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C15CE-6622-40C8-13BC-BFB1DDF24CE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6F33AE6-3540-2E8A-4AA3-EC543491C6E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20D543E-A96D-A3F8-9BE3-93FCE91B5CBA}"/>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644513D3-93C7-ADCD-3114-6AB7ACC03983}"/>
              </a:ext>
            </a:extLst>
          </p:cNvPr>
          <p:cNvSpPr>
            <a:spLocks noGrp="1"/>
          </p:cNvSpPr>
          <p:nvPr>
            <p:ph type="sldNum" sz="quarter" idx="5"/>
          </p:nvPr>
        </p:nvSpPr>
        <p:spPr/>
        <p:txBody>
          <a:bodyPr/>
          <a:lstStyle/>
          <a:p>
            <a:fld id="{59C31C20-CFF6-4D02-9F93-8A584230D82D}" type="slidenum">
              <a:rPr lang="es-AR" smtClean="0"/>
              <a:t>69</a:t>
            </a:fld>
            <a:endParaRPr lang="es-AR"/>
          </a:p>
        </p:txBody>
      </p:sp>
    </p:spTree>
    <p:extLst>
      <p:ext uri="{BB962C8B-B14F-4D97-AF65-F5344CB8AC3E}">
        <p14:creationId xmlns:p14="http://schemas.microsoft.com/office/powerpoint/2010/main" val="36124390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8CAFE-0492-075E-8C01-C05F2E144CB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698299E-ECE0-360E-5051-1315448CB39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DE6CBCE-814F-F345-F426-0E908D120E57}"/>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916374B7-383E-FEA4-B123-7F3098DBDA66}"/>
              </a:ext>
            </a:extLst>
          </p:cNvPr>
          <p:cNvSpPr>
            <a:spLocks noGrp="1"/>
          </p:cNvSpPr>
          <p:nvPr>
            <p:ph type="sldNum" sz="quarter" idx="5"/>
          </p:nvPr>
        </p:nvSpPr>
        <p:spPr/>
        <p:txBody>
          <a:bodyPr/>
          <a:lstStyle/>
          <a:p>
            <a:fld id="{59C31C20-CFF6-4D02-9F93-8A584230D82D}" type="slidenum">
              <a:rPr lang="es-AR" smtClean="0"/>
              <a:t>71</a:t>
            </a:fld>
            <a:endParaRPr lang="es-AR"/>
          </a:p>
        </p:txBody>
      </p:sp>
    </p:spTree>
    <p:extLst>
      <p:ext uri="{BB962C8B-B14F-4D97-AF65-F5344CB8AC3E}">
        <p14:creationId xmlns:p14="http://schemas.microsoft.com/office/powerpoint/2010/main" val="15063856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EEF72-C499-2937-A489-D35D29D8F0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5C2EB1D-916E-40FB-7083-94025D5B5B5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81C54F3-CD50-EE32-8DAB-E20F765D4B22}"/>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815E83E6-7A31-09AE-C7CC-AA20D08F82B0}"/>
              </a:ext>
            </a:extLst>
          </p:cNvPr>
          <p:cNvSpPr>
            <a:spLocks noGrp="1"/>
          </p:cNvSpPr>
          <p:nvPr>
            <p:ph type="sldNum" sz="quarter" idx="5"/>
          </p:nvPr>
        </p:nvSpPr>
        <p:spPr/>
        <p:txBody>
          <a:bodyPr/>
          <a:lstStyle/>
          <a:p>
            <a:fld id="{59C31C20-CFF6-4D02-9F93-8A584230D82D}" type="slidenum">
              <a:rPr lang="es-AR" smtClean="0"/>
              <a:t>72</a:t>
            </a:fld>
            <a:endParaRPr lang="es-AR"/>
          </a:p>
        </p:txBody>
      </p:sp>
    </p:spTree>
    <p:extLst>
      <p:ext uri="{BB962C8B-B14F-4D97-AF65-F5344CB8AC3E}">
        <p14:creationId xmlns:p14="http://schemas.microsoft.com/office/powerpoint/2010/main" val="170521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A6442-FACE-3223-B751-43363AF7C2D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A190F73-0DA0-659F-944D-7F162D488AC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DE5A851-1D28-6EEB-CF39-B067882D8B8D}"/>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0F455713-2C31-9139-70C2-CB9CCE0446A0}"/>
              </a:ext>
            </a:extLst>
          </p:cNvPr>
          <p:cNvSpPr>
            <a:spLocks noGrp="1"/>
          </p:cNvSpPr>
          <p:nvPr>
            <p:ph type="sldNum" sz="quarter" idx="5"/>
          </p:nvPr>
        </p:nvSpPr>
        <p:spPr/>
        <p:txBody>
          <a:bodyPr/>
          <a:lstStyle/>
          <a:p>
            <a:fld id="{59C31C20-CFF6-4D02-9F93-8A584230D82D}" type="slidenum">
              <a:rPr lang="es-AR" smtClean="0"/>
              <a:t>73</a:t>
            </a:fld>
            <a:endParaRPr lang="es-AR"/>
          </a:p>
        </p:txBody>
      </p:sp>
    </p:spTree>
    <p:extLst>
      <p:ext uri="{BB962C8B-B14F-4D97-AF65-F5344CB8AC3E}">
        <p14:creationId xmlns:p14="http://schemas.microsoft.com/office/powerpoint/2010/main" val="17338220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99E25-6B83-9BBA-ECC5-1FD2CD9276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E7099A1-DCF7-4BBC-0C88-6A4253DE40C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F176E1D-EFA2-7559-C515-1C8CE6E64642}"/>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4C2B3EAA-E63D-D36B-5DF7-DC3D7DB2891D}"/>
              </a:ext>
            </a:extLst>
          </p:cNvPr>
          <p:cNvSpPr>
            <a:spLocks noGrp="1"/>
          </p:cNvSpPr>
          <p:nvPr>
            <p:ph type="sldNum" sz="quarter" idx="5"/>
          </p:nvPr>
        </p:nvSpPr>
        <p:spPr/>
        <p:txBody>
          <a:bodyPr/>
          <a:lstStyle/>
          <a:p>
            <a:fld id="{59C31C20-CFF6-4D02-9F93-8A584230D82D}" type="slidenum">
              <a:rPr lang="es-AR" smtClean="0"/>
              <a:t>74</a:t>
            </a:fld>
            <a:endParaRPr lang="es-AR"/>
          </a:p>
        </p:txBody>
      </p:sp>
    </p:spTree>
    <p:extLst>
      <p:ext uri="{BB962C8B-B14F-4D97-AF65-F5344CB8AC3E}">
        <p14:creationId xmlns:p14="http://schemas.microsoft.com/office/powerpoint/2010/main" val="3447936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BF115-2A39-86B0-45FB-538A536F758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5E5A32-ECD2-A7E9-9498-69D64984AED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6F23B4D-601A-5906-D4EF-2E04CDF47C44}"/>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16574313-44B7-96FC-63F5-D33F800CB8C9}"/>
              </a:ext>
            </a:extLst>
          </p:cNvPr>
          <p:cNvSpPr>
            <a:spLocks noGrp="1"/>
          </p:cNvSpPr>
          <p:nvPr>
            <p:ph type="sldNum" sz="quarter" idx="5"/>
          </p:nvPr>
        </p:nvSpPr>
        <p:spPr/>
        <p:txBody>
          <a:bodyPr/>
          <a:lstStyle/>
          <a:p>
            <a:fld id="{59C31C20-CFF6-4D02-9F93-8A584230D82D}" type="slidenum">
              <a:rPr lang="es-AR" smtClean="0"/>
              <a:t>75</a:t>
            </a:fld>
            <a:endParaRPr lang="es-AR"/>
          </a:p>
        </p:txBody>
      </p:sp>
    </p:spTree>
    <p:extLst>
      <p:ext uri="{BB962C8B-B14F-4D97-AF65-F5344CB8AC3E}">
        <p14:creationId xmlns:p14="http://schemas.microsoft.com/office/powerpoint/2010/main" val="5619330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6CA8B-D2C5-367B-3622-FBAE14D86B0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413788B-4E8D-ACC7-0082-259A7CDA17A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D7B070E-45B0-9DE5-6441-802B1BF864D1}"/>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2C14AD45-CDED-40F5-348F-65093F2289A4}"/>
              </a:ext>
            </a:extLst>
          </p:cNvPr>
          <p:cNvSpPr>
            <a:spLocks noGrp="1"/>
          </p:cNvSpPr>
          <p:nvPr>
            <p:ph type="sldNum" sz="quarter" idx="5"/>
          </p:nvPr>
        </p:nvSpPr>
        <p:spPr/>
        <p:txBody>
          <a:bodyPr/>
          <a:lstStyle/>
          <a:p>
            <a:fld id="{59C31C20-CFF6-4D02-9F93-8A584230D82D}" type="slidenum">
              <a:rPr lang="es-AR" smtClean="0"/>
              <a:t>76</a:t>
            </a:fld>
            <a:endParaRPr lang="es-AR"/>
          </a:p>
        </p:txBody>
      </p:sp>
    </p:spTree>
    <p:extLst>
      <p:ext uri="{BB962C8B-B14F-4D97-AF65-F5344CB8AC3E}">
        <p14:creationId xmlns:p14="http://schemas.microsoft.com/office/powerpoint/2010/main" val="31735819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864F9-F73D-C78E-7DE0-39DBFBC8BA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60619D6-8CC7-F0DC-ECA3-F50D8952DA6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9A7F714-7CFE-0B59-F73F-C2514B73138C}"/>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0270A2B3-9C12-38CB-DE94-90FF6FC485D4}"/>
              </a:ext>
            </a:extLst>
          </p:cNvPr>
          <p:cNvSpPr>
            <a:spLocks noGrp="1"/>
          </p:cNvSpPr>
          <p:nvPr>
            <p:ph type="sldNum" sz="quarter" idx="5"/>
          </p:nvPr>
        </p:nvSpPr>
        <p:spPr/>
        <p:txBody>
          <a:bodyPr/>
          <a:lstStyle/>
          <a:p>
            <a:fld id="{59C31C20-CFF6-4D02-9F93-8A584230D82D}" type="slidenum">
              <a:rPr lang="es-AR" smtClean="0"/>
              <a:t>77</a:t>
            </a:fld>
            <a:endParaRPr lang="es-AR"/>
          </a:p>
        </p:txBody>
      </p:sp>
    </p:spTree>
    <p:extLst>
      <p:ext uri="{BB962C8B-B14F-4D97-AF65-F5344CB8AC3E}">
        <p14:creationId xmlns:p14="http://schemas.microsoft.com/office/powerpoint/2010/main" val="41883614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AEAFF-D2CE-4881-619D-1D0861C6DEF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4E9E43A-9F8B-9F20-86F4-8D1FF4A6650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7829AD4-7488-FA41-1BB0-2E28182B4427}"/>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4B969DE5-C589-0051-10C9-74F2BA066401}"/>
              </a:ext>
            </a:extLst>
          </p:cNvPr>
          <p:cNvSpPr>
            <a:spLocks noGrp="1"/>
          </p:cNvSpPr>
          <p:nvPr>
            <p:ph type="sldNum" sz="quarter" idx="5"/>
          </p:nvPr>
        </p:nvSpPr>
        <p:spPr/>
        <p:txBody>
          <a:bodyPr/>
          <a:lstStyle/>
          <a:p>
            <a:fld id="{59C31C20-CFF6-4D02-9F93-8A584230D82D}" type="slidenum">
              <a:rPr lang="es-AR" smtClean="0"/>
              <a:t>78</a:t>
            </a:fld>
            <a:endParaRPr lang="es-AR"/>
          </a:p>
        </p:txBody>
      </p:sp>
    </p:spTree>
    <p:extLst>
      <p:ext uri="{BB962C8B-B14F-4D97-AF65-F5344CB8AC3E}">
        <p14:creationId xmlns:p14="http://schemas.microsoft.com/office/powerpoint/2010/main" val="794741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6B8D2-2BC0-860C-4DCF-59EEEBF28E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13100AC-C4B4-B0E7-DE94-B3A8A732B9F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485D8C1-5EB9-6119-E17A-4E41B95D4505}"/>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C1342E79-D25C-E4F6-72A3-AABFECF52E19}"/>
              </a:ext>
            </a:extLst>
          </p:cNvPr>
          <p:cNvSpPr>
            <a:spLocks noGrp="1"/>
          </p:cNvSpPr>
          <p:nvPr>
            <p:ph type="sldNum" sz="quarter" idx="5"/>
          </p:nvPr>
        </p:nvSpPr>
        <p:spPr/>
        <p:txBody>
          <a:bodyPr/>
          <a:lstStyle/>
          <a:p>
            <a:fld id="{59C31C20-CFF6-4D02-9F93-8A584230D82D}" type="slidenum">
              <a:rPr lang="es-AR" smtClean="0"/>
              <a:t>79</a:t>
            </a:fld>
            <a:endParaRPr lang="es-AR"/>
          </a:p>
        </p:txBody>
      </p:sp>
    </p:spTree>
    <p:extLst>
      <p:ext uri="{BB962C8B-B14F-4D97-AF65-F5344CB8AC3E}">
        <p14:creationId xmlns:p14="http://schemas.microsoft.com/office/powerpoint/2010/main" val="12540652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ACB8A-FB54-1D96-E57F-543E63C5C2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7262CED-3655-24E2-C346-4580280F87E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36EF2B5-3860-7014-84E4-272C8B4D8890}"/>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85C2F52A-5B3E-ED98-660D-6A23CA7885D0}"/>
              </a:ext>
            </a:extLst>
          </p:cNvPr>
          <p:cNvSpPr>
            <a:spLocks noGrp="1"/>
          </p:cNvSpPr>
          <p:nvPr>
            <p:ph type="sldNum" sz="quarter" idx="5"/>
          </p:nvPr>
        </p:nvSpPr>
        <p:spPr/>
        <p:txBody>
          <a:bodyPr/>
          <a:lstStyle/>
          <a:p>
            <a:fld id="{59C31C20-CFF6-4D02-9F93-8A584230D82D}" type="slidenum">
              <a:rPr lang="es-AR" smtClean="0"/>
              <a:t>80</a:t>
            </a:fld>
            <a:endParaRPr lang="es-AR"/>
          </a:p>
        </p:txBody>
      </p:sp>
    </p:spTree>
    <p:extLst>
      <p:ext uri="{BB962C8B-B14F-4D97-AF65-F5344CB8AC3E}">
        <p14:creationId xmlns:p14="http://schemas.microsoft.com/office/powerpoint/2010/main" val="34520258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3AEAC-E632-79CF-19E9-65090707B72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8244B55-8033-48A8-10B9-4609C97F92B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D01F6E4-FCD9-AB36-8007-6336B2D3CBF1}"/>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2337FFAC-26C3-C19B-0AFD-B45E7A70E1F9}"/>
              </a:ext>
            </a:extLst>
          </p:cNvPr>
          <p:cNvSpPr>
            <a:spLocks noGrp="1"/>
          </p:cNvSpPr>
          <p:nvPr>
            <p:ph type="sldNum" sz="quarter" idx="5"/>
          </p:nvPr>
        </p:nvSpPr>
        <p:spPr/>
        <p:txBody>
          <a:bodyPr/>
          <a:lstStyle/>
          <a:p>
            <a:fld id="{59C31C20-CFF6-4D02-9F93-8A584230D82D}" type="slidenum">
              <a:rPr lang="es-AR" smtClean="0"/>
              <a:t>81</a:t>
            </a:fld>
            <a:endParaRPr lang="es-AR"/>
          </a:p>
        </p:txBody>
      </p:sp>
    </p:spTree>
    <p:extLst>
      <p:ext uri="{BB962C8B-B14F-4D97-AF65-F5344CB8AC3E}">
        <p14:creationId xmlns:p14="http://schemas.microsoft.com/office/powerpoint/2010/main" val="10096108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6724E-B687-7123-678D-D5454164600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88FC4F6-1E5C-B050-BC31-FE18E20C715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CA6C2E0-E04D-5AB3-6F1B-5550A917966D}"/>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38FABB1D-1435-941D-74A4-3F725ADEBF5C}"/>
              </a:ext>
            </a:extLst>
          </p:cNvPr>
          <p:cNvSpPr>
            <a:spLocks noGrp="1"/>
          </p:cNvSpPr>
          <p:nvPr>
            <p:ph type="sldNum" sz="quarter" idx="5"/>
          </p:nvPr>
        </p:nvSpPr>
        <p:spPr/>
        <p:txBody>
          <a:bodyPr/>
          <a:lstStyle/>
          <a:p>
            <a:fld id="{59C31C20-CFF6-4D02-9F93-8A584230D82D}" type="slidenum">
              <a:rPr lang="es-AR" smtClean="0"/>
              <a:t>82</a:t>
            </a:fld>
            <a:endParaRPr lang="es-AR"/>
          </a:p>
        </p:txBody>
      </p:sp>
    </p:spTree>
    <p:extLst>
      <p:ext uri="{BB962C8B-B14F-4D97-AF65-F5344CB8AC3E}">
        <p14:creationId xmlns:p14="http://schemas.microsoft.com/office/powerpoint/2010/main" val="28191019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18B0E31-E166-4429-8D93-59E0EEE29F09}" type="datetime1">
              <a:rPr lang="es-AR" smtClean="0"/>
              <a:t>11/9/2026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6C8ECD1B-3F01-46F8-A46F-31A31EFC5ABF}" type="slidenum">
              <a:rPr lang="es-AR" smtClean="0"/>
              <a:t>‹Nº›</a:t>
            </a:fld>
            <a:endParaRPr lang="es-A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7694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32F0DB7-33C9-42EC-8ADD-109566451DAF}" type="datetime1">
              <a:rPr lang="es-AR" smtClean="0"/>
              <a:t>11/9/2026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128562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3C7C9E8-4407-43C8-A0A3-C92CF745C5E1}" type="datetime1">
              <a:rPr lang="es-AR" smtClean="0"/>
              <a:t>11/9/2026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6C8ECD1B-3F01-46F8-A46F-31A31EFC5ABF}" type="slidenum">
              <a:rPr lang="es-AR" smtClean="0"/>
              <a:t>‹Nº›</a:t>
            </a:fld>
            <a:endParaRPr lang="es-A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16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51F62BB-1419-4B23-9372-BAECA7682902}" type="datetime1">
              <a:rPr lang="es-AR" smtClean="0"/>
              <a:t>11/9/2026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1155274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5"/>
            <a:ext cx="4937760" cy="32867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2867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8A023DE-62F8-4ABA-9542-EFCF60082CDE}" type="datetime1">
              <a:rPr lang="es-AR" smtClean="0"/>
              <a:t>11/9/2026</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1662437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0F147E75-8D9D-4E77-946F-E91CF384C506}" type="datetime1">
              <a:rPr lang="es-AR" smtClean="0"/>
              <a:t>11/9/2026</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1980609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0DD0582-0E59-4C86-A105-E652692CA503}" type="datetime1">
              <a:rPr lang="es-AR" smtClean="0"/>
              <a:t>11/9/2026</a:t>
            </a:fld>
            <a:endParaRPr lang="es-A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AR"/>
          </a:p>
        </p:txBody>
      </p:sp>
      <p:sp>
        <p:nvSpPr>
          <p:cNvPr id="9" name="Slide Number Placeholder 8"/>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3554800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7121831-2A2E-4197-A959-861469F3C2FE}" type="datetime1">
              <a:rPr lang="es-AR" smtClean="0"/>
              <a:t>11/9/2026</a:t>
            </a:fld>
            <a:endParaRPr lang="es-A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s-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C8ECD1B-3F01-46F8-A46F-31A31EFC5ABF}" type="slidenum">
              <a:rPr lang="es-AR" smtClean="0"/>
              <a:t>‹Nº›</a:t>
            </a:fld>
            <a:endParaRPr lang="es-AR"/>
          </a:p>
        </p:txBody>
      </p:sp>
    </p:spTree>
    <p:extLst>
      <p:ext uri="{BB962C8B-B14F-4D97-AF65-F5344CB8AC3E}">
        <p14:creationId xmlns:p14="http://schemas.microsoft.com/office/powerpoint/2010/main" val="386183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2318435-648D-4F03-BCE6-73CF2325A227}" type="datetime1">
              <a:rPr lang="es-AR" smtClean="0"/>
              <a:t>11/9/2026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615364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F9C3651-DCEB-4800-AC7F-34EF633FC578}" type="datetime1">
              <a:rPr lang="es-AR" smtClean="0"/>
              <a:t>11/9/2026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2113918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FBF54F7-4526-4ACE-92EA-B121D77744F9}" type="datetime1">
              <a:rPr lang="es-AR" smtClean="0"/>
              <a:t>11/9/2026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6C8ECD1B-3F01-46F8-A46F-31A31EFC5ABF}" type="slidenum">
              <a:rPr lang="es-AR" smtClean="0"/>
              <a:t>‹Nº›</a:t>
            </a:fld>
            <a:endParaRPr lang="es-AR"/>
          </a:p>
        </p:txBody>
      </p:sp>
    </p:spTree>
    <p:extLst>
      <p:ext uri="{BB962C8B-B14F-4D97-AF65-F5344CB8AC3E}">
        <p14:creationId xmlns:p14="http://schemas.microsoft.com/office/powerpoint/2010/main" val="1635789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E5E7404-478C-4606-9AD3-7AD6EC75AF62}" type="datetime1">
              <a:rPr lang="es-AR" smtClean="0"/>
              <a:t>11/9/2026</a:t>
            </a:fld>
            <a:endParaRPr lang="es-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C8ECD1B-3F01-46F8-A46F-31A31EFC5ABF}" type="slidenum">
              <a:rPr lang="es-AR" smtClean="0"/>
              <a:t>‹Nº›</a:t>
            </a:fld>
            <a:endParaRPr lang="es-A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468369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5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s://github.com/tsamaan/UadeRobotLab"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1.png"/></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7.png"/></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FB78ED-15BE-C64C-6F6A-3F9A1780B36B}"/>
              </a:ext>
            </a:extLst>
          </p:cNvPr>
          <p:cNvSpPr>
            <a:spLocks noGrp="1"/>
          </p:cNvSpPr>
          <p:nvPr>
            <p:ph type="ctrTitle"/>
          </p:nvPr>
        </p:nvSpPr>
        <p:spPr/>
        <p:txBody>
          <a:bodyPr anchor="t">
            <a:normAutofit/>
          </a:bodyPr>
          <a:lstStyle/>
          <a:p>
            <a:br>
              <a:rPr lang="es-AR" sz="5400" dirty="0"/>
            </a:br>
            <a:r>
              <a:rPr lang="es-AR" sz="4800" dirty="0"/>
              <a:t>PARADIGMA ORIENTADO A OBJETOS</a:t>
            </a:r>
            <a:br>
              <a:rPr lang="es-AR" sz="5400" dirty="0"/>
            </a:br>
            <a:br>
              <a:rPr lang="es-AR" sz="6000" dirty="0"/>
            </a:br>
            <a:r>
              <a:rPr lang="es-AR" sz="4800" dirty="0"/>
              <a:t>Clase 6</a:t>
            </a:r>
          </a:p>
        </p:txBody>
      </p:sp>
      <p:sp>
        <p:nvSpPr>
          <p:cNvPr id="3" name="Subtítulo 2">
            <a:extLst>
              <a:ext uri="{FF2B5EF4-FFF2-40B4-BE49-F238E27FC236}">
                <a16:creationId xmlns:a16="http://schemas.microsoft.com/office/drawing/2014/main" id="{4CE69D2D-49C9-764A-9382-72122873E520}"/>
              </a:ext>
            </a:extLst>
          </p:cNvPr>
          <p:cNvSpPr>
            <a:spLocks noGrp="1"/>
          </p:cNvSpPr>
          <p:nvPr>
            <p:ph type="subTitle" idx="1"/>
          </p:nvPr>
        </p:nvSpPr>
        <p:spPr>
          <a:xfrm>
            <a:off x="1100051" y="4455620"/>
            <a:ext cx="10058400" cy="1643427"/>
          </a:xfrm>
        </p:spPr>
        <p:txBody>
          <a:bodyPr/>
          <a:lstStyle/>
          <a:p>
            <a:endParaRPr lang="es-AR" dirty="0"/>
          </a:p>
          <a:p>
            <a:r>
              <a:rPr lang="es-AR" dirty="0"/>
              <a:t>Ing. Maximiliano Coedo</a:t>
            </a:r>
          </a:p>
          <a:p>
            <a:r>
              <a:rPr lang="es-AR" dirty="0"/>
              <a:t>E-mail: mcoedo@uade.edu.ar</a:t>
            </a:r>
          </a:p>
        </p:txBody>
      </p:sp>
      <p:pic>
        <p:nvPicPr>
          <p:cNvPr id="5" name="Imagen 4">
            <a:extLst>
              <a:ext uri="{FF2B5EF4-FFF2-40B4-BE49-F238E27FC236}">
                <a16:creationId xmlns:a16="http://schemas.microsoft.com/office/drawing/2014/main" id="{5D1DAC32-DB33-3B3B-60B6-FD52556E458B}"/>
              </a:ext>
            </a:extLst>
          </p:cNvPr>
          <p:cNvPicPr>
            <a:picLocks noChangeAspect="1"/>
          </p:cNvPicPr>
          <p:nvPr/>
        </p:nvPicPr>
        <p:blipFill>
          <a:blip r:embed="rId3"/>
          <a:stretch>
            <a:fillRect/>
          </a:stretch>
        </p:blipFill>
        <p:spPr>
          <a:xfrm>
            <a:off x="10184257" y="757082"/>
            <a:ext cx="971423" cy="502297"/>
          </a:xfrm>
          <a:prstGeom prst="rect">
            <a:avLst/>
          </a:prstGeom>
        </p:spPr>
      </p:pic>
    </p:spTree>
    <p:extLst>
      <p:ext uri="{BB962C8B-B14F-4D97-AF65-F5344CB8AC3E}">
        <p14:creationId xmlns:p14="http://schemas.microsoft.com/office/powerpoint/2010/main" val="2764196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C4336F-5AC0-811A-82EF-889F5ADC2AB2}"/>
              </a:ext>
            </a:extLst>
          </p:cNvPr>
          <p:cNvSpPr>
            <a:spLocks noGrp="1"/>
          </p:cNvSpPr>
          <p:nvPr>
            <p:ph type="title"/>
          </p:nvPr>
        </p:nvSpPr>
        <p:spPr/>
        <p:txBody>
          <a:bodyPr/>
          <a:lstStyle/>
          <a:p>
            <a:r>
              <a:rPr lang="es-AR" dirty="0"/>
              <a:t>¿Qué vamos a ver hoy?</a:t>
            </a:r>
          </a:p>
        </p:txBody>
      </p:sp>
      <p:sp>
        <p:nvSpPr>
          <p:cNvPr id="3" name="Marcador de contenido 2">
            <a:extLst>
              <a:ext uri="{FF2B5EF4-FFF2-40B4-BE49-F238E27FC236}">
                <a16:creationId xmlns:a16="http://schemas.microsoft.com/office/drawing/2014/main" id="{603049D7-A436-B632-A882-0EB667660D33}"/>
              </a:ext>
            </a:extLst>
          </p:cNvPr>
          <p:cNvSpPr>
            <a:spLocks noGrp="1"/>
          </p:cNvSpPr>
          <p:nvPr>
            <p:ph idx="1"/>
          </p:nvPr>
        </p:nvSpPr>
        <p:spPr/>
        <p:txBody>
          <a:bodyPr/>
          <a:lstStyle/>
          <a:p>
            <a:r>
              <a:rPr lang="es-AR" b="1" dirty="0"/>
              <a:t>TP Robot</a:t>
            </a:r>
            <a:endParaRPr lang="es-AR" dirty="0"/>
          </a:p>
          <a:p>
            <a:r>
              <a:rPr lang="es-AR" b="1" dirty="0"/>
              <a:t>Repaso</a:t>
            </a:r>
          </a:p>
          <a:p>
            <a:r>
              <a:rPr lang="es-AR" b="1" dirty="0"/>
              <a:t>Creación de diagramas de clase en base a un enunciado de Negocio. </a:t>
            </a:r>
          </a:p>
          <a:p>
            <a:r>
              <a:rPr lang="es-AR" b="1" dirty="0"/>
              <a:t>Creación de código java en base a un enunciado de Negocio. </a:t>
            </a:r>
          </a:p>
          <a:p>
            <a:r>
              <a:rPr lang="es-AR" b="1" dirty="0"/>
              <a:t>Codificar clases en base a diagramas de clase y secuencia. Ejercitación</a:t>
            </a:r>
          </a:p>
          <a:p>
            <a:r>
              <a:rPr lang="es-AR" b="1" dirty="0"/>
              <a:t>Ejercitación</a:t>
            </a:r>
          </a:p>
          <a:p>
            <a:r>
              <a:rPr lang="es-AR" b="1" dirty="0"/>
              <a:t>Ejercicios TP 1 y 2</a:t>
            </a:r>
          </a:p>
          <a:p>
            <a:r>
              <a:rPr lang="es-AR" b="1" dirty="0"/>
              <a:t>Ejercitación tipo parcial</a:t>
            </a:r>
          </a:p>
          <a:p>
            <a:endParaRPr lang="es-AR" b="1" dirty="0"/>
          </a:p>
          <a:p>
            <a:endParaRPr lang="es-AR" dirty="0"/>
          </a:p>
          <a:p>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D1654074-BFA5-0824-1101-1D544D52443D}"/>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8D7E52AA-425A-C91D-D5B2-BAC74DD73A6B}"/>
              </a:ext>
            </a:extLst>
          </p:cNvPr>
          <p:cNvSpPr>
            <a:spLocks noGrp="1"/>
          </p:cNvSpPr>
          <p:nvPr>
            <p:ph type="sldNum" sz="quarter" idx="12"/>
          </p:nvPr>
        </p:nvSpPr>
        <p:spPr/>
        <p:txBody>
          <a:bodyPr/>
          <a:lstStyle/>
          <a:p>
            <a:fld id="{6C8ECD1B-3F01-46F8-A46F-31A31EFC5ABF}" type="slidenum">
              <a:rPr lang="es-AR" smtClean="0"/>
              <a:t>2</a:t>
            </a:fld>
            <a:endParaRPr lang="es-AR"/>
          </a:p>
        </p:txBody>
      </p:sp>
    </p:spTree>
    <p:extLst>
      <p:ext uri="{BB962C8B-B14F-4D97-AF65-F5344CB8AC3E}">
        <p14:creationId xmlns:p14="http://schemas.microsoft.com/office/powerpoint/2010/main" val="4162765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288AE-755B-A275-EEC3-3F1FF7B6C47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0C5BFF7-0C96-9FD8-1777-36414D53025A}"/>
              </a:ext>
            </a:extLst>
          </p:cNvPr>
          <p:cNvSpPr>
            <a:spLocks noGrp="1"/>
          </p:cNvSpPr>
          <p:nvPr>
            <p:ph type="title"/>
          </p:nvPr>
        </p:nvSpPr>
        <p:spPr/>
        <p:txBody>
          <a:bodyPr/>
          <a:lstStyle/>
          <a:p>
            <a:r>
              <a:rPr lang="es-AR" dirty="0"/>
              <a:t> </a:t>
            </a:r>
          </a:p>
        </p:txBody>
      </p:sp>
      <p:sp>
        <p:nvSpPr>
          <p:cNvPr id="3" name="Marcador de contenido 2">
            <a:extLst>
              <a:ext uri="{FF2B5EF4-FFF2-40B4-BE49-F238E27FC236}">
                <a16:creationId xmlns:a16="http://schemas.microsoft.com/office/drawing/2014/main" id="{1FC9CA55-426A-B3EE-1C46-F7CAF28D0810}"/>
              </a:ext>
            </a:extLst>
          </p:cNvPr>
          <p:cNvSpPr>
            <a:spLocks noGrp="1"/>
          </p:cNvSpPr>
          <p:nvPr>
            <p:ph idx="1"/>
          </p:nvPr>
        </p:nvSpPr>
        <p:spPr/>
        <p:txBody>
          <a:bodyPr/>
          <a:lstStyle/>
          <a:p>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EA0FB829-5DA9-4A5C-859F-66FA9CE70BAB}"/>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5FCCEC60-1954-C903-03E0-B5895AD73450}"/>
              </a:ext>
            </a:extLst>
          </p:cNvPr>
          <p:cNvSpPr>
            <a:spLocks noGrp="1"/>
          </p:cNvSpPr>
          <p:nvPr>
            <p:ph type="sldNum" sz="quarter" idx="12"/>
          </p:nvPr>
        </p:nvSpPr>
        <p:spPr/>
        <p:txBody>
          <a:bodyPr/>
          <a:lstStyle/>
          <a:p>
            <a:fld id="{6C8ECD1B-3F01-46F8-A46F-31A31EFC5ABF}" type="slidenum">
              <a:rPr lang="es-AR" smtClean="0"/>
              <a:t>3</a:t>
            </a:fld>
            <a:endParaRPr lang="es-AR"/>
          </a:p>
        </p:txBody>
      </p:sp>
      <p:sp>
        <p:nvSpPr>
          <p:cNvPr id="6" name="Título 1">
            <a:extLst>
              <a:ext uri="{FF2B5EF4-FFF2-40B4-BE49-F238E27FC236}">
                <a16:creationId xmlns:a16="http://schemas.microsoft.com/office/drawing/2014/main" id="{7E9895BE-5D5C-090C-B501-BDBA1E1A125F}"/>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S" dirty="0"/>
              <a:t>Conceptos generales de OO: clases, objetos, atributos, métodos.</a:t>
            </a:r>
            <a:endParaRPr lang="es-AR" dirty="0"/>
          </a:p>
        </p:txBody>
      </p:sp>
      <p:sp>
        <p:nvSpPr>
          <p:cNvPr id="7" name="Marcador de contenido 2">
            <a:extLst>
              <a:ext uri="{FF2B5EF4-FFF2-40B4-BE49-F238E27FC236}">
                <a16:creationId xmlns:a16="http://schemas.microsoft.com/office/drawing/2014/main" id="{22A730A2-1ACA-ACB6-E95B-D08332755E61}"/>
              </a:ext>
            </a:extLst>
          </p:cNvPr>
          <p:cNvSpPr txBox="1">
            <a:spLocks/>
          </p:cNvSpPr>
          <p:nvPr/>
        </p:nvSpPr>
        <p:spPr>
          <a:xfrm>
            <a:off x="1097280" y="1889760"/>
            <a:ext cx="10058400" cy="4023360"/>
          </a:xfrm>
          <a:prstGeom prst="rect">
            <a:avLst/>
          </a:prstGeom>
        </p:spPr>
        <p:txBody>
          <a:bodyPr vert="horz" lIns="0" tIns="45720" rIns="0" bIns="45720" rtlCol="0">
            <a:normAutofit fontScale="92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ES" dirty="0"/>
              <a:t>La POO intenta reflejar el mundo lo más fielmente posible. El mundo consta de cosas obtenidas a partir de modelos, y éstas cambian continuamente junto con el mundo. </a:t>
            </a:r>
          </a:p>
          <a:p>
            <a:endParaRPr lang="es-ES" dirty="0"/>
          </a:p>
          <a:p>
            <a:r>
              <a:rPr lang="es-ES" dirty="0"/>
              <a:t>La POO habla de “clases”. Las clases son los “modelos”. El modelo más genérico, el de mayor orden, es la clase </a:t>
            </a:r>
            <a:r>
              <a:rPr lang="es-ES" dirty="0" err="1"/>
              <a:t>Object</a:t>
            </a:r>
            <a:r>
              <a:rPr lang="es-ES" dirty="0"/>
              <a:t>. </a:t>
            </a:r>
          </a:p>
          <a:p>
            <a:endParaRPr lang="es-ES" dirty="0"/>
          </a:p>
          <a:p>
            <a:r>
              <a:rPr lang="es-ES" dirty="0"/>
              <a:t>La POO habla de “objetos” que se obtienen a partir de las “clases”. ¿Y qué tienen en común todos los objetos? ¡Que son todos objetos, son cosas!</a:t>
            </a:r>
          </a:p>
          <a:p>
            <a:endParaRPr lang="es-ES" dirty="0"/>
          </a:p>
          <a:p>
            <a:r>
              <a:rPr lang="es-ES" dirty="0"/>
              <a:t>Las clases funcionan de manera jerárquica. Y todos “heredan” cosas en común de su modelo supremo, “el Objeto” (</a:t>
            </a:r>
            <a:r>
              <a:rPr lang="es-ES" dirty="0" err="1"/>
              <a:t>Object</a:t>
            </a:r>
            <a:r>
              <a:rPr lang="es-ES" dirty="0"/>
              <a:t>)</a:t>
            </a:r>
          </a:p>
          <a:p>
            <a:r>
              <a:rPr lang="es-ES" dirty="0"/>
              <a:t>El cambio: operaciones para cambiar el estado en el que se encuentran los objetos y el mundo</a:t>
            </a:r>
            <a:endParaRPr lang="es-AR" dirty="0"/>
          </a:p>
          <a:p>
            <a:endParaRPr lang="es-AR" dirty="0"/>
          </a:p>
          <a:p>
            <a:endParaRPr lang="es-AR" dirty="0"/>
          </a:p>
          <a:p>
            <a:endParaRPr lang="es-AR" dirty="0"/>
          </a:p>
          <a:p>
            <a:pPr marL="0" indent="0">
              <a:buFont typeface="Calibri" panose="020F0502020204030204" pitchFamily="34" charset="0"/>
              <a:buNone/>
            </a:pPr>
            <a:endParaRPr lang="es-AR" dirty="0"/>
          </a:p>
          <a:p>
            <a:pPr marL="0" indent="0">
              <a:buFont typeface="Calibri" panose="020F0502020204030204" pitchFamily="34" charset="0"/>
              <a:buNone/>
            </a:pPr>
            <a:endParaRPr lang="es-AR" dirty="0"/>
          </a:p>
        </p:txBody>
      </p:sp>
    </p:spTree>
    <p:extLst>
      <p:ext uri="{BB962C8B-B14F-4D97-AF65-F5344CB8AC3E}">
        <p14:creationId xmlns:p14="http://schemas.microsoft.com/office/powerpoint/2010/main" val="2631853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BE58A-04E9-F911-7338-663012AFD6B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4409B83-D77A-F899-FF2C-4F0D5912FE27}"/>
              </a:ext>
            </a:extLst>
          </p:cNvPr>
          <p:cNvSpPr>
            <a:spLocks noGrp="1"/>
          </p:cNvSpPr>
          <p:nvPr>
            <p:ph type="title"/>
          </p:nvPr>
        </p:nvSpPr>
        <p:spPr/>
        <p:txBody>
          <a:bodyPr/>
          <a:lstStyle/>
          <a:p>
            <a:r>
              <a:rPr lang="es-AR" dirty="0"/>
              <a:t> </a:t>
            </a:r>
          </a:p>
        </p:txBody>
      </p:sp>
      <p:sp>
        <p:nvSpPr>
          <p:cNvPr id="3" name="Marcador de contenido 2">
            <a:extLst>
              <a:ext uri="{FF2B5EF4-FFF2-40B4-BE49-F238E27FC236}">
                <a16:creationId xmlns:a16="http://schemas.microsoft.com/office/drawing/2014/main" id="{6E7785E7-372F-80FD-3EE0-E77E6FC96707}"/>
              </a:ext>
            </a:extLst>
          </p:cNvPr>
          <p:cNvSpPr>
            <a:spLocks noGrp="1"/>
          </p:cNvSpPr>
          <p:nvPr>
            <p:ph idx="1"/>
          </p:nvPr>
        </p:nvSpPr>
        <p:spPr>
          <a:xfrm>
            <a:off x="3783330" y="2501324"/>
            <a:ext cx="5453539" cy="2117852"/>
          </a:xfrm>
        </p:spPr>
        <p:txBody>
          <a:bodyPr/>
          <a:lstStyle/>
          <a:p>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FD655E2F-ABF2-9AA7-0EEB-6EBCE1777825}"/>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C62A92E6-A41A-95A7-6A6F-EE438AA7F335}"/>
              </a:ext>
            </a:extLst>
          </p:cNvPr>
          <p:cNvSpPr>
            <a:spLocks noGrp="1"/>
          </p:cNvSpPr>
          <p:nvPr>
            <p:ph type="sldNum" sz="quarter" idx="12"/>
          </p:nvPr>
        </p:nvSpPr>
        <p:spPr/>
        <p:txBody>
          <a:bodyPr/>
          <a:lstStyle/>
          <a:p>
            <a:fld id="{6C8ECD1B-3F01-46F8-A46F-31A31EFC5ABF}" type="slidenum">
              <a:rPr lang="es-AR" smtClean="0"/>
              <a:t>4</a:t>
            </a:fld>
            <a:endParaRPr lang="es-AR"/>
          </a:p>
        </p:txBody>
      </p:sp>
      <p:sp>
        <p:nvSpPr>
          <p:cNvPr id="6" name="Título 1">
            <a:extLst>
              <a:ext uri="{FF2B5EF4-FFF2-40B4-BE49-F238E27FC236}">
                <a16:creationId xmlns:a16="http://schemas.microsoft.com/office/drawing/2014/main" id="{A626EAF6-5D0B-EBF7-5C8D-5D8CC3DACF79}"/>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S" dirty="0"/>
              <a:t>Conceptos generales de OO: clases, objetos, atributos, métodos.</a:t>
            </a:r>
            <a:endParaRPr lang="es-AR" dirty="0"/>
          </a:p>
        </p:txBody>
      </p:sp>
      <p:sp>
        <p:nvSpPr>
          <p:cNvPr id="7" name="Marcador de contenido 2">
            <a:extLst>
              <a:ext uri="{FF2B5EF4-FFF2-40B4-BE49-F238E27FC236}">
                <a16:creationId xmlns:a16="http://schemas.microsoft.com/office/drawing/2014/main" id="{27C18B26-23BA-554B-A9FF-8F79F598585E}"/>
              </a:ext>
            </a:extLst>
          </p:cNvPr>
          <p:cNvSpPr txBox="1">
            <a:spLocks/>
          </p:cNvSpPr>
          <p:nvPr/>
        </p:nvSpPr>
        <p:spPr>
          <a:xfrm>
            <a:off x="1097280" y="18897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s-AR" dirty="0"/>
          </a:p>
          <a:p>
            <a:endParaRPr lang="es-AR" dirty="0"/>
          </a:p>
          <a:p>
            <a:endParaRPr lang="es-AR" dirty="0"/>
          </a:p>
          <a:p>
            <a:pPr marL="0" indent="0">
              <a:buFont typeface="Calibri" panose="020F0502020204030204" pitchFamily="34" charset="0"/>
              <a:buNone/>
            </a:pPr>
            <a:endParaRPr lang="es-AR" dirty="0"/>
          </a:p>
          <a:p>
            <a:pPr marL="0" indent="0">
              <a:buFont typeface="Calibri" panose="020F0502020204030204" pitchFamily="34" charset="0"/>
              <a:buNone/>
            </a:pPr>
            <a:endParaRPr lang="es-AR" dirty="0"/>
          </a:p>
        </p:txBody>
      </p:sp>
      <p:pic>
        <p:nvPicPr>
          <p:cNvPr id="1026" name="Picture 2" descr="JVM Memory Management: Part 2. Java heavily relies on objects. As a… | by  Mrinal Gupta | Nerd For Tech | Medium">
            <a:extLst>
              <a:ext uri="{FF2B5EF4-FFF2-40B4-BE49-F238E27FC236}">
                <a16:creationId xmlns:a16="http://schemas.microsoft.com/office/drawing/2014/main" id="{DB5DDDFF-BD3C-C340-8BE9-6F54226955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6050" y="1889760"/>
            <a:ext cx="6610350" cy="3718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9983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4A042-CAFF-974C-5029-3236DE60324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8DA73CF-F0A9-A667-3EC0-507F212FFCB4}"/>
              </a:ext>
            </a:extLst>
          </p:cNvPr>
          <p:cNvSpPr>
            <a:spLocks noGrp="1"/>
          </p:cNvSpPr>
          <p:nvPr>
            <p:ph type="title"/>
          </p:nvPr>
        </p:nvSpPr>
        <p:spPr/>
        <p:txBody>
          <a:bodyPr/>
          <a:lstStyle/>
          <a:p>
            <a:r>
              <a:rPr lang="es-AR" dirty="0"/>
              <a:t> </a:t>
            </a:r>
          </a:p>
        </p:txBody>
      </p:sp>
      <p:sp>
        <p:nvSpPr>
          <p:cNvPr id="3" name="Marcador de contenido 2">
            <a:extLst>
              <a:ext uri="{FF2B5EF4-FFF2-40B4-BE49-F238E27FC236}">
                <a16:creationId xmlns:a16="http://schemas.microsoft.com/office/drawing/2014/main" id="{551339FD-F680-05EB-5AF3-7793212F42C4}"/>
              </a:ext>
            </a:extLst>
          </p:cNvPr>
          <p:cNvSpPr>
            <a:spLocks noGrp="1"/>
          </p:cNvSpPr>
          <p:nvPr>
            <p:ph idx="1"/>
          </p:nvPr>
        </p:nvSpPr>
        <p:spPr>
          <a:xfrm>
            <a:off x="3783330" y="2501324"/>
            <a:ext cx="5453539" cy="2117852"/>
          </a:xfrm>
        </p:spPr>
        <p:txBody>
          <a:bodyPr/>
          <a:lstStyle/>
          <a:p>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EB0C45FD-1BE7-ABFE-B429-016F1C5E62B1}"/>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4AA7D958-AF8C-ECC5-E197-9D9D5F783785}"/>
              </a:ext>
            </a:extLst>
          </p:cNvPr>
          <p:cNvSpPr>
            <a:spLocks noGrp="1"/>
          </p:cNvSpPr>
          <p:nvPr>
            <p:ph type="sldNum" sz="quarter" idx="12"/>
          </p:nvPr>
        </p:nvSpPr>
        <p:spPr/>
        <p:txBody>
          <a:bodyPr/>
          <a:lstStyle/>
          <a:p>
            <a:fld id="{6C8ECD1B-3F01-46F8-A46F-31A31EFC5ABF}" type="slidenum">
              <a:rPr lang="es-AR" smtClean="0"/>
              <a:t>5</a:t>
            </a:fld>
            <a:endParaRPr lang="es-AR"/>
          </a:p>
        </p:txBody>
      </p:sp>
      <p:sp>
        <p:nvSpPr>
          <p:cNvPr id="6" name="Título 1">
            <a:extLst>
              <a:ext uri="{FF2B5EF4-FFF2-40B4-BE49-F238E27FC236}">
                <a16:creationId xmlns:a16="http://schemas.microsoft.com/office/drawing/2014/main" id="{8DAD257A-1E81-6908-FA91-1A4BFE2B4AF5}"/>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S" dirty="0"/>
              <a:t>Conceptos generales de OO: clases, objetos, atributos, métodos.</a:t>
            </a:r>
            <a:endParaRPr lang="es-AR" dirty="0"/>
          </a:p>
        </p:txBody>
      </p:sp>
      <p:sp>
        <p:nvSpPr>
          <p:cNvPr id="7" name="Marcador de contenido 2">
            <a:extLst>
              <a:ext uri="{FF2B5EF4-FFF2-40B4-BE49-F238E27FC236}">
                <a16:creationId xmlns:a16="http://schemas.microsoft.com/office/drawing/2014/main" id="{8409F126-CAD3-4E8D-31D5-CD519AF3C820}"/>
              </a:ext>
            </a:extLst>
          </p:cNvPr>
          <p:cNvSpPr txBox="1">
            <a:spLocks/>
          </p:cNvSpPr>
          <p:nvPr/>
        </p:nvSpPr>
        <p:spPr>
          <a:xfrm>
            <a:off x="1097280" y="18897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s-AR" dirty="0"/>
          </a:p>
          <a:p>
            <a:endParaRPr lang="es-AR" dirty="0"/>
          </a:p>
          <a:p>
            <a:endParaRPr lang="es-AR" dirty="0"/>
          </a:p>
          <a:p>
            <a:pPr marL="0" indent="0">
              <a:buFont typeface="Calibri" panose="020F0502020204030204" pitchFamily="34" charset="0"/>
              <a:buNone/>
            </a:pPr>
            <a:endParaRPr lang="es-AR" dirty="0"/>
          </a:p>
          <a:p>
            <a:pPr marL="0" indent="0">
              <a:buFont typeface="Calibri" panose="020F0502020204030204" pitchFamily="34" charset="0"/>
              <a:buNone/>
            </a:pPr>
            <a:endParaRPr lang="es-AR" dirty="0"/>
          </a:p>
        </p:txBody>
      </p:sp>
      <p:pic>
        <p:nvPicPr>
          <p:cNvPr id="9" name="Imagen 8">
            <a:extLst>
              <a:ext uri="{FF2B5EF4-FFF2-40B4-BE49-F238E27FC236}">
                <a16:creationId xmlns:a16="http://schemas.microsoft.com/office/drawing/2014/main" id="{B715AB14-79A9-6CB2-6F85-95E39AB26422}"/>
              </a:ext>
            </a:extLst>
          </p:cNvPr>
          <p:cNvPicPr>
            <a:picLocks noChangeAspect="1"/>
          </p:cNvPicPr>
          <p:nvPr/>
        </p:nvPicPr>
        <p:blipFill>
          <a:blip r:embed="rId3"/>
          <a:stretch>
            <a:fillRect/>
          </a:stretch>
        </p:blipFill>
        <p:spPr>
          <a:xfrm>
            <a:off x="1249679" y="3052706"/>
            <a:ext cx="3007043" cy="3012814"/>
          </a:xfrm>
          <a:prstGeom prst="rect">
            <a:avLst/>
          </a:prstGeom>
        </p:spPr>
      </p:pic>
      <p:pic>
        <p:nvPicPr>
          <p:cNvPr id="11" name="Imagen 10">
            <a:extLst>
              <a:ext uri="{FF2B5EF4-FFF2-40B4-BE49-F238E27FC236}">
                <a16:creationId xmlns:a16="http://schemas.microsoft.com/office/drawing/2014/main" id="{ED06B368-1354-DB7B-6669-E75836CE58D9}"/>
              </a:ext>
            </a:extLst>
          </p:cNvPr>
          <p:cNvPicPr>
            <a:picLocks noChangeAspect="1"/>
          </p:cNvPicPr>
          <p:nvPr/>
        </p:nvPicPr>
        <p:blipFill>
          <a:blip r:embed="rId4"/>
          <a:stretch>
            <a:fillRect/>
          </a:stretch>
        </p:blipFill>
        <p:spPr>
          <a:xfrm>
            <a:off x="4776174" y="3090810"/>
            <a:ext cx="3007043" cy="2974709"/>
          </a:xfrm>
          <a:prstGeom prst="rect">
            <a:avLst/>
          </a:prstGeom>
        </p:spPr>
      </p:pic>
      <p:pic>
        <p:nvPicPr>
          <p:cNvPr id="13" name="Imagen 12">
            <a:extLst>
              <a:ext uri="{FF2B5EF4-FFF2-40B4-BE49-F238E27FC236}">
                <a16:creationId xmlns:a16="http://schemas.microsoft.com/office/drawing/2014/main" id="{6F9A0DD4-D464-A63B-4548-706C06661665}"/>
              </a:ext>
            </a:extLst>
          </p:cNvPr>
          <p:cNvPicPr>
            <a:picLocks noChangeAspect="1"/>
          </p:cNvPicPr>
          <p:nvPr/>
        </p:nvPicPr>
        <p:blipFill>
          <a:blip r:embed="rId5"/>
          <a:stretch>
            <a:fillRect/>
          </a:stretch>
        </p:blipFill>
        <p:spPr>
          <a:xfrm>
            <a:off x="8441260" y="3090810"/>
            <a:ext cx="2918395" cy="2918395"/>
          </a:xfrm>
          <a:prstGeom prst="rect">
            <a:avLst/>
          </a:prstGeom>
        </p:spPr>
      </p:pic>
      <p:sp>
        <p:nvSpPr>
          <p:cNvPr id="14" name="Marcador de contenido 2">
            <a:extLst>
              <a:ext uri="{FF2B5EF4-FFF2-40B4-BE49-F238E27FC236}">
                <a16:creationId xmlns:a16="http://schemas.microsoft.com/office/drawing/2014/main" id="{FE5C18E9-1D19-C17F-DA58-EFDAC5963DE7}"/>
              </a:ext>
            </a:extLst>
          </p:cNvPr>
          <p:cNvSpPr txBox="1">
            <a:spLocks/>
          </p:cNvSpPr>
          <p:nvPr/>
        </p:nvSpPr>
        <p:spPr>
          <a:xfrm>
            <a:off x="1249680" y="20421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dirty="0"/>
              <a:t>Un objeto				Una clase		Un objeto concreto</a:t>
            </a:r>
          </a:p>
          <a:p>
            <a:endParaRPr lang="es-AR" dirty="0"/>
          </a:p>
          <a:p>
            <a:pPr marL="0" indent="0">
              <a:buFont typeface="Calibri" panose="020F0502020204030204" pitchFamily="34" charset="0"/>
              <a:buNone/>
            </a:pPr>
            <a:endParaRPr lang="es-AR" dirty="0"/>
          </a:p>
          <a:p>
            <a:pPr marL="0" indent="0">
              <a:buFont typeface="Calibri" panose="020F0502020204030204" pitchFamily="34" charset="0"/>
              <a:buNone/>
            </a:pPr>
            <a:endParaRPr lang="es-AR" dirty="0"/>
          </a:p>
        </p:txBody>
      </p:sp>
    </p:spTree>
    <p:extLst>
      <p:ext uri="{BB962C8B-B14F-4D97-AF65-F5344CB8AC3E}">
        <p14:creationId xmlns:p14="http://schemas.microsoft.com/office/powerpoint/2010/main" val="3292162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B313F-DEED-971F-007A-9D55B8101AF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C80203A-F577-3D21-31D8-994967F4BC12}"/>
              </a:ext>
            </a:extLst>
          </p:cNvPr>
          <p:cNvSpPr>
            <a:spLocks noGrp="1"/>
          </p:cNvSpPr>
          <p:nvPr>
            <p:ph type="title"/>
          </p:nvPr>
        </p:nvSpPr>
        <p:spPr/>
        <p:txBody>
          <a:bodyPr/>
          <a:lstStyle/>
          <a:p>
            <a:r>
              <a:rPr lang="es-AR" dirty="0"/>
              <a:t> </a:t>
            </a:r>
          </a:p>
        </p:txBody>
      </p:sp>
      <p:sp>
        <p:nvSpPr>
          <p:cNvPr id="3" name="Marcador de contenido 2">
            <a:extLst>
              <a:ext uri="{FF2B5EF4-FFF2-40B4-BE49-F238E27FC236}">
                <a16:creationId xmlns:a16="http://schemas.microsoft.com/office/drawing/2014/main" id="{07862D07-629E-1C5B-708F-49AA8B437567}"/>
              </a:ext>
            </a:extLst>
          </p:cNvPr>
          <p:cNvSpPr>
            <a:spLocks noGrp="1"/>
          </p:cNvSpPr>
          <p:nvPr>
            <p:ph idx="1"/>
          </p:nvPr>
        </p:nvSpPr>
        <p:spPr>
          <a:xfrm>
            <a:off x="3783330" y="2501324"/>
            <a:ext cx="5453539" cy="2117852"/>
          </a:xfrm>
        </p:spPr>
        <p:txBody>
          <a:bodyPr/>
          <a:lstStyle/>
          <a:p>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87695DB4-4299-C50A-F6CE-BB09F857E559}"/>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1DF6A1B8-17A7-8E5D-FB84-8E226B25FD9B}"/>
              </a:ext>
            </a:extLst>
          </p:cNvPr>
          <p:cNvSpPr>
            <a:spLocks noGrp="1"/>
          </p:cNvSpPr>
          <p:nvPr>
            <p:ph type="sldNum" sz="quarter" idx="12"/>
          </p:nvPr>
        </p:nvSpPr>
        <p:spPr/>
        <p:txBody>
          <a:bodyPr/>
          <a:lstStyle/>
          <a:p>
            <a:fld id="{6C8ECD1B-3F01-46F8-A46F-31A31EFC5ABF}" type="slidenum">
              <a:rPr lang="es-AR" smtClean="0"/>
              <a:t>6</a:t>
            </a:fld>
            <a:endParaRPr lang="es-AR"/>
          </a:p>
        </p:txBody>
      </p:sp>
      <p:sp>
        <p:nvSpPr>
          <p:cNvPr id="6" name="Título 1">
            <a:extLst>
              <a:ext uri="{FF2B5EF4-FFF2-40B4-BE49-F238E27FC236}">
                <a16:creationId xmlns:a16="http://schemas.microsoft.com/office/drawing/2014/main" id="{C72F9454-A9FD-2418-5C4D-51747DA1C468}"/>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S" dirty="0"/>
              <a:t>Conceptos generales de OO: clases, objetos, atributos, métodos.</a:t>
            </a:r>
            <a:endParaRPr lang="es-AR" dirty="0"/>
          </a:p>
        </p:txBody>
      </p:sp>
      <p:sp>
        <p:nvSpPr>
          <p:cNvPr id="7" name="Marcador de contenido 2">
            <a:extLst>
              <a:ext uri="{FF2B5EF4-FFF2-40B4-BE49-F238E27FC236}">
                <a16:creationId xmlns:a16="http://schemas.microsoft.com/office/drawing/2014/main" id="{34EFD3F9-848B-3851-0D2F-15C5347B6A47}"/>
              </a:ext>
            </a:extLst>
          </p:cNvPr>
          <p:cNvSpPr txBox="1">
            <a:spLocks/>
          </p:cNvSpPr>
          <p:nvPr/>
        </p:nvSpPr>
        <p:spPr>
          <a:xfrm>
            <a:off x="1097280" y="18897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s-AR" dirty="0"/>
          </a:p>
          <a:p>
            <a:endParaRPr lang="es-AR" dirty="0"/>
          </a:p>
          <a:p>
            <a:endParaRPr lang="es-AR" dirty="0"/>
          </a:p>
          <a:p>
            <a:pPr marL="0" indent="0">
              <a:buFont typeface="Calibri" panose="020F0502020204030204" pitchFamily="34" charset="0"/>
              <a:buNone/>
            </a:pPr>
            <a:endParaRPr lang="es-AR" dirty="0"/>
          </a:p>
          <a:p>
            <a:pPr marL="0" indent="0">
              <a:buFont typeface="Calibri" panose="020F0502020204030204" pitchFamily="34" charset="0"/>
              <a:buNone/>
            </a:pPr>
            <a:endParaRPr lang="es-AR" dirty="0"/>
          </a:p>
        </p:txBody>
      </p:sp>
      <p:sp>
        <p:nvSpPr>
          <p:cNvPr id="14" name="Marcador de contenido 2">
            <a:extLst>
              <a:ext uri="{FF2B5EF4-FFF2-40B4-BE49-F238E27FC236}">
                <a16:creationId xmlns:a16="http://schemas.microsoft.com/office/drawing/2014/main" id="{8754C815-3B7B-A5D7-C12F-EC9FAEB76775}"/>
              </a:ext>
            </a:extLst>
          </p:cNvPr>
          <p:cNvSpPr txBox="1">
            <a:spLocks/>
          </p:cNvSpPr>
          <p:nvPr/>
        </p:nvSpPr>
        <p:spPr>
          <a:xfrm>
            <a:off x="1249680" y="20421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AR" dirty="0"/>
              <a:t>Como modelamos el mundo que nos rodea para llevarlo al formato maquina y manejarlo</a:t>
            </a:r>
          </a:p>
          <a:p>
            <a:endParaRPr lang="es-AR" dirty="0"/>
          </a:p>
          <a:p>
            <a:pPr marL="0" indent="0">
              <a:buFont typeface="Calibri" panose="020F0502020204030204" pitchFamily="34" charset="0"/>
              <a:buNone/>
            </a:pPr>
            <a:endParaRPr lang="es-AR" dirty="0"/>
          </a:p>
          <a:p>
            <a:pPr marL="0" indent="0">
              <a:buFont typeface="Calibri" panose="020F0502020204030204" pitchFamily="34" charset="0"/>
              <a:buNone/>
            </a:pPr>
            <a:endParaRPr lang="es-AR" dirty="0"/>
          </a:p>
        </p:txBody>
      </p:sp>
      <p:pic>
        <p:nvPicPr>
          <p:cNvPr id="10" name="Imagen 9">
            <a:extLst>
              <a:ext uri="{FF2B5EF4-FFF2-40B4-BE49-F238E27FC236}">
                <a16:creationId xmlns:a16="http://schemas.microsoft.com/office/drawing/2014/main" id="{2603FA45-9BC3-FED6-F7D8-9BB50128D513}"/>
              </a:ext>
            </a:extLst>
          </p:cNvPr>
          <p:cNvPicPr>
            <a:picLocks noChangeAspect="1"/>
          </p:cNvPicPr>
          <p:nvPr/>
        </p:nvPicPr>
        <p:blipFill>
          <a:blip r:embed="rId3"/>
          <a:stretch>
            <a:fillRect/>
          </a:stretch>
        </p:blipFill>
        <p:spPr>
          <a:xfrm>
            <a:off x="1666875" y="2417445"/>
            <a:ext cx="8858250" cy="3495675"/>
          </a:xfrm>
          <a:prstGeom prst="rect">
            <a:avLst/>
          </a:prstGeom>
        </p:spPr>
      </p:pic>
    </p:spTree>
    <p:extLst>
      <p:ext uri="{BB962C8B-B14F-4D97-AF65-F5344CB8AC3E}">
        <p14:creationId xmlns:p14="http://schemas.microsoft.com/office/powerpoint/2010/main" val="4120246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8C8AF-44A1-6E2B-A075-4CE001400DE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87EB183-1F06-A1DE-9A43-40E2BA6DD471}"/>
              </a:ext>
            </a:extLst>
          </p:cNvPr>
          <p:cNvSpPr>
            <a:spLocks noGrp="1"/>
          </p:cNvSpPr>
          <p:nvPr>
            <p:ph type="title"/>
          </p:nvPr>
        </p:nvSpPr>
        <p:spPr/>
        <p:txBody>
          <a:bodyPr/>
          <a:lstStyle/>
          <a:p>
            <a:r>
              <a:rPr lang="es-AR" dirty="0"/>
              <a:t> </a:t>
            </a:r>
          </a:p>
        </p:txBody>
      </p:sp>
      <p:sp>
        <p:nvSpPr>
          <p:cNvPr id="3" name="Marcador de contenido 2">
            <a:extLst>
              <a:ext uri="{FF2B5EF4-FFF2-40B4-BE49-F238E27FC236}">
                <a16:creationId xmlns:a16="http://schemas.microsoft.com/office/drawing/2014/main" id="{FB6C636B-D00B-9965-37F9-880956CB3233}"/>
              </a:ext>
            </a:extLst>
          </p:cNvPr>
          <p:cNvSpPr>
            <a:spLocks noGrp="1"/>
          </p:cNvSpPr>
          <p:nvPr>
            <p:ph idx="1"/>
          </p:nvPr>
        </p:nvSpPr>
        <p:spPr>
          <a:xfrm>
            <a:off x="3783330" y="2501324"/>
            <a:ext cx="5453539" cy="2117852"/>
          </a:xfrm>
        </p:spPr>
        <p:txBody>
          <a:bodyPr/>
          <a:lstStyle/>
          <a:p>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FEDF0AAC-755A-06A3-F9F8-B5181F51BC16}"/>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C7BE4C4F-D258-5708-486D-A98409A2BB77}"/>
              </a:ext>
            </a:extLst>
          </p:cNvPr>
          <p:cNvSpPr>
            <a:spLocks noGrp="1"/>
          </p:cNvSpPr>
          <p:nvPr>
            <p:ph type="sldNum" sz="quarter" idx="12"/>
          </p:nvPr>
        </p:nvSpPr>
        <p:spPr/>
        <p:txBody>
          <a:bodyPr/>
          <a:lstStyle/>
          <a:p>
            <a:fld id="{6C8ECD1B-3F01-46F8-A46F-31A31EFC5ABF}" type="slidenum">
              <a:rPr lang="es-AR" smtClean="0"/>
              <a:t>7</a:t>
            </a:fld>
            <a:endParaRPr lang="es-AR"/>
          </a:p>
        </p:txBody>
      </p:sp>
      <p:sp>
        <p:nvSpPr>
          <p:cNvPr id="6" name="Título 1">
            <a:extLst>
              <a:ext uri="{FF2B5EF4-FFF2-40B4-BE49-F238E27FC236}">
                <a16:creationId xmlns:a16="http://schemas.microsoft.com/office/drawing/2014/main" id="{DA1F644A-204D-95DD-A854-7AF9DD8FE6A9}"/>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AR" dirty="0"/>
              <a:t>Beneficios de POO</a:t>
            </a:r>
            <a:r>
              <a:rPr lang="es-ES" dirty="0"/>
              <a:t>.</a:t>
            </a:r>
            <a:endParaRPr lang="es-AR" dirty="0"/>
          </a:p>
        </p:txBody>
      </p:sp>
      <p:sp>
        <p:nvSpPr>
          <p:cNvPr id="7" name="Marcador de contenido 2">
            <a:extLst>
              <a:ext uri="{FF2B5EF4-FFF2-40B4-BE49-F238E27FC236}">
                <a16:creationId xmlns:a16="http://schemas.microsoft.com/office/drawing/2014/main" id="{A0883EFB-0AA5-244F-553F-FC60A5923F2C}"/>
              </a:ext>
            </a:extLst>
          </p:cNvPr>
          <p:cNvSpPr txBox="1">
            <a:spLocks/>
          </p:cNvSpPr>
          <p:nvPr/>
        </p:nvSpPr>
        <p:spPr>
          <a:xfrm>
            <a:off x="1097280" y="18897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s-AR" dirty="0"/>
          </a:p>
          <a:p>
            <a:endParaRPr lang="es-AR" dirty="0"/>
          </a:p>
          <a:p>
            <a:endParaRPr lang="es-AR" dirty="0"/>
          </a:p>
          <a:p>
            <a:pPr marL="0" indent="0">
              <a:buFont typeface="Calibri" panose="020F0502020204030204" pitchFamily="34" charset="0"/>
              <a:buNone/>
            </a:pPr>
            <a:endParaRPr lang="es-AR" dirty="0"/>
          </a:p>
          <a:p>
            <a:pPr marL="0" indent="0">
              <a:buFont typeface="Calibri" panose="020F0502020204030204" pitchFamily="34" charset="0"/>
              <a:buNone/>
            </a:pPr>
            <a:endParaRPr lang="es-AR" dirty="0"/>
          </a:p>
        </p:txBody>
      </p:sp>
      <p:sp>
        <p:nvSpPr>
          <p:cNvPr id="14" name="Marcador de contenido 2">
            <a:extLst>
              <a:ext uri="{FF2B5EF4-FFF2-40B4-BE49-F238E27FC236}">
                <a16:creationId xmlns:a16="http://schemas.microsoft.com/office/drawing/2014/main" id="{ADE85BC1-5761-F927-CC01-6D8F424D0295}"/>
              </a:ext>
            </a:extLst>
          </p:cNvPr>
          <p:cNvSpPr txBox="1">
            <a:spLocks/>
          </p:cNvSpPr>
          <p:nvPr/>
        </p:nvSpPr>
        <p:spPr>
          <a:xfrm>
            <a:off x="1249680" y="2042160"/>
            <a:ext cx="10058400" cy="4023360"/>
          </a:xfrm>
          <a:prstGeom prst="rect">
            <a:avLst/>
          </a:prstGeom>
        </p:spPr>
        <p:txBody>
          <a:bodyPr vert="horz" lIns="0" tIns="45720" rIns="0" bIns="45720" rtlCol="0">
            <a:normAutofit fontScale="77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ES" dirty="0"/>
              <a:t>Reutilización de código: </a:t>
            </a:r>
          </a:p>
          <a:p>
            <a:pPr lvl="1"/>
            <a:r>
              <a:rPr lang="es-ES" dirty="0"/>
              <a:t> Las clases y objetos pueden reutilizarse en diferentes partes del programa o incluso en otros proyectos. </a:t>
            </a:r>
          </a:p>
          <a:p>
            <a:pPr lvl="1"/>
            <a:r>
              <a:rPr lang="es-ES" dirty="0"/>
              <a:t>La herencia y otras características facilitan la creación de nuevo código a partir de elementos existentes. </a:t>
            </a:r>
          </a:p>
          <a:p>
            <a:r>
              <a:rPr lang="es-ES" dirty="0"/>
              <a:t>Mantenibilidad:</a:t>
            </a:r>
          </a:p>
          <a:p>
            <a:pPr lvl="1"/>
            <a:r>
              <a:rPr lang="es-ES" dirty="0"/>
              <a:t>El código orientado a objetos es más fácil de entender y modificar, ya que está organizado en módulos lógicos. </a:t>
            </a:r>
          </a:p>
          <a:p>
            <a:pPr lvl="1"/>
            <a:r>
              <a:rPr lang="es-ES" dirty="0"/>
              <a:t>Permite adaptar y expandir sistemas de forma más sencilla, sin afectar el código existente. </a:t>
            </a:r>
          </a:p>
          <a:p>
            <a:pPr lvl="1"/>
            <a:r>
              <a:rPr lang="es-ES" dirty="0"/>
              <a:t>La POO ayuda a organizar el código en módulos y clases, facilitando su comprensión y mantenimiento. </a:t>
            </a:r>
          </a:p>
          <a:p>
            <a:r>
              <a:rPr lang="es-ES" dirty="0"/>
              <a:t>Modularidad:</a:t>
            </a:r>
          </a:p>
          <a:p>
            <a:pPr lvl="1"/>
            <a:r>
              <a:rPr lang="es-ES" dirty="0"/>
              <a:t>Permite dividir un programa complejo en partes más pequeñas y manejables, facilitando el desarrollo y la colaboración entre equipos. </a:t>
            </a:r>
          </a:p>
          <a:p>
            <a:r>
              <a:rPr lang="es-ES" dirty="0"/>
              <a:t>Flexibilidad:</a:t>
            </a:r>
          </a:p>
          <a:p>
            <a:pPr lvl="1"/>
            <a:r>
              <a:rPr lang="es-ES" dirty="0"/>
              <a:t>El polimorfismo permite que el código se adapte a cambios y nuevas funcionalidades sin necesidad de modificar la estructura original. </a:t>
            </a:r>
          </a:p>
          <a:p>
            <a:pPr lvl="1"/>
            <a:r>
              <a:rPr lang="es-ES" dirty="0"/>
              <a:t>La POO facilita el trabajo en equipo, ya que cada objeto puede ser desarrollado y mantenido de forma independiente. </a:t>
            </a:r>
          </a:p>
          <a:p>
            <a:r>
              <a:rPr lang="es-ES" dirty="0"/>
              <a:t>Abstracción:</a:t>
            </a:r>
          </a:p>
          <a:p>
            <a:pPr lvl="1"/>
            <a:r>
              <a:rPr lang="es-ES" dirty="0"/>
              <a:t>La POO permite representar conceptos complejos del mundo real de forma simplificada a través de objetos y sus interacciones. </a:t>
            </a:r>
            <a:endParaRPr lang="es-AR" dirty="0"/>
          </a:p>
          <a:p>
            <a:pPr marL="0" indent="0">
              <a:buFont typeface="Calibri" panose="020F0502020204030204" pitchFamily="34" charset="0"/>
              <a:buNone/>
            </a:pPr>
            <a:endParaRPr lang="es-AR" dirty="0"/>
          </a:p>
          <a:p>
            <a:pPr marL="0" indent="0">
              <a:buFont typeface="Calibri" panose="020F0502020204030204" pitchFamily="34" charset="0"/>
              <a:buNone/>
            </a:pPr>
            <a:endParaRPr lang="es-AR" dirty="0"/>
          </a:p>
        </p:txBody>
      </p:sp>
    </p:spTree>
    <p:extLst>
      <p:ext uri="{BB962C8B-B14F-4D97-AF65-F5344CB8AC3E}">
        <p14:creationId xmlns:p14="http://schemas.microsoft.com/office/powerpoint/2010/main" val="4243100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6CFE0-45BE-E24E-35A0-0FD0DDA29D0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866D463-5DA1-C028-0423-90D45A47E42B}"/>
              </a:ext>
            </a:extLst>
          </p:cNvPr>
          <p:cNvSpPr>
            <a:spLocks noGrp="1"/>
          </p:cNvSpPr>
          <p:nvPr>
            <p:ph type="title"/>
          </p:nvPr>
        </p:nvSpPr>
        <p:spPr/>
        <p:txBody>
          <a:bodyPr/>
          <a:lstStyle/>
          <a:p>
            <a:r>
              <a:rPr lang="es-AR" dirty="0"/>
              <a:t> </a:t>
            </a:r>
          </a:p>
        </p:txBody>
      </p:sp>
      <p:sp>
        <p:nvSpPr>
          <p:cNvPr id="3" name="Marcador de contenido 2">
            <a:extLst>
              <a:ext uri="{FF2B5EF4-FFF2-40B4-BE49-F238E27FC236}">
                <a16:creationId xmlns:a16="http://schemas.microsoft.com/office/drawing/2014/main" id="{5117BC9E-8E5D-A9AA-467E-E41A827509F1}"/>
              </a:ext>
            </a:extLst>
          </p:cNvPr>
          <p:cNvSpPr>
            <a:spLocks noGrp="1"/>
          </p:cNvSpPr>
          <p:nvPr>
            <p:ph idx="1"/>
          </p:nvPr>
        </p:nvSpPr>
        <p:spPr/>
        <p:txBody>
          <a:bodyPr/>
          <a:lstStyle/>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6FBBF804-8FE6-6B12-470A-E77873CD9C86}"/>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58194DA4-641E-9064-72C6-05F987776D1C}"/>
              </a:ext>
            </a:extLst>
          </p:cNvPr>
          <p:cNvSpPr>
            <a:spLocks noGrp="1"/>
          </p:cNvSpPr>
          <p:nvPr>
            <p:ph type="sldNum" sz="quarter" idx="12"/>
          </p:nvPr>
        </p:nvSpPr>
        <p:spPr/>
        <p:txBody>
          <a:bodyPr/>
          <a:lstStyle/>
          <a:p>
            <a:fld id="{6C8ECD1B-3F01-46F8-A46F-31A31EFC5ABF}" type="slidenum">
              <a:rPr lang="es-AR" smtClean="0"/>
              <a:t>8</a:t>
            </a:fld>
            <a:endParaRPr lang="es-AR"/>
          </a:p>
        </p:txBody>
      </p:sp>
      <p:sp>
        <p:nvSpPr>
          <p:cNvPr id="7" name="Marcador de contenido 2">
            <a:extLst>
              <a:ext uri="{FF2B5EF4-FFF2-40B4-BE49-F238E27FC236}">
                <a16:creationId xmlns:a16="http://schemas.microsoft.com/office/drawing/2014/main" id="{8103E200-802A-013D-6F9B-8215A25B2F84}"/>
              </a:ext>
            </a:extLst>
          </p:cNvPr>
          <p:cNvSpPr txBox="1">
            <a:spLocks/>
          </p:cNvSpPr>
          <p:nvPr/>
        </p:nvSpPr>
        <p:spPr>
          <a:xfrm>
            <a:off x="1097280" y="18897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s-ES" dirty="0"/>
          </a:p>
          <a:p>
            <a:r>
              <a:rPr lang="es-ES" dirty="0"/>
              <a:t>La programación orientada a objetos (POO) se caracteriza por cuatro principios fundamentales: </a:t>
            </a:r>
          </a:p>
          <a:p>
            <a:pPr algn="ctr"/>
            <a:r>
              <a:rPr lang="es-ES" b="1" dirty="0"/>
              <a:t>Abstracción</a:t>
            </a:r>
          </a:p>
          <a:p>
            <a:pPr algn="ctr"/>
            <a:r>
              <a:rPr lang="es-ES" b="1" dirty="0"/>
              <a:t>Encapsulamiento</a:t>
            </a:r>
          </a:p>
          <a:p>
            <a:pPr algn="ctr"/>
            <a:r>
              <a:rPr lang="es-ES" b="1" dirty="0"/>
              <a:t>Herencia </a:t>
            </a:r>
          </a:p>
          <a:p>
            <a:pPr algn="ctr"/>
            <a:r>
              <a:rPr lang="es-ES" b="1" dirty="0"/>
              <a:t>Polimorfismo </a:t>
            </a:r>
          </a:p>
          <a:p>
            <a:r>
              <a:rPr lang="es-ES" dirty="0"/>
              <a:t>Estos principios permiten organizar el código en objetos que interactúan entre sí, facilitando la creación de sistemas complejos y modulares. </a:t>
            </a:r>
            <a:endParaRPr lang="es-AR" dirty="0"/>
          </a:p>
          <a:p>
            <a:pPr marL="0" indent="0">
              <a:buFont typeface="Calibri" panose="020F0502020204030204" pitchFamily="34" charset="0"/>
              <a:buNone/>
            </a:pPr>
            <a:endParaRPr lang="es-AR" dirty="0"/>
          </a:p>
          <a:p>
            <a:pPr marL="0" indent="0">
              <a:buFont typeface="Calibri" panose="020F0502020204030204" pitchFamily="34" charset="0"/>
              <a:buNone/>
            </a:pPr>
            <a:endParaRPr lang="es-AR" dirty="0"/>
          </a:p>
        </p:txBody>
      </p:sp>
      <p:sp>
        <p:nvSpPr>
          <p:cNvPr id="8" name="Título 1">
            <a:extLst>
              <a:ext uri="{FF2B5EF4-FFF2-40B4-BE49-F238E27FC236}">
                <a16:creationId xmlns:a16="http://schemas.microsoft.com/office/drawing/2014/main" id="{C54E3723-51CF-3342-0B23-AA143FBFE770}"/>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S" dirty="0"/>
              <a:t>Conceptos generales de OO: clases, objetos, atributos, métodos.</a:t>
            </a:r>
            <a:endParaRPr lang="es-AR" dirty="0"/>
          </a:p>
        </p:txBody>
      </p:sp>
    </p:spTree>
    <p:extLst>
      <p:ext uri="{BB962C8B-B14F-4D97-AF65-F5344CB8AC3E}">
        <p14:creationId xmlns:p14="http://schemas.microsoft.com/office/powerpoint/2010/main" val="387943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BA645-8A48-5CE4-B18D-85BEC22EDC5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E6809ED-5817-ADA8-D3FA-5A5C9805416C}"/>
              </a:ext>
            </a:extLst>
          </p:cNvPr>
          <p:cNvSpPr>
            <a:spLocks noGrp="1"/>
          </p:cNvSpPr>
          <p:nvPr>
            <p:ph type="title"/>
          </p:nvPr>
        </p:nvSpPr>
        <p:spPr/>
        <p:txBody>
          <a:bodyPr/>
          <a:lstStyle/>
          <a:p>
            <a:r>
              <a:rPr lang="es-AR" dirty="0"/>
              <a:t> </a:t>
            </a:r>
          </a:p>
        </p:txBody>
      </p:sp>
      <p:pic>
        <p:nvPicPr>
          <p:cNvPr id="4" name="Imagen 3">
            <a:extLst>
              <a:ext uri="{FF2B5EF4-FFF2-40B4-BE49-F238E27FC236}">
                <a16:creationId xmlns:a16="http://schemas.microsoft.com/office/drawing/2014/main" id="{57B9192C-0396-F088-9B7F-393A0B51E6C9}"/>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786DD5B6-6A13-1811-7204-D67B65E7B021}"/>
              </a:ext>
            </a:extLst>
          </p:cNvPr>
          <p:cNvSpPr>
            <a:spLocks noGrp="1"/>
          </p:cNvSpPr>
          <p:nvPr>
            <p:ph type="sldNum" sz="quarter" idx="12"/>
          </p:nvPr>
        </p:nvSpPr>
        <p:spPr/>
        <p:txBody>
          <a:bodyPr/>
          <a:lstStyle/>
          <a:p>
            <a:fld id="{6C8ECD1B-3F01-46F8-A46F-31A31EFC5ABF}" type="slidenum">
              <a:rPr lang="es-AR" smtClean="0"/>
              <a:t>9</a:t>
            </a:fld>
            <a:endParaRPr lang="es-AR"/>
          </a:p>
        </p:txBody>
      </p:sp>
      <p:sp>
        <p:nvSpPr>
          <p:cNvPr id="6" name="Título 1">
            <a:extLst>
              <a:ext uri="{FF2B5EF4-FFF2-40B4-BE49-F238E27FC236}">
                <a16:creationId xmlns:a16="http://schemas.microsoft.com/office/drawing/2014/main" id="{413BFDFA-06EB-2E44-DEEC-5D5965C762D0}"/>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S" b="1" dirty="0"/>
              <a:t>Abstracción</a:t>
            </a:r>
            <a:endParaRPr lang="es-AR" dirty="0"/>
          </a:p>
        </p:txBody>
      </p:sp>
      <p:sp>
        <p:nvSpPr>
          <p:cNvPr id="7" name="Marcador de contenido 2">
            <a:extLst>
              <a:ext uri="{FF2B5EF4-FFF2-40B4-BE49-F238E27FC236}">
                <a16:creationId xmlns:a16="http://schemas.microsoft.com/office/drawing/2014/main" id="{F82EB64A-9235-BA78-767E-5E245D02EF0E}"/>
              </a:ext>
            </a:extLst>
          </p:cNvPr>
          <p:cNvSpPr txBox="1">
            <a:spLocks/>
          </p:cNvSpPr>
          <p:nvPr/>
        </p:nvSpPr>
        <p:spPr>
          <a:xfrm>
            <a:off x="1097280" y="18897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s-AR" dirty="0"/>
          </a:p>
          <a:p>
            <a:endParaRPr lang="es-AR" dirty="0"/>
          </a:p>
          <a:p>
            <a:endParaRPr lang="es-AR" dirty="0"/>
          </a:p>
          <a:p>
            <a:pPr marL="0" indent="0">
              <a:buFont typeface="Calibri" panose="020F0502020204030204" pitchFamily="34" charset="0"/>
              <a:buNone/>
            </a:pPr>
            <a:endParaRPr lang="es-AR" dirty="0"/>
          </a:p>
          <a:p>
            <a:pPr marL="0" indent="0">
              <a:buFont typeface="Calibri" panose="020F0502020204030204" pitchFamily="34" charset="0"/>
              <a:buNone/>
            </a:pPr>
            <a:endParaRPr lang="es-AR" dirty="0"/>
          </a:p>
        </p:txBody>
      </p:sp>
      <p:pic>
        <p:nvPicPr>
          <p:cNvPr id="11" name="Marcador de contenido 10">
            <a:extLst>
              <a:ext uri="{FF2B5EF4-FFF2-40B4-BE49-F238E27FC236}">
                <a16:creationId xmlns:a16="http://schemas.microsoft.com/office/drawing/2014/main" id="{5AA3D7B0-838F-C10F-B256-65B1A81784E1}"/>
              </a:ext>
            </a:extLst>
          </p:cNvPr>
          <p:cNvPicPr>
            <a:picLocks noGrp="1" noChangeAspect="1"/>
          </p:cNvPicPr>
          <p:nvPr>
            <p:ph idx="1"/>
          </p:nvPr>
        </p:nvPicPr>
        <p:blipFill>
          <a:blip r:embed="rId3"/>
          <a:stretch>
            <a:fillRect/>
          </a:stretch>
        </p:blipFill>
        <p:spPr>
          <a:xfrm>
            <a:off x="3669275" y="3011130"/>
            <a:ext cx="5219210" cy="2901990"/>
          </a:xfrm>
          <a:prstGeom prst="rect">
            <a:avLst/>
          </a:prstGeom>
        </p:spPr>
      </p:pic>
      <p:sp>
        <p:nvSpPr>
          <p:cNvPr id="12" name="Marcador de contenido 2">
            <a:extLst>
              <a:ext uri="{FF2B5EF4-FFF2-40B4-BE49-F238E27FC236}">
                <a16:creationId xmlns:a16="http://schemas.microsoft.com/office/drawing/2014/main" id="{4BE9808A-88A6-1B0F-08BE-7AD0CBD86BFF}"/>
              </a:ext>
            </a:extLst>
          </p:cNvPr>
          <p:cNvSpPr txBox="1">
            <a:spLocks/>
          </p:cNvSpPr>
          <p:nvPr/>
        </p:nvSpPr>
        <p:spPr>
          <a:xfrm>
            <a:off x="1249680" y="18897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ES" b="1" dirty="0"/>
              <a:t>Abstracción</a:t>
            </a:r>
            <a:r>
              <a:rPr lang="es-ES" dirty="0"/>
              <a:t>: Permite representar entidades del mundo real como objetos, ocultando detalles innecesarios y mostrando solo la información relevante para el contexto. </a:t>
            </a:r>
          </a:p>
        </p:txBody>
      </p:sp>
    </p:spTree>
    <p:extLst>
      <p:ext uri="{BB962C8B-B14F-4D97-AF65-F5344CB8AC3E}">
        <p14:creationId xmlns:p14="http://schemas.microsoft.com/office/powerpoint/2010/main" val="155647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3EB6C-82A1-4E14-8819-7FB2A67B57B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AF57106-5000-D588-7599-9CC3365477DF}"/>
              </a:ext>
            </a:extLst>
          </p:cNvPr>
          <p:cNvSpPr>
            <a:spLocks noGrp="1"/>
          </p:cNvSpPr>
          <p:nvPr>
            <p:ph type="title"/>
          </p:nvPr>
        </p:nvSpPr>
        <p:spPr/>
        <p:txBody>
          <a:bodyPr/>
          <a:lstStyle/>
          <a:p>
            <a:r>
              <a:rPr lang="es-AR" dirty="0"/>
              <a:t> </a:t>
            </a:r>
          </a:p>
        </p:txBody>
      </p:sp>
      <p:pic>
        <p:nvPicPr>
          <p:cNvPr id="4" name="Imagen 3">
            <a:extLst>
              <a:ext uri="{FF2B5EF4-FFF2-40B4-BE49-F238E27FC236}">
                <a16:creationId xmlns:a16="http://schemas.microsoft.com/office/drawing/2014/main" id="{4D9F04E6-2D33-C438-A2E0-5BB5015506ED}"/>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D51B5662-7844-7CC6-2C6D-929AA66308D2}"/>
              </a:ext>
            </a:extLst>
          </p:cNvPr>
          <p:cNvSpPr>
            <a:spLocks noGrp="1"/>
          </p:cNvSpPr>
          <p:nvPr>
            <p:ph type="sldNum" sz="quarter" idx="12"/>
          </p:nvPr>
        </p:nvSpPr>
        <p:spPr/>
        <p:txBody>
          <a:bodyPr/>
          <a:lstStyle/>
          <a:p>
            <a:fld id="{6C8ECD1B-3F01-46F8-A46F-31A31EFC5ABF}" type="slidenum">
              <a:rPr lang="es-AR" smtClean="0"/>
              <a:t>10</a:t>
            </a:fld>
            <a:endParaRPr lang="es-AR"/>
          </a:p>
        </p:txBody>
      </p:sp>
      <p:sp>
        <p:nvSpPr>
          <p:cNvPr id="6" name="Título 1">
            <a:extLst>
              <a:ext uri="{FF2B5EF4-FFF2-40B4-BE49-F238E27FC236}">
                <a16:creationId xmlns:a16="http://schemas.microsoft.com/office/drawing/2014/main" id="{ECA58E32-63A7-E734-1455-9463759831E6}"/>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S" b="1" dirty="0"/>
              <a:t>Encapsulamiento</a:t>
            </a:r>
            <a:endParaRPr lang="es-AR" dirty="0"/>
          </a:p>
        </p:txBody>
      </p:sp>
      <p:sp>
        <p:nvSpPr>
          <p:cNvPr id="7" name="Marcador de contenido 2">
            <a:extLst>
              <a:ext uri="{FF2B5EF4-FFF2-40B4-BE49-F238E27FC236}">
                <a16:creationId xmlns:a16="http://schemas.microsoft.com/office/drawing/2014/main" id="{01E2E3A0-3F61-9D45-3937-AB745128032F}"/>
              </a:ext>
            </a:extLst>
          </p:cNvPr>
          <p:cNvSpPr txBox="1">
            <a:spLocks/>
          </p:cNvSpPr>
          <p:nvPr/>
        </p:nvSpPr>
        <p:spPr>
          <a:xfrm>
            <a:off x="1097280" y="18897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s-AR" dirty="0"/>
          </a:p>
          <a:p>
            <a:endParaRPr lang="es-AR" dirty="0"/>
          </a:p>
          <a:p>
            <a:endParaRPr lang="es-AR" dirty="0"/>
          </a:p>
          <a:p>
            <a:pPr marL="0" indent="0">
              <a:buFont typeface="Calibri" panose="020F0502020204030204" pitchFamily="34" charset="0"/>
              <a:buNone/>
            </a:pPr>
            <a:endParaRPr lang="es-AR" dirty="0"/>
          </a:p>
          <a:p>
            <a:pPr marL="0" indent="0">
              <a:buFont typeface="Calibri" panose="020F0502020204030204" pitchFamily="34" charset="0"/>
              <a:buNone/>
            </a:pPr>
            <a:endParaRPr lang="es-AR" dirty="0"/>
          </a:p>
        </p:txBody>
      </p:sp>
      <p:sp>
        <p:nvSpPr>
          <p:cNvPr id="12" name="Marcador de contenido 2">
            <a:extLst>
              <a:ext uri="{FF2B5EF4-FFF2-40B4-BE49-F238E27FC236}">
                <a16:creationId xmlns:a16="http://schemas.microsoft.com/office/drawing/2014/main" id="{2BC8168F-1F63-0400-B7E7-2B7ED1727E47}"/>
              </a:ext>
            </a:extLst>
          </p:cNvPr>
          <p:cNvSpPr txBox="1">
            <a:spLocks/>
          </p:cNvSpPr>
          <p:nvPr/>
        </p:nvSpPr>
        <p:spPr>
          <a:xfrm>
            <a:off x="1249680" y="18897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ES" b="1" dirty="0"/>
              <a:t>Encapsulamiento</a:t>
            </a:r>
            <a:r>
              <a:rPr lang="es-ES" dirty="0"/>
              <a:t>: Agrupa datos (atributos) y métodos (funciones) que operan sobre esos datos dentro de un objeto, protegiendo la información interna y controlando el acceso a ella. Vinculado con el </a:t>
            </a:r>
            <a:r>
              <a:rPr lang="es-ES" b="1" dirty="0"/>
              <a:t>OCULTAMIENTO</a:t>
            </a:r>
            <a:r>
              <a:rPr lang="es-ES" dirty="0"/>
              <a:t> ya que provee de un mecanismo controlado para acceder a los atributos de las clases.</a:t>
            </a:r>
          </a:p>
        </p:txBody>
      </p:sp>
      <p:pic>
        <p:nvPicPr>
          <p:cNvPr id="9" name="Imagen 8">
            <a:extLst>
              <a:ext uri="{FF2B5EF4-FFF2-40B4-BE49-F238E27FC236}">
                <a16:creationId xmlns:a16="http://schemas.microsoft.com/office/drawing/2014/main" id="{4F9DDB5E-40C4-281B-BB65-F26F8DA1A3FD}"/>
              </a:ext>
            </a:extLst>
          </p:cNvPr>
          <p:cNvPicPr>
            <a:picLocks noChangeAspect="1"/>
          </p:cNvPicPr>
          <p:nvPr/>
        </p:nvPicPr>
        <p:blipFill>
          <a:blip r:embed="rId3"/>
          <a:stretch>
            <a:fillRect/>
          </a:stretch>
        </p:blipFill>
        <p:spPr>
          <a:xfrm>
            <a:off x="3097530" y="3516783"/>
            <a:ext cx="6362700" cy="2460154"/>
          </a:xfrm>
          <a:prstGeom prst="rect">
            <a:avLst/>
          </a:prstGeom>
        </p:spPr>
      </p:pic>
    </p:spTree>
    <p:extLst>
      <p:ext uri="{BB962C8B-B14F-4D97-AF65-F5344CB8AC3E}">
        <p14:creationId xmlns:p14="http://schemas.microsoft.com/office/powerpoint/2010/main" val="1173324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E9279-FDEF-5E1A-973F-B00D676EC24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8E6552E-A3B8-B3FD-0D8A-2916745511D0}"/>
              </a:ext>
            </a:extLst>
          </p:cNvPr>
          <p:cNvSpPr>
            <a:spLocks noGrp="1"/>
          </p:cNvSpPr>
          <p:nvPr>
            <p:ph type="title"/>
          </p:nvPr>
        </p:nvSpPr>
        <p:spPr/>
        <p:txBody>
          <a:bodyPr/>
          <a:lstStyle/>
          <a:p>
            <a:r>
              <a:rPr lang="es-AR" dirty="0"/>
              <a:t> </a:t>
            </a:r>
          </a:p>
        </p:txBody>
      </p:sp>
      <p:pic>
        <p:nvPicPr>
          <p:cNvPr id="4" name="Imagen 3">
            <a:extLst>
              <a:ext uri="{FF2B5EF4-FFF2-40B4-BE49-F238E27FC236}">
                <a16:creationId xmlns:a16="http://schemas.microsoft.com/office/drawing/2014/main" id="{774DBC2D-C481-01B1-BF2E-7AA6C07C5738}"/>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9051C525-C07A-9369-F8FB-37D62D8EA497}"/>
              </a:ext>
            </a:extLst>
          </p:cNvPr>
          <p:cNvSpPr>
            <a:spLocks noGrp="1"/>
          </p:cNvSpPr>
          <p:nvPr>
            <p:ph type="sldNum" sz="quarter" idx="12"/>
          </p:nvPr>
        </p:nvSpPr>
        <p:spPr/>
        <p:txBody>
          <a:bodyPr/>
          <a:lstStyle/>
          <a:p>
            <a:fld id="{6C8ECD1B-3F01-46F8-A46F-31A31EFC5ABF}" type="slidenum">
              <a:rPr lang="es-AR" smtClean="0"/>
              <a:t>11</a:t>
            </a:fld>
            <a:endParaRPr lang="es-AR"/>
          </a:p>
        </p:txBody>
      </p:sp>
      <p:sp>
        <p:nvSpPr>
          <p:cNvPr id="6" name="Título 1">
            <a:extLst>
              <a:ext uri="{FF2B5EF4-FFF2-40B4-BE49-F238E27FC236}">
                <a16:creationId xmlns:a16="http://schemas.microsoft.com/office/drawing/2014/main" id="{50F4ECF4-791C-ABF9-B020-70F2E9A5FF00}"/>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S" b="1" dirty="0"/>
              <a:t>Herencia</a:t>
            </a:r>
            <a:endParaRPr lang="es-AR" dirty="0"/>
          </a:p>
        </p:txBody>
      </p:sp>
      <p:sp>
        <p:nvSpPr>
          <p:cNvPr id="7" name="Marcador de contenido 2">
            <a:extLst>
              <a:ext uri="{FF2B5EF4-FFF2-40B4-BE49-F238E27FC236}">
                <a16:creationId xmlns:a16="http://schemas.microsoft.com/office/drawing/2014/main" id="{47AB1053-B4ED-4CD5-E563-3A166916168E}"/>
              </a:ext>
            </a:extLst>
          </p:cNvPr>
          <p:cNvSpPr txBox="1">
            <a:spLocks/>
          </p:cNvSpPr>
          <p:nvPr/>
        </p:nvSpPr>
        <p:spPr>
          <a:xfrm>
            <a:off x="1097280" y="18897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s-AR" dirty="0"/>
          </a:p>
          <a:p>
            <a:endParaRPr lang="es-AR" dirty="0"/>
          </a:p>
          <a:p>
            <a:endParaRPr lang="es-AR" dirty="0"/>
          </a:p>
          <a:p>
            <a:pPr marL="0" indent="0">
              <a:buFont typeface="Calibri" panose="020F0502020204030204" pitchFamily="34" charset="0"/>
              <a:buNone/>
            </a:pPr>
            <a:endParaRPr lang="es-AR" dirty="0"/>
          </a:p>
          <a:p>
            <a:pPr marL="0" indent="0">
              <a:buFont typeface="Calibri" panose="020F0502020204030204" pitchFamily="34" charset="0"/>
              <a:buNone/>
            </a:pPr>
            <a:endParaRPr lang="es-AR" dirty="0"/>
          </a:p>
        </p:txBody>
      </p:sp>
      <p:sp>
        <p:nvSpPr>
          <p:cNvPr id="12" name="Marcador de contenido 2">
            <a:extLst>
              <a:ext uri="{FF2B5EF4-FFF2-40B4-BE49-F238E27FC236}">
                <a16:creationId xmlns:a16="http://schemas.microsoft.com/office/drawing/2014/main" id="{1B8AA80B-6206-5AE4-D205-8F7A2BC55C74}"/>
              </a:ext>
            </a:extLst>
          </p:cNvPr>
          <p:cNvSpPr txBox="1">
            <a:spLocks/>
          </p:cNvSpPr>
          <p:nvPr/>
        </p:nvSpPr>
        <p:spPr>
          <a:xfrm>
            <a:off x="1249680" y="18897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ES" b="1" dirty="0"/>
              <a:t>Herencia</a:t>
            </a:r>
            <a:r>
              <a:rPr lang="es-ES" dirty="0"/>
              <a:t>: Permite que una clase (clase hija) herede atributos y métodos de otra clase (clase padre), evitando la duplicación de código y promoviendo la reutilización. </a:t>
            </a:r>
          </a:p>
        </p:txBody>
      </p:sp>
      <p:pic>
        <p:nvPicPr>
          <p:cNvPr id="14" name="Imagen 13">
            <a:extLst>
              <a:ext uri="{FF2B5EF4-FFF2-40B4-BE49-F238E27FC236}">
                <a16:creationId xmlns:a16="http://schemas.microsoft.com/office/drawing/2014/main" id="{E51AAD5E-5B0F-AE97-7831-E9F16BF4CC05}"/>
              </a:ext>
            </a:extLst>
          </p:cNvPr>
          <p:cNvPicPr>
            <a:picLocks noChangeAspect="1"/>
          </p:cNvPicPr>
          <p:nvPr/>
        </p:nvPicPr>
        <p:blipFill>
          <a:blip r:embed="rId3"/>
          <a:stretch>
            <a:fillRect/>
          </a:stretch>
        </p:blipFill>
        <p:spPr>
          <a:xfrm>
            <a:off x="3936206" y="2627068"/>
            <a:ext cx="4319587" cy="3438452"/>
          </a:xfrm>
          <a:prstGeom prst="rect">
            <a:avLst/>
          </a:prstGeom>
        </p:spPr>
      </p:pic>
    </p:spTree>
    <p:extLst>
      <p:ext uri="{BB962C8B-B14F-4D97-AF65-F5344CB8AC3E}">
        <p14:creationId xmlns:p14="http://schemas.microsoft.com/office/powerpoint/2010/main" val="1982411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254AC-5C5B-47B5-F57C-4F0848E24B3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A51D943-3D75-AE49-563E-2E7EADAF4B2C}"/>
              </a:ext>
            </a:extLst>
          </p:cNvPr>
          <p:cNvSpPr>
            <a:spLocks noGrp="1"/>
          </p:cNvSpPr>
          <p:nvPr>
            <p:ph type="title"/>
          </p:nvPr>
        </p:nvSpPr>
        <p:spPr/>
        <p:txBody>
          <a:bodyPr/>
          <a:lstStyle/>
          <a:p>
            <a:r>
              <a:rPr lang="es-AR" dirty="0"/>
              <a:t> </a:t>
            </a:r>
          </a:p>
        </p:txBody>
      </p:sp>
      <p:pic>
        <p:nvPicPr>
          <p:cNvPr id="4" name="Imagen 3">
            <a:extLst>
              <a:ext uri="{FF2B5EF4-FFF2-40B4-BE49-F238E27FC236}">
                <a16:creationId xmlns:a16="http://schemas.microsoft.com/office/drawing/2014/main" id="{3FE6ED28-1BA9-084F-9747-3C57D15691B9}"/>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737FDE78-F7AD-E7DF-4C75-69B264A581E0}"/>
              </a:ext>
            </a:extLst>
          </p:cNvPr>
          <p:cNvSpPr>
            <a:spLocks noGrp="1"/>
          </p:cNvSpPr>
          <p:nvPr>
            <p:ph type="sldNum" sz="quarter" idx="12"/>
          </p:nvPr>
        </p:nvSpPr>
        <p:spPr/>
        <p:txBody>
          <a:bodyPr/>
          <a:lstStyle/>
          <a:p>
            <a:fld id="{6C8ECD1B-3F01-46F8-A46F-31A31EFC5ABF}" type="slidenum">
              <a:rPr lang="es-AR" smtClean="0"/>
              <a:t>12</a:t>
            </a:fld>
            <a:endParaRPr lang="es-AR"/>
          </a:p>
        </p:txBody>
      </p:sp>
      <p:sp>
        <p:nvSpPr>
          <p:cNvPr id="6" name="Título 1">
            <a:extLst>
              <a:ext uri="{FF2B5EF4-FFF2-40B4-BE49-F238E27FC236}">
                <a16:creationId xmlns:a16="http://schemas.microsoft.com/office/drawing/2014/main" id="{6C10FDB0-4569-C83B-73FD-EEEA9A767B5E}"/>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S" b="1" dirty="0"/>
              <a:t>Polimorfismo</a:t>
            </a:r>
            <a:endParaRPr lang="es-AR" dirty="0"/>
          </a:p>
        </p:txBody>
      </p:sp>
      <p:sp>
        <p:nvSpPr>
          <p:cNvPr id="7" name="Marcador de contenido 2">
            <a:extLst>
              <a:ext uri="{FF2B5EF4-FFF2-40B4-BE49-F238E27FC236}">
                <a16:creationId xmlns:a16="http://schemas.microsoft.com/office/drawing/2014/main" id="{13296B01-E7B7-A515-4B40-53E4303D72AB}"/>
              </a:ext>
            </a:extLst>
          </p:cNvPr>
          <p:cNvSpPr txBox="1">
            <a:spLocks/>
          </p:cNvSpPr>
          <p:nvPr/>
        </p:nvSpPr>
        <p:spPr>
          <a:xfrm>
            <a:off x="1097280" y="18897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s-AR" dirty="0"/>
          </a:p>
          <a:p>
            <a:endParaRPr lang="es-AR" dirty="0"/>
          </a:p>
          <a:p>
            <a:endParaRPr lang="es-AR" dirty="0"/>
          </a:p>
          <a:p>
            <a:pPr marL="0" indent="0">
              <a:buFont typeface="Calibri" panose="020F0502020204030204" pitchFamily="34" charset="0"/>
              <a:buNone/>
            </a:pPr>
            <a:endParaRPr lang="es-AR" dirty="0"/>
          </a:p>
          <a:p>
            <a:pPr marL="0" indent="0">
              <a:buFont typeface="Calibri" panose="020F0502020204030204" pitchFamily="34" charset="0"/>
              <a:buNone/>
            </a:pPr>
            <a:endParaRPr lang="es-AR" dirty="0"/>
          </a:p>
        </p:txBody>
      </p:sp>
      <p:sp>
        <p:nvSpPr>
          <p:cNvPr id="12" name="Marcador de contenido 2">
            <a:extLst>
              <a:ext uri="{FF2B5EF4-FFF2-40B4-BE49-F238E27FC236}">
                <a16:creationId xmlns:a16="http://schemas.microsoft.com/office/drawing/2014/main" id="{5FD1A3D6-B6C4-A9C5-7C53-C4A974C54C01}"/>
              </a:ext>
            </a:extLst>
          </p:cNvPr>
          <p:cNvSpPr txBox="1">
            <a:spLocks/>
          </p:cNvSpPr>
          <p:nvPr/>
        </p:nvSpPr>
        <p:spPr>
          <a:xfrm>
            <a:off x="1249680" y="18897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ES" b="1" dirty="0"/>
              <a:t>Polimorfismo</a:t>
            </a:r>
            <a:r>
              <a:rPr lang="es-ES" dirty="0"/>
              <a:t>: Permite que objetos de diferentes clases respondan a la misma llamada de método de manera diferente, adaptando su comportamiento a la clase específica.</a:t>
            </a:r>
          </a:p>
        </p:txBody>
      </p:sp>
      <p:pic>
        <p:nvPicPr>
          <p:cNvPr id="9" name="Picture 4" descr="Programación Orientada a Objetos en Java - #4: Polimorfismo y Clases  abstractas - YouTube">
            <a:extLst>
              <a:ext uri="{FF2B5EF4-FFF2-40B4-BE49-F238E27FC236}">
                <a16:creationId xmlns:a16="http://schemas.microsoft.com/office/drawing/2014/main" id="{1569D895-9000-191E-C5B1-E42E4AC1EA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7956" y="2559581"/>
            <a:ext cx="5961847" cy="3353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2672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72A2E-A4F6-463E-A0D0-9D9A83867B7A}"/>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219CBCF8-866E-5000-5422-189BA54F1933}"/>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361BD090-ED3B-3194-62AD-38F26F561A4F}"/>
              </a:ext>
            </a:extLst>
          </p:cNvPr>
          <p:cNvSpPr>
            <a:spLocks noGrp="1"/>
          </p:cNvSpPr>
          <p:nvPr>
            <p:ph type="sldNum" sz="quarter" idx="12"/>
          </p:nvPr>
        </p:nvSpPr>
        <p:spPr/>
        <p:txBody>
          <a:bodyPr/>
          <a:lstStyle/>
          <a:p>
            <a:fld id="{6C8ECD1B-3F01-46F8-A46F-31A31EFC5ABF}" type="slidenum">
              <a:rPr lang="es-AR" smtClean="0"/>
              <a:t>13</a:t>
            </a:fld>
            <a:endParaRPr lang="es-AR"/>
          </a:p>
        </p:txBody>
      </p:sp>
      <p:sp>
        <p:nvSpPr>
          <p:cNvPr id="6" name="Título 1">
            <a:extLst>
              <a:ext uri="{FF2B5EF4-FFF2-40B4-BE49-F238E27FC236}">
                <a16:creationId xmlns:a16="http://schemas.microsoft.com/office/drawing/2014/main" id="{267BB9A7-326C-DB01-5DB1-57A10B2E04BB}"/>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S" b="1" dirty="0"/>
              <a:t>Cohesión y acoplamiento</a:t>
            </a:r>
            <a:endParaRPr lang="es-AR" dirty="0"/>
          </a:p>
        </p:txBody>
      </p:sp>
      <p:sp>
        <p:nvSpPr>
          <p:cNvPr id="7" name="Marcador de contenido 2">
            <a:extLst>
              <a:ext uri="{FF2B5EF4-FFF2-40B4-BE49-F238E27FC236}">
                <a16:creationId xmlns:a16="http://schemas.microsoft.com/office/drawing/2014/main" id="{A4F43E70-F0D4-67E5-F790-6108C0E8D408}"/>
              </a:ext>
            </a:extLst>
          </p:cNvPr>
          <p:cNvSpPr txBox="1">
            <a:spLocks/>
          </p:cNvSpPr>
          <p:nvPr/>
        </p:nvSpPr>
        <p:spPr>
          <a:xfrm>
            <a:off x="1097280" y="18897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s-AR" dirty="0"/>
          </a:p>
          <a:p>
            <a:endParaRPr lang="es-AR" dirty="0"/>
          </a:p>
          <a:p>
            <a:endParaRPr lang="es-AR" dirty="0"/>
          </a:p>
          <a:p>
            <a:pPr marL="0" indent="0">
              <a:buFont typeface="Calibri" panose="020F0502020204030204" pitchFamily="34" charset="0"/>
              <a:buNone/>
            </a:pPr>
            <a:endParaRPr lang="es-AR" dirty="0"/>
          </a:p>
          <a:p>
            <a:pPr marL="0" indent="0">
              <a:buFont typeface="Calibri" panose="020F0502020204030204" pitchFamily="34" charset="0"/>
              <a:buNone/>
            </a:pPr>
            <a:endParaRPr lang="es-AR" dirty="0"/>
          </a:p>
        </p:txBody>
      </p:sp>
      <p:sp>
        <p:nvSpPr>
          <p:cNvPr id="12" name="Marcador de contenido 2">
            <a:extLst>
              <a:ext uri="{FF2B5EF4-FFF2-40B4-BE49-F238E27FC236}">
                <a16:creationId xmlns:a16="http://schemas.microsoft.com/office/drawing/2014/main" id="{3182989D-B97A-3E17-B44B-235E8F1AF027}"/>
              </a:ext>
            </a:extLst>
          </p:cNvPr>
          <p:cNvSpPr txBox="1">
            <a:spLocks/>
          </p:cNvSpPr>
          <p:nvPr/>
        </p:nvSpPr>
        <p:spPr>
          <a:xfrm>
            <a:off x="1249680" y="18897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ES" b="1" dirty="0"/>
              <a:t>Cohesión: </a:t>
            </a:r>
            <a:r>
              <a:rPr lang="es-ES" dirty="0"/>
              <a:t>que cada modulo haga una sola cosa simple.</a:t>
            </a:r>
          </a:p>
          <a:p>
            <a:r>
              <a:rPr lang="es-ES" b="1" dirty="0"/>
              <a:t>Acoplamiento: </a:t>
            </a:r>
            <a:r>
              <a:rPr lang="es-ES" dirty="0"/>
              <a:t>Independencia de los módulos.</a:t>
            </a:r>
          </a:p>
          <a:p>
            <a:endParaRPr lang="es-ES" dirty="0"/>
          </a:p>
          <a:p>
            <a:endParaRPr lang="es-ES" dirty="0"/>
          </a:p>
          <a:p>
            <a:endParaRPr lang="es-ES" dirty="0"/>
          </a:p>
          <a:p>
            <a:endParaRPr lang="es-ES" dirty="0"/>
          </a:p>
          <a:p>
            <a:endParaRPr lang="es-ES" dirty="0"/>
          </a:p>
          <a:p>
            <a:endParaRPr lang="es-ES" dirty="0"/>
          </a:p>
          <a:p>
            <a:r>
              <a:rPr lang="es-ES" dirty="0"/>
              <a:t>Los patrones de diseño ayudan a mantener alta cohesión y bajo acoplamiento. </a:t>
            </a:r>
          </a:p>
          <a:p>
            <a:endParaRPr lang="es-ES" dirty="0"/>
          </a:p>
        </p:txBody>
      </p:sp>
      <p:pic>
        <p:nvPicPr>
          <p:cNvPr id="8" name="Imagen 7">
            <a:extLst>
              <a:ext uri="{FF2B5EF4-FFF2-40B4-BE49-F238E27FC236}">
                <a16:creationId xmlns:a16="http://schemas.microsoft.com/office/drawing/2014/main" id="{92099623-AF32-EC1C-59C4-267087D8D8AD}"/>
              </a:ext>
            </a:extLst>
          </p:cNvPr>
          <p:cNvPicPr>
            <a:picLocks noChangeAspect="1"/>
          </p:cNvPicPr>
          <p:nvPr/>
        </p:nvPicPr>
        <p:blipFill>
          <a:blip r:embed="rId3"/>
          <a:stretch>
            <a:fillRect/>
          </a:stretch>
        </p:blipFill>
        <p:spPr>
          <a:xfrm>
            <a:off x="4200524" y="2610578"/>
            <a:ext cx="4126849" cy="2923447"/>
          </a:xfrm>
          <a:prstGeom prst="rect">
            <a:avLst/>
          </a:prstGeom>
        </p:spPr>
      </p:pic>
    </p:spTree>
    <p:extLst>
      <p:ext uri="{BB962C8B-B14F-4D97-AF65-F5344CB8AC3E}">
        <p14:creationId xmlns:p14="http://schemas.microsoft.com/office/powerpoint/2010/main" val="188829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AC963-550C-23CB-F6A9-000040573DBB}"/>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4119DE3A-4ECC-0C04-3FFB-31B83E9BCF91}"/>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74AA35A8-5C4F-1700-E1B6-E153E4F9EB96}"/>
              </a:ext>
            </a:extLst>
          </p:cNvPr>
          <p:cNvSpPr>
            <a:spLocks noGrp="1"/>
          </p:cNvSpPr>
          <p:nvPr>
            <p:ph type="sldNum" sz="quarter" idx="12"/>
          </p:nvPr>
        </p:nvSpPr>
        <p:spPr/>
        <p:txBody>
          <a:bodyPr/>
          <a:lstStyle/>
          <a:p>
            <a:fld id="{6C8ECD1B-3F01-46F8-A46F-31A31EFC5ABF}" type="slidenum">
              <a:rPr lang="es-AR" smtClean="0"/>
              <a:t>14</a:t>
            </a:fld>
            <a:endParaRPr lang="es-AR"/>
          </a:p>
        </p:txBody>
      </p:sp>
      <p:sp>
        <p:nvSpPr>
          <p:cNvPr id="6" name="Título 1">
            <a:extLst>
              <a:ext uri="{FF2B5EF4-FFF2-40B4-BE49-F238E27FC236}">
                <a16:creationId xmlns:a16="http://schemas.microsoft.com/office/drawing/2014/main" id="{48BEF283-2C4D-CD0B-6042-7BD1D476DCF9}"/>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S" b="1" dirty="0"/>
              <a:t>Cohesión</a:t>
            </a:r>
            <a:endParaRPr lang="es-AR" dirty="0"/>
          </a:p>
        </p:txBody>
      </p:sp>
      <p:sp>
        <p:nvSpPr>
          <p:cNvPr id="7" name="Marcador de contenido 2">
            <a:extLst>
              <a:ext uri="{FF2B5EF4-FFF2-40B4-BE49-F238E27FC236}">
                <a16:creationId xmlns:a16="http://schemas.microsoft.com/office/drawing/2014/main" id="{27919175-671C-29B7-DA13-946DA3F08B13}"/>
              </a:ext>
            </a:extLst>
          </p:cNvPr>
          <p:cNvSpPr txBox="1">
            <a:spLocks/>
          </p:cNvSpPr>
          <p:nvPr/>
        </p:nvSpPr>
        <p:spPr>
          <a:xfrm>
            <a:off x="1097280" y="18897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s-AR" dirty="0"/>
          </a:p>
          <a:p>
            <a:endParaRPr lang="es-AR" dirty="0"/>
          </a:p>
          <a:p>
            <a:endParaRPr lang="es-AR" dirty="0"/>
          </a:p>
          <a:p>
            <a:pPr marL="0" indent="0">
              <a:buFont typeface="Calibri" panose="020F0502020204030204" pitchFamily="34" charset="0"/>
              <a:buNone/>
            </a:pPr>
            <a:endParaRPr lang="es-AR" dirty="0"/>
          </a:p>
          <a:p>
            <a:pPr marL="0" indent="0">
              <a:buFont typeface="Calibri" panose="020F0502020204030204" pitchFamily="34" charset="0"/>
              <a:buNone/>
            </a:pPr>
            <a:endParaRPr lang="es-AR" dirty="0"/>
          </a:p>
        </p:txBody>
      </p:sp>
      <p:sp>
        <p:nvSpPr>
          <p:cNvPr id="12" name="Marcador de contenido 2">
            <a:extLst>
              <a:ext uri="{FF2B5EF4-FFF2-40B4-BE49-F238E27FC236}">
                <a16:creationId xmlns:a16="http://schemas.microsoft.com/office/drawing/2014/main" id="{D274616C-F17A-B66B-7985-4FB27CD9BC5D}"/>
              </a:ext>
            </a:extLst>
          </p:cNvPr>
          <p:cNvSpPr txBox="1">
            <a:spLocks/>
          </p:cNvSpPr>
          <p:nvPr/>
        </p:nvSpPr>
        <p:spPr>
          <a:xfrm>
            <a:off x="1249680" y="18897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ES" b="1" dirty="0"/>
              <a:t>Cohesión: </a:t>
            </a:r>
            <a:r>
              <a:rPr lang="es-ES" dirty="0"/>
              <a:t>que cada modulo haga una sola cosa simple.</a:t>
            </a:r>
          </a:p>
        </p:txBody>
      </p:sp>
      <p:pic>
        <p:nvPicPr>
          <p:cNvPr id="14338" name="Picture 2" descr="Acoplamiento y cohesión - YouTube">
            <a:extLst>
              <a:ext uri="{FF2B5EF4-FFF2-40B4-BE49-F238E27FC236}">
                <a16:creationId xmlns:a16="http://schemas.microsoft.com/office/drawing/2014/main" id="{7199C5F4-DD81-090F-1A66-D33163676D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6552" y="2458333"/>
            <a:ext cx="6139855" cy="3454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7026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6ECF8-A197-1774-56AB-C68F05E3A7D5}"/>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DAB79B6F-57B3-CDE4-7A50-370B836A7772}"/>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71697B81-5072-A9BD-BDD4-4775750B7119}"/>
              </a:ext>
            </a:extLst>
          </p:cNvPr>
          <p:cNvSpPr>
            <a:spLocks noGrp="1"/>
          </p:cNvSpPr>
          <p:nvPr>
            <p:ph type="sldNum" sz="quarter" idx="12"/>
          </p:nvPr>
        </p:nvSpPr>
        <p:spPr/>
        <p:txBody>
          <a:bodyPr/>
          <a:lstStyle/>
          <a:p>
            <a:fld id="{6C8ECD1B-3F01-46F8-A46F-31A31EFC5ABF}" type="slidenum">
              <a:rPr lang="es-AR" smtClean="0"/>
              <a:t>15</a:t>
            </a:fld>
            <a:endParaRPr lang="es-AR"/>
          </a:p>
        </p:txBody>
      </p:sp>
      <p:sp>
        <p:nvSpPr>
          <p:cNvPr id="6" name="Título 1">
            <a:extLst>
              <a:ext uri="{FF2B5EF4-FFF2-40B4-BE49-F238E27FC236}">
                <a16:creationId xmlns:a16="http://schemas.microsoft.com/office/drawing/2014/main" id="{C0057172-2878-B2EF-26D4-58AD5E17922D}"/>
              </a:ext>
            </a:extLst>
          </p:cNvPr>
          <p:cNvSpPr txBox="1">
            <a:spLocks/>
          </p:cNvSpPr>
          <p:nvPr/>
        </p:nvSpPr>
        <p:spPr>
          <a:xfrm>
            <a:off x="1249680" y="439003"/>
            <a:ext cx="10058400" cy="145075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s-ES" b="1" dirty="0"/>
              <a:t>Acoplamiento</a:t>
            </a:r>
            <a:endParaRPr lang="es-AR" dirty="0"/>
          </a:p>
        </p:txBody>
      </p:sp>
      <p:sp>
        <p:nvSpPr>
          <p:cNvPr id="7" name="Marcador de contenido 2">
            <a:extLst>
              <a:ext uri="{FF2B5EF4-FFF2-40B4-BE49-F238E27FC236}">
                <a16:creationId xmlns:a16="http://schemas.microsoft.com/office/drawing/2014/main" id="{84C41D8B-F82E-B78A-B479-F30524BB7B35}"/>
              </a:ext>
            </a:extLst>
          </p:cNvPr>
          <p:cNvSpPr txBox="1">
            <a:spLocks/>
          </p:cNvSpPr>
          <p:nvPr/>
        </p:nvSpPr>
        <p:spPr>
          <a:xfrm>
            <a:off x="1097280" y="18897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s-AR" dirty="0"/>
          </a:p>
          <a:p>
            <a:endParaRPr lang="es-AR" dirty="0"/>
          </a:p>
          <a:p>
            <a:endParaRPr lang="es-AR" dirty="0"/>
          </a:p>
          <a:p>
            <a:pPr marL="0" indent="0">
              <a:buFont typeface="Calibri" panose="020F0502020204030204" pitchFamily="34" charset="0"/>
              <a:buNone/>
            </a:pPr>
            <a:endParaRPr lang="es-AR" dirty="0"/>
          </a:p>
          <a:p>
            <a:pPr marL="0" indent="0">
              <a:buFont typeface="Calibri" panose="020F0502020204030204" pitchFamily="34" charset="0"/>
              <a:buNone/>
            </a:pPr>
            <a:endParaRPr lang="es-AR" dirty="0"/>
          </a:p>
        </p:txBody>
      </p:sp>
      <p:sp>
        <p:nvSpPr>
          <p:cNvPr id="12" name="Marcador de contenido 2">
            <a:extLst>
              <a:ext uri="{FF2B5EF4-FFF2-40B4-BE49-F238E27FC236}">
                <a16:creationId xmlns:a16="http://schemas.microsoft.com/office/drawing/2014/main" id="{4160E9D8-4FD2-BBB2-1AFC-37554BE9F55C}"/>
              </a:ext>
            </a:extLst>
          </p:cNvPr>
          <p:cNvSpPr txBox="1">
            <a:spLocks/>
          </p:cNvSpPr>
          <p:nvPr/>
        </p:nvSpPr>
        <p:spPr>
          <a:xfrm>
            <a:off x="1249680" y="1889760"/>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s-ES" b="1" dirty="0"/>
              <a:t>Acoplamiento: </a:t>
            </a:r>
            <a:r>
              <a:rPr lang="es-ES" dirty="0"/>
              <a:t>Independencia de los módulos.</a:t>
            </a:r>
          </a:p>
          <a:p>
            <a:endParaRPr lang="es-ES" dirty="0"/>
          </a:p>
          <a:p>
            <a:endParaRPr lang="es-ES" dirty="0"/>
          </a:p>
          <a:p>
            <a:endParaRPr lang="es-ES" dirty="0"/>
          </a:p>
          <a:p>
            <a:endParaRPr lang="es-ES" dirty="0"/>
          </a:p>
          <a:p>
            <a:endParaRPr lang="es-ES" dirty="0"/>
          </a:p>
          <a:p>
            <a:endParaRPr lang="es-ES" dirty="0"/>
          </a:p>
          <a:p>
            <a:endParaRPr lang="es-ES" dirty="0"/>
          </a:p>
          <a:p>
            <a:r>
              <a:rPr lang="es-ES" dirty="0"/>
              <a:t>Los patrones de diseño ayudan a mantener alta cohesión y bajo acoplamiento. </a:t>
            </a:r>
          </a:p>
          <a:p>
            <a:endParaRPr lang="es-ES" dirty="0"/>
          </a:p>
          <a:p>
            <a:endParaRPr lang="es-ES" dirty="0"/>
          </a:p>
        </p:txBody>
      </p:sp>
      <p:pic>
        <p:nvPicPr>
          <p:cNvPr id="3" name="Imagen 2">
            <a:extLst>
              <a:ext uri="{FF2B5EF4-FFF2-40B4-BE49-F238E27FC236}">
                <a16:creationId xmlns:a16="http://schemas.microsoft.com/office/drawing/2014/main" id="{E57F3729-1153-9285-AA71-15F3726FE7DA}"/>
              </a:ext>
            </a:extLst>
          </p:cNvPr>
          <p:cNvPicPr>
            <a:picLocks noChangeAspect="1"/>
          </p:cNvPicPr>
          <p:nvPr/>
        </p:nvPicPr>
        <p:blipFill>
          <a:blip r:embed="rId3"/>
          <a:stretch>
            <a:fillRect/>
          </a:stretch>
        </p:blipFill>
        <p:spPr>
          <a:xfrm>
            <a:off x="3645609" y="2377266"/>
            <a:ext cx="4900782" cy="3066442"/>
          </a:xfrm>
          <a:prstGeom prst="rect">
            <a:avLst/>
          </a:prstGeom>
        </p:spPr>
      </p:pic>
    </p:spTree>
    <p:extLst>
      <p:ext uri="{BB962C8B-B14F-4D97-AF65-F5344CB8AC3E}">
        <p14:creationId xmlns:p14="http://schemas.microsoft.com/office/powerpoint/2010/main" val="1122946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A86E2-F4E2-2F50-0BD1-6EC9F9E6DE7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4842BE0-3859-9171-3804-089E555A1770}"/>
              </a:ext>
            </a:extLst>
          </p:cNvPr>
          <p:cNvSpPr>
            <a:spLocks noGrp="1"/>
          </p:cNvSpPr>
          <p:nvPr>
            <p:ph type="title"/>
          </p:nvPr>
        </p:nvSpPr>
        <p:spPr/>
        <p:txBody>
          <a:bodyPr/>
          <a:lstStyle/>
          <a:p>
            <a:r>
              <a:rPr lang="es-AR" dirty="0"/>
              <a:t>Diagramas Clases </a:t>
            </a:r>
          </a:p>
        </p:txBody>
      </p:sp>
      <p:sp>
        <p:nvSpPr>
          <p:cNvPr id="3" name="Marcador de contenido 2">
            <a:extLst>
              <a:ext uri="{FF2B5EF4-FFF2-40B4-BE49-F238E27FC236}">
                <a16:creationId xmlns:a16="http://schemas.microsoft.com/office/drawing/2014/main" id="{12F73507-B6B0-F13D-84BB-FA1CCF6AC6B5}"/>
              </a:ext>
            </a:extLst>
          </p:cNvPr>
          <p:cNvSpPr>
            <a:spLocks noGrp="1"/>
          </p:cNvSpPr>
          <p:nvPr>
            <p:ph idx="1"/>
          </p:nvPr>
        </p:nvSpPr>
        <p:spPr>
          <a:xfrm>
            <a:off x="1097280" y="1845734"/>
            <a:ext cx="10058400" cy="3274907"/>
          </a:xfrm>
        </p:spPr>
        <p:txBody>
          <a:bodyPr>
            <a:normAutofit/>
          </a:bodyPr>
          <a:lstStyle/>
          <a:p>
            <a:r>
              <a:rPr lang="es-ES" dirty="0"/>
              <a:t>Tipos de relaciones</a:t>
            </a:r>
          </a:p>
          <a:p>
            <a:r>
              <a:rPr lang="es-ES" dirty="0"/>
              <a:t>Un diagrama de clases incluye los siguientes tipos de relaciones:</a:t>
            </a:r>
          </a:p>
          <a:p>
            <a:r>
              <a:rPr lang="es-ES" b="1" dirty="0"/>
              <a:t>Asociación.</a:t>
            </a:r>
            <a:endParaRPr lang="es-ES" dirty="0"/>
          </a:p>
          <a:p>
            <a:r>
              <a:rPr lang="es-ES" b="1" dirty="0"/>
              <a:t>Agregación.</a:t>
            </a:r>
            <a:endParaRPr lang="es-ES" dirty="0"/>
          </a:p>
          <a:p>
            <a:r>
              <a:rPr lang="es-ES" b="1" dirty="0"/>
              <a:t>Composición.</a:t>
            </a:r>
            <a:endParaRPr lang="es-ES" dirty="0"/>
          </a:p>
          <a:p>
            <a:r>
              <a:rPr lang="es-ES" b="1" dirty="0"/>
              <a:t>Dependencia.</a:t>
            </a:r>
            <a:endParaRPr lang="es-ES" dirty="0"/>
          </a:p>
          <a:p>
            <a:r>
              <a:rPr lang="es-ES" b="1" dirty="0"/>
              <a:t>Herencia.</a:t>
            </a:r>
            <a:endParaRPr lang="es-ES" dirty="0"/>
          </a:p>
          <a:p>
            <a:pPr marL="0" indent="0" algn="ctr">
              <a:buNone/>
            </a:pPr>
            <a:endParaRPr lang="es-AR" dirty="0"/>
          </a:p>
          <a:p>
            <a:pPr marL="0" indent="0" algn="ctr">
              <a:buNone/>
            </a:pPr>
            <a:endParaRPr lang="es-AR" dirty="0"/>
          </a:p>
          <a:p>
            <a:pPr marL="0" indent="0">
              <a:buNone/>
            </a:pPr>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6FCB5EC6-99B8-E595-371C-33F8B90C576C}"/>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8D05EEBB-2C44-658A-010F-D3BC3FDB9909}"/>
              </a:ext>
            </a:extLst>
          </p:cNvPr>
          <p:cNvSpPr>
            <a:spLocks noGrp="1"/>
          </p:cNvSpPr>
          <p:nvPr>
            <p:ph type="sldNum" sz="quarter" idx="12"/>
          </p:nvPr>
        </p:nvSpPr>
        <p:spPr/>
        <p:txBody>
          <a:bodyPr/>
          <a:lstStyle/>
          <a:p>
            <a:fld id="{6C8ECD1B-3F01-46F8-A46F-31A31EFC5ABF}" type="slidenum">
              <a:rPr lang="es-AR" smtClean="0"/>
              <a:t>16</a:t>
            </a:fld>
            <a:endParaRPr lang="es-AR"/>
          </a:p>
        </p:txBody>
      </p:sp>
    </p:spTree>
    <p:extLst>
      <p:ext uri="{BB962C8B-B14F-4D97-AF65-F5344CB8AC3E}">
        <p14:creationId xmlns:p14="http://schemas.microsoft.com/office/powerpoint/2010/main" val="1460818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6C446-F528-E44A-2656-6824C8EC910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4433DC7-D061-5D4E-CF49-6B5E687DF905}"/>
              </a:ext>
            </a:extLst>
          </p:cNvPr>
          <p:cNvSpPr>
            <a:spLocks noGrp="1"/>
          </p:cNvSpPr>
          <p:nvPr>
            <p:ph type="title"/>
          </p:nvPr>
        </p:nvSpPr>
        <p:spPr/>
        <p:txBody>
          <a:bodyPr/>
          <a:lstStyle/>
          <a:p>
            <a:r>
              <a:rPr lang="es-AR" dirty="0"/>
              <a:t>Diagramas Clases:</a:t>
            </a:r>
            <a:r>
              <a:rPr lang="es-ES" dirty="0"/>
              <a:t> Asociación</a:t>
            </a:r>
            <a:r>
              <a:rPr lang="es-AR" dirty="0"/>
              <a:t> </a:t>
            </a:r>
          </a:p>
        </p:txBody>
      </p:sp>
      <p:sp>
        <p:nvSpPr>
          <p:cNvPr id="3" name="Marcador de contenido 2">
            <a:extLst>
              <a:ext uri="{FF2B5EF4-FFF2-40B4-BE49-F238E27FC236}">
                <a16:creationId xmlns:a16="http://schemas.microsoft.com/office/drawing/2014/main" id="{7E9E43BF-F4A7-DF24-AE8C-93DD7A576DCF}"/>
              </a:ext>
            </a:extLst>
          </p:cNvPr>
          <p:cNvSpPr>
            <a:spLocks noGrp="1"/>
          </p:cNvSpPr>
          <p:nvPr>
            <p:ph idx="1"/>
          </p:nvPr>
        </p:nvSpPr>
        <p:spPr>
          <a:xfrm>
            <a:off x="1097280" y="1845734"/>
            <a:ext cx="10058400" cy="3274907"/>
          </a:xfrm>
        </p:spPr>
        <p:txBody>
          <a:bodyPr>
            <a:normAutofit/>
          </a:bodyPr>
          <a:lstStyle/>
          <a:p>
            <a:pPr marL="0" indent="0">
              <a:buNone/>
            </a:pPr>
            <a:endParaRPr lang="es-ES" dirty="0"/>
          </a:p>
          <a:p>
            <a:pPr marL="0" indent="0">
              <a:buNone/>
            </a:pPr>
            <a:endParaRPr lang="es-ES" dirty="0"/>
          </a:p>
          <a:p>
            <a:pPr marL="0" indent="0">
              <a:buNone/>
            </a:pPr>
            <a:r>
              <a:rPr lang="es-ES" dirty="0"/>
              <a:t>Este tipo de relación es el más común y se utiliza para </a:t>
            </a:r>
            <a:r>
              <a:rPr lang="es-ES" b="1" dirty="0"/>
              <a:t>representar dependencia semántica</a:t>
            </a:r>
            <a:r>
              <a:rPr lang="es-ES" dirty="0"/>
              <a:t>. Se representa con una simple línea continua que une las clases que están incluidas en la asociación.</a:t>
            </a:r>
          </a:p>
          <a:p>
            <a:pPr marL="0" indent="0">
              <a:buNone/>
            </a:pPr>
            <a:r>
              <a:rPr lang="es-ES" dirty="0"/>
              <a:t>Un ejemplo de asociación podría ser: «</a:t>
            </a:r>
            <a:r>
              <a:rPr lang="es-ES" b="1" dirty="0"/>
              <a:t>Una mascota pertenece a una persona</a:t>
            </a:r>
            <a:r>
              <a:rPr lang="es-ES" dirty="0"/>
              <a:t>».</a:t>
            </a:r>
          </a:p>
          <a:p>
            <a:pPr marL="0" indent="0" algn="ctr">
              <a:buNone/>
            </a:pPr>
            <a:endParaRPr lang="es-AR" dirty="0"/>
          </a:p>
          <a:p>
            <a:pPr marL="0" indent="0" algn="ctr">
              <a:buNone/>
            </a:pPr>
            <a:endParaRPr lang="es-AR" dirty="0"/>
          </a:p>
          <a:p>
            <a:pPr marL="0" indent="0">
              <a:buNone/>
            </a:pPr>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5CD2B7A8-75C1-791A-ADE3-2D08B93CEDC5}"/>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270EC8DD-C1E8-3E42-1B15-B7073AA357DB}"/>
              </a:ext>
            </a:extLst>
          </p:cNvPr>
          <p:cNvSpPr>
            <a:spLocks noGrp="1"/>
          </p:cNvSpPr>
          <p:nvPr>
            <p:ph type="sldNum" sz="quarter" idx="12"/>
          </p:nvPr>
        </p:nvSpPr>
        <p:spPr/>
        <p:txBody>
          <a:bodyPr/>
          <a:lstStyle/>
          <a:p>
            <a:fld id="{6C8ECD1B-3F01-46F8-A46F-31A31EFC5ABF}" type="slidenum">
              <a:rPr lang="es-AR" smtClean="0"/>
              <a:t>17</a:t>
            </a:fld>
            <a:endParaRPr lang="es-AR"/>
          </a:p>
        </p:txBody>
      </p:sp>
      <p:pic>
        <p:nvPicPr>
          <p:cNvPr id="3078" name="Picture 6" descr="Ejemplo de asociación">
            <a:extLst>
              <a:ext uri="{FF2B5EF4-FFF2-40B4-BE49-F238E27FC236}">
                <a16:creationId xmlns:a16="http://schemas.microsoft.com/office/drawing/2014/main" id="{04DCF97B-5BCA-AA97-8425-E4B83EB4D6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0125" y="4611053"/>
            <a:ext cx="2571750" cy="1019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8801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8B6C3-D85B-F46A-842C-79466275921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0C5D4D7-BA20-8914-5F3A-6759C119BB54}"/>
              </a:ext>
            </a:extLst>
          </p:cNvPr>
          <p:cNvSpPr>
            <a:spLocks noGrp="1"/>
          </p:cNvSpPr>
          <p:nvPr>
            <p:ph type="title"/>
          </p:nvPr>
        </p:nvSpPr>
        <p:spPr/>
        <p:txBody>
          <a:bodyPr/>
          <a:lstStyle/>
          <a:p>
            <a:r>
              <a:rPr lang="es-AR" dirty="0"/>
              <a:t>Diagramas Clases: </a:t>
            </a:r>
            <a:r>
              <a:rPr lang="es-ES" dirty="0"/>
              <a:t>Agregación</a:t>
            </a:r>
            <a:r>
              <a:rPr lang="es-AR" dirty="0"/>
              <a:t> </a:t>
            </a:r>
          </a:p>
        </p:txBody>
      </p:sp>
      <p:sp>
        <p:nvSpPr>
          <p:cNvPr id="3" name="Marcador de contenido 2">
            <a:extLst>
              <a:ext uri="{FF2B5EF4-FFF2-40B4-BE49-F238E27FC236}">
                <a16:creationId xmlns:a16="http://schemas.microsoft.com/office/drawing/2014/main" id="{76ECE5CC-F007-66B3-D506-39EA6C92816F}"/>
              </a:ext>
            </a:extLst>
          </p:cNvPr>
          <p:cNvSpPr>
            <a:spLocks noGrp="1"/>
          </p:cNvSpPr>
          <p:nvPr>
            <p:ph idx="1"/>
          </p:nvPr>
        </p:nvSpPr>
        <p:spPr>
          <a:xfrm>
            <a:off x="1097279" y="1781860"/>
            <a:ext cx="10058400" cy="2990165"/>
          </a:xfrm>
        </p:spPr>
        <p:txBody>
          <a:bodyPr>
            <a:normAutofit/>
          </a:bodyPr>
          <a:lstStyle/>
          <a:p>
            <a:pPr marL="0" indent="0">
              <a:buNone/>
            </a:pPr>
            <a:r>
              <a:rPr lang="es-ES" dirty="0"/>
              <a:t>Es una representación jerárquica que indica a un objeto y las partes que componen ese objeto. Es decir, representa relaciones en las que </a:t>
            </a:r>
            <a:r>
              <a:rPr lang="es-ES" b="1" dirty="0"/>
              <a:t>un objeto es parte de otro</a:t>
            </a:r>
            <a:r>
              <a:rPr lang="es-ES" dirty="0"/>
              <a:t>, pero aun así debe tener </a:t>
            </a:r>
            <a:r>
              <a:rPr lang="es-ES" b="1" dirty="0"/>
              <a:t>existencia en sí mismo</a:t>
            </a:r>
            <a:r>
              <a:rPr lang="es-ES" dirty="0"/>
              <a:t>.</a:t>
            </a:r>
          </a:p>
          <a:p>
            <a:pPr marL="0" indent="0">
              <a:buNone/>
            </a:pPr>
            <a:r>
              <a:rPr lang="es-ES" dirty="0"/>
              <a:t>Se representa con una línea que tiene un rombo en la parte de la clase que es una agregación de la otra clase (es decir, en la clase que contiene las otras).</a:t>
            </a:r>
          </a:p>
          <a:p>
            <a:pPr marL="0" indent="0">
              <a:buNone/>
            </a:pPr>
            <a:r>
              <a:rPr lang="es-ES" dirty="0"/>
              <a:t>Un ejemplo de esta relación podría ser: «Las mesas están formadas por tablas y tornillos o, dicho de otra manera, los tornillos y las tablas forman parte de una mesa». Como ves, el tornillo podría formar parte de más objetos, por lo que interesa especialmente su abstracción en otra clase.</a:t>
            </a:r>
            <a:endParaRPr lang="es-AR" dirty="0"/>
          </a:p>
          <a:p>
            <a:pPr marL="0" indent="0" algn="ctr">
              <a:buNone/>
            </a:pPr>
            <a:endParaRPr lang="es-AR" dirty="0"/>
          </a:p>
          <a:p>
            <a:pPr marL="0" indent="0">
              <a:buNone/>
            </a:pPr>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D954E185-D543-59F7-9E1A-FD3F5C86C953}"/>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AA1D1F4D-478F-7CAA-340E-3928202C077B}"/>
              </a:ext>
            </a:extLst>
          </p:cNvPr>
          <p:cNvSpPr>
            <a:spLocks noGrp="1"/>
          </p:cNvSpPr>
          <p:nvPr>
            <p:ph type="sldNum" sz="quarter" idx="12"/>
          </p:nvPr>
        </p:nvSpPr>
        <p:spPr/>
        <p:txBody>
          <a:bodyPr/>
          <a:lstStyle/>
          <a:p>
            <a:fld id="{6C8ECD1B-3F01-46F8-A46F-31A31EFC5ABF}" type="slidenum">
              <a:rPr lang="es-AR" smtClean="0"/>
              <a:t>18</a:t>
            </a:fld>
            <a:endParaRPr lang="es-AR"/>
          </a:p>
        </p:txBody>
      </p:sp>
      <p:pic>
        <p:nvPicPr>
          <p:cNvPr id="7170" name="Picture 2" descr="Ejemplo de agregación">
            <a:extLst>
              <a:ext uri="{FF2B5EF4-FFF2-40B4-BE49-F238E27FC236}">
                <a16:creationId xmlns:a16="http://schemas.microsoft.com/office/drawing/2014/main" id="{03F74EBC-4893-6DA9-091D-8902ECEBE8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4431" y="4414665"/>
            <a:ext cx="2243137" cy="1860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4396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CD81F-AA03-9177-5986-94D9C400452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C0E14B7-E697-898F-6821-6BAC4D650DF0}"/>
              </a:ext>
            </a:extLst>
          </p:cNvPr>
          <p:cNvSpPr>
            <a:spLocks noGrp="1"/>
          </p:cNvSpPr>
          <p:nvPr>
            <p:ph type="title"/>
          </p:nvPr>
        </p:nvSpPr>
        <p:spPr/>
        <p:txBody>
          <a:bodyPr/>
          <a:lstStyle/>
          <a:p>
            <a:r>
              <a:rPr lang="es-AR" dirty="0"/>
              <a:t>Diagramas Clases: Composición </a:t>
            </a:r>
          </a:p>
        </p:txBody>
      </p:sp>
      <p:sp>
        <p:nvSpPr>
          <p:cNvPr id="3" name="Marcador de contenido 2">
            <a:extLst>
              <a:ext uri="{FF2B5EF4-FFF2-40B4-BE49-F238E27FC236}">
                <a16:creationId xmlns:a16="http://schemas.microsoft.com/office/drawing/2014/main" id="{0B3A401F-7FBB-43D1-5576-B21E236AFA26}"/>
              </a:ext>
            </a:extLst>
          </p:cNvPr>
          <p:cNvSpPr>
            <a:spLocks noGrp="1"/>
          </p:cNvSpPr>
          <p:nvPr>
            <p:ph idx="1"/>
          </p:nvPr>
        </p:nvSpPr>
        <p:spPr>
          <a:xfrm>
            <a:off x="1097279" y="1781861"/>
            <a:ext cx="10058400" cy="1951940"/>
          </a:xfrm>
        </p:spPr>
        <p:txBody>
          <a:bodyPr>
            <a:normAutofit lnSpcReduction="10000"/>
          </a:bodyPr>
          <a:lstStyle/>
          <a:p>
            <a:pPr algn="just"/>
            <a:r>
              <a:rPr lang="es-ES" dirty="0"/>
              <a:t>La composición es similar a la agregación, representa una </a:t>
            </a:r>
            <a:r>
              <a:rPr lang="es-ES" b="1" dirty="0"/>
              <a:t>relación jerárquica entre un objeto y las partes que lo componen</a:t>
            </a:r>
            <a:r>
              <a:rPr lang="es-ES" dirty="0"/>
              <a:t>, </a:t>
            </a:r>
            <a:r>
              <a:rPr lang="es-ES" b="1" dirty="0"/>
              <a:t>pero de una forma más fuerte</a:t>
            </a:r>
            <a:r>
              <a:rPr lang="es-ES" dirty="0"/>
              <a:t>. En este caso, los elementos que forman parte no tienen sentido de existencia cuando el primero no existe. Es decir, cuando el elemento que contiene los otros desaparece, deben desaparecer todos ya que no tienen sentido por sí mismos, sino que dependen del elemento que componen. Además, suelen tener los mismos tiempos de vida. Los componentes no se comparten entre varios elementos, esta es otra de las diferencias con la agregación.</a:t>
            </a:r>
            <a:endParaRPr lang="es-AR" dirty="0"/>
          </a:p>
          <a:p>
            <a:pPr marL="0" indent="0">
              <a:buNone/>
            </a:pPr>
            <a:endParaRPr lang="es-AR" dirty="0"/>
          </a:p>
        </p:txBody>
      </p:sp>
      <p:pic>
        <p:nvPicPr>
          <p:cNvPr id="4" name="Imagen 3">
            <a:extLst>
              <a:ext uri="{FF2B5EF4-FFF2-40B4-BE49-F238E27FC236}">
                <a16:creationId xmlns:a16="http://schemas.microsoft.com/office/drawing/2014/main" id="{4970E20E-B240-BB57-3DDA-6A8182E46825}"/>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A89236F0-6155-0357-8B21-A9020BE710A5}"/>
              </a:ext>
            </a:extLst>
          </p:cNvPr>
          <p:cNvSpPr>
            <a:spLocks noGrp="1"/>
          </p:cNvSpPr>
          <p:nvPr>
            <p:ph type="sldNum" sz="quarter" idx="12"/>
          </p:nvPr>
        </p:nvSpPr>
        <p:spPr/>
        <p:txBody>
          <a:bodyPr/>
          <a:lstStyle/>
          <a:p>
            <a:fld id="{6C8ECD1B-3F01-46F8-A46F-31A31EFC5ABF}" type="slidenum">
              <a:rPr lang="es-AR" smtClean="0"/>
              <a:t>19</a:t>
            </a:fld>
            <a:endParaRPr lang="es-AR"/>
          </a:p>
        </p:txBody>
      </p:sp>
      <p:pic>
        <p:nvPicPr>
          <p:cNvPr id="8194" name="Picture 2" descr="Ejemplo de composición">
            <a:extLst>
              <a:ext uri="{FF2B5EF4-FFF2-40B4-BE49-F238E27FC236}">
                <a16:creationId xmlns:a16="http://schemas.microsoft.com/office/drawing/2014/main" id="{47D7DB26-F314-4333-EB91-7F2295C479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91675" y="3350247"/>
            <a:ext cx="1682973" cy="2631558"/>
          </a:xfrm>
          <a:prstGeom prst="rect">
            <a:avLst/>
          </a:prstGeom>
          <a:noFill/>
          <a:extLst>
            <a:ext uri="{909E8E84-426E-40DD-AFC4-6F175D3DCCD1}">
              <a14:hiddenFill xmlns:a14="http://schemas.microsoft.com/office/drawing/2010/main">
                <a:solidFill>
                  <a:srgbClr val="FFFFFF"/>
                </a:solidFill>
              </a14:hiddenFill>
            </a:ext>
          </a:extLst>
        </p:spPr>
      </p:pic>
      <p:sp>
        <p:nvSpPr>
          <p:cNvPr id="6" name="Marcador de contenido 2">
            <a:extLst>
              <a:ext uri="{FF2B5EF4-FFF2-40B4-BE49-F238E27FC236}">
                <a16:creationId xmlns:a16="http://schemas.microsoft.com/office/drawing/2014/main" id="{56F8E8E9-B7AF-F507-D929-779FC5B6D282}"/>
              </a:ext>
            </a:extLst>
          </p:cNvPr>
          <p:cNvSpPr txBox="1">
            <a:spLocks/>
          </p:cNvSpPr>
          <p:nvPr/>
        </p:nvSpPr>
        <p:spPr>
          <a:xfrm>
            <a:off x="1154083" y="3733801"/>
            <a:ext cx="8318623" cy="195194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r>
              <a:rPr lang="es-ES" dirty="0"/>
              <a:t>Se representa con una línea continua con un rombo relleno en la clase que es compuesta.</a:t>
            </a:r>
          </a:p>
          <a:p>
            <a:pPr algn="just"/>
            <a:r>
              <a:rPr lang="es-ES" dirty="0"/>
              <a:t>Un ejemplo de esta relación sería: «Un vuelo de una compañía aérea está compuesto por pasajeros, que es lo mismo que decir que un pasajero está asignado a un vuelo»</a:t>
            </a:r>
            <a:endParaRPr lang="es-AR" dirty="0"/>
          </a:p>
        </p:txBody>
      </p:sp>
    </p:spTree>
    <p:extLst>
      <p:ext uri="{BB962C8B-B14F-4D97-AF65-F5344CB8AC3E}">
        <p14:creationId xmlns:p14="http://schemas.microsoft.com/office/powerpoint/2010/main" val="41285866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1C593-6D44-E619-EFC7-3ABFF9B1A0C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CE8C4F4-56AB-C169-5CE7-4023D63FA51D}"/>
              </a:ext>
            </a:extLst>
          </p:cNvPr>
          <p:cNvSpPr>
            <a:spLocks noGrp="1"/>
          </p:cNvSpPr>
          <p:nvPr>
            <p:ph type="title"/>
          </p:nvPr>
        </p:nvSpPr>
        <p:spPr/>
        <p:txBody>
          <a:bodyPr/>
          <a:lstStyle/>
          <a:p>
            <a:r>
              <a:rPr lang="es-AR" dirty="0"/>
              <a:t>Diagramas Clases: Dependencia </a:t>
            </a:r>
          </a:p>
        </p:txBody>
      </p:sp>
      <p:sp>
        <p:nvSpPr>
          <p:cNvPr id="3" name="Marcador de contenido 2">
            <a:extLst>
              <a:ext uri="{FF2B5EF4-FFF2-40B4-BE49-F238E27FC236}">
                <a16:creationId xmlns:a16="http://schemas.microsoft.com/office/drawing/2014/main" id="{DCDDBA6A-9116-8C3C-9E52-9ED0056A2BB2}"/>
              </a:ext>
            </a:extLst>
          </p:cNvPr>
          <p:cNvSpPr>
            <a:spLocks noGrp="1"/>
          </p:cNvSpPr>
          <p:nvPr>
            <p:ph idx="1"/>
          </p:nvPr>
        </p:nvSpPr>
        <p:spPr>
          <a:xfrm>
            <a:off x="1097279" y="1781861"/>
            <a:ext cx="10058400" cy="1951940"/>
          </a:xfrm>
        </p:spPr>
        <p:txBody>
          <a:bodyPr>
            <a:normAutofit/>
          </a:bodyPr>
          <a:lstStyle/>
          <a:p>
            <a:endParaRPr lang="es-ES" dirty="0"/>
          </a:p>
          <a:p>
            <a:r>
              <a:rPr lang="es-ES" dirty="0"/>
              <a:t>Se utiliza este tipo de relación para </a:t>
            </a:r>
            <a:r>
              <a:rPr lang="es-ES" b="1" dirty="0"/>
              <a:t>representar que una clase requiere de otra para ofrecer sus funcionalidades</a:t>
            </a:r>
            <a:r>
              <a:rPr lang="es-ES" dirty="0"/>
              <a:t>. Es muy sencilla y se representa con una flecha discontinua que va desde la clase que necesita la utilidad de la otra flecha hasta esta misma.</a:t>
            </a:r>
          </a:p>
          <a:p>
            <a:pPr marL="0" indent="0">
              <a:buNone/>
            </a:pPr>
            <a:endParaRPr lang="es-AR" dirty="0"/>
          </a:p>
        </p:txBody>
      </p:sp>
      <p:pic>
        <p:nvPicPr>
          <p:cNvPr id="4" name="Imagen 3">
            <a:extLst>
              <a:ext uri="{FF2B5EF4-FFF2-40B4-BE49-F238E27FC236}">
                <a16:creationId xmlns:a16="http://schemas.microsoft.com/office/drawing/2014/main" id="{3E830F3C-874D-838B-512E-9DAB4A7144E0}"/>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99D142B1-D99B-A657-4B44-B8334FEFD13C}"/>
              </a:ext>
            </a:extLst>
          </p:cNvPr>
          <p:cNvSpPr>
            <a:spLocks noGrp="1"/>
          </p:cNvSpPr>
          <p:nvPr>
            <p:ph type="sldNum" sz="quarter" idx="12"/>
          </p:nvPr>
        </p:nvSpPr>
        <p:spPr/>
        <p:txBody>
          <a:bodyPr/>
          <a:lstStyle/>
          <a:p>
            <a:fld id="{6C8ECD1B-3F01-46F8-A46F-31A31EFC5ABF}" type="slidenum">
              <a:rPr lang="es-AR" smtClean="0"/>
              <a:t>20</a:t>
            </a:fld>
            <a:endParaRPr lang="es-AR"/>
          </a:p>
        </p:txBody>
      </p:sp>
      <p:pic>
        <p:nvPicPr>
          <p:cNvPr id="10242" name="Picture 2" descr="Ejemplo de dependencia">
            <a:extLst>
              <a:ext uri="{FF2B5EF4-FFF2-40B4-BE49-F238E27FC236}">
                <a16:creationId xmlns:a16="http://schemas.microsoft.com/office/drawing/2014/main" id="{3DCA6E06-26C6-D7D6-6FF8-61AF806F55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7658" y="3991892"/>
            <a:ext cx="4476683" cy="1608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05485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63D31-605F-B685-41B9-D793F4531F7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6A5CCEB-6AD5-804D-BD50-AFCCBFF562DE}"/>
              </a:ext>
            </a:extLst>
          </p:cNvPr>
          <p:cNvSpPr>
            <a:spLocks noGrp="1"/>
          </p:cNvSpPr>
          <p:nvPr>
            <p:ph type="title"/>
          </p:nvPr>
        </p:nvSpPr>
        <p:spPr/>
        <p:txBody>
          <a:bodyPr/>
          <a:lstStyle/>
          <a:p>
            <a:r>
              <a:rPr lang="es-AR" dirty="0"/>
              <a:t>Diagramas Clases: Herencia </a:t>
            </a:r>
          </a:p>
        </p:txBody>
      </p:sp>
      <p:sp>
        <p:nvSpPr>
          <p:cNvPr id="3" name="Marcador de contenido 2">
            <a:extLst>
              <a:ext uri="{FF2B5EF4-FFF2-40B4-BE49-F238E27FC236}">
                <a16:creationId xmlns:a16="http://schemas.microsoft.com/office/drawing/2014/main" id="{0F6DF5D8-A4B9-2031-7F6E-844A6E318FD0}"/>
              </a:ext>
            </a:extLst>
          </p:cNvPr>
          <p:cNvSpPr>
            <a:spLocks noGrp="1"/>
          </p:cNvSpPr>
          <p:nvPr>
            <p:ph idx="1"/>
          </p:nvPr>
        </p:nvSpPr>
        <p:spPr>
          <a:xfrm>
            <a:off x="1097279" y="1781861"/>
            <a:ext cx="10058400" cy="1951940"/>
          </a:xfrm>
        </p:spPr>
        <p:txBody>
          <a:bodyPr>
            <a:normAutofit/>
          </a:bodyPr>
          <a:lstStyle/>
          <a:p>
            <a:pPr marL="0" indent="0">
              <a:buNone/>
            </a:pPr>
            <a:endParaRPr lang="es-ES" dirty="0"/>
          </a:p>
          <a:p>
            <a:pPr marL="0" indent="0">
              <a:buNone/>
            </a:pPr>
            <a:r>
              <a:rPr lang="es-ES" dirty="0"/>
              <a:t>Este tipo de relaciones permiten que</a:t>
            </a:r>
            <a:r>
              <a:rPr lang="es-ES" b="1" dirty="0"/>
              <a:t> una clase</a:t>
            </a:r>
            <a:r>
              <a:rPr lang="es-ES" dirty="0"/>
              <a:t> </a:t>
            </a:r>
            <a:r>
              <a:rPr lang="es-ES" b="1" dirty="0"/>
              <a:t>(clase hija o subclase) reciba los atributos y métodos de otra clase</a:t>
            </a:r>
            <a:r>
              <a:rPr lang="es-ES" dirty="0"/>
              <a:t> </a:t>
            </a:r>
            <a:r>
              <a:rPr lang="es-ES" b="1" dirty="0"/>
              <a:t>(clase padre o superclase)</a:t>
            </a:r>
            <a:r>
              <a:rPr lang="es-ES" dirty="0"/>
              <a:t>. Estos atributos y métodos recibidos se suman a los que la clase tiene por sí misma. Se utiliza en relaciones «es un».</a:t>
            </a:r>
            <a:endParaRPr lang="es-AR" dirty="0"/>
          </a:p>
        </p:txBody>
      </p:sp>
      <p:pic>
        <p:nvPicPr>
          <p:cNvPr id="4" name="Imagen 3">
            <a:extLst>
              <a:ext uri="{FF2B5EF4-FFF2-40B4-BE49-F238E27FC236}">
                <a16:creationId xmlns:a16="http://schemas.microsoft.com/office/drawing/2014/main" id="{6A2CB1AF-6882-D858-149D-875AB4694BE2}"/>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CB7E1226-5A68-8FB9-1F8F-8B094F59D4F4}"/>
              </a:ext>
            </a:extLst>
          </p:cNvPr>
          <p:cNvSpPr>
            <a:spLocks noGrp="1"/>
          </p:cNvSpPr>
          <p:nvPr>
            <p:ph type="sldNum" sz="quarter" idx="12"/>
          </p:nvPr>
        </p:nvSpPr>
        <p:spPr/>
        <p:txBody>
          <a:bodyPr/>
          <a:lstStyle/>
          <a:p>
            <a:fld id="{6C8ECD1B-3F01-46F8-A46F-31A31EFC5ABF}" type="slidenum">
              <a:rPr lang="es-AR" smtClean="0"/>
              <a:t>21</a:t>
            </a:fld>
            <a:endParaRPr lang="es-AR"/>
          </a:p>
        </p:txBody>
      </p:sp>
      <p:pic>
        <p:nvPicPr>
          <p:cNvPr id="9218" name="Picture 2" descr="Ejemplo de herencia">
            <a:extLst>
              <a:ext uri="{FF2B5EF4-FFF2-40B4-BE49-F238E27FC236}">
                <a16:creationId xmlns:a16="http://schemas.microsoft.com/office/drawing/2014/main" id="{E98265C0-88EA-8A2B-2D9D-EA68908B4D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9604" y="3429000"/>
            <a:ext cx="3333750" cy="278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1922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911BC-B049-7E9C-4549-509DBEE1F1D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8D1DECD-7590-491C-8437-055C0C409301}"/>
              </a:ext>
            </a:extLst>
          </p:cNvPr>
          <p:cNvSpPr>
            <a:spLocks noGrp="1"/>
          </p:cNvSpPr>
          <p:nvPr>
            <p:ph type="title"/>
          </p:nvPr>
        </p:nvSpPr>
        <p:spPr/>
        <p:txBody>
          <a:bodyPr/>
          <a:lstStyle/>
          <a:p>
            <a:pPr algn="ctr"/>
            <a:r>
              <a:rPr lang="es-AR" b="1" dirty="0"/>
              <a:t>¿Por qué necesitamos UML?</a:t>
            </a:r>
            <a:endParaRPr lang="es-AR" dirty="0"/>
          </a:p>
        </p:txBody>
      </p:sp>
      <p:sp>
        <p:nvSpPr>
          <p:cNvPr id="3" name="Marcador de contenido 2">
            <a:extLst>
              <a:ext uri="{FF2B5EF4-FFF2-40B4-BE49-F238E27FC236}">
                <a16:creationId xmlns:a16="http://schemas.microsoft.com/office/drawing/2014/main" id="{567E8760-396B-4A56-58C8-AB826668C900}"/>
              </a:ext>
            </a:extLst>
          </p:cNvPr>
          <p:cNvSpPr>
            <a:spLocks noGrp="1"/>
          </p:cNvSpPr>
          <p:nvPr>
            <p:ph idx="1"/>
          </p:nvPr>
        </p:nvSpPr>
        <p:spPr/>
        <p:txBody>
          <a:bodyPr>
            <a:normAutofit/>
          </a:bodyPr>
          <a:lstStyle/>
          <a:p>
            <a:pPr algn="just">
              <a:buFont typeface="Arial" panose="020B0604020202020204" pitchFamily="34" charset="0"/>
              <a:buChar char="•"/>
            </a:pPr>
            <a:r>
              <a:rPr lang="es-ES" dirty="0"/>
              <a:t>Proporcionan una representación visual del problema o de todo el sistema. De este modo, incluso alguien que no sea desarrollador puede entender cómo funciona el sistema.</a:t>
            </a:r>
          </a:p>
          <a:p>
            <a:pPr algn="just">
              <a:buFont typeface="Arial" panose="020B0604020202020204" pitchFamily="34" charset="0"/>
              <a:buChar char="•"/>
            </a:pPr>
            <a:r>
              <a:rPr lang="es-ES" dirty="0"/>
              <a:t>Los diagramas UML también desempeñan un papel fundamental en la resolución de problemas. Podemos representar un problema del mundo real y encontrar gradualmente la forma de resolverlo.</a:t>
            </a:r>
          </a:p>
          <a:p>
            <a:pPr algn="just">
              <a:buFont typeface="Arial" panose="020B0604020202020204" pitchFamily="34" charset="0"/>
              <a:buChar char="•"/>
            </a:pPr>
            <a:r>
              <a:rPr lang="es-ES" dirty="0"/>
              <a:t>Como estos diagramas son sencillos de comprender, no es necesario tener conocimientos previos para saber cómo funciona una entidad o cómo fluye un proceso.</a:t>
            </a:r>
          </a:p>
          <a:p>
            <a:pPr algn="just">
              <a:buFont typeface="Arial" panose="020B0604020202020204" pitchFamily="34" charset="0"/>
              <a:buChar char="•"/>
            </a:pPr>
            <a:r>
              <a:rPr lang="es-ES" dirty="0"/>
              <a:t>Al utilizar un diagrama UML holístico, todo el equipo de desarrollo de software puede colaborar y trabajar en conjunto.</a:t>
            </a:r>
          </a:p>
          <a:p>
            <a:pPr algn="just">
              <a:buFont typeface="Arial" panose="020B0604020202020204" pitchFamily="34" charset="0"/>
              <a:buChar char="•"/>
            </a:pPr>
            <a:r>
              <a:rPr lang="es-ES" dirty="0"/>
              <a:t>Tienen muchas aplicaciones en la programación orientada a objetos, desarrollo web, desarrollo de prototipos, análisis de negocios, entre otros.</a:t>
            </a:r>
            <a:endParaRPr lang="es-AR" dirty="0"/>
          </a:p>
        </p:txBody>
      </p:sp>
      <p:pic>
        <p:nvPicPr>
          <p:cNvPr id="4" name="Imagen 3">
            <a:extLst>
              <a:ext uri="{FF2B5EF4-FFF2-40B4-BE49-F238E27FC236}">
                <a16:creationId xmlns:a16="http://schemas.microsoft.com/office/drawing/2014/main" id="{BA9DBD33-FC32-95D2-3CA3-923EC10D2CE7}"/>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2D40A73E-0AC7-F3A6-63BF-73A019215352}"/>
              </a:ext>
            </a:extLst>
          </p:cNvPr>
          <p:cNvSpPr>
            <a:spLocks noGrp="1"/>
          </p:cNvSpPr>
          <p:nvPr>
            <p:ph type="sldNum" sz="quarter" idx="12"/>
          </p:nvPr>
        </p:nvSpPr>
        <p:spPr/>
        <p:txBody>
          <a:bodyPr/>
          <a:lstStyle/>
          <a:p>
            <a:fld id="{6C8ECD1B-3F01-46F8-A46F-31A31EFC5ABF}" type="slidenum">
              <a:rPr lang="es-AR" smtClean="0"/>
              <a:t>22</a:t>
            </a:fld>
            <a:endParaRPr lang="es-AR"/>
          </a:p>
        </p:txBody>
      </p:sp>
    </p:spTree>
    <p:extLst>
      <p:ext uri="{BB962C8B-B14F-4D97-AF65-F5344CB8AC3E}">
        <p14:creationId xmlns:p14="http://schemas.microsoft.com/office/powerpoint/2010/main" val="1169341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84402-0906-64E6-B73B-E1BE19091D9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097DA55-28BE-0563-02F0-332641A494D4}"/>
              </a:ext>
            </a:extLst>
          </p:cNvPr>
          <p:cNvSpPr>
            <a:spLocks noGrp="1"/>
          </p:cNvSpPr>
          <p:nvPr>
            <p:ph type="title"/>
          </p:nvPr>
        </p:nvSpPr>
        <p:spPr/>
        <p:txBody>
          <a:bodyPr/>
          <a:lstStyle/>
          <a:p>
            <a:pPr algn="ctr"/>
            <a:r>
              <a:rPr lang="es-AR" b="1" dirty="0"/>
              <a:t>Diferentes tipos de diagramas UML</a:t>
            </a:r>
          </a:p>
        </p:txBody>
      </p:sp>
      <p:pic>
        <p:nvPicPr>
          <p:cNvPr id="4" name="Imagen 3">
            <a:extLst>
              <a:ext uri="{FF2B5EF4-FFF2-40B4-BE49-F238E27FC236}">
                <a16:creationId xmlns:a16="http://schemas.microsoft.com/office/drawing/2014/main" id="{91BAFB41-1983-6DB0-07F8-E8A9E5E26D2B}"/>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A97519F5-D1A3-276D-DFF0-8EED722FEE70}"/>
              </a:ext>
            </a:extLst>
          </p:cNvPr>
          <p:cNvSpPr>
            <a:spLocks noGrp="1"/>
          </p:cNvSpPr>
          <p:nvPr>
            <p:ph type="sldNum" sz="quarter" idx="12"/>
          </p:nvPr>
        </p:nvSpPr>
        <p:spPr/>
        <p:txBody>
          <a:bodyPr/>
          <a:lstStyle/>
          <a:p>
            <a:fld id="{6C8ECD1B-3F01-46F8-A46F-31A31EFC5ABF}" type="slidenum">
              <a:rPr lang="es-AR" smtClean="0"/>
              <a:t>23</a:t>
            </a:fld>
            <a:endParaRPr lang="es-AR"/>
          </a:p>
        </p:txBody>
      </p:sp>
      <p:pic>
        <p:nvPicPr>
          <p:cNvPr id="2052" name="Picture 4" descr="Tipos de Diagramas en UML | Tecnología y Synergix">
            <a:extLst>
              <a:ext uri="{FF2B5EF4-FFF2-40B4-BE49-F238E27FC236}">
                <a16:creationId xmlns:a16="http://schemas.microsoft.com/office/drawing/2014/main" id="{AB630BCC-AF97-4327-5B0B-C08936C04A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4930" y="1959719"/>
            <a:ext cx="7023100" cy="4277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50366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C11F4-0D2B-D7A8-F69C-E19E726ECA9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3401909-3F42-269D-DA51-C73FA4927B16}"/>
              </a:ext>
            </a:extLst>
          </p:cNvPr>
          <p:cNvSpPr>
            <a:spLocks noGrp="1"/>
          </p:cNvSpPr>
          <p:nvPr>
            <p:ph type="title"/>
          </p:nvPr>
        </p:nvSpPr>
        <p:spPr/>
        <p:txBody>
          <a:bodyPr/>
          <a:lstStyle/>
          <a:p>
            <a:r>
              <a:rPr lang="es-AR" b="1" dirty="0"/>
              <a:t>Diagrama de clases</a:t>
            </a:r>
          </a:p>
        </p:txBody>
      </p:sp>
      <p:pic>
        <p:nvPicPr>
          <p:cNvPr id="4" name="Imagen 3">
            <a:extLst>
              <a:ext uri="{FF2B5EF4-FFF2-40B4-BE49-F238E27FC236}">
                <a16:creationId xmlns:a16="http://schemas.microsoft.com/office/drawing/2014/main" id="{B3E8B250-8740-BAF9-A269-479B72A84E35}"/>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19155F55-579B-57A2-0206-69CE1D38F202}"/>
              </a:ext>
            </a:extLst>
          </p:cNvPr>
          <p:cNvSpPr>
            <a:spLocks noGrp="1"/>
          </p:cNvSpPr>
          <p:nvPr>
            <p:ph type="sldNum" sz="quarter" idx="12"/>
          </p:nvPr>
        </p:nvSpPr>
        <p:spPr/>
        <p:txBody>
          <a:bodyPr/>
          <a:lstStyle/>
          <a:p>
            <a:fld id="{6C8ECD1B-3F01-46F8-A46F-31A31EFC5ABF}" type="slidenum">
              <a:rPr lang="es-AR" smtClean="0"/>
              <a:t>24</a:t>
            </a:fld>
            <a:endParaRPr lang="es-AR"/>
          </a:p>
        </p:txBody>
      </p:sp>
      <p:sp>
        <p:nvSpPr>
          <p:cNvPr id="3" name="Marcador de contenido 2">
            <a:extLst>
              <a:ext uri="{FF2B5EF4-FFF2-40B4-BE49-F238E27FC236}">
                <a16:creationId xmlns:a16="http://schemas.microsoft.com/office/drawing/2014/main" id="{6ACD2EA5-4B5F-CC46-D32B-314BF3749B6B}"/>
              </a:ext>
            </a:extLst>
          </p:cNvPr>
          <p:cNvSpPr>
            <a:spLocks noGrp="1"/>
          </p:cNvSpPr>
          <p:nvPr>
            <p:ph idx="1"/>
          </p:nvPr>
        </p:nvSpPr>
        <p:spPr>
          <a:xfrm>
            <a:off x="1097280" y="1737360"/>
            <a:ext cx="10058400" cy="4568190"/>
          </a:xfrm>
        </p:spPr>
        <p:txBody>
          <a:bodyPr>
            <a:normAutofit/>
          </a:bodyPr>
          <a:lstStyle/>
          <a:p>
            <a:pPr marL="0" indent="0" algn="just">
              <a:buNone/>
            </a:pPr>
            <a:endParaRPr lang="es-ES" dirty="0"/>
          </a:p>
          <a:p>
            <a:pPr marL="0" indent="0" algn="just">
              <a:buNone/>
            </a:pPr>
            <a:r>
              <a:rPr lang="es-ES" dirty="0"/>
              <a:t>Un </a:t>
            </a:r>
            <a:r>
              <a:rPr lang="es-ES" b="1" dirty="0"/>
              <a:t>diagrama de clases </a:t>
            </a:r>
            <a:r>
              <a:rPr lang="es-ES" dirty="0"/>
              <a:t>es un tipo de </a:t>
            </a:r>
            <a:r>
              <a:rPr lang="es-ES" b="1" dirty="0"/>
              <a:t>diagrama de estructura</a:t>
            </a:r>
            <a:r>
              <a:rPr lang="es-ES" dirty="0"/>
              <a:t> estática que describe la estructura de un sistema mostrando las </a:t>
            </a:r>
            <a:r>
              <a:rPr lang="es-ES" b="1" dirty="0"/>
              <a:t>clases del sistema, sus atributos, operaciones (o métodos), y las relaciones entre los objetos </a:t>
            </a:r>
            <a:r>
              <a:rPr lang="es-AR" dirty="0"/>
              <a:t>(herencia, asociación, dependencia, etc.)</a:t>
            </a:r>
            <a:r>
              <a:rPr lang="es-ES" dirty="0"/>
              <a:t>.</a:t>
            </a:r>
          </a:p>
          <a:p>
            <a:pPr marL="0" indent="0">
              <a:buNone/>
            </a:pPr>
            <a:r>
              <a:rPr lang="es-ES" dirty="0"/>
              <a:t>Una clase se representa como un rectángulo dividido en 3 partes:</a:t>
            </a:r>
          </a:p>
          <a:p>
            <a:pPr>
              <a:buFont typeface="Arial" panose="020B0604020202020204" pitchFamily="34" charset="0"/>
              <a:buChar char="•"/>
            </a:pPr>
            <a:r>
              <a:rPr lang="es-ES" dirty="0"/>
              <a:t>Nombre de la clase.</a:t>
            </a:r>
          </a:p>
          <a:p>
            <a:pPr>
              <a:buFont typeface="Arial" panose="020B0604020202020204" pitchFamily="34" charset="0"/>
              <a:buChar char="•"/>
            </a:pPr>
            <a:r>
              <a:rPr lang="es-ES" dirty="0"/>
              <a:t>Atributos (propiedades o variables).</a:t>
            </a:r>
          </a:p>
          <a:p>
            <a:pPr>
              <a:buFont typeface="Arial" panose="020B0604020202020204" pitchFamily="34" charset="0"/>
              <a:buChar char="•"/>
            </a:pPr>
            <a:r>
              <a:rPr lang="es-ES" dirty="0"/>
              <a:t>Métodos (funciones o comportamientos).</a:t>
            </a:r>
          </a:p>
          <a:p>
            <a:pPr>
              <a:buFont typeface="Arial" panose="020B0604020202020204" pitchFamily="34" charset="0"/>
              <a:buChar char="•"/>
            </a:pPr>
            <a:endParaRPr lang="es-ES" dirty="0"/>
          </a:p>
        </p:txBody>
      </p:sp>
      <p:pic>
        <p:nvPicPr>
          <p:cNvPr id="3078" name="Picture 6" descr="Reglas de conversión entre el diagrama de clases y los grafos conceptuales  de Sowa">
            <a:extLst>
              <a:ext uri="{FF2B5EF4-FFF2-40B4-BE49-F238E27FC236}">
                <a16:creationId xmlns:a16="http://schemas.microsoft.com/office/drawing/2014/main" id="{A6503F1E-7D58-B092-C380-F2CA213911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8880" y="4021455"/>
            <a:ext cx="4876800" cy="2257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2898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EA9F8-DE03-8940-A816-CFE9F5F8A01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D2C0EB7-D7BC-A26B-9C62-9B53B82C8CF2}"/>
              </a:ext>
            </a:extLst>
          </p:cNvPr>
          <p:cNvSpPr>
            <a:spLocks noGrp="1"/>
          </p:cNvSpPr>
          <p:nvPr>
            <p:ph type="title"/>
          </p:nvPr>
        </p:nvSpPr>
        <p:spPr/>
        <p:txBody>
          <a:bodyPr/>
          <a:lstStyle/>
          <a:p>
            <a:r>
              <a:rPr lang="es-AR" b="1" dirty="0"/>
              <a:t>Diagrama de clases: Atributos</a:t>
            </a:r>
          </a:p>
        </p:txBody>
      </p:sp>
      <p:pic>
        <p:nvPicPr>
          <p:cNvPr id="4" name="Imagen 3">
            <a:extLst>
              <a:ext uri="{FF2B5EF4-FFF2-40B4-BE49-F238E27FC236}">
                <a16:creationId xmlns:a16="http://schemas.microsoft.com/office/drawing/2014/main" id="{091ECC1A-388B-4A8C-9368-86BA793353C3}"/>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CEBB0594-AC21-D273-5791-3FB97AC18F63}"/>
              </a:ext>
            </a:extLst>
          </p:cNvPr>
          <p:cNvSpPr>
            <a:spLocks noGrp="1"/>
          </p:cNvSpPr>
          <p:nvPr>
            <p:ph type="sldNum" sz="quarter" idx="12"/>
          </p:nvPr>
        </p:nvSpPr>
        <p:spPr/>
        <p:txBody>
          <a:bodyPr/>
          <a:lstStyle/>
          <a:p>
            <a:fld id="{6C8ECD1B-3F01-46F8-A46F-31A31EFC5ABF}" type="slidenum">
              <a:rPr lang="es-AR" smtClean="0"/>
              <a:t>25</a:t>
            </a:fld>
            <a:endParaRPr lang="es-AR"/>
          </a:p>
        </p:txBody>
      </p:sp>
      <p:sp>
        <p:nvSpPr>
          <p:cNvPr id="3" name="Marcador de contenido 2">
            <a:extLst>
              <a:ext uri="{FF2B5EF4-FFF2-40B4-BE49-F238E27FC236}">
                <a16:creationId xmlns:a16="http://schemas.microsoft.com/office/drawing/2014/main" id="{A8DC0F5B-CBA7-F633-3536-19544AFD7B1B}"/>
              </a:ext>
            </a:extLst>
          </p:cNvPr>
          <p:cNvSpPr>
            <a:spLocks noGrp="1"/>
          </p:cNvSpPr>
          <p:nvPr>
            <p:ph idx="1"/>
          </p:nvPr>
        </p:nvSpPr>
        <p:spPr>
          <a:xfrm>
            <a:off x="1097280" y="1737360"/>
            <a:ext cx="10058400" cy="4568190"/>
          </a:xfrm>
        </p:spPr>
        <p:txBody>
          <a:bodyPr>
            <a:normAutofit/>
          </a:bodyPr>
          <a:lstStyle/>
          <a:p>
            <a:pPr marL="0" indent="0" algn="just">
              <a:buNone/>
            </a:pPr>
            <a:endParaRPr lang="es-ES" dirty="0"/>
          </a:p>
          <a:p>
            <a:pPr marL="0" indent="0" algn="just">
              <a:buNone/>
            </a:pPr>
            <a:r>
              <a:rPr lang="es-ES" dirty="0"/>
              <a:t>Atributos de una clase:</a:t>
            </a:r>
          </a:p>
          <a:p>
            <a:pPr marL="0" indent="0" algn="just">
              <a:buNone/>
            </a:pPr>
            <a:br>
              <a:rPr lang="es-ES" dirty="0"/>
            </a:br>
            <a:r>
              <a:rPr lang="es-ES" dirty="0"/>
              <a:t>Los nombres de atributo son sustantivos cortos o frases nominales que describen el atributo. La sintaxis UML para un nombre de atributo incorpora información adicional al nombre, como la visibilidad, el tipo y el valor inicial del atributo.</a:t>
            </a:r>
          </a:p>
          <a:p>
            <a:pPr marL="0" indent="0">
              <a:buNone/>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s-ES" dirty="0"/>
          </a:p>
        </p:txBody>
      </p:sp>
      <p:pic>
        <p:nvPicPr>
          <p:cNvPr id="8" name="Imagen 7">
            <a:extLst>
              <a:ext uri="{FF2B5EF4-FFF2-40B4-BE49-F238E27FC236}">
                <a16:creationId xmlns:a16="http://schemas.microsoft.com/office/drawing/2014/main" id="{C446F896-D516-C7F0-9329-FFA511F34BF4}"/>
              </a:ext>
            </a:extLst>
          </p:cNvPr>
          <p:cNvPicPr>
            <a:picLocks noChangeAspect="1"/>
          </p:cNvPicPr>
          <p:nvPr/>
        </p:nvPicPr>
        <p:blipFill>
          <a:blip r:embed="rId4"/>
          <a:stretch>
            <a:fillRect/>
          </a:stretch>
        </p:blipFill>
        <p:spPr>
          <a:xfrm>
            <a:off x="7915275" y="4358138"/>
            <a:ext cx="2135158" cy="1758365"/>
          </a:xfrm>
          <a:prstGeom prst="rect">
            <a:avLst/>
          </a:prstGeom>
        </p:spPr>
      </p:pic>
      <p:pic>
        <p:nvPicPr>
          <p:cNvPr id="7" name="Imagen 6">
            <a:extLst>
              <a:ext uri="{FF2B5EF4-FFF2-40B4-BE49-F238E27FC236}">
                <a16:creationId xmlns:a16="http://schemas.microsoft.com/office/drawing/2014/main" id="{FFC3F310-027E-A2DB-4F2A-5BDFDEE49996}"/>
              </a:ext>
            </a:extLst>
          </p:cNvPr>
          <p:cNvPicPr>
            <a:picLocks noChangeAspect="1"/>
          </p:cNvPicPr>
          <p:nvPr/>
        </p:nvPicPr>
        <p:blipFill>
          <a:blip r:embed="rId5"/>
          <a:stretch>
            <a:fillRect/>
          </a:stretch>
        </p:blipFill>
        <p:spPr>
          <a:xfrm>
            <a:off x="1330642" y="3892867"/>
            <a:ext cx="9591675" cy="276225"/>
          </a:xfrm>
          <a:prstGeom prst="rect">
            <a:avLst/>
          </a:prstGeom>
        </p:spPr>
      </p:pic>
      <p:pic>
        <p:nvPicPr>
          <p:cNvPr id="10" name="Imagen 9">
            <a:extLst>
              <a:ext uri="{FF2B5EF4-FFF2-40B4-BE49-F238E27FC236}">
                <a16:creationId xmlns:a16="http://schemas.microsoft.com/office/drawing/2014/main" id="{FAA8F9DD-92A2-F284-4007-64F50C17136A}"/>
              </a:ext>
            </a:extLst>
          </p:cNvPr>
          <p:cNvPicPr>
            <a:picLocks noChangeAspect="1"/>
          </p:cNvPicPr>
          <p:nvPr/>
        </p:nvPicPr>
        <p:blipFill>
          <a:blip r:embed="rId6"/>
          <a:stretch>
            <a:fillRect/>
          </a:stretch>
        </p:blipFill>
        <p:spPr>
          <a:xfrm>
            <a:off x="2505075" y="4363726"/>
            <a:ext cx="3191828" cy="1752777"/>
          </a:xfrm>
          <a:prstGeom prst="rect">
            <a:avLst/>
          </a:prstGeom>
        </p:spPr>
      </p:pic>
    </p:spTree>
    <p:extLst>
      <p:ext uri="{BB962C8B-B14F-4D97-AF65-F5344CB8AC3E}">
        <p14:creationId xmlns:p14="http://schemas.microsoft.com/office/powerpoint/2010/main" val="13491863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6E84F-CA77-17B0-A2FC-BA0077317B6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F92150C-DF56-3DD0-7695-50EEE1C17B35}"/>
              </a:ext>
            </a:extLst>
          </p:cNvPr>
          <p:cNvSpPr>
            <a:spLocks noGrp="1"/>
          </p:cNvSpPr>
          <p:nvPr>
            <p:ph type="title"/>
          </p:nvPr>
        </p:nvSpPr>
        <p:spPr/>
        <p:txBody>
          <a:bodyPr/>
          <a:lstStyle/>
          <a:p>
            <a:r>
              <a:rPr lang="es-AR" b="1" dirty="0"/>
              <a:t>Diagrama de clases: Métodos</a:t>
            </a:r>
          </a:p>
        </p:txBody>
      </p:sp>
      <p:pic>
        <p:nvPicPr>
          <p:cNvPr id="4" name="Imagen 3">
            <a:extLst>
              <a:ext uri="{FF2B5EF4-FFF2-40B4-BE49-F238E27FC236}">
                <a16:creationId xmlns:a16="http://schemas.microsoft.com/office/drawing/2014/main" id="{CDA7B385-18CC-D1B3-59C9-E180D5A742A2}"/>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0FEC8061-517D-18C8-8544-6492BC25DCAD}"/>
              </a:ext>
            </a:extLst>
          </p:cNvPr>
          <p:cNvSpPr>
            <a:spLocks noGrp="1"/>
          </p:cNvSpPr>
          <p:nvPr>
            <p:ph type="sldNum" sz="quarter" idx="12"/>
          </p:nvPr>
        </p:nvSpPr>
        <p:spPr/>
        <p:txBody>
          <a:bodyPr/>
          <a:lstStyle/>
          <a:p>
            <a:fld id="{6C8ECD1B-3F01-46F8-A46F-31A31EFC5ABF}" type="slidenum">
              <a:rPr lang="es-AR" smtClean="0"/>
              <a:t>26</a:t>
            </a:fld>
            <a:endParaRPr lang="es-AR"/>
          </a:p>
        </p:txBody>
      </p:sp>
      <p:sp>
        <p:nvSpPr>
          <p:cNvPr id="3" name="Marcador de contenido 2">
            <a:extLst>
              <a:ext uri="{FF2B5EF4-FFF2-40B4-BE49-F238E27FC236}">
                <a16:creationId xmlns:a16="http://schemas.microsoft.com/office/drawing/2014/main" id="{4D50A3C7-6D75-8916-A33C-54A4C3DAE06A}"/>
              </a:ext>
            </a:extLst>
          </p:cNvPr>
          <p:cNvSpPr>
            <a:spLocks noGrp="1"/>
          </p:cNvSpPr>
          <p:nvPr>
            <p:ph idx="1"/>
          </p:nvPr>
        </p:nvSpPr>
        <p:spPr>
          <a:xfrm>
            <a:off x="1097280" y="1737360"/>
            <a:ext cx="10058400" cy="4568190"/>
          </a:xfrm>
        </p:spPr>
        <p:txBody>
          <a:bodyPr>
            <a:normAutofit/>
          </a:bodyPr>
          <a:lstStyle/>
          <a:p>
            <a:pPr marL="0" indent="0" algn="just">
              <a:buNone/>
            </a:pPr>
            <a:endParaRPr lang="es-ES" dirty="0"/>
          </a:p>
          <a:p>
            <a:pPr marL="0" indent="0" algn="just">
              <a:buNone/>
            </a:pPr>
            <a:r>
              <a:rPr lang="es-ES" dirty="0"/>
              <a:t>Métodos de una clase:</a:t>
            </a:r>
          </a:p>
          <a:p>
            <a:pPr marL="0" indent="0" algn="just">
              <a:buNone/>
            </a:pPr>
            <a:br>
              <a:rPr lang="es-ES" dirty="0"/>
            </a:br>
            <a:r>
              <a:rPr lang="es-ES" dirty="0"/>
              <a:t>Los métodos de una clase son funciones que pertenecen a esa clase y definen las acciones que los objetos de esa clase pueden realizar. Funcionan como los verbos de la clase, describiendo su comportamiento. Si el método es abstracto se muestra en </a:t>
            </a:r>
            <a:r>
              <a:rPr lang="es-ES" i="1" dirty="0"/>
              <a:t>cursiva</a:t>
            </a:r>
            <a:endParaRPr lang="en-US" i="1" dirty="0"/>
          </a:p>
          <a:p>
            <a:pPr marL="0" indent="0" algn="just">
              <a:buNone/>
            </a:pPr>
            <a:endParaRPr lang="es-ES" dirty="0"/>
          </a:p>
          <a:p>
            <a:pPr marL="0" indent="0" algn="just">
              <a:buNone/>
            </a:pPr>
            <a:endParaRPr lang="es-ES" dirty="0"/>
          </a:p>
          <a:p>
            <a:pPr marL="0" indent="0" algn="just">
              <a:buNone/>
            </a:pPr>
            <a:endParaRPr lang="es-ES" dirty="0"/>
          </a:p>
          <a:p>
            <a:pPr marL="0" indent="0">
              <a:buNone/>
            </a:pPr>
            <a:endParaRPr lang="en-US" dirty="0"/>
          </a:p>
          <a:p>
            <a:pPr>
              <a:buFont typeface="Arial" panose="020B0604020202020204" pitchFamily="34" charset="0"/>
              <a:buChar char="•"/>
            </a:pPr>
            <a:endParaRPr lang="es-ES" dirty="0"/>
          </a:p>
        </p:txBody>
      </p:sp>
      <p:pic>
        <p:nvPicPr>
          <p:cNvPr id="10" name="Imagen 9">
            <a:extLst>
              <a:ext uri="{FF2B5EF4-FFF2-40B4-BE49-F238E27FC236}">
                <a16:creationId xmlns:a16="http://schemas.microsoft.com/office/drawing/2014/main" id="{3B3EA48F-B20B-3C1C-E39E-B82410A810B9}"/>
              </a:ext>
            </a:extLst>
          </p:cNvPr>
          <p:cNvPicPr>
            <a:picLocks noChangeAspect="1"/>
          </p:cNvPicPr>
          <p:nvPr/>
        </p:nvPicPr>
        <p:blipFill>
          <a:blip r:embed="rId4"/>
          <a:stretch>
            <a:fillRect/>
          </a:stretch>
        </p:blipFill>
        <p:spPr>
          <a:xfrm>
            <a:off x="1097280" y="4021455"/>
            <a:ext cx="8429625" cy="257175"/>
          </a:xfrm>
          <a:prstGeom prst="rect">
            <a:avLst/>
          </a:prstGeom>
        </p:spPr>
      </p:pic>
      <p:pic>
        <p:nvPicPr>
          <p:cNvPr id="12" name="Imagen 11">
            <a:extLst>
              <a:ext uri="{FF2B5EF4-FFF2-40B4-BE49-F238E27FC236}">
                <a16:creationId xmlns:a16="http://schemas.microsoft.com/office/drawing/2014/main" id="{577EDFE9-E21A-977F-24FA-CBF51147BA35}"/>
              </a:ext>
            </a:extLst>
          </p:cNvPr>
          <p:cNvPicPr>
            <a:picLocks noChangeAspect="1"/>
          </p:cNvPicPr>
          <p:nvPr/>
        </p:nvPicPr>
        <p:blipFill>
          <a:blip r:embed="rId5"/>
          <a:stretch>
            <a:fillRect/>
          </a:stretch>
        </p:blipFill>
        <p:spPr>
          <a:xfrm>
            <a:off x="4467082" y="4374854"/>
            <a:ext cx="3318795" cy="1834472"/>
          </a:xfrm>
          <a:prstGeom prst="rect">
            <a:avLst/>
          </a:prstGeom>
        </p:spPr>
      </p:pic>
    </p:spTree>
    <p:extLst>
      <p:ext uri="{BB962C8B-B14F-4D97-AF65-F5344CB8AC3E}">
        <p14:creationId xmlns:p14="http://schemas.microsoft.com/office/powerpoint/2010/main" val="2501871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408CC-BDEC-B86A-BD11-4211D471B97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F050803-B85A-A823-1A34-54BAC0938F48}"/>
              </a:ext>
            </a:extLst>
          </p:cNvPr>
          <p:cNvSpPr>
            <a:spLocks noGrp="1"/>
          </p:cNvSpPr>
          <p:nvPr>
            <p:ph type="title"/>
          </p:nvPr>
        </p:nvSpPr>
        <p:spPr/>
        <p:txBody>
          <a:bodyPr/>
          <a:lstStyle/>
          <a:p>
            <a:r>
              <a:rPr lang="es-AR" b="1" dirty="0"/>
              <a:t>Diagrama de clases: Modificadores</a:t>
            </a:r>
          </a:p>
        </p:txBody>
      </p:sp>
      <p:pic>
        <p:nvPicPr>
          <p:cNvPr id="4" name="Imagen 3">
            <a:extLst>
              <a:ext uri="{FF2B5EF4-FFF2-40B4-BE49-F238E27FC236}">
                <a16:creationId xmlns:a16="http://schemas.microsoft.com/office/drawing/2014/main" id="{50D1279A-36D2-63F2-7CC2-2BB155E02EDE}"/>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72DCE786-F0D6-8789-2B0D-C5A1B0501297}"/>
              </a:ext>
            </a:extLst>
          </p:cNvPr>
          <p:cNvSpPr>
            <a:spLocks noGrp="1"/>
          </p:cNvSpPr>
          <p:nvPr>
            <p:ph type="sldNum" sz="quarter" idx="12"/>
          </p:nvPr>
        </p:nvSpPr>
        <p:spPr/>
        <p:txBody>
          <a:bodyPr/>
          <a:lstStyle/>
          <a:p>
            <a:fld id="{6C8ECD1B-3F01-46F8-A46F-31A31EFC5ABF}" type="slidenum">
              <a:rPr lang="es-AR" smtClean="0"/>
              <a:t>27</a:t>
            </a:fld>
            <a:endParaRPr lang="es-AR"/>
          </a:p>
        </p:txBody>
      </p:sp>
      <p:sp>
        <p:nvSpPr>
          <p:cNvPr id="3" name="Marcador de contenido 2">
            <a:extLst>
              <a:ext uri="{FF2B5EF4-FFF2-40B4-BE49-F238E27FC236}">
                <a16:creationId xmlns:a16="http://schemas.microsoft.com/office/drawing/2014/main" id="{0ED9EB06-45C3-2441-3114-6B122A820B7F}"/>
              </a:ext>
            </a:extLst>
          </p:cNvPr>
          <p:cNvSpPr>
            <a:spLocks noGrp="1"/>
          </p:cNvSpPr>
          <p:nvPr>
            <p:ph idx="1"/>
          </p:nvPr>
        </p:nvSpPr>
        <p:spPr>
          <a:xfrm>
            <a:off x="1097280" y="1737360"/>
            <a:ext cx="10058400" cy="4568190"/>
          </a:xfrm>
        </p:spPr>
        <p:txBody>
          <a:bodyPr>
            <a:normAutofit fontScale="77500" lnSpcReduction="20000"/>
          </a:bodyPr>
          <a:lstStyle/>
          <a:p>
            <a:pPr marL="0" indent="0" algn="just">
              <a:buNone/>
            </a:pPr>
            <a:endParaRPr lang="es-AR" dirty="0"/>
          </a:p>
          <a:p>
            <a:pPr marL="0" indent="0" algn="just">
              <a:buNone/>
            </a:pPr>
            <a:r>
              <a:rPr lang="es-AR" dirty="0"/>
              <a:t>Modificadores de acceso (visibilidad):</a:t>
            </a:r>
          </a:p>
          <a:p>
            <a:pPr marL="0" indent="0" algn="just">
              <a:buNone/>
            </a:pPr>
            <a:endParaRPr lang="es-ES" dirty="0"/>
          </a:p>
          <a:p>
            <a:pPr marL="0" indent="0" algn="just">
              <a:buNone/>
            </a:pPr>
            <a:endParaRPr lang="es-ES" b="1" dirty="0"/>
          </a:p>
          <a:p>
            <a:pPr marL="0" indent="0" algn="just">
              <a:buNone/>
            </a:pPr>
            <a:endParaRPr lang="es-ES" b="1" dirty="0"/>
          </a:p>
          <a:p>
            <a:pPr marL="0" indent="0" algn="just">
              <a:buNone/>
            </a:pPr>
            <a:r>
              <a:rPr lang="es-ES" b="1" dirty="0" err="1"/>
              <a:t>Public</a:t>
            </a:r>
            <a:r>
              <a:rPr lang="es-ES" b="1" dirty="0"/>
              <a:t> </a:t>
            </a:r>
            <a:r>
              <a:rPr lang="es-ES" dirty="0"/>
              <a:t>(+): El miembro es accesible desde cualquier clase, dentro o fuera del paquete. </a:t>
            </a:r>
          </a:p>
          <a:p>
            <a:pPr marL="0" indent="0" algn="just">
              <a:buNone/>
            </a:pPr>
            <a:r>
              <a:rPr lang="es-ES" b="1" dirty="0" err="1"/>
              <a:t>Private</a:t>
            </a:r>
            <a:r>
              <a:rPr lang="es-ES" dirty="0"/>
              <a:t> (-): El miembro solo es accesible dentro de la misma clase. </a:t>
            </a:r>
          </a:p>
          <a:p>
            <a:pPr marL="0" indent="0" algn="just">
              <a:buNone/>
            </a:pPr>
            <a:r>
              <a:rPr lang="es-ES" b="1" dirty="0" err="1"/>
              <a:t>Protected</a:t>
            </a:r>
            <a:r>
              <a:rPr lang="es-ES" dirty="0"/>
              <a:t> (#): El miembro es accesible dentro de la clase, sus subclases (incluso en diferentes paquetes) y dentro del mismo paquete. </a:t>
            </a:r>
          </a:p>
          <a:p>
            <a:pPr marL="0" indent="0" algn="just">
              <a:buNone/>
            </a:pPr>
            <a:r>
              <a:rPr lang="es-ES" b="1" dirty="0"/>
              <a:t>Paquete</a:t>
            </a:r>
            <a:r>
              <a:rPr lang="es-ES" dirty="0"/>
              <a:t> (~): El miembro es accesible dentro de las clases del mismo paquete. </a:t>
            </a:r>
          </a:p>
          <a:p>
            <a:pPr marL="0" indent="0" algn="just">
              <a:buNone/>
            </a:pPr>
            <a:r>
              <a:rPr lang="es-ES" b="1" dirty="0"/>
              <a:t>Estático</a:t>
            </a:r>
            <a:r>
              <a:rPr lang="es-ES" dirty="0"/>
              <a:t> (subrayado): Aunque no es un modificador de acceso en sí mismo, los miembros estáticos (declarados con la palabra clave </a:t>
            </a:r>
            <a:r>
              <a:rPr lang="es-ES" dirty="0" err="1"/>
              <a:t>static</a:t>
            </a:r>
            <a:r>
              <a:rPr lang="es-ES" dirty="0"/>
              <a:t>) son accesibles a través de la clase, no de la instancia, y su visibilidad se especifica con uno de los modificadores de acceso mencionados. </a:t>
            </a:r>
          </a:p>
          <a:p>
            <a:pPr marL="0" indent="0" algn="just">
              <a:buNone/>
            </a:pPr>
            <a:r>
              <a:rPr lang="es-ES" b="1" dirty="0"/>
              <a:t>Derivado</a:t>
            </a:r>
            <a:r>
              <a:rPr lang="es-ES" dirty="0"/>
              <a:t> (/): Este término se usa a veces para describir el acceso a través de herencia. No es un modificador en sí mismo, pero indica que un miembro protegido puede ser accedido por las clases hijas. </a:t>
            </a:r>
          </a:p>
          <a:p>
            <a:pPr marL="0" indent="0" algn="just">
              <a:buNone/>
            </a:pPr>
            <a:endParaRPr lang="es-ES" dirty="0"/>
          </a:p>
        </p:txBody>
      </p:sp>
      <p:pic>
        <p:nvPicPr>
          <p:cNvPr id="4098" name="Picture 2">
            <a:extLst>
              <a:ext uri="{FF2B5EF4-FFF2-40B4-BE49-F238E27FC236}">
                <a16:creationId xmlns:a16="http://schemas.microsoft.com/office/drawing/2014/main" id="{6547AA34-53E6-539B-056D-8A1CEA5494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84845" y="1845927"/>
            <a:ext cx="1571625" cy="2000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51125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7DF17-FDF2-1260-641E-6016E2C6818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3B84742-480E-7D59-4E4F-0BDF8644EA1E}"/>
              </a:ext>
            </a:extLst>
          </p:cNvPr>
          <p:cNvSpPr>
            <a:spLocks noGrp="1"/>
          </p:cNvSpPr>
          <p:nvPr>
            <p:ph type="title"/>
          </p:nvPr>
        </p:nvSpPr>
        <p:spPr/>
        <p:txBody>
          <a:bodyPr/>
          <a:lstStyle/>
          <a:p>
            <a:r>
              <a:rPr lang="es-AR" b="1" dirty="0"/>
              <a:t>Diagrama de clases: Asociación</a:t>
            </a:r>
          </a:p>
        </p:txBody>
      </p:sp>
      <p:pic>
        <p:nvPicPr>
          <p:cNvPr id="4" name="Imagen 3">
            <a:extLst>
              <a:ext uri="{FF2B5EF4-FFF2-40B4-BE49-F238E27FC236}">
                <a16:creationId xmlns:a16="http://schemas.microsoft.com/office/drawing/2014/main" id="{6A515BFD-6976-F6AF-73D3-2AD31E465632}"/>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F3F88149-4A1D-7912-39E4-9A5706510E43}"/>
              </a:ext>
            </a:extLst>
          </p:cNvPr>
          <p:cNvSpPr>
            <a:spLocks noGrp="1"/>
          </p:cNvSpPr>
          <p:nvPr>
            <p:ph type="sldNum" sz="quarter" idx="12"/>
          </p:nvPr>
        </p:nvSpPr>
        <p:spPr/>
        <p:txBody>
          <a:bodyPr/>
          <a:lstStyle/>
          <a:p>
            <a:fld id="{6C8ECD1B-3F01-46F8-A46F-31A31EFC5ABF}" type="slidenum">
              <a:rPr lang="es-AR" smtClean="0"/>
              <a:t>28</a:t>
            </a:fld>
            <a:endParaRPr lang="es-AR"/>
          </a:p>
        </p:txBody>
      </p:sp>
      <p:sp>
        <p:nvSpPr>
          <p:cNvPr id="3" name="Marcador de contenido 2">
            <a:extLst>
              <a:ext uri="{FF2B5EF4-FFF2-40B4-BE49-F238E27FC236}">
                <a16:creationId xmlns:a16="http://schemas.microsoft.com/office/drawing/2014/main" id="{E23BE09B-6105-5D6A-EA19-3E4E98B87C0C}"/>
              </a:ext>
            </a:extLst>
          </p:cNvPr>
          <p:cNvSpPr>
            <a:spLocks noGrp="1"/>
          </p:cNvSpPr>
          <p:nvPr>
            <p:ph idx="1"/>
          </p:nvPr>
        </p:nvSpPr>
        <p:spPr>
          <a:xfrm>
            <a:off x="1097280" y="1737360"/>
            <a:ext cx="10058400" cy="4568190"/>
          </a:xfrm>
        </p:spPr>
        <p:txBody>
          <a:bodyPr>
            <a:normAutofit fontScale="85000" lnSpcReduction="20000"/>
          </a:bodyPr>
          <a:lstStyle/>
          <a:p>
            <a:pPr marL="0" indent="0" algn="just">
              <a:buNone/>
            </a:pPr>
            <a:r>
              <a:rPr lang="es-ES" dirty="0"/>
              <a:t>Los </a:t>
            </a:r>
            <a:r>
              <a:rPr lang="es-ES" b="1" dirty="0"/>
              <a:t>conectores</a:t>
            </a:r>
            <a:r>
              <a:rPr lang="es-ES" dirty="0"/>
              <a:t> definen conexiones entre dos o más instancias (</a:t>
            </a:r>
            <a:r>
              <a:rPr lang="es-ES" b="1" dirty="0"/>
              <a:t>asociación</a:t>
            </a:r>
            <a:r>
              <a:rPr lang="es-ES" dirty="0"/>
              <a:t>). La especificación permite que se comuniquen. Al contrario que las relaciones, como la asociación, los conectores no unen cualquier tipo de instancia, sino solo aquellas definidas como elementos de conexión. Los conectores se modelan como </a:t>
            </a:r>
            <a:r>
              <a:rPr lang="es-ES" b="1" dirty="0"/>
              <a:t>líneas con al menos dos finales</a:t>
            </a:r>
            <a:r>
              <a:rPr lang="es-ES" dirty="0"/>
              <a:t> que corresponden a las instancias participantes que asignan un tipo a los elementos susceptibles de conectarse.</a:t>
            </a:r>
          </a:p>
          <a:p>
            <a:pPr marL="0" indent="0" fontAlgn="base">
              <a:buNone/>
            </a:pPr>
            <a:r>
              <a:rPr lang="es-ES" b="1" i="1" dirty="0"/>
              <a:t>Rol</a:t>
            </a:r>
            <a:r>
              <a:rPr lang="es-ES" b="1" dirty="0"/>
              <a:t>, </a:t>
            </a:r>
            <a:r>
              <a:rPr lang="es-ES" dirty="0"/>
              <a:t>o nombre de la asociación, que describe la semántica de la relación en el sentido indicado. Por ejemplo, la asociación entre Persona y Empresa recibe el nombre de </a:t>
            </a:r>
            <a:r>
              <a:rPr lang="es-ES" i="1" dirty="0"/>
              <a:t>trabaja para</a:t>
            </a:r>
            <a:r>
              <a:rPr lang="es-ES" dirty="0"/>
              <a:t>, como rol en ese sentido.</a:t>
            </a:r>
          </a:p>
          <a:p>
            <a:pPr marL="0" indent="0" fontAlgn="base">
              <a:buNone/>
            </a:pPr>
            <a:r>
              <a:rPr lang="es-ES" b="1" i="1" dirty="0"/>
              <a:t>Multiplicidad</a:t>
            </a:r>
            <a:r>
              <a:rPr lang="es-ES" dirty="0"/>
              <a:t>, que describe la cardinalidad de la relación, es decir, especifica cuántas instancias de una clase están asociadas a una instancia de la otra clase. Los tipos de multiplicidad son: Uno a uno, uno a muchos y muchos a muchos.</a:t>
            </a:r>
          </a:p>
          <a:p>
            <a:pPr marL="0" indent="0" algn="just">
              <a:buNone/>
            </a:pPr>
            <a:endParaRPr lang="es-ES" dirty="0"/>
          </a:p>
          <a:p>
            <a:pPr>
              <a:buFont typeface="Arial" panose="020B0604020202020204" pitchFamily="34" charset="0"/>
              <a:buChar char="•"/>
            </a:pPr>
            <a:r>
              <a:rPr lang="es-ES" b="1" dirty="0"/>
              <a:t>0</a:t>
            </a:r>
            <a:r>
              <a:rPr lang="es-ES" dirty="0"/>
              <a:t> = La clase no desarrolla instancias (poco frecuente)</a:t>
            </a:r>
          </a:p>
          <a:p>
            <a:pPr>
              <a:buFont typeface="Arial" panose="020B0604020202020204" pitchFamily="34" charset="0"/>
              <a:buChar char="•"/>
            </a:pPr>
            <a:r>
              <a:rPr lang="es-ES" b="1" dirty="0"/>
              <a:t>0..1</a:t>
            </a:r>
            <a:r>
              <a:rPr lang="es-ES" dirty="0"/>
              <a:t> = Una o ninguna instancia</a:t>
            </a:r>
          </a:p>
          <a:p>
            <a:pPr>
              <a:buFont typeface="Arial" panose="020B0604020202020204" pitchFamily="34" charset="0"/>
              <a:buChar char="•"/>
            </a:pPr>
            <a:r>
              <a:rPr lang="es-ES" b="1" dirty="0"/>
              <a:t>1</a:t>
            </a:r>
            <a:r>
              <a:rPr lang="es-ES" dirty="0"/>
              <a:t> o </a:t>
            </a:r>
            <a:r>
              <a:rPr lang="es-ES" b="1" dirty="0"/>
              <a:t>1..1</a:t>
            </a:r>
            <a:r>
              <a:rPr lang="es-ES" dirty="0"/>
              <a:t> = Solo una instancia</a:t>
            </a:r>
          </a:p>
          <a:p>
            <a:pPr>
              <a:buFont typeface="Arial" panose="020B0604020202020204" pitchFamily="34" charset="0"/>
              <a:buChar char="•"/>
            </a:pPr>
            <a:r>
              <a:rPr lang="es-ES" b="1" dirty="0"/>
              <a:t>0..*</a:t>
            </a:r>
            <a:r>
              <a:rPr lang="es-ES" dirty="0"/>
              <a:t> o </a:t>
            </a:r>
            <a:r>
              <a:rPr lang="es-ES" b="1" dirty="0"/>
              <a:t>*</a:t>
            </a:r>
            <a:r>
              <a:rPr lang="es-ES" dirty="0"/>
              <a:t> = Ninguna instancia o varias con un valor máximo indefinido</a:t>
            </a:r>
          </a:p>
          <a:p>
            <a:pPr>
              <a:buFont typeface="Arial" panose="020B0604020202020204" pitchFamily="34" charset="0"/>
              <a:buChar char="•"/>
            </a:pPr>
            <a:r>
              <a:rPr lang="es-ES" b="1" dirty="0"/>
              <a:t>1..*</a:t>
            </a:r>
            <a:r>
              <a:rPr lang="es-ES" dirty="0"/>
              <a:t> = Una instancia o más con valor máximo indefinido </a:t>
            </a:r>
          </a:p>
        </p:txBody>
      </p:sp>
      <p:pic>
        <p:nvPicPr>
          <p:cNvPr id="3074" name="Picture 2" descr="Diagrama de Clases - manuel.cillero.es">
            <a:extLst>
              <a:ext uri="{FF2B5EF4-FFF2-40B4-BE49-F238E27FC236}">
                <a16:creationId xmlns:a16="http://schemas.microsoft.com/office/drawing/2014/main" id="{4A66305D-7EC8-04FA-FB97-FF27658C2B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702" y="4170469"/>
            <a:ext cx="4369781" cy="1170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91096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1563F-7CC0-3819-431F-A6492BAA277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504C46D-0D15-9DCD-9B64-6EE7E4E850CC}"/>
              </a:ext>
            </a:extLst>
          </p:cNvPr>
          <p:cNvSpPr>
            <a:spLocks noGrp="1"/>
          </p:cNvSpPr>
          <p:nvPr>
            <p:ph type="title"/>
          </p:nvPr>
        </p:nvSpPr>
        <p:spPr/>
        <p:txBody>
          <a:bodyPr>
            <a:normAutofit/>
          </a:bodyPr>
          <a:lstStyle/>
          <a:p>
            <a:r>
              <a:rPr lang="es-AR" b="1" dirty="0"/>
              <a:t>Diagrama de clases: Generalización y especialización</a:t>
            </a:r>
          </a:p>
        </p:txBody>
      </p:sp>
      <p:pic>
        <p:nvPicPr>
          <p:cNvPr id="4" name="Imagen 3">
            <a:extLst>
              <a:ext uri="{FF2B5EF4-FFF2-40B4-BE49-F238E27FC236}">
                <a16:creationId xmlns:a16="http://schemas.microsoft.com/office/drawing/2014/main" id="{2A6A9D59-545B-8235-F5C7-A89D3EBF832F}"/>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24308A92-F73F-2BB2-6DCF-DE1E4AB4761D}"/>
              </a:ext>
            </a:extLst>
          </p:cNvPr>
          <p:cNvSpPr>
            <a:spLocks noGrp="1"/>
          </p:cNvSpPr>
          <p:nvPr>
            <p:ph type="sldNum" sz="quarter" idx="12"/>
          </p:nvPr>
        </p:nvSpPr>
        <p:spPr/>
        <p:txBody>
          <a:bodyPr/>
          <a:lstStyle/>
          <a:p>
            <a:fld id="{6C8ECD1B-3F01-46F8-A46F-31A31EFC5ABF}" type="slidenum">
              <a:rPr lang="es-AR" smtClean="0"/>
              <a:t>29</a:t>
            </a:fld>
            <a:endParaRPr lang="es-AR"/>
          </a:p>
        </p:txBody>
      </p:sp>
      <p:sp>
        <p:nvSpPr>
          <p:cNvPr id="3" name="Marcador de contenido 2">
            <a:extLst>
              <a:ext uri="{FF2B5EF4-FFF2-40B4-BE49-F238E27FC236}">
                <a16:creationId xmlns:a16="http://schemas.microsoft.com/office/drawing/2014/main" id="{9EFD1035-8D02-0206-64D0-37377EA89EDA}"/>
              </a:ext>
            </a:extLst>
          </p:cNvPr>
          <p:cNvSpPr>
            <a:spLocks noGrp="1"/>
          </p:cNvSpPr>
          <p:nvPr>
            <p:ph idx="1"/>
          </p:nvPr>
        </p:nvSpPr>
        <p:spPr>
          <a:xfrm>
            <a:off x="1097280" y="1737360"/>
            <a:ext cx="10058400" cy="4568190"/>
          </a:xfrm>
        </p:spPr>
        <p:txBody>
          <a:bodyPr>
            <a:normAutofit/>
          </a:bodyPr>
          <a:lstStyle/>
          <a:p>
            <a:pPr marL="0" indent="0" algn="ctr">
              <a:buNone/>
            </a:pPr>
            <a:r>
              <a:rPr lang="es-ES" dirty="0"/>
              <a:t>En POO estas características nos permiten hacer uso de la herencia y el polimorfismo.</a:t>
            </a:r>
          </a:p>
          <a:p>
            <a:pPr marL="0" indent="0" algn="just">
              <a:buNone/>
            </a:pPr>
            <a:r>
              <a:rPr lang="es-ES" dirty="0"/>
              <a:t>La </a:t>
            </a:r>
            <a:r>
              <a:rPr lang="es-ES" b="1" dirty="0"/>
              <a:t>generalización</a:t>
            </a:r>
            <a:r>
              <a:rPr lang="es-ES" dirty="0"/>
              <a:t> nos permite considerar categorías generales de objetos que tienen propiedades comunes y luego definir subclases especializadas que heredan las propiedades de las categorías generales. La generalización nos permite definir características y operaciones generales de un objeto y nos permite crear versiones más especializadas de este objeto.</a:t>
            </a:r>
            <a:endParaRPr lang="es-AR" dirty="0"/>
          </a:p>
          <a:p>
            <a:pPr marL="0" indent="0" algn="just">
              <a:buNone/>
            </a:pPr>
            <a:r>
              <a:rPr lang="es-ES" dirty="0"/>
              <a:t>En la </a:t>
            </a:r>
            <a:r>
              <a:rPr lang="es-ES" b="1" dirty="0"/>
              <a:t>especialización</a:t>
            </a:r>
            <a:r>
              <a:rPr lang="es-ES" dirty="0"/>
              <a:t> de un objeto heredarán automáticamente todas las características del objeto más generalizado .</a:t>
            </a:r>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p:txBody>
      </p:sp>
      <p:pic>
        <p:nvPicPr>
          <p:cNvPr id="7" name="Imagen 6">
            <a:extLst>
              <a:ext uri="{FF2B5EF4-FFF2-40B4-BE49-F238E27FC236}">
                <a16:creationId xmlns:a16="http://schemas.microsoft.com/office/drawing/2014/main" id="{C39DA09F-1522-6F5F-F16D-937CC779ED50}"/>
              </a:ext>
            </a:extLst>
          </p:cNvPr>
          <p:cNvPicPr>
            <a:picLocks noChangeAspect="1"/>
          </p:cNvPicPr>
          <p:nvPr/>
        </p:nvPicPr>
        <p:blipFill>
          <a:blip r:embed="rId4"/>
          <a:stretch>
            <a:fillRect/>
          </a:stretch>
        </p:blipFill>
        <p:spPr>
          <a:xfrm>
            <a:off x="4326255" y="3821107"/>
            <a:ext cx="3600450" cy="2484443"/>
          </a:xfrm>
          <a:prstGeom prst="rect">
            <a:avLst/>
          </a:prstGeom>
        </p:spPr>
      </p:pic>
    </p:spTree>
    <p:extLst>
      <p:ext uri="{BB962C8B-B14F-4D97-AF65-F5344CB8AC3E}">
        <p14:creationId xmlns:p14="http://schemas.microsoft.com/office/powerpoint/2010/main" val="40436868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D8937-2CAE-1653-118E-4DA247D44E8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3BD1B5C-B14A-3C39-1162-3F65CEAC24B9}"/>
              </a:ext>
            </a:extLst>
          </p:cNvPr>
          <p:cNvSpPr>
            <a:spLocks noGrp="1"/>
          </p:cNvSpPr>
          <p:nvPr>
            <p:ph type="title"/>
          </p:nvPr>
        </p:nvSpPr>
        <p:spPr/>
        <p:txBody>
          <a:bodyPr>
            <a:normAutofit/>
          </a:bodyPr>
          <a:lstStyle/>
          <a:p>
            <a:r>
              <a:rPr lang="es-AR" b="1" dirty="0"/>
              <a:t>Diagrama de clases: Herencia</a:t>
            </a:r>
          </a:p>
        </p:txBody>
      </p:sp>
      <p:pic>
        <p:nvPicPr>
          <p:cNvPr id="4" name="Imagen 3">
            <a:extLst>
              <a:ext uri="{FF2B5EF4-FFF2-40B4-BE49-F238E27FC236}">
                <a16:creationId xmlns:a16="http://schemas.microsoft.com/office/drawing/2014/main" id="{B0A5EF05-C61D-9BD8-0243-618DE19C6E03}"/>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5ACF50B4-B90F-2C8D-C031-22869CB8B2BC}"/>
              </a:ext>
            </a:extLst>
          </p:cNvPr>
          <p:cNvSpPr>
            <a:spLocks noGrp="1"/>
          </p:cNvSpPr>
          <p:nvPr>
            <p:ph type="sldNum" sz="quarter" idx="12"/>
          </p:nvPr>
        </p:nvSpPr>
        <p:spPr/>
        <p:txBody>
          <a:bodyPr/>
          <a:lstStyle/>
          <a:p>
            <a:fld id="{6C8ECD1B-3F01-46F8-A46F-31A31EFC5ABF}" type="slidenum">
              <a:rPr lang="es-AR" smtClean="0"/>
              <a:t>30</a:t>
            </a:fld>
            <a:endParaRPr lang="es-AR"/>
          </a:p>
        </p:txBody>
      </p:sp>
      <p:sp>
        <p:nvSpPr>
          <p:cNvPr id="3" name="Marcador de contenido 2">
            <a:extLst>
              <a:ext uri="{FF2B5EF4-FFF2-40B4-BE49-F238E27FC236}">
                <a16:creationId xmlns:a16="http://schemas.microsoft.com/office/drawing/2014/main" id="{FA84F63B-5DEA-F404-DCCC-EC2DC77B40DD}"/>
              </a:ext>
            </a:extLst>
          </p:cNvPr>
          <p:cNvSpPr>
            <a:spLocks noGrp="1"/>
          </p:cNvSpPr>
          <p:nvPr>
            <p:ph idx="1"/>
          </p:nvPr>
        </p:nvSpPr>
        <p:spPr>
          <a:xfrm>
            <a:off x="1154083" y="1791029"/>
            <a:ext cx="10058400" cy="2631440"/>
          </a:xfrm>
        </p:spPr>
        <p:txBody>
          <a:bodyPr>
            <a:normAutofit fontScale="92500" lnSpcReduction="10000"/>
          </a:bodyPr>
          <a:lstStyle/>
          <a:p>
            <a:pPr marL="0" indent="0" algn="just">
              <a:buNone/>
            </a:pPr>
            <a:r>
              <a:rPr lang="es-ES" dirty="0"/>
              <a:t>Esta relación se representa como una línea continua con una flecha hueca en el extremo que apunta a la superclase. La herencia permite reutilizar datos y comportamientos de la clase principal. Es útil para </a:t>
            </a:r>
            <a:r>
              <a:rPr lang="es-ES" b="1" dirty="0"/>
              <a:t>la generalización</a:t>
            </a:r>
            <a:r>
              <a:rPr lang="es-ES" dirty="0"/>
              <a:t>, ya que puede observar que varias clases comparten los mismos datos o comportamientos y los extrae en una clase principal. Por ejemplo, la clase Cliente como la clase Empleado son personas, por lo que conviene usar la clase general Persona. </a:t>
            </a:r>
          </a:p>
          <a:p>
            <a:pPr marL="0" indent="0" algn="just">
              <a:buNone/>
            </a:pPr>
            <a:r>
              <a:rPr lang="es-ES" dirty="0"/>
              <a:t>También es útil para </a:t>
            </a:r>
            <a:r>
              <a:rPr lang="es-ES" b="1" dirty="0"/>
              <a:t>la especialización</a:t>
            </a:r>
            <a:r>
              <a:rPr lang="es-ES" dirty="0"/>
              <a:t>, cuando se desea conservar la mayor parte del comportamiento de una clase principal, pero se desea hacer al menos una cosa diferente o añadir más datos. Un ejemplo de especialización es la clase Empleado. Un empleado es una persona, pero también tiene un ID único. Un cliente es una persona, pero solo tiene una tarjeta de crédito (no empleado).</a:t>
            </a:r>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a:p>
            <a:pPr marL="0" indent="0" algn="just">
              <a:buNone/>
            </a:pPr>
            <a:endParaRPr lang="es-ES" dirty="0"/>
          </a:p>
        </p:txBody>
      </p:sp>
      <p:pic>
        <p:nvPicPr>
          <p:cNvPr id="8196" name="Picture 4">
            <a:extLst>
              <a:ext uri="{FF2B5EF4-FFF2-40B4-BE49-F238E27FC236}">
                <a16:creationId xmlns:a16="http://schemas.microsoft.com/office/drawing/2014/main" id="{8DE7CBFE-089A-5FA7-A001-7CCD36F850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9891" y="4262449"/>
            <a:ext cx="2086783" cy="1871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31246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4204D-00EF-9D56-8D76-8B8B655115F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2F92326-0918-B754-A093-C3353BF3E908}"/>
              </a:ext>
            </a:extLst>
          </p:cNvPr>
          <p:cNvSpPr>
            <a:spLocks noGrp="1"/>
          </p:cNvSpPr>
          <p:nvPr>
            <p:ph type="title"/>
          </p:nvPr>
        </p:nvSpPr>
        <p:spPr/>
        <p:txBody>
          <a:bodyPr>
            <a:normAutofit/>
          </a:bodyPr>
          <a:lstStyle/>
          <a:p>
            <a:r>
              <a:rPr lang="es-AR" b="1" dirty="0"/>
              <a:t>Diagrama de clases: Herencia</a:t>
            </a:r>
          </a:p>
        </p:txBody>
      </p:sp>
      <p:pic>
        <p:nvPicPr>
          <p:cNvPr id="4" name="Imagen 3">
            <a:extLst>
              <a:ext uri="{FF2B5EF4-FFF2-40B4-BE49-F238E27FC236}">
                <a16:creationId xmlns:a16="http://schemas.microsoft.com/office/drawing/2014/main" id="{A474D9AB-B7CD-E1AB-4470-BB8DA861201B}"/>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A6AAA161-340B-8A93-C31C-0075AC477B82}"/>
              </a:ext>
            </a:extLst>
          </p:cNvPr>
          <p:cNvSpPr>
            <a:spLocks noGrp="1"/>
          </p:cNvSpPr>
          <p:nvPr>
            <p:ph type="sldNum" sz="quarter" idx="12"/>
          </p:nvPr>
        </p:nvSpPr>
        <p:spPr/>
        <p:txBody>
          <a:bodyPr/>
          <a:lstStyle/>
          <a:p>
            <a:fld id="{6C8ECD1B-3F01-46F8-A46F-31A31EFC5ABF}" type="slidenum">
              <a:rPr lang="es-AR" smtClean="0"/>
              <a:t>31</a:t>
            </a:fld>
            <a:endParaRPr lang="es-AR"/>
          </a:p>
        </p:txBody>
      </p:sp>
      <p:pic>
        <p:nvPicPr>
          <p:cNvPr id="8194" name="Picture 2" descr="1.4 Herencia | POO en Java">
            <a:extLst>
              <a:ext uri="{FF2B5EF4-FFF2-40B4-BE49-F238E27FC236}">
                <a16:creationId xmlns:a16="http://schemas.microsoft.com/office/drawing/2014/main" id="{356BBDEB-B385-5508-6B8E-646873CB9B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3230" y="1948359"/>
            <a:ext cx="7045539" cy="42771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43325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F12DB-7C86-7456-52F0-DBC85C65122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9A2BBA8-4097-B7CA-346A-FC9125877DB6}"/>
              </a:ext>
            </a:extLst>
          </p:cNvPr>
          <p:cNvSpPr>
            <a:spLocks noGrp="1"/>
          </p:cNvSpPr>
          <p:nvPr>
            <p:ph type="title"/>
          </p:nvPr>
        </p:nvSpPr>
        <p:spPr/>
        <p:txBody>
          <a:bodyPr/>
          <a:lstStyle/>
          <a:p>
            <a:r>
              <a:rPr lang="es-AR" dirty="0"/>
              <a:t>Introducción al lenguaje Java</a:t>
            </a:r>
          </a:p>
        </p:txBody>
      </p:sp>
      <p:sp>
        <p:nvSpPr>
          <p:cNvPr id="3" name="Marcador de contenido 2">
            <a:extLst>
              <a:ext uri="{FF2B5EF4-FFF2-40B4-BE49-F238E27FC236}">
                <a16:creationId xmlns:a16="http://schemas.microsoft.com/office/drawing/2014/main" id="{9C833E58-C7C1-E1CA-8353-80DB496B2714}"/>
              </a:ext>
            </a:extLst>
          </p:cNvPr>
          <p:cNvSpPr>
            <a:spLocks noGrp="1"/>
          </p:cNvSpPr>
          <p:nvPr>
            <p:ph idx="1"/>
          </p:nvPr>
        </p:nvSpPr>
        <p:spPr/>
        <p:txBody>
          <a:bodyPr>
            <a:normAutofit fontScale="92500" lnSpcReduction="10000"/>
          </a:bodyPr>
          <a:lstStyle/>
          <a:p>
            <a:pPr algn="ctr"/>
            <a:r>
              <a:rPr lang="es-ES" sz="2800" b="1" dirty="0"/>
              <a:t>JAVA</a:t>
            </a:r>
          </a:p>
          <a:p>
            <a:pPr algn="just"/>
            <a:r>
              <a:rPr lang="es-ES" dirty="0"/>
              <a:t>Java es un lenguaje de programación de propósito general, orientado a objetos, que se ejecuta en una variedad de plataformas. Es conocido por su portabilidad, lo que significa que el código escrito en Java puede ejecutarse en diferentes sistemas operativos sin necesidad de ser modificado. Java es ampliamente utilizado para desarrollar aplicaciones web, software empresarial, aplicaciones móviles (como Android) y muchas otras. </a:t>
            </a:r>
          </a:p>
          <a:p>
            <a:pPr algn="ctr"/>
            <a:r>
              <a:rPr lang="es-ES" b="1" dirty="0"/>
              <a:t>¿Cómo funciona Java?</a:t>
            </a:r>
          </a:p>
          <a:p>
            <a:pPr algn="just"/>
            <a:r>
              <a:rPr lang="es-ES" dirty="0"/>
              <a:t>El código Java se compila en un formato llamado "</a:t>
            </a:r>
            <a:r>
              <a:rPr lang="es-ES" b="1" dirty="0" err="1"/>
              <a:t>bytecode</a:t>
            </a:r>
            <a:r>
              <a:rPr lang="es-ES" dirty="0"/>
              <a:t>", que es independiente del hardware y del sistema operativo. La JVM interpreta este </a:t>
            </a:r>
            <a:r>
              <a:rPr lang="es-ES" dirty="0" err="1"/>
              <a:t>bytecode</a:t>
            </a:r>
            <a:r>
              <a:rPr lang="es-ES" dirty="0"/>
              <a:t> y lo ejecuta en la plataforma específica donde se encuentra. Esta característica es la que permite </a:t>
            </a:r>
            <a:r>
              <a:rPr lang="es-ES" b="1" dirty="0"/>
              <a:t>la portabilidad de Java</a:t>
            </a:r>
            <a:r>
              <a:rPr lang="es-ES" dirty="0"/>
              <a:t>. Java Virtual Machine actúa como una capa de abstracción adicional entre la plataforma de Java y el hardware de la máquina subyacente. El código fuente de Java solo puede ejecutarse en aquellas máquinas en las que se haya instalado JVM. </a:t>
            </a:r>
          </a:p>
          <a:p>
            <a:endParaRPr lang="es-AR" dirty="0"/>
          </a:p>
        </p:txBody>
      </p:sp>
      <p:pic>
        <p:nvPicPr>
          <p:cNvPr id="4" name="Imagen 3">
            <a:extLst>
              <a:ext uri="{FF2B5EF4-FFF2-40B4-BE49-F238E27FC236}">
                <a16:creationId xmlns:a16="http://schemas.microsoft.com/office/drawing/2014/main" id="{C7DFE1DA-5EBF-16CD-7B2D-55D530F865A3}"/>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3F905AD7-A2D4-E08B-8780-F4ECD2BD8C6B}"/>
              </a:ext>
            </a:extLst>
          </p:cNvPr>
          <p:cNvSpPr>
            <a:spLocks noGrp="1"/>
          </p:cNvSpPr>
          <p:nvPr>
            <p:ph type="sldNum" sz="quarter" idx="12"/>
          </p:nvPr>
        </p:nvSpPr>
        <p:spPr/>
        <p:txBody>
          <a:bodyPr/>
          <a:lstStyle/>
          <a:p>
            <a:fld id="{6C8ECD1B-3F01-46F8-A46F-31A31EFC5ABF}" type="slidenum">
              <a:rPr lang="es-AR" smtClean="0"/>
              <a:t>32</a:t>
            </a:fld>
            <a:endParaRPr lang="es-AR"/>
          </a:p>
        </p:txBody>
      </p:sp>
    </p:spTree>
    <p:extLst>
      <p:ext uri="{BB962C8B-B14F-4D97-AF65-F5344CB8AC3E}">
        <p14:creationId xmlns:p14="http://schemas.microsoft.com/office/powerpoint/2010/main" val="25000229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1C195-2FDA-ABD3-2F06-6A73102439E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4FECB7F-1449-130A-9FAD-B87B72AA5438}"/>
              </a:ext>
            </a:extLst>
          </p:cNvPr>
          <p:cNvSpPr>
            <a:spLocks noGrp="1"/>
          </p:cNvSpPr>
          <p:nvPr>
            <p:ph type="title"/>
          </p:nvPr>
        </p:nvSpPr>
        <p:spPr/>
        <p:txBody>
          <a:bodyPr/>
          <a:lstStyle/>
          <a:p>
            <a:r>
              <a:rPr lang="es-AR" dirty="0"/>
              <a:t>Introducción al lenguaje Java</a:t>
            </a:r>
          </a:p>
        </p:txBody>
      </p:sp>
      <p:pic>
        <p:nvPicPr>
          <p:cNvPr id="4" name="Imagen 3">
            <a:extLst>
              <a:ext uri="{FF2B5EF4-FFF2-40B4-BE49-F238E27FC236}">
                <a16:creationId xmlns:a16="http://schemas.microsoft.com/office/drawing/2014/main" id="{2A2EFB78-9345-BB99-D7DE-B90BA3F26896}"/>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6BAA365A-8D37-D042-7DDE-F69C9C5387BC}"/>
              </a:ext>
            </a:extLst>
          </p:cNvPr>
          <p:cNvSpPr>
            <a:spLocks noGrp="1"/>
          </p:cNvSpPr>
          <p:nvPr>
            <p:ph type="sldNum" sz="quarter" idx="12"/>
          </p:nvPr>
        </p:nvSpPr>
        <p:spPr/>
        <p:txBody>
          <a:bodyPr/>
          <a:lstStyle/>
          <a:p>
            <a:fld id="{6C8ECD1B-3F01-46F8-A46F-31A31EFC5ABF}" type="slidenum">
              <a:rPr lang="es-AR" smtClean="0"/>
              <a:t>33</a:t>
            </a:fld>
            <a:endParaRPr lang="es-AR"/>
          </a:p>
        </p:txBody>
      </p:sp>
      <p:pic>
        <p:nvPicPr>
          <p:cNvPr id="1026" name="Picture 2" descr="La máquina virtual Java (JVM o Java Virtual Machine). Compilador e  intérprete. Bytecode. (CU00611B)">
            <a:extLst>
              <a:ext uri="{FF2B5EF4-FFF2-40B4-BE49-F238E27FC236}">
                <a16:creationId xmlns:a16="http://schemas.microsoft.com/office/drawing/2014/main" id="{2758258A-1FF8-05E0-6068-6821C569D7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7100" y="1737165"/>
            <a:ext cx="7480299" cy="4543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96748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976BD-D5DC-9CA7-1A7D-F925A11761D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4AE32E1-FD50-3A53-28B5-0B521EEA9C47}"/>
              </a:ext>
            </a:extLst>
          </p:cNvPr>
          <p:cNvSpPr>
            <a:spLocks noGrp="1"/>
          </p:cNvSpPr>
          <p:nvPr>
            <p:ph type="title"/>
          </p:nvPr>
        </p:nvSpPr>
        <p:spPr/>
        <p:txBody>
          <a:bodyPr/>
          <a:lstStyle/>
          <a:p>
            <a:pPr algn="ctr"/>
            <a:r>
              <a:rPr lang="es-ES" b="1" dirty="0"/>
              <a:t>JDK, JVM y JRE</a:t>
            </a:r>
          </a:p>
        </p:txBody>
      </p:sp>
      <p:sp>
        <p:nvSpPr>
          <p:cNvPr id="3" name="Marcador de contenido 2">
            <a:extLst>
              <a:ext uri="{FF2B5EF4-FFF2-40B4-BE49-F238E27FC236}">
                <a16:creationId xmlns:a16="http://schemas.microsoft.com/office/drawing/2014/main" id="{5BF3878C-14BB-61A0-2291-E93C1EC99242}"/>
              </a:ext>
            </a:extLst>
          </p:cNvPr>
          <p:cNvSpPr>
            <a:spLocks noGrp="1"/>
          </p:cNvSpPr>
          <p:nvPr>
            <p:ph idx="1"/>
          </p:nvPr>
        </p:nvSpPr>
        <p:spPr>
          <a:xfrm>
            <a:off x="1097280" y="1845734"/>
            <a:ext cx="10058400" cy="4351866"/>
          </a:xfrm>
        </p:spPr>
        <p:txBody>
          <a:bodyPr>
            <a:normAutofit fontScale="85000" lnSpcReduction="20000"/>
          </a:bodyPr>
          <a:lstStyle/>
          <a:p>
            <a:pPr algn="ctr"/>
            <a:r>
              <a:rPr lang="es-ES" sz="2800" b="1" dirty="0"/>
              <a:t>JDK, JVM y JRE</a:t>
            </a:r>
          </a:p>
          <a:p>
            <a:pPr algn="just"/>
            <a:r>
              <a:rPr lang="es-ES" dirty="0"/>
              <a:t>Para instalar JAVA se necesita instalar el “kit de desarrollo”. El entorno de desarrollo se denomina JDK (</a:t>
            </a:r>
            <a:r>
              <a:rPr lang="es-ES" b="1" dirty="0"/>
              <a:t>Java </a:t>
            </a:r>
            <a:r>
              <a:rPr lang="es-ES" b="1" dirty="0" err="1"/>
              <a:t>Development</a:t>
            </a:r>
            <a:r>
              <a:rPr lang="es-ES" b="1" dirty="0"/>
              <a:t> Kit</a:t>
            </a:r>
            <a:r>
              <a:rPr lang="es-ES" dirty="0"/>
              <a:t>)</a:t>
            </a:r>
            <a:r>
              <a:rPr lang="es-ES" b="1" dirty="0"/>
              <a:t> </a:t>
            </a:r>
            <a:r>
              <a:rPr lang="es-ES" dirty="0"/>
              <a:t>que involucra tanto la JVM (</a:t>
            </a:r>
            <a:r>
              <a:rPr lang="es-ES" b="1" dirty="0"/>
              <a:t>Java Virtual Machine</a:t>
            </a:r>
            <a:r>
              <a:rPr lang="es-ES" dirty="0"/>
              <a:t>) como también el JRE (</a:t>
            </a:r>
            <a:r>
              <a:rPr lang="es-ES" b="1" dirty="0"/>
              <a:t>Java </a:t>
            </a:r>
            <a:r>
              <a:rPr lang="es-ES" b="1" dirty="0" err="1"/>
              <a:t>Runtime</a:t>
            </a:r>
            <a:r>
              <a:rPr lang="es-ES" b="1" dirty="0"/>
              <a:t> </a:t>
            </a:r>
            <a:r>
              <a:rPr lang="es-ES" b="1" dirty="0" err="1"/>
              <a:t>Enviroment</a:t>
            </a:r>
            <a:r>
              <a:rPr lang="es-ES" dirty="0"/>
              <a:t>).</a:t>
            </a:r>
          </a:p>
          <a:p>
            <a:pPr algn="just"/>
            <a:r>
              <a:rPr lang="es-ES" dirty="0"/>
              <a:t>• JDK: Tiene muchas herramientas de desarrollo, como ser el compilador, el motor para hacer documentación, etc.</a:t>
            </a:r>
          </a:p>
          <a:p>
            <a:pPr algn="just"/>
            <a:r>
              <a:rPr lang="es-ES" dirty="0"/>
              <a:t>• JRE:   Sirve para ejecutar código Java, para correr programas Java.</a:t>
            </a:r>
          </a:p>
          <a:p>
            <a:pPr algn="just"/>
            <a:r>
              <a:rPr lang="es-ES" dirty="0"/>
              <a:t>• JVM:  Una máquina virtual corre entre el lenguaje y el SO. Cuando se escribe código Java no se compila a código de máquina. En C cuando se compila se hace en lenguaje de máquina; por ejemplo: Si tengo Linux, debo compilar en C para Linux (lo mismo sucedería en caso de Windows o Mac).</a:t>
            </a:r>
          </a:p>
          <a:p>
            <a:pPr algn="just"/>
            <a:r>
              <a:rPr lang="es-ES" dirty="0"/>
              <a:t>Con una máquina virtual, como es en el caso de Java (o </a:t>
            </a:r>
            <a:r>
              <a:rPr lang="es-ES" dirty="0" err="1"/>
              <a:t>.Net</a:t>
            </a:r>
            <a:r>
              <a:rPr lang="es-ES" dirty="0"/>
              <a:t> para el caso), cuando se compila, se hace para el lenguaje de la máquina virtual y no para lenguaje de máquina. Lo que se instala para diferentes plataformas es la máquina virtual. Cuando se instala Java, se está instala el JRE (y la JVM). El JRE sí se instala para Linux, Windows, Mac…. La máquina virtual es lo que cambia en cada plataforma. En cambio, el código, se compila una vez en cualquier plataforma y luego puede correr en cualquier máquina virtual de cualquier otra (</a:t>
            </a:r>
            <a:r>
              <a:rPr lang="es-ES" dirty="0" err="1"/>
              <a:t>Ej</a:t>
            </a:r>
            <a:r>
              <a:rPr lang="es-ES" dirty="0"/>
              <a:t>: escribo y compilo con un JDK en Windows, pero puedo corro el programa en un JRE para Linux)</a:t>
            </a:r>
            <a:endParaRPr lang="es-AR" dirty="0"/>
          </a:p>
        </p:txBody>
      </p:sp>
      <p:pic>
        <p:nvPicPr>
          <p:cNvPr id="4" name="Imagen 3">
            <a:extLst>
              <a:ext uri="{FF2B5EF4-FFF2-40B4-BE49-F238E27FC236}">
                <a16:creationId xmlns:a16="http://schemas.microsoft.com/office/drawing/2014/main" id="{B666B58E-5198-3F08-F0C6-C82233A11CA1}"/>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5351795E-4163-33A0-957B-AA7C39EE6823}"/>
              </a:ext>
            </a:extLst>
          </p:cNvPr>
          <p:cNvSpPr>
            <a:spLocks noGrp="1"/>
          </p:cNvSpPr>
          <p:nvPr>
            <p:ph type="sldNum" sz="quarter" idx="12"/>
          </p:nvPr>
        </p:nvSpPr>
        <p:spPr/>
        <p:txBody>
          <a:bodyPr/>
          <a:lstStyle/>
          <a:p>
            <a:fld id="{6C8ECD1B-3F01-46F8-A46F-31A31EFC5ABF}" type="slidenum">
              <a:rPr lang="es-AR" smtClean="0"/>
              <a:t>34</a:t>
            </a:fld>
            <a:endParaRPr lang="es-AR"/>
          </a:p>
        </p:txBody>
      </p:sp>
    </p:spTree>
    <p:extLst>
      <p:ext uri="{BB962C8B-B14F-4D97-AF65-F5344CB8AC3E}">
        <p14:creationId xmlns:p14="http://schemas.microsoft.com/office/powerpoint/2010/main" val="16314736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4DD5A-CF63-F42D-DFC5-CACEEE2F124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827E1DE-B7DC-9D9E-38E8-71704C7D254C}"/>
              </a:ext>
            </a:extLst>
          </p:cNvPr>
          <p:cNvSpPr>
            <a:spLocks noGrp="1"/>
          </p:cNvSpPr>
          <p:nvPr>
            <p:ph type="title"/>
          </p:nvPr>
        </p:nvSpPr>
        <p:spPr/>
        <p:txBody>
          <a:bodyPr/>
          <a:lstStyle/>
          <a:p>
            <a:pPr algn="ctr"/>
            <a:r>
              <a:rPr lang="es-ES" dirty="0"/>
              <a:t>JDK, JVM y JRE</a:t>
            </a:r>
            <a:endParaRPr lang="es-AR" dirty="0"/>
          </a:p>
        </p:txBody>
      </p:sp>
      <p:sp>
        <p:nvSpPr>
          <p:cNvPr id="3" name="Marcador de contenido 2">
            <a:extLst>
              <a:ext uri="{FF2B5EF4-FFF2-40B4-BE49-F238E27FC236}">
                <a16:creationId xmlns:a16="http://schemas.microsoft.com/office/drawing/2014/main" id="{3352A00C-1766-1B10-E455-FF841CE1D67B}"/>
              </a:ext>
            </a:extLst>
          </p:cNvPr>
          <p:cNvSpPr>
            <a:spLocks noGrp="1"/>
          </p:cNvSpPr>
          <p:nvPr>
            <p:ph idx="1"/>
          </p:nvPr>
        </p:nvSpPr>
        <p:spPr/>
        <p:txBody>
          <a:bodyPr/>
          <a:lstStyle/>
          <a:p>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9C672460-1151-3C3A-0823-8A6E56C3424A}"/>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8EF55BF7-930E-081B-FF9D-352176ADDCF2}"/>
              </a:ext>
            </a:extLst>
          </p:cNvPr>
          <p:cNvSpPr>
            <a:spLocks noGrp="1"/>
          </p:cNvSpPr>
          <p:nvPr>
            <p:ph type="sldNum" sz="quarter" idx="12"/>
          </p:nvPr>
        </p:nvSpPr>
        <p:spPr/>
        <p:txBody>
          <a:bodyPr/>
          <a:lstStyle/>
          <a:p>
            <a:fld id="{6C8ECD1B-3F01-46F8-A46F-31A31EFC5ABF}" type="slidenum">
              <a:rPr lang="es-AR" smtClean="0"/>
              <a:t>35</a:t>
            </a:fld>
            <a:endParaRPr lang="es-AR"/>
          </a:p>
        </p:txBody>
      </p:sp>
      <p:pic>
        <p:nvPicPr>
          <p:cNvPr id="7" name="Imagen 6">
            <a:extLst>
              <a:ext uri="{FF2B5EF4-FFF2-40B4-BE49-F238E27FC236}">
                <a16:creationId xmlns:a16="http://schemas.microsoft.com/office/drawing/2014/main" id="{68CFC659-DEF5-0744-BF78-DC8C9C8690E7}"/>
              </a:ext>
            </a:extLst>
          </p:cNvPr>
          <p:cNvPicPr>
            <a:picLocks noChangeAspect="1"/>
          </p:cNvPicPr>
          <p:nvPr/>
        </p:nvPicPr>
        <p:blipFill>
          <a:blip r:embed="rId3"/>
          <a:stretch>
            <a:fillRect/>
          </a:stretch>
        </p:blipFill>
        <p:spPr>
          <a:xfrm>
            <a:off x="1505997" y="1917856"/>
            <a:ext cx="9240965" cy="4183062"/>
          </a:xfrm>
          <a:prstGeom prst="rect">
            <a:avLst/>
          </a:prstGeom>
        </p:spPr>
      </p:pic>
    </p:spTree>
    <p:extLst>
      <p:ext uri="{BB962C8B-B14F-4D97-AF65-F5344CB8AC3E}">
        <p14:creationId xmlns:p14="http://schemas.microsoft.com/office/powerpoint/2010/main" val="18850174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D291C-FC3A-E533-D818-974C9BB4F90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1FDA96A-0E9B-F49E-5057-78A6DEEC1D50}"/>
              </a:ext>
            </a:extLst>
          </p:cNvPr>
          <p:cNvSpPr>
            <a:spLocks noGrp="1"/>
          </p:cNvSpPr>
          <p:nvPr>
            <p:ph type="title"/>
          </p:nvPr>
        </p:nvSpPr>
        <p:spPr/>
        <p:txBody>
          <a:bodyPr/>
          <a:lstStyle/>
          <a:p>
            <a:pPr algn="ctr"/>
            <a:r>
              <a:rPr lang="es-ES" dirty="0"/>
              <a:t>JDK, JVM y JRE</a:t>
            </a:r>
            <a:endParaRPr lang="es-AR" dirty="0"/>
          </a:p>
        </p:txBody>
      </p:sp>
      <p:sp>
        <p:nvSpPr>
          <p:cNvPr id="3" name="Marcador de contenido 2">
            <a:extLst>
              <a:ext uri="{FF2B5EF4-FFF2-40B4-BE49-F238E27FC236}">
                <a16:creationId xmlns:a16="http://schemas.microsoft.com/office/drawing/2014/main" id="{3F15984F-8C78-CA73-203C-98DE174B95CD}"/>
              </a:ext>
            </a:extLst>
          </p:cNvPr>
          <p:cNvSpPr>
            <a:spLocks noGrp="1"/>
          </p:cNvSpPr>
          <p:nvPr>
            <p:ph idx="1"/>
          </p:nvPr>
        </p:nvSpPr>
        <p:spPr/>
        <p:txBody>
          <a:bodyPr/>
          <a:lstStyle/>
          <a:p>
            <a:pPr algn="ctr"/>
            <a:r>
              <a:rPr lang="es-ES" b="1" dirty="0"/>
              <a:t>Procedimiento | Primera parte</a:t>
            </a:r>
          </a:p>
          <a:p>
            <a:pPr algn="just"/>
            <a:r>
              <a:rPr lang="es-ES" dirty="0"/>
              <a:t>• Lo primero que se hace es escribir el Archivo de código fuente. El código fuente consiste en instrucciones en lenguaje natural, en inglés.</a:t>
            </a:r>
          </a:p>
          <a:p>
            <a:pPr algn="just"/>
            <a:r>
              <a:rPr lang="es-ES" dirty="0"/>
              <a:t>• El código fuente se debe compilar. El compilador es una de las herramientas que tiene el JDK, con el cual se logra un código en </a:t>
            </a:r>
            <a:r>
              <a:rPr lang="es-ES" dirty="0" err="1"/>
              <a:t>Bytecode</a:t>
            </a:r>
            <a:r>
              <a:rPr lang="es-ES" dirty="0"/>
              <a:t>. El producto del compilador no es lo que la JVM ejecuta en forma directa. Tampoco es código de máquina.</a:t>
            </a:r>
          </a:p>
          <a:p>
            <a:pPr algn="just"/>
            <a:r>
              <a:rPr lang="es-ES" dirty="0"/>
              <a:t>• El archivo compilado que está en </a:t>
            </a:r>
            <a:r>
              <a:rPr lang="es-ES" dirty="0" err="1"/>
              <a:t>Bytecode</a:t>
            </a:r>
            <a:r>
              <a:rPr lang="es-ES" dirty="0"/>
              <a:t> es un archivo binario. La JVM no interpreta </a:t>
            </a:r>
            <a:r>
              <a:rPr lang="es-ES" dirty="0" err="1"/>
              <a:t>Bytecode</a:t>
            </a:r>
            <a:r>
              <a:rPr lang="es-ES" dirty="0"/>
              <a:t> directamente. Hay lenguajes que son interpretados (por ejemplo: PHP, Pearl) y otros que son compilados (por ejemplo: C). Java no es un lenguaje interpretado ni compilado.</a:t>
            </a:r>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BE54E2CF-529F-C77E-1E22-A667A876B445}"/>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1A5882BC-AAD6-0182-910F-6F2165711FCC}"/>
              </a:ext>
            </a:extLst>
          </p:cNvPr>
          <p:cNvSpPr>
            <a:spLocks noGrp="1"/>
          </p:cNvSpPr>
          <p:nvPr>
            <p:ph type="sldNum" sz="quarter" idx="12"/>
          </p:nvPr>
        </p:nvSpPr>
        <p:spPr/>
        <p:txBody>
          <a:bodyPr/>
          <a:lstStyle/>
          <a:p>
            <a:fld id="{6C8ECD1B-3F01-46F8-A46F-31A31EFC5ABF}" type="slidenum">
              <a:rPr lang="es-AR" smtClean="0"/>
              <a:t>36</a:t>
            </a:fld>
            <a:endParaRPr lang="es-AR"/>
          </a:p>
        </p:txBody>
      </p:sp>
    </p:spTree>
    <p:extLst>
      <p:ext uri="{BB962C8B-B14F-4D97-AF65-F5344CB8AC3E}">
        <p14:creationId xmlns:p14="http://schemas.microsoft.com/office/powerpoint/2010/main" val="19697741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086D3-4903-DBB8-ED5D-CBFE8ED2826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DD99897-6988-C613-1D87-15C2ABC5D597}"/>
              </a:ext>
            </a:extLst>
          </p:cNvPr>
          <p:cNvSpPr>
            <a:spLocks noGrp="1"/>
          </p:cNvSpPr>
          <p:nvPr>
            <p:ph type="title"/>
          </p:nvPr>
        </p:nvSpPr>
        <p:spPr/>
        <p:txBody>
          <a:bodyPr/>
          <a:lstStyle/>
          <a:p>
            <a:pPr algn="ctr"/>
            <a:r>
              <a:rPr lang="es-ES" dirty="0"/>
              <a:t>JDK, JVM y JRE</a:t>
            </a:r>
            <a:endParaRPr lang="es-AR" dirty="0"/>
          </a:p>
        </p:txBody>
      </p:sp>
      <p:sp>
        <p:nvSpPr>
          <p:cNvPr id="3" name="Marcador de contenido 2">
            <a:extLst>
              <a:ext uri="{FF2B5EF4-FFF2-40B4-BE49-F238E27FC236}">
                <a16:creationId xmlns:a16="http://schemas.microsoft.com/office/drawing/2014/main" id="{B5A08884-6A06-DF76-34A6-06F45B41C38D}"/>
              </a:ext>
            </a:extLst>
          </p:cNvPr>
          <p:cNvSpPr>
            <a:spLocks noGrp="1"/>
          </p:cNvSpPr>
          <p:nvPr>
            <p:ph idx="1"/>
          </p:nvPr>
        </p:nvSpPr>
        <p:spPr/>
        <p:txBody>
          <a:bodyPr/>
          <a:lstStyle/>
          <a:p>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EB9FED58-54F7-43C7-BCB5-283745E38A2E}"/>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C91C9BEE-596E-EDA6-49DD-43E4A4AA59DC}"/>
              </a:ext>
            </a:extLst>
          </p:cNvPr>
          <p:cNvSpPr>
            <a:spLocks noGrp="1"/>
          </p:cNvSpPr>
          <p:nvPr>
            <p:ph type="sldNum" sz="quarter" idx="12"/>
          </p:nvPr>
        </p:nvSpPr>
        <p:spPr/>
        <p:txBody>
          <a:bodyPr/>
          <a:lstStyle/>
          <a:p>
            <a:fld id="{6C8ECD1B-3F01-46F8-A46F-31A31EFC5ABF}" type="slidenum">
              <a:rPr lang="es-AR" smtClean="0"/>
              <a:t>37</a:t>
            </a:fld>
            <a:endParaRPr lang="es-AR"/>
          </a:p>
        </p:txBody>
      </p:sp>
      <p:pic>
        <p:nvPicPr>
          <p:cNvPr id="8" name="Imagen 7">
            <a:extLst>
              <a:ext uri="{FF2B5EF4-FFF2-40B4-BE49-F238E27FC236}">
                <a16:creationId xmlns:a16="http://schemas.microsoft.com/office/drawing/2014/main" id="{7E078E95-B4FC-2B29-146C-3C09AD859456}"/>
              </a:ext>
            </a:extLst>
          </p:cNvPr>
          <p:cNvPicPr>
            <a:picLocks noChangeAspect="1"/>
          </p:cNvPicPr>
          <p:nvPr/>
        </p:nvPicPr>
        <p:blipFill>
          <a:blip r:embed="rId3"/>
          <a:stretch>
            <a:fillRect/>
          </a:stretch>
        </p:blipFill>
        <p:spPr>
          <a:xfrm>
            <a:off x="1595437" y="1955472"/>
            <a:ext cx="9001125" cy="4145446"/>
          </a:xfrm>
          <a:prstGeom prst="rect">
            <a:avLst/>
          </a:prstGeom>
        </p:spPr>
      </p:pic>
    </p:spTree>
    <p:extLst>
      <p:ext uri="{BB962C8B-B14F-4D97-AF65-F5344CB8AC3E}">
        <p14:creationId xmlns:p14="http://schemas.microsoft.com/office/powerpoint/2010/main" val="1214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DDF4D-CFC8-B31A-DB37-9DDBE9DFF3B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1B44A31-3DD2-4BD1-114B-7C4E0EF4E084}"/>
              </a:ext>
            </a:extLst>
          </p:cNvPr>
          <p:cNvSpPr>
            <a:spLocks noGrp="1"/>
          </p:cNvSpPr>
          <p:nvPr>
            <p:ph type="title"/>
          </p:nvPr>
        </p:nvSpPr>
        <p:spPr/>
        <p:txBody>
          <a:bodyPr/>
          <a:lstStyle/>
          <a:p>
            <a:pPr algn="ctr"/>
            <a:r>
              <a:rPr lang="es-ES" dirty="0"/>
              <a:t>JDK, JVM y JRE</a:t>
            </a:r>
            <a:endParaRPr lang="es-AR" dirty="0"/>
          </a:p>
        </p:txBody>
      </p:sp>
      <p:sp>
        <p:nvSpPr>
          <p:cNvPr id="3" name="Marcador de contenido 2">
            <a:extLst>
              <a:ext uri="{FF2B5EF4-FFF2-40B4-BE49-F238E27FC236}">
                <a16:creationId xmlns:a16="http://schemas.microsoft.com/office/drawing/2014/main" id="{11BEF233-99C1-8D48-72A3-52B7D3AEBDAD}"/>
              </a:ext>
            </a:extLst>
          </p:cNvPr>
          <p:cNvSpPr>
            <a:spLocks noGrp="1"/>
          </p:cNvSpPr>
          <p:nvPr>
            <p:ph idx="1"/>
          </p:nvPr>
        </p:nvSpPr>
        <p:spPr>
          <a:xfrm>
            <a:off x="1097280" y="1845734"/>
            <a:ext cx="10058400" cy="4136070"/>
          </a:xfrm>
        </p:spPr>
        <p:txBody>
          <a:bodyPr>
            <a:normAutofit fontScale="92500" lnSpcReduction="10000"/>
          </a:bodyPr>
          <a:lstStyle/>
          <a:p>
            <a:pPr algn="ctr"/>
            <a:r>
              <a:rPr lang="es-ES" b="1" dirty="0"/>
              <a:t>Procedimiento | Segunda parte</a:t>
            </a:r>
          </a:p>
          <a:p>
            <a:pPr algn="just"/>
            <a:r>
              <a:rPr lang="es-ES" dirty="0"/>
              <a:t>• Cuando el programa se ejecuta, el JRE (Java </a:t>
            </a:r>
            <a:r>
              <a:rPr lang="es-ES" dirty="0" err="1"/>
              <a:t>Runtime</a:t>
            </a:r>
            <a:r>
              <a:rPr lang="es-ES" dirty="0"/>
              <a:t> </a:t>
            </a:r>
            <a:r>
              <a:rPr lang="es-ES" dirty="0" err="1"/>
              <a:t>Enviroment</a:t>
            </a:r>
            <a:r>
              <a:rPr lang="es-ES" dirty="0"/>
              <a:t>) toma los archivos en </a:t>
            </a:r>
            <a:r>
              <a:rPr lang="es-ES" dirty="0" err="1"/>
              <a:t>Bytecode</a:t>
            </a:r>
            <a:r>
              <a:rPr lang="es-ES" dirty="0"/>
              <a:t> y lo pasa por el JIT (Just In Time </a:t>
            </a:r>
            <a:r>
              <a:rPr lang="es-ES" dirty="0" err="1"/>
              <a:t>compiler</a:t>
            </a:r>
            <a:r>
              <a:rPr lang="es-ES" dirty="0"/>
              <a:t>), para entonces procesarlo y enviarlo al lenguaje que entiende la JVM (Java Virtual Machine).</a:t>
            </a:r>
          </a:p>
          <a:p>
            <a:pPr algn="just"/>
            <a:r>
              <a:rPr lang="es-ES" dirty="0"/>
              <a:t>• Una vez procesado se utiliza el módulo </a:t>
            </a:r>
            <a:r>
              <a:rPr lang="es-ES" dirty="0" err="1"/>
              <a:t>ClassLoader</a:t>
            </a:r>
            <a:r>
              <a:rPr lang="es-ES" dirty="0"/>
              <a:t>, el cual carga en memoria todo lo necesario para poder ejecutar el programa. El </a:t>
            </a:r>
            <a:r>
              <a:rPr lang="es-ES" dirty="0" err="1"/>
              <a:t>ClassLoader</a:t>
            </a:r>
            <a:r>
              <a:rPr lang="es-ES" dirty="0"/>
              <a:t> carga en memoria clases, objetos, etc. mediante el módulo de </a:t>
            </a:r>
            <a:r>
              <a:rPr lang="es-ES" dirty="0" err="1"/>
              <a:t>Memory</a:t>
            </a:r>
            <a:r>
              <a:rPr lang="es-ES" dirty="0"/>
              <a:t> Manager, este módulo se comunica tanto con la memoria física de la máquina, como con la plataforma si es que necesita paginar, etc.</a:t>
            </a:r>
          </a:p>
          <a:p>
            <a:pPr algn="just"/>
            <a:r>
              <a:rPr lang="es-ES" dirty="0"/>
              <a:t>• El </a:t>
            </a:r>
            <a:r>
              <a:rPr lang="es-ES" dirty="0" err="1"/>
              <a:t>Garbage</a:t>
            </a:r>
            <a:r>
              <a:rPr lang="es-ES" dirty="0"/>
              <a:t> </a:t>
            </a:r>
            <a:r>
              <a:rPr lang="es-ES" dirty="0" err="1"/>
              <a:t>Collector</a:t>
            </a:r>
            <a:r>
              <a:rPr lang="es-ES" dirty="0"/>
              <a:t>, a diferencia de C, administra la memoria, es decir, cuando una variable o referencia ya no se usa más, lo elimina automáticamente de la memoria. Entonces al haber una liberación automática de la memoria no hay que hacer una reserva previa (en Java no necesitamos </a:t>
            </a:r>
            <a:r>
              <a:rPr lang="es-ES" dirty="0" err="1"/>
              <a:t>malloc</a:t>
            </a:r>
            <a:r>
              <a:rPr lang="es-ES" dirty="0"/>
              <a:t> ni tampoco necesitamos liberar la memoria una vez utilizada)</a:t>
            </a:r>
          </a:p>
          <a:p>
            <a:pPr algn="just"/>
            <a:r>
              <a:rPr lang="es-ES" dirty="0"/>
              <a:t>• Por último, está el </a:t>
            </a:r>
            <a:r>
              <a:rPr lang="es-ES" dirty="0" err="1"/>
              <a:t>Exception</a:t>
            </a:r>
            <a:r>
              <a:rPr lang="es-ES" dirty="0"/>
              <a:t> </a:t>
            </a:r>
            <a:r>
              <a:rPr lang="es-ES" dirty="0" err="1"/>
              <a:t>Handler</a:t>
            </a:r>
            <a:r>
              <a:rPr lang="es-ES" dirty="0"/>
              <a:t>, es un módulo que lo que hace es manejar los posibles errores que puedan llegar a lanzarse durante la ejecución del programa.</a:t>
            </a:r>
            <a:endParaRPr lang="es-AR" dirty="0"/>
          </a:p>
        </p:txBody>
      </p:sp>
      <p:pic>
        <p:nvPicPr>
          <p:cNvPr id="4" name="Imagen 3">
            <a:extLst>
              <a:ext uri="{FF2B5EF4-FFF2-40B4-BE49-F238E27FC236}">
                <a16:creationId xmlns:a16="http://schemas.microsoft.com/office/drawing/2014/main" id="{5AFE8EAE-D13C-E9B4-0B7D-21D6DB8E6164}"/>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E37AC43E-EEE8-19B1-BFA0-E3743CB3ADD0}"/>
              </a:ext>
            </a:extLst>
          </p:cNvPr>
          <p:cNvSpPr>
            <a:spLocks noGrp="1"/>
          </p:cNvSpPr>
          <p:nvPr>
            <p:ph type="sldNum" sz="quarter" idx="12"/>
          </p:nvPr>
        </p:nvSpPr>
        <p:spPr/>
        <p:txBody>
          <a:bodyPr/>
          <a:lstStyle/>
          <a:p>
            <a:fld id="{6C8ECD1B-3F01-46F8-A46F-31A31EFC5ABF}" type="slidenum">
              <a:rPr lang="es-AR" smtClean="0"/>
              <a:t>38</a:t>
            </a:fld>
            <a:endParaRPr lang="es-AR"/>
          </a:p>
        </p:txBody>
      </p:sp>
    </p:spTree>
    <p:extLst>
      <p:ext uri="{BB962C8B-B14F-4D97-AF65-F5344CB8AC3E}">
        <p14:creationId xmlns:p14="http://schemas.microsoft.com/office/powerpoint/2010/main" val="19102196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75D0E-165D-D255-803C-B1B3C60ACB1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BF4EF72-2DB5-67EC-D038-BCAF80F7D179}"/>
              </a:ext>
            </a:extLst>
          </p:cNvPr>
          <p:cNvSpPr>
            <a:spLocks noGrp="1"/>
          </p:cNvSpPr>
          <p:nvPr>
            <p:ph type="title"/>
          </p:nvPr>
        </p:nvSpPr>
        <p:spPr/>
        <p:txBody>
          <a:bodyPr/>
          <a:lstStyle/>
          <a:p>
            <a:pPr algn="ctr"/>
            <a:r>
              <a:rPr lang="es-ES" dirty="0"/>
              <a:t>JDK, JVM y JRE</a:t>
            </a:r>
            <a:endParaRPr lang="es-AR" dirty="0"/>
          </a:p>
        </p:txBody>
      </p:sp>
      <p:sp>
        <p:nvSpPr>
          <p:cNvPr id="3" name="Marcador de contenido 2">
            <a:extLst>
              <a:ext uri="{FF2B5EF4-FFF2-40B4-BE49-F238E27FC236}">
                <a16:creationId xmlns:a16="http://schemas.microsoft.com/office/drawing/2014/main" id="{D56DD2AD-DA88-26BB-E993-401D5E739536}"/>
              </a:ext>
            </a:extLst>
          </p:cNvPr>
          <p:cNvSpPr>
            <a:spLocks noGrp="1"/>
          </p:cNvSpPr>
          <p:nvPr>
            <p:ph idx="1"/>
          </p:nvPr>
        </p:nvSpPr>
        <p:spPr/>
        <p:txBody>
          <a:bodyPr/>
          <a:lstStyle/>
          <a:p>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B9629546-BADC-A3C4-E66B-83E5E052F0F1}"/>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3487AA82-3DD1-18D9-B44A-A1A27D02A6F4}"/>
              </a:ext>
            </a:extLst>
          </p:cNvPr>
          <p:cNvSpPr>
            <a:spLocks noGrp="1"/>
          </p:cNvSpPr>
          <p:nvPr>
            <p:ph type="sldNum" sz="quarter" idx="12"/>
          </p:nvPr>
        </p:nvSpPr>
        <p:spPr/>
        <p:txBody>
          <a:bodyPr/>
          <a:lstStyle/>
          <a:p>
            <a:fld id="{6C8ECD1B-3F01-46F8-A46F-31A31EFC5ABF}" type="slidenum">
              <a:rPr lang="es-AR" smtClean="0"/>
              <a:t>39</a:t>
            </a:fld>
            <a:endParaRPr lang="es-AR"/>
          </a:p>
        </p:txBody>
      </p:sp>
      <p:pic>
        <p:nvPicPr>
          <p:cNvPr id="8" name="Imagen 7">
            <a:extLst>
              <a:ext uri="{FF2B5EF4-FFF2-40B4-BE49-F238E27FC236}">
                <a16:creationId xmlns:a16="http://schemas.microsoft.com/office/drawing/2014/main" id="{53244BF6-6F14-7857-BF68-03D47096F39A}"/>
              </a:ext>
            </a:extLst>
          </p:cNvPr>
          <p:cNvPicPr>
            <a:picLocks noChangeAspect="1"/>
          </p:cNvPicPr>
          <p:nvPr/>
        </p:nvPicPr>
        <p:blipFill>
          <a:blip r:embed="rId3"/>
          <a:stretch>
            <a:fillRect/>
          </a:stretch>
        </p:blipFill>
        <p:spPr>
          <a:xfrm>
            <a:off x="1607344" y="1998034"/>
            <a:ext cx="8977312" cy="4102884"/>
          </a:xfrm>
          <a:prstGeom prst="rect">
            <a:avLst/>
          </a:prstGeom>
        </p:spPr>
      </p:pic>
    </p:spTree>
    <p:extLst>
      <p:ext uri="{BB962C8B-B14F-4D97-AF65-F5344CB8AC3E}">
        <p14:creationId xmlns:p14="http://schemas.microsoft.com/office/powerpoint/2010/main" val="25037213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A2A40-B775-1D92-2EED-2DE01B253C9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3C963A7-3B3C-A5EA-B9E0-A43B7A5314A9}"/>
              </a:ext>
            </a:extLst>
          </p:cNvPr>
          <p:cNvSpPr>
            <a:spLocks noGrp="1"/>
          </p:cNvSpPr>
          <p:nvPr>
            <p:ph type="title"/>
          </p:nvPr>
        </p:nvSpPr>
        <p:spPr/>
        <p:txBody>
          <a:bodyPr/>
          <a:lstStyle/>
          <a:p>
            <a:pPr algn="ctr"/>
            <a:r>
              <a:rPr lang="es-ES" dirty="0"/>
              <a:t>JDK, JVM y JRE</a:t>
            </a:r>
            <a:endParaRPr lang="es-AR" dirty="0"/>
          </a:p>
        </p:txBody>
      </p:sp>
      <p:sp>
        <p:nvSpPr>
          <p:cNvPr id="3" name="Marcador de contenido 2">
            <a:extLst>
              <a:ext uri="{FF2B5EF4-FFF2-40B4-BE49-F238E27FC236}">
                <a16:creationId xmlns:a16="http://schemas.microsoft.com/office/drawing/2014/main" id="{C7B1D547-3982-FE63-B32B-4971C8E36C19}"/>
              </a:ext>
            </a:extLst>
          </p:cNvPr>
          <p:cNvSpPr>
            <a:spLocks noGrp="1"/>
          </p:cNvSpPr>
          <p:nvPr>
            <p:ph idx="1"/>
          </p:nvPr>
        </p:nvSpPr>
        <p:spPr>
          <a:xfrm>
            <a:off x="1097280" y="1845734"/>
            <a:ext cx="10058400" cy="4136070"/>
          </a:xfrm>
        </p:spPr>
        <p:txBody>
          <a:bodyPr>
            <a:normAutofit fontScale="92500" lnSpcReduction="10000"/>
          </a:bodyPr>
          <a:lstStyle/>
          <a:p>
            <a:pPr algn="ctr"/>
            <a:r>
              <a:rPr lang="es-ES" b="1" dirty="0"/>
              <a:t>Procedimiento | Tercera parte</a:t>
            </a:r>
          </a:p>
          <a:p>
            <a:pPr algn="just"/>
            <a:r>
              <a:rPr lang="es-ES" dirty="0"/>
              <a:t>• El </a:t>
            </a:r>
            <a:r>
              <a:rPr lang="es-ES" dirty="0" err="1"/>
              <a:t>ClassLoader</a:t>
            </a:r>
            <a:r>
              <a:rPr lang="es-ES" dirty="0"/>
              <a:t> hace uso del </a:t>
            </a:r>
            <a:r>
              <a:rPr lang="es-ES" dirty="0" err="1"/>
              <a:t>Memory</a:t>
            </a:r>
            <a:r>
              <a:rPr lang="es-ES" dirty="0"/>
              <a:t> Manager para acceder a la memoria RAM de la computadora. JAVA es un lenguaje que utiliza una Virtual Machine. Es ésta la que usa la memoria física, pero nuestro programa no usa memoria física, sino que usa un área de memoria que la VM administra.</a:t>
            </a:r>
          </a:p>
          <a:p>
            <a:pPr algn="just"/>
            <a:r>
              <a:rPr lang="es-ES" dirty="0"/>
              <a:t>• La JVM reserva una cantidad física de memoria para poder funcionar. Esa memoria está dividida en 3 partes fundamentales: 1. HEAP, como la palabra lo dice, es el “montón” de objetos y demás datos que están ejecutándose en un momento determinado; 2. el área de STACK que maneja la pila de llamadas, es decir, cuando una función llama a otra y le pasa argumentos (y llama a otra que le pasa otros argumentos y así sucesivamente…), no sólo se va</a:t>
            </a:r>
          </a:p>
          <a:p>
            <a:pPr algn="just"/>
            <a:r>
              <a:rPr lang="es-ES" dirty="0"/>
              <a:t>almacenando qué función llama a qué otra función sino también los argumentos que se van pasando entre funciones y los valores retornados por cada una. Y, por último, 3. el área de CLASS que es responsables de manejar los valores de variables que son “de Clase” o también llamados “estáticos”.</a:t>
            </a:r>
          </a:p>
          <a:p>
            <a:pPr algn="just"/>
            <a:r>
              <a:rPr lang="es-ES" dirty="0"/>
              <a:t>• El JRE junto con la JVM interactúan con el disco rígido (u otros recursos) o con el SO, con la plataforma. El programa nunca interactuará los recursos directamente, siempre mediante VM.</a:t>
            </a:r>
            <a:endParaRPr lang="es-AR" dirty="0"/>
          </a:p>
        </p:txBody>
      </p:sp>
      <p:pic>
        <p:nvPicPr>
          <p:cNvPr id="4" name="Imagen 3">
            <a:extLst>
              <a:ext uri="{FF2B5EF4-FFF2-40B4-BE49-F238E27FC236}">
                <a16:creationId xmlns:a16="http://schemas.microsoft.com/office/drawing/2014/main" id="{67FF4384-330A-690B-3671-B6A89D9CE699}"/>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538143D8-7A3A-8C22-EF04-C4378183825B}"/>
              </a:ext>
            </a:extLst>
          </p:cNvPr>
          <p:cNvSpPr>
            <a:spLocks noGrp="1"/>
          </p:cNvSpPr>
          <p:nvPr>
            <p:ph type="sldNum" sz="quarter" idx="12"/>
          </p:nvPr>
        </p:nvSpPr>
        <p:spPr/>
        <p:txBody>
          <a:bodyPr/>
          <a:lstStyle/>
          <a:p>
            <a:fld id="{6C8ECD1B-3F01-46F8-A46F-31A31EFC5ABF}" type="slidenum">
              <a:rPr lang="es-AR" smtClean="0"/>
              <a:t>40</a:t>
            </a:fld>
            <a:endParaRPr lang="es-AR"/>
          </a:p>
        </p:txBody>
      </p:sp>
    </p:spTree>
    <p:extLst>
      <p:ext uri="{BB962C8B-B14F-4D97-AF65-F5344CB8AC3E}">
        <p14:creationId xmlns:p14="http://schemas.microsoft.com/office/powerpoint/2010/main" val="19391594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44CB3-31DF-8828-3DB6-3261D74F75F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D69DB36-1DF6-9BE2-DDDB-1C93E9754A59}"/>
              </a:ext>
            </a:extLst>
          </p:cNvPr>
          <p:cNvSpPr>
            <a:spLocks noGrp="1"/>
          </p:cNvSpPr>
          <p:nvPr>
            <p:ph type="title"/>
          </p:nvPr>
        </p:nvSpPr>
        <p:spPr/>
        <p:txBody>
          <a:bodyPr/>
          <a:lstStyle/>
          <a:p>
            <a:r>
              <a:rPr lang="es-AR" dirty="0"/>
              <a:t>Ejecución en  Java</a:t>
            </a:r>
          </a:p>
        </p:txBody>
      </p:sp>
      <p:pic>
        <p:nvPicPr>
          <p:cNvPr id="4" name="Imagen 3">
            <a:extLst>
              <a:ext uri="{FF2B5EF4-FFF2-40B4-BE49-F238E27FC236}">
                <a16:creationId xmlns:a16="http://schemas.microsoft.com/office/drawing/2014/main" id="{15D66757-0BC1-7325-4628-AEF677F5806A}"/>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C73BCA65-E754-132A-DD72-9B132E0B1E65}"/>
              </a:ext>
            </a:extLst>
          </p:cNvPr>
          <p:cNvSpPr>
            <a:spLocks noGrp="1"/>
          </p:cNvSpPr>
          <p:nvPr>
            <p:ph type="sldNum" sz="quarter" idx="12"/>
          </p:nvPr>
        </p:nvSpPr>
        <p:spPr/>
        <p:txBody>
          <a:bodyPr/>
          <a:lstStyle/>
          <a:p>
            <a:fld id="{6C8ECD1B-3F01-46F8-A46F-31A31EFC5ABF}" type="slidenum">
              <a:rPr lang="es-AR" smtClean="0"/>
              <a:t>41</a:t>
            </a:fld>
            <a:endParaRPr lang="es-AR"/>
          </a:p>
        </p:txBody>
      </p:sp>
      <p:pic>
        <p:nvPicPr>
          <p:cNvPr id="1026" name="Picture 2" descr="La máquina virtual Java (JVM o Java Virtual Machine). Compilador e  intérprete. Bytecode. (CU00611B)">
            <a:extLst>
              <a:ext uri="{FF2B5EF4-FFF2-40B4-BE49-F238E27FC236}">
                <a16:creationId xmlns:a16="http://schemas.microsoft.com/office/drawing/2014/main" id="{CAC1F831-680F-70DB-19AB-75D4043073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7100" y="1737165"/>
            <a:ext cx="7480299" cy="4543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99211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3A1E8-8078-CAEB-A5BE-47C36F89A75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C93089F-139F-EF18-4E67-81284250F04B}"/>
              </a:ext>
            </a:extLst>
          </p:cNvPr>
          <p:cNvSpPr>
            <a:spLocks noGrp="1"/>
          </p:cNvSpPr>
          <p:nvPr>
            <p:ph type="title"/>
          </p:nvPr>
        </p:nvSpPr>
        <p:spPr/>
        <p:txBody>
          <a:bodyPr/>
          <a:lstStyle/>
          <a:p>
            <a:r>
              <a:rPr lang="es-AR" dirty="0" err="1"/>
              <a:t>Classpath</a:t>
            </a:r>
            <a:endParaRPr lang="es-AR" dirty="0"/>
          </a:p>
        </p:txBody>
      </p:sp>
      <p:sp>
        <p:nvSpPr>
          <p:cNvPr id="3" name="Marcador de contenido 2">
            <a:extLst>
              <a:ext uri="{FF2B5EF4-FFF2-40B4-BE49-F238E27FC236}">
                <a16:creationId xmlns:a16="http://schemas.microsoft.com/office/drawing/2014/main" id="{7CF074AE-6603-4FA0-994F-6FBC2DAF7F88}"/>
              </a:ext>
            </a:extLst>
          </p:cNvPr>
          <p:cNvSpPr>
            <a:spLocks noGrp="1"/>
          </p:cNvSpPr>
          <p:nvPr>
            <p:ph idx="1"/>
          </p:nvPr>
        </p:nvSpPr>
        <p:spPr/>
        <p:txBody>
          <a:bodyPr>
            <a:normAutofit/>
          </a:bodyPr>
          <a:lstStyle/>
          <a:p>
            <a:endParaRPr lang="es-AR" dirty="0"/>
          </a:p>
          <a:p>
            <a:pPr marL="0" indent="0" algn="just">
              <a:buNone/>
            </a:pPr>
            <a:r>
              <a:rPr lang="es-ES" dirty="0"/>
              <a:t>Es el espacio definido en el SO, accedido por el JRE donde se encontrarán todas las librerías del lenguaje para que pueda ejecutar la JVM, funcionar el JRE y ejecutarse nuestros programas. Cualquier librería de utilidades que necesitamos agregar a nuestras aplicaciones (</a:t>
            </a:r>
            <a:r>
              <a:rPr lang="es-ES" dirty="0" err="1"/>
              <a:t>frameworks</a:t>
            </a:r>
            <a:r>
              <a:rPr lang="es-ES" dirty="0"/>
              <a:t> web, utilidades de audio, librerías de estadísticas, </a:t>
            </a:r>
            <a:r>
              <a:rPr lang="es-ES" dirty="0" err="1"/>
              <a:t>frameworks</a:t>
            </a:r>
            <a:r>
              <a:rPr lang="es-ES" dirty="0"/>
              <a:t> de persistencia, controladores de bases de datos, etc., etc.)</a:t>
            </a:r>
            <a:endParaRPr lang="es-AR" dirty="0"/>
          </a:p>
          <a:p>
            <a:pPr marL="0" indent="0" algn="just">
              <a:buNone/>
            </a:pPr>
            <a:r>
              <a:rPr lang="es-ES" dirty="0"/>
              <a:t>CLASSPATH es una variable de entorno del SO que tenemos que establecer para ejecutar nuestros programas Java. Por defecto el valor de esta variable es el “directorio actual”.  Por lo tanto, podríamos hacerla “apuntar” a un directorio donde tenemos todas las librerías y listo. Normalmente esto no es muy práctico y existen un montón de herramientas para solucionar este problema. Los IDE por lo general manejan el CLASSPATH por nosotros.</a:t>
            </a:r>
            <a:endParaRPr lang="es-AR" dirty="0"/>
          </a:p>
        </p:txBody>
      </p:sp>
      <p:pic>
        <p:nvPicPr>
          <p:cNvPr id="4" name="Imagen 3">
            <a:extLst>
              <a:ext uri="{FF2B5EF4-FFF2-40B4-BE49-F238E27FC236}">
                <a16:creationId xmlns:a16="http://schemas.microsoft.com/office/drawing/2014/main" id="{A0DF6BE8-8DFA-DE2B-E8B5-2E6D2CE274EE}"/>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9BE6FF05-A5AE-8444-484A-5B438966DE43}"/>
              </a:ext>
            </a:extLst>
          </p:cNvPr>
          <p:cNvSpPr>
            <a:spLocks noGrp="1"/>
          </p:cNvSpPr>
          <p:nvPr>
            <p:ph type="sldNum" sz="quarter" idx="12"/>
          </p:nvPr>
        </p:nvSpPr>
        <p:spPr/>
        <p:txBody>
          <a:bodyPr/>
          <a:lstStyle/>
          <a:p>
            <a:fld id="{6C8ECD1B-3F01-46F8-A46F-31A31EFC5ABF}" type="slidenum">
              <a:rPr lang="es-AR" smtClean="0"/>
              <a:t>42</a:t>
            </a:fld>
            <a:endParaRPr lang="es-AR"/>
          </a:p>
        </p:txBody>
      </p:sp>
    </p:spTree>
    <p:extLst>
      <p:ext uri="{BB962C8B-B14F-4D97-AF65-F5344CB8AC3E}">
        <p14:creationId xmlns:p14="http://schemas.microsoft.com/office/powerpoint/2010/main" val="12230565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29B02-6DC9-4B9C-3027-CE552B13669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0C14C14-3405-0F03-DDDE-A087DCEF6534}"/>
              </a:ext>
            </a:extLst>
          </p:cNvPr>
          <p:cNvSpPr>
            <a:spLocks noGrp="1"/>
          </p:cNvSpPr>
          <p:nvPr>
            <p:ph type="title"/>
          </p:nvPr>
        </p:nvSpPr>
        <p:spPr/>
        <p:txBody>
          <a:bodyPr/>
          <a:lstStyle/>
          <a:p>
            <a:r>
              <a:rPr lang="es-AR" dirty="0"/>
              <a:t>Uso de convenciones de nomenclatura</a:t>
            </a:r>
          </a:p>
        </p:txBody>
      </p:sp>
      <p:sp>
        <p:nvSpPr>
          <p:cNvPr id="3" name="Marcador de contenido 2">
            <a:extLst>
              <a:ext uri="{FF2B5EF4-FFF2-40B4-BE49-F238E27FC236}">
                <a16:creationId xmlns:a16="http://schemas.microsoft.com/office/drawing/2014/main" id="{887C1A36-D64E-7707-447C-F2915268D156}"/>
              </a:ext>
            </a:extLst>
          </p:cNvPr>
          <p:cNvSpPr>
            <a:spLocks noGrp="1"/>
          </p:cNvSpPr>
          <p:nvPr>
            <p:ph idx="1"/>
          </p:nvPr>
        </p:nvSpPr>
        <p:spPr/>
        <p:txBody>
          <a:bodyPr>
            <a:normAutofit/>
          </a:bodyPr>
          <a:lstStyle/>
          <a:p>
            <a:pPr marL="0" indent="0" algn="ctr">
              <a:buNone/>
            </a:pPr>
            <a:r>
              <a:rPr lang="es-ES" b="1" dirty="0"/>
              <a:t>“SI UN NOMBRE REQUIERE UN COMENTARIO PARA DESCRIBIRSE A SÍ MISMO, ENTONCES EL NOMBRE NO SE EXPLICA POR SÍ MISMO</a:t>
            </a:r>
            <a:r>
              <a:rPr lang="es-ES" dirty="0"/>
              <a:t>.”</a:t>
            </a:r>
            <a:endParaRPr lang="es-AR" dirty="0"/>
          </a:p>
          <a:p>
            <a:pPr marL="0" indent="0" algn="just">
              <a:buNone/>
            </a:pPr>
            <a:r>
              <a:rPr lang="es-ES" b="1" dirty="0" err="1"/>
              <a:t>Autoexplicativo</a:t>
            </a:r>
            <a:r>
              <a:rPr lang="es-ES" dirty="0"/>
              <a:t>: Un nombre debe revelar su intención para que todos puedan entender y cambiar el código fácilmente. Por ejemplo, los nombres d o </a:t>
            </a:r>
            <a:r>
              <a:rPr lang="es-ES" dirty="0" err="1"/>
              <a:t>str</a:t>
            </a:r>
            <a:r>
              <a:rPr lang="es-ES" dirty="0"/>
              <a:t> no revelan nada; sin embargo, los nombres </a:t>
            </a:r>
            <a:r>
              <a:rPr lang="es-ES" dirty="0" err="1"/>
              <a:t>daysToExpire</a:t>
            </a:r>
            <a:r>
              <a:rPr lang="es-ES" dirty="0"/>
              <a:t> o </a:t>
            </a:r>
            <a:r>
              <a:rPr lang="es-ES" dirty="0" err="1"/>
              <a:t>inputText</a:t>
            </a:r>
            <a:r>
              <a:rPr lang="es-ES" dirty="0"/>
              <a:t> revelan claramente su intención. Si un nombre requiere un comentario para describirse a sí mismo, entonces el nombre no se explica por sí mismo.</a:t>
            </a:r>
          </a:p>
          <a:p>
            <a:pPr marL="0" indent="0" algn="just">
              <a:buNone/>
            </a:pPr>
            <a:r>
              <a:rPr lang="es-ES" b="1" dirty="0"/>
              <a:t>Distinciones significativas</a:t>
            </a:r>
            <a:r>
              <a:rPr lang="es-ES" dirty="0"/>
              <a:t>:  Si los nombres deben ser diferentes, también deberían significar algo diferente. Por ejemplo, los nombres a1 y a2 son distinciones sin sentido; y los nombres fuente y destino son distinciones significativas</a:t>
            </a:r>
          </a:p>
          <a:p>
            <a:pPr marL="0" indent="0" algn="just">
              <a:buNone/>
            </a:pPr>
            <a:r>
              <a:rPr lang="es-ES" b="1" dirty="0"/>
              <a:t>Pronunciable: </a:t>
            </a:r>
            <a:r>
              <a:rPr lang="es-ES" dirty="0"/>
              <a:t>Los nombres deben ser pronunciables tan naturalmente como el lenguaje hablado porque somos humanos, muy buenos con las palabras. Por ejemplo, ¿qué nombre puede pronunciar y recordar fácilmente: </a:t>
            </a:r>
            <a:r>
              <a:rPr lang="es-ES" dirty="0" err="1"/>
              <a:t>genStamp</a:t>
            </a:r>
            <a:r>
              <a:rPr lang="es-ES" dirty="0"/>
              <a:t> o </a:t>
            </a:r>
            <a:r>
              <a:rPr lang="es-ES" dirty="0" err="1"/>
              <a:t>generationTimestamp</a:t>
            </a:r>
            <a:r>
              <a:rPr lang="es-ES" dirty="0"/>
              <a:t> ?</a:t>
            </a:r>
            <a:endParaRPr lang="es-AR" dirty="0"/>
          </a:p>
        </p:txBody>
      </p:sp>
      <p:pic>
        <p:nvPicPr>
          <p:cNvPr id="4" name="Imagen 3">
            <a:extLst>
              <a:ext uri="{FF2B5EF4-FFF2-40B4-BE49-F238E27FC236}">
                <a16:creationId xmlns:a16="http://schemas.microsoft.com/office/drawing/2014/main" id="{5A597F58-5D25-C08A-588C-37439308F149}"/>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C6263A42-81D2-D6B1-773A-7571D0A3CEC8}"/>
              </a:ext>
            </a:extLst>
          </p:cNvPr>
          <p:cNvSpPr>
            <a:spLocks noGrp="1"/>
          </p:cNvSpPr>
          <p:nvPr>
            <p:ph type="sldNum" sz="quarter" idx="12"/>
          </p:nvPr>
        </p:nvSpPr>
        <p:spPr/>
        <p:txBody>
          <a:bodyPr/>
          <a:lstStyle/>
          <a:p>
            <a:fld id="{6C8ECD1B-3F01-46F8-A46F-31A31EFC5ABF}" type="slidenum">
              <a:rPr lang="es-AR" smtClean="0"/>
              <a:t>43</a:t>
            </a:fld>
            <a:endParaRPr lang="es-AR"/>
          </a:p>
        </p:txBody>
      </p:sp>
    </p:spTree>
    <p:extLst>
      <p:ext uri="{BB962C8B-B14F-4D97-AF65-F5344CB8AC3E}">
        <p14:creationId xmlns:p14="http://schemas.microsoft.com/office/powerpoint/2010/main" val="495624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40E19-F2D0-C009-A5C5-53ED2BF0F3A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EFE11ED-41F1-6D35-19F1-B640DDA0FD01}"/>
              </a:ext>
            </a:extLst>
          </p:cNvPr>
          <p:cNvSpPr>
            <a:spLocks noGrp="1"/>
          </p:cNvSpPr>
          <p:nvPr>
            <p:ph type="title"/>
          </p:nvPr>
        </p:nvSpPr>
        <p:spPr/>
        <p:txBody>
          <a:bodyPr/>
          <a:lstStyle/>
          <a:p>
            <a:r>
              <a:rPr lang="es-AR" dirty="0"/>
              <a:t>Uso de convenciones de nomenclatura</a:t>
            </a:r>
          </a:p>
        </p:txBody>
      </p:sp>
      <p:sp>
        <p:nvSpPr>
          <p:cNvPr id="3" name="Marcador de contenido 2">
            <a:extLst>
              <a:ext uri="{FF2B5EF4-FFF2-40B4-BE49-F238E27FC236}">
                <a16:creationId xmlns:a16="http://schemas.microsoft.com/office/drawing/2014/main" id="{271F8269-37F2-C4E8-90C2-308309CECF8B}"/>
              </a:ext>
            </a:extLst>
          </p:cNvPr>
          <p:cNvSpPr>
            <a:spLocks noGrp="1"/>
          </p:cNvSpPr>
          <p:nvPr>
            <p:ph idx="1"/>
          </p:nvPr>
        </p:nvSpPr>
        <p:spPr/>
        <p:txBody>
          <a:bodyPr>
            <a:normAutofit/>
          </a:bodyPr>
          <a:lstStyle/>
          <a:p>
            <a:pPr marL="0" indent="0">
              <a:buNone/>
            </a:pPr>
            <a:r>
              <a:rPr lang="es-ES" dirty="0"/>
              <a:t>Ejemplos:</a:t>
            </a:r>
          </a:p>
          <a:p>
            <a:pPr marL="0" indent="0" algn="just">
              <a:buNone/>
            </a:pPr>
            <a:r>
              <a:rPr lang="es-ES" dirty="0"/>
              <a:t>• Los nombres de clase e interfaz deben ser sustantivos, comenzando con una letra mayúscula. Por ejemplo: Estudiante , Automóvil , Rectángulo , Pintor , etc. </a:t>
            </a:r>
          </a:p>
          <a:p>
            <a:pPr marL="0" indent="0" algn="just">
              <a:buNone/>
            </a:pPr>
            <a:r>
              <a:rPr lang="es-ES" dirty="0"/>
              <a:t>• Los nombres de las variables deben ser sustantivos, comenzando con una letra minúscula. Por ejemplo: número , </a:t>
            </a:r>
            <a:r>
              <a:rPr lang="es-ES" dirty="0" err="1"/>
              <a:t>contadorPersona</a:t>
            </a:r>
            <a:r>
              <a:rPr lang="es-ES" dirty="0"/>
              <a:t> , </a:t>
            </a:r>
            <a:r>
              <a:rPr lang="es-ES" dirty="0" err="1"/>
              <a:t>cumpleaño</a:t>
            </a:r>
            <a:r>
              <a:rPr lang="es-ES" dirty="0"/>
              <a:t> , </a:t>
            </a:r>
            <a:r>
              <a:rPr lang="es-ES" dirty="0" err="1"/>
              <a:t>géneroPersona</a:t>
            </a:r>
            <a:r>
              <a:rPr lang="es-ES" dirty="0"/>
              <a:t> , etc. </a:t>
            </a:r>
          </a:p>
          <a:p>
            <a:pPr marL="0" indent="0" algn="just">
              <a:buNone/>
            </a:pPr>
            <a:r>
              <a:rPr lang="es-ES" dirty="0"/>
              <a:t>• Los nombres de los métodos deben ser verbos, comenzando con una letra minúscula. Por ejemplo: </a:t>
            </a:r>
            <a:r>
              <a:rPr lang="es-ES" dirty="0" err="1"/>
              <a:t>ejecutarAlgo</a:t>
            </a:r>
            <a:r>
              <a:rPr lang="es-ES" dirty="0"/>
              <a:t> , </a:t>
            </a:r>
            <a:r>
              <a:rPr lang="es-ES" dirty="0" err="1"/>
              <a:t>iniciarProceso</a:t>
            </a:r>
            <a:r>
              <a:rPr lang="es-ES" dirty="0"/>
              <a:t> , </a:t>
            </a:r>
            <a:r>
              <a:rPr lang="es-ES" dirty="0" err="1"/>
              <a:t>detenerProceso</a:t>
            </a:r>
            <a:r>
              <a:rPr lang="es-ES" dirty="0"/>
              <a:t> , </a:t>
            </a:r>
            <a:r>
              <a:rPr lang="es-ES" dirty="0" err="1"/>
              <a:t>ejecutarOtraCosa</a:t>
            </a:r>
            <a:r>
              <a:rPr lang="es-ES" dirty="0"/>
              <a:t> , etc.</a:t>
            </a:r>
          </a:p>
          <a:p>
            <a:pPr marL="0" indent="0" algn="just">
              <a:buNone/>
            </a:pPr>
            <a:r>
              <a:rPr lang="es-ES" dirty="0"/>
              <a:t>• Los nombres constantes deben tener todas las letras MAYÚSCULAS y las palabras están separadas por guiones bajos. Por ejemplo: MAX _ SIZE , MIN _ WIDTH , MIN _ HEIGHT , etc. </a:t>
            </a:r>
          </a:p>
          <a:p>
            <a:pPr marL="0" indent="0" algn="just">
              <a:buNone/>
            </a:pPr>
            <a:r>
              <a:rPr lang="es-ES" dirty="0"/>
              <a:t>• Usando la notación </a:t>
            </a:r>
            <a:r>
              <a:rPr lang="es-ES" dirty="0" err="1"/>
              <a:t>camelCase</a:t>
            </a:r>
            <a:r>
              <a:rPr lang="es-ES" dirty="0"/>
              <a:t> para nombres. Por ejemplo: </a:t>
            </a:r>
            <a:r>
              <a:rPr lang="es-ES" dirty="0" err="1"/>
              <a:t>StudentManager</a:t>
            </a:r>
            <a:r>
              <a:rPr lang="es-ES" dirty="0"/>
              <a:t> , </a:t>
            </a:r>
            <a:r>
              <a:rPr lang="es-ES" dirty="0" err="1"/>
              <a:t>CarController</a:t>
            </a:r>
            <a:r>
              <a:rPr lang="es-ES" dirty="0"/>
              <a:t> , </a:t>
            </a:r>
            <a:r>
              <a:rPr lang="es-ES" dirty="0" err="1"/>
              <a:t>numberOfStudents</a:t>
            </a:r>
            <a:r>
              <a:rPr lang="es-ES" dirty="0"/>
              <a:t> , </a:t>
            </a:r>
            <a:r>
              <a:rPr lang="es-ES" dirty="0" err="1"/>
              <a:t>runAnalysis</a:t>
            </a:r>
            <a:r>
              <a:rPr lang="es-ES" dirty="0"/>
              <a:t> , etc.</a:t>
            </a:r>
            <a:endParaRPr lang="es-AR" dirty="0"/>
          </a:p>
          <a:p>
            <a:pPr marL="0" indent="0">
              <a:buNone/>
            </a:pPr>
            <a:endParaRPr lang="es-AR" dirty="0"/>
          </a:p>
        </p:txBody>
      </p:sp>
      <p:pic>
        <p:nvPicPr>
          <p:cNvPr id="4" name="Imagen 3">
            <a:extLst>
              <a:ext uri="{FF2B5EF4-FFF2-40B4-BE49-F238E27FC236}">
                <a16:creationId xmlns:a16="http://schemas.microsoft.com/office/drawing/2014/main" id="{DFF470E2-C27C-EB63-B06B-F2004FC1BB52}"/>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3E5D5718-3A1B-E0A2-559B-A56C5EE70AD7}"/>
              </a:ext>
            </a:extLst>
          </p:cNvPr>
          <p:cNvSpPr>
            <a:spLocks noGrp="1"/>
          </p:cNvSpPr>
          <p:nvPr>
            <p:ph type="sldNum" sz="quarter" idx="12"/>
          </p:nvPr>
        </p:nvSpPr>
        <p:spPr/>
        <p:txBody>
          <a:bodyPr/>
          <a:lstStyle/>
          <a:p>
            <a:fld id="{6C8ECD1B-3F01-46F8-A46F-31A31EFC5ABF}" type="slidenum">
              <a:rPr lang="es-AR" smtClean="0"/>
              <a:t>44</a:t>
            </a:fld>
            <a:endParaRPr lang="es-AR"/>
          </a:p>
        </p:txBody>
      </p:sp>
    </p:spTree>
    <p:extLst>
      <p:ext uri="{BB962C8B-B14F-4D97-AF65-F5344CB8AC3E}">
        <p14:creationId xmlns:p14="http://schemas.microsoft.com/office/powerpoint/2010/main" val="3114164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D8F63-A4A7-ED6D-6A52-90F9E09D917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42324C5-531D-286A-DF55-233F2F4698E7}"/>
              </a:ext>
            </a:extLst>
          </p:cNvPr>
          <p:cNvSpPr>
            <a:spLocks noGrp="1"/>
          </p:cNvSpPr>
          <p:nvPr>
            <p:ph type="title"/>
          </p:nvPr>
        </p:nvSpPr>
        <p:spPr/>
        <p:txBody>
          <a:bodyPr/>
          <a:lstStyle/>
          <a:p>
            <a:r>
              <a:rPr lang="es-AR" dirty="0"/>
              <a:t>Tipos de notación</a:t>
            </a:r>
          </a:p>
        </p:txBody>
      </p:sp>
      <p:pic>
        <p:nvPicPr>
          <p:cNvPr id="4" name="Imagen 3">
            <a:extLst>
              <a:ext uri="{FF2B5EF4-FFF2-40B4-BE49-F238E27FC236}">
                <a16:creationId xmlns:a16="http://schemas.microsoft.com/office/drawing/2014/main" id="{04C96836-B794-28B5-FB69-E737F3F1EDC9}"/>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48B86E2A-4607-83FE-25B6-C418191E3CE5}"/>
              </a:ext>
            </a:extLst>
          </p:cNvPr>
          <p:cNvSpPr>
            <a:spLocks noGrp="1"/>
          </p:cNvSpPr>
          <p:nvPr>
            <p:ph type="sldNum" sz="quarter" idx="12"/>
          </p:nvPr>
        </p:nvSpPr>
        <p:spPr/>
        <p:txBody>
          <a:bodyPr/>
          <a:lstStyle/>
          <a:p>
            <a:fld id="{6C8ECD1B-3F01-46F8-A46F-31A31EFC5ABF}" type="slidenum">
              <a:rPr lang="es-AR" smtClean="0"/>
              <a:t>45</a:t>
            </a:fld>
            <a:endParaRPr lang="es-AR"/>
          </a:p>
        </p:txBody>
      </p:sp>
      <p:sp>
        <p:nvSpPr>
          <p:cNvPr id="8" name="Marcador de contenido 2">
            <a:extLst>
              <a:ext uri="{FF2B5EF4-FFF2-40B4-BE49-F238E27FC236}">
                <a16:creationId xmlns:a16="http://schemas.microsoft.com/office/drawing/2014/main" id="{0D27C78A-BE2F-8DD5-EF44-C9CDCD4EE284}"/>
              </a:ext>
            </a:extLst>
          </p:cNvPr>
          <p:cNvSpPr txBox="1">
            <a:spLocks/>
          </p:cNvSpPr>
          <p:nvPr/>
        </p:nvSpPr>
        <p:spPr>
          <a:xfrm>
            <a:off x="1103630" y="1839384"/>
            <a:ext cx="10058400" cy="4401396"/>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nSpc>
                <a:spcPct val="20000"/>
              </a:lnSpc>
              <a:buNone/>
            </a:pPr>
            <a:r>
              <a:rPr lang="es-ES" sz="1400" b="1" dirty="0"/>
              <a:t>Camel Case (</a:t>
            </a:r>
            <a:r>
              <a:rPr lang="es-ES" sz="1400" b="1" dirty="0" err="1"/>
              <a:t>CamelCase</a:t>
            </a:r>
            <a:r>
              <a:rPr lang="es-ES" sz="1400" b="1" dirty="0"/>
              <a:t>):</a:t>
            </a:r>
          </a:p>
          <a:p>
            <a:pPr marL="0" indent="0">
              <a:lnSpc>
                <a:spcPct val="20000"/>
              </a:lnSpc>
              <a:buNone/>
            </a:pPr>
            <a:r>
              <a:rPr lang="es-ES" sz="1400" dirty="0"/>
              <a:t>Se usa para nombres de variables y funciones.</a:t>
            </a:r>
          </a:p>
          <a:p>
            <a:pPr marL="0" indent="0">
              <a:lnSpc>
                <a:spcPct val="20000"/>
              </a:lnSpc>
              <a:buNone/>
            </a:pPr>
            <a:r>
              <a:rPr lang="es-ES" sz="1400" dirty="0"/>
              <a:t>La primera palabra va en minúscula.</a:t>
            </a:r>
          </a:p>
          <a:p>
            <a:pPr marL="0" indent="0">
              <a:lnSpc>
                <a:spcPct val="20000"/>
              </a:lnSpc>
              <a:buNone/>
            </a:pPr>
            <a:r>
              <a:rPr lang="es-ES" sz="1400" dirty="0"/>
              <a:t>Las siguientes palabras se escriben con la primera letra en mayúscula (sin espacios).</a:t>
            </a:r>
          </a:p>
          <a:p>
            <a:pPr marL="0" indent="0">
              <a:lnSpc>
                <a:spcPct val="20000"/>
              </a:lnSpc>
              <a:buNone/>
            </a:pPr>
            <a:r>
              <a:rPr lang="es-ES" sz="1400" dirty="0"/>
              <a:t>Ejemplo: </a:t>
            </a:r>
            <a:r>
              <a:rPr lang="es-ES" sz="1400" dirty="0" err="1"/>
              <a:t>nombreCompleto</a:t>
            </a:r>
            <a:r>
              <a:rPr lang="es-ES" sz="1400" dirty="0"/>
              <a:t>, </a:t>
            </a:r>
            <a:r>
              <a:rPr lang="es-ES" sz="1400" dirty="0" err="1"/>
              <a:t>calcularPrecioTotal</a:t>
            </a:r>
            <a:endParaRPr lang="es-ES" sz="1400" dirty="0"/>
          </a:p>
          <a:p>
            <a:pPr marL="0" indent="0">
              <a:lnSpc>
                <a:spcPct val="20000"/>
              </a:lnSpc>
              <a:buNone/>
            </a:pPr>
            <a:endParaRPr lang="es-ES" sz="1400" dirty="0"/>
          </a:p>
          <a:p>
            <a:pPr marL="0" indent="0">
              <a:lnSpc>
                <a:spcPct val="20000"/>
              </a:lnSpc>
              <a:buNone/>
            </a:pPr>
            <a:r>
              <a:rPr lang="es-ES" sz="1400" b="1" dirty="0"/>
              <a:t>Pascal Case (</a:t>
            </a:r>
            <a:r>
              <a:rPr lang="es-ES" sz="1400" b="1" dirty="0" err="1"/>
              <a:t>PascalCase</a:t>
            </a:r>
            <a:r>
              <a:rPr lang="es-ES" sz="1400" b="1" dirty="0"/>
              <a:t>):</a:t>
            </a:r>
          </a:p>
          <a:p>
            <a:pPr marL="0" indent="0">
              <a:lnSpc>
                <a:spcPct val="20000"/>
              </a:lnSpc>
              <a:buNone/>
            </a:pPr>
            <a:r>
              <a:rPr lang="es-ES" sz="1400" dirty="0"/>
              <a:t>Se usa para nombres de clases, tipos de datos y a veces para funciones.</a:t>
            </a:r>
          </a:p>
          <a:p>
            <a:pPr marL="0" indent="0">
              <a:lnSpc>
                <a:spcPct val="20000"/>
              </a:lnSpc>
              <a:buNone/>
            </a:pPr>
            <a:r>
              <a:rPr lang="es-ES" sz="1400" dirty="0"/>
              <a:t>Todas las palabras comienzan con mayúscula.</a:t>
            </a:r>
          </a:p>
          <a:p>
            <a:pPr marL="0" indent="0">
              <a:lnSpc>
                <a:spcPct val="20000"/>
              </a:lnSpc>
              <a:buNone/>
            </a:pPr>
            <a:r>
              <a:rPr lang="es-ES" sz="1400" dirty="0"/>
              <a:t>Ejemplo: </a:t>
            </a:r>
            <a:r>
              <a:rPr lang="es-ES" sz="1400" dirty="0" err="1"/>
              <a:t>UsuarioRegistrado</a:t>
            </a:r>
            <a:r>
              <a:rPr lang="es-ES" sz="1400" dirty="0"/>
              <a:t>, </a:t>
            </a:r>
            <a:r>
              <a:rPr lang="es-ES" sz="1400" dirty="0" err="1"/>
              <a:t>ClaseCalculadora</a:t>
            </a:r>
            <a:endParaRPr lang="es-ES" sz="1400" dirty="0"/>
          </a:p>
          <a:p>
            <a:pPr marL="0" indent="0">
              <a:lnSpc>
                <a:spcPct val="20000"/>
              </a:lnSpc>
              <a:buNone/>
            </a:pPr>
            <a:endParaRPr lang="es-ES" sz="1400" dirty="0"/>
          </a:p>
          <a:p>
            <a:pPr marL="0" indent="0">
              <a:lnSpc>
                <a:spcPct val="20000"/>
              </a:lnSpc>
              <a:buNone/>
            </a:pPr>
            <a:r>
              <a:rPr lang="es-ES" sz="1400" b="1" dirty="0"/>
              <a:t>Snake Case (</a:t>
            </a:r>
            <a:r>
              <a:rPr lang="es-ES" sz="1400" b="1" dirty="0" err="1"/>
              <a:t>snake_case</a:t>
            </a:r>
            <a:r>
              <a:rPr lang="es-ES" sz="1400" b="1" dirty="0"/>
              <a:t>):</a:t>
            </a:r>
          </a:p>
          <a:p>
            <a:pPr marL="0" indent="0">
              <a:lnSpc>
                <a:spcPct val="20000"/>
              </a:lnSpc>
              <a:buNone/>
            </a:pPr>
            <a:r>
              <a:rPr lang="es-ES" sz="1400" dirty="0"/>
              <a:t>Se usa para nombres de variables y constantes.</a:t>
            </a:r>
          </a:p>
          <a:p>
            <a:pPr marL="0" indent="0">
              <a:lnSpc>
                <a:spcPct val="20000"/>
              </a:lnSpc>
              <a:buNone/>
            </a:pPr>
            <a:r>
              <a:rPr lang="es-ES" sz="1400" dirty="0"/>
              <a:t>Todas las palabras van en minúscula y se separan por guiones bajos.</a:t>
            </a:r>
          </a:p>
          <a:p>
            <a:pPr marL="0" indent="0">
              <a:lnSpc>
                <a:spcPct val="20000"/>
              </a:lnSpc>
              <a:buNone/>
            </a:pPr>
            <a:r>
              <a:rPr lang="es-ES" sz="1400" dirty="0"/>
              <a:t>Ejemplo: </a:t>
            </a:r>
            <a:r>
              <a:rPr lang="es-ES" sz="1400" dirty="0" err="1"/>
              <a:t>precio_unitario</a:t>
            </a:r>
            <a:r>
              <a:rPr lang="es-ES" sz="1400" dirty="0"/>
              <a:t>, </a:t>
            </a:r>
            <a:r>
              <a:rPr lang="es-ES" sz="1400" dirty="0" err="1"/>
              <a:t>numero_de_teléfono</a:t>
            </a:r>
            <a:endParaRPr lang="es-ES" sz="1400" dirty="0"/>
          </a:p>
          <a:p>
            <a:pPr marL="0" indent="0">
              <a:lnSpc>
                <a:spcPct val="20000"/>
              </a:lnSpc>
              <a:buNone/>
            </a:pPr>
            <a:endParaRPr lang="es-ES" sz="1400" dirty="0"/>
          </a:p>
          <a:p>
            <a:pPr marL="0" indent="0">
              <a:lnSpc>
                <a:spcPct val="20000"/>
              </a:lnSpc>
              <a:buNone/>
            </a:pPr>
            <a:r>
              <a:rPr lang="es-ES" sz="1400" b="1" dirty="0"/>
              <a:t>Kebab Case:</a:t>
            </a:r>
          </a:p>
          <a:p>
            <a:pPr marL="0" indent="0">
              <a:lnSpc>
                <a:spcPct val="20000"/>
              </a:lnSpc>
              <a:buNone/>
            </a:pPr>
            <a:r>
              <a:rPr lang="es-ES" sz="1400" dirty="0"/>
              <a:t>En kebab case, las palabras se separan por guiones (-).</a:t>
            </a:r>
          </a:p>
          <a:p>
            <a:pPr marL="0" indent="0">
              <a:lnSpc>
                <a:spcPct val="20000"/>
              </a:lnSpc>
              <a:buNone/>
            </a:pPr>
            <a:r>
              <a:rPr lang="es-ES" sz="1400" dirty="0"/>
              <a:t>Ejemplo: mi-variable, esta-es-otra-variable.</a:t>
            </a:r>
          </a:p>
          <a:p>
            <a:pPr marL="0" indent="0">
              <a:lnSpc>
                <a:spcPct val="20000"/>
              </a:lnSpc>
              <a:buNone/>
            </a:pPr>
            <a:r>
              <a:rPr lang="es-ES" sz="1400" dirty="0"/>
              <a:t>Comúnmente utilizado en </a:t>
            </a:r>
            <a:r>
              <a:rPr lang="es-ES" sz="1400" dirty="0" err="1"/>
              <a:t>URLs</a:t>
            </a:r>
            <a:r>
              <a:rPr lang="es-ES" sz="1400" dirty="0"/>
              <a:t> y nombres de archivos, especialmente en tecnologías web</a:t>
            </a:r>
            <a:endParaRPr lang="es-AR" sz="1400" dirty="0"/>
          </a:p>
        </p:txBody>
      </p:sp>
      <p:pic>
        <p:nvPicPr>
          <p:cNvPr id="14" name="Marcador de contenido 13">
            <a:extLst>
              <a:ext uri="{FF2B5EF4-FFF2-40B4-BE49-F238E27FC236}">
                <a16:creationId xmlns:a16="http://schemas.microsoft.com/office/drawing/2014/main" id="{62ECBD4E-F417-9131-EDE2-2598D3C4E3DF}"/>
              </a:ext>
            </a:extLst>
          </p:cNvPr>
          <p:cNvPicPr>
            <a:picLocks noGrp="1" noChangeAspect="1"/>
          </p:cNvPicPr>
          <p:nvPr>
            <p:ph idx="1"/>
          </p:nvPr>
        </p:nvPicPr>
        <p:blipFill>
          <a:blip r:embed="rId3"/>
          <a:stretch>
            <a:fillRect/>
          </a:stretch>
        </p:blipFill>
        <p:spPr>
          <a:xfrm>
            <a:off x="9826713" y="2050395"/>
            <a:ext cx="1328967" cy="4022725"/>
          </a:xfrm>
          <a:prstGeom prst="rect">
            <a:avLst/>
          </a:prstGeom>
        </p:spPr>
      </p:pic>
    </p:spTree>
    <p:extLst>
      <p:ext uri="{BB962C8B-B14F-4D97-AF65-F5344CB8AC3E}">
        <p14:creationId xmlns:p14="http://schemas.microsoft.com/office/powerpoint/2010/main" val="9001546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5FB0F-AC37-E6D5-4F93-5D7B1DDF709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9667FAB-8C3C-F610-9A9F-DBD2EDE8456D}"/>
              </a:ext>
            </a:extLst>
          </p:cNvPr>
          <p:cNvSpPr>
            <a:spLocks noGrp="1"/>
          </p:cNvSpPr>
          <p:nvPr>
            <p:ph type="title"/>
          </p:nvPr>
        </p:nvSpPr>
        <p:spPr/>
        <p:txBody>
          <a:bodyPr/>
          <a:lstStyle/>
          <a:p>
            <a:r>
              <a:rPr lang="es-AR" dirty="0"/>
              <a:t>Palabras reservadas en JAVA</a:t>
            </a:r>
          </a:p>
        </p:txBody>
      </p:sp>
      <p:pic>
        <p:nvPicPr>
          <p:cNvPr id="4" name="Imagen 3">
            <a:extLst>
              <a:ext uri="{FF2B5EF4-FFF2-40B4-BE49-F238E27FC236}">
                <a16:creationId xmlns:a16="http://schemas.microsoft.com/office/drawing/2014/main" id="{23723372-C850-9FCD-C97C-CBF841E9337F}"/>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A1848E5F-E232-6E8B-78B9-DD275B19BCDB}"/>
              </a:ext>
            </a:extLst>
          </p:cNvPr>
          <p:cNvSpPr>
            <a:spLocks noGrp="1"/>
          </p:cNvSpPr>
          <p:nvPr>
            <p:ph type="sldNum" sz="quarter" idx="12"/>
          </p:nvPr>
        </p:nvSpPr>
        <p:spPr/>
        <p:txBody>
          <a:bodyPr/>
          <a:lstStyle/>
          <a:p>
            <a:fld id="{6C8ECD1B-3F01-46F8-A46F-31A31EFC5ABF}" type="slidenum">
              <a:rPr lang="es-AR" smtClean="0"/>
              <a:t>46</a:t>
            </a:fld>
            <a:endParaRPr lang="es-AR"/>
          </a:p>
        </p:txBody>
      </p:sp>
      <p:pic>
        <p:nvPicPr>
          <p:cNvPr id="4098" name="Picture 2" descr="Lenguaje de Programacion III: PALABRAS RESERVADAS">
            <a:extLst>
              <a:ext uri="{FF2B5EF4-FFF2-40B4-BE49-F238E27FC236}">
                <a16:creationId xmlns:a16="http://schemas.microsoft.com/office/drawing/2014/main" id="{0B70C7C1-20CA-4844-562F-905359959C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0184" y="1847889"/>
            <a:ext cx="7672592" cy="4369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05849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169C0-7947-8B16-1D1A-E37DD3C69E3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17ED112-7FD1-A0AF-90DD-CD7166DA1E1E}"/>
              </a:ext>
            </a:extLst>
          </p:cNvPr>
          <p:cNvSpPr>
            <a:spLocks noGrp="1"/>
          </p:cNvSpPr>
          <p:nvPr>
            <p:ph type="title"/>
          </p:nvPr>
        </p:nvSpPr>
        <p:spPr/>
        <p:txBody>
          <a:bodyPr/>
          <a:lstStyle/>
          <a:p>
            <a:r>
              <a:rPr lang="es-AR" dirty="0"/>
              <a:t>Tipos de datos</a:t>
            </a:r>
          </a:p>
        </p:txBody>
      </p:sp>
      <p:pic>
        <p:nvPicPr>
          <p:cNvPr id="4" name="Imagen 3">
            <a:extLst>
              <a:ext uri="{FF2B5EF4-FFF2-40B4-BE49-F238E27FC236}">
                <a16:creationId xmlns:a16="http://schemas.microsoft.com/office/drawing/2014/main" id="{A0012AE5-9530-13EE-99C1-6E1F8A695C34}"/>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4AACCBA0-1C7E-6C19-F9E6-40F3B42812FA}"/>
              </a:ext>
            </a:extLst>
          </p:cNvPr>
          <p:cNvSpPr>
            <a:spLocks noGrp="1"/>
          </p:cNvSpPr>
          <p:nvPr>
            <p:ph type="sldNum" sz="quarter" idx="12"/>
          </p:nvPr>
        </p:nvSpPr>
        <p:spPr/>
        <p:txBody>
          <a:bodyPr/>
          <a:lstStyle/>
          <a:p>
            <a:fld id="{6C8ECD1B-3F01-46F8-A46F-31A31EFC5ABF}" type="slidenum">
              <a:rPr lang="es-AR" smtClean="0"/>
              <a:t>47</a:t>
            </a:fld>
            <a:endParaRPr lang="es-AR"/>
          </a:p>
        </p:txBody>
      </p:sp>
      <p:pic>
        <p:nvPicPr>
          <p:cNvPr id="7" name="Imagen 6">
            <a:extLst>
              <a:ext uri="{FF2B5EF4-FFF2-40B4-BE49-F238E27FC236}">
                <a16:creationId xmlns:a16="http://schemas.microsoft.com/office/drawing/2014/main" id="{56A56196-2ADA-CBBC-5074-1081DB04D9D9}"/>
              </a:ext>
            </a:extLst>
          </p:cNvPr>
          <p:cNvPicPr>
            <a:picLocks noChangeAspect="1"/>
          </p:cNvPicPr>
          <p:nvPr/>
        </p:nvPicPr>
        <p:blipFill>
          <a:blip r:embed="rId3"/>
          <a:stretch>
            <a:fillRect/>
          </a:stretch>
        </p:blipFill>
        <p:spPr>
          <a:xfrm>
            <a:off x="2867548" y="1867102"/>
            <a:ext cx="6456903" cy="4190064"/>
          </a:xfrm>
          <a:prstGeom prst="rect">
            <a:avLst/>
          </a:prstGeom>
        </p:spPr>
      </p:pic>
    </p:spTree>
    <p:extLst>
      <p:ext uri="{BB962C8B-B14F-4D97-AF65-F5344CB8AC3E}">
        <p14:creationId xmlns:p14="http://schemas.microsoft.com/office/powerpoint/2010/main" val="23845387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5BF63-378F-3D11-6425-A95C671DA67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A49E568-80E5-6A05-C5A8-44FACFAC34E8}"/>
              </a:ext>
            </a:extLst>
          </p:cNvPr>
          <p:cNvSpPr>
            <a:spLocks noGrp="1"/>
          </p:cNvSpPr>
          <p:nvPr>
            <p:ph type="title"/>
          </p:nvPr>
        </p:nvSpPr>
        <p:spPr/>
        <p:txBody>
          <a:bodyPr/>
          <a:lstStyle/>
          <a:p>
            <a:r>
              <a:rPr lang="es-ES" b="1" dirty="0"/>
              <a:t>Datos primitivos y Datos </a:t>
            </a:r>
            <a:r>
              <a:rPr lang="es-ES" b="1" dirty="0" err="1"/>
              <a:t>wrapper</a:t>
            </a:r>
            <a:endParaRPr lang="es-AR" dirty="0"/>
          </a:p>
        </p:txBody>
      </p:sp>
      <p:pic>
        <p:nvPicPr>
          <p:cNvPr id="4" name="Imagen 3">
            <a:extLst>
              <a:ext uri="{FF2B5EF4-FFF2-40B4-BE49-F238E27FC236}">
                <a16:creationId xmlns:a16="http://schemas.microsoft.com/office/drawing/2014/main" id="{5158553F-7486-4415-7DB0-5E1FFAF79CFF}"/>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79B4BFF6-5644-A1EE-54F3-EFCB6428B44D}"/>
              </a:ext>
            </a:extLst>
          </p:cNvPr>
          <p:cNvSpPr>
            <a:spLocks noGrp="1"/>
          </p:cNvSpPr>
          <p:nvPr>
            <p:ph type="sldNum" sz="quarter" idx="12"/>
          </p:nvPr>
        </p:nvSpPr>
        <p:spPr/>
        <p:txBody>
          <a:bodyPr/>
          <a:lstStyle/>
          <a:p>
            <a:fld id="{6C8ECD1B-3F01-46F8-A46F-31A31EFC5ABF}" type="slidenum">
              <a:rPr lang="es-AR" smtClean="0"/>
              <a:t>48</a:t>
            </a:fld>
            <a:endParaRPr lang="es-AR"/>
          </a:p>
        </p:txBody>
      </p:sp>
      <p:pic>
        <p:nvPicPr>
          <p:cNvPr id="6146" name="Picture 2" descr="Tipos primitivos de datos | Mind Map">
            <a:extLst>
              <a:ext uri="{FF2B5EF4-FFF2-40B4-BE49-F238E27FC236}">
                <a16:creationId xmlns:a16="http://schemas.microsoft.com/office/drawing/2014/main" id="{4F223687-B368-31E9-ACB3-8655DCA432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6079" y="2110153"/>
            <a:ext cx="4940801" cy="2045845"/>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6066F005-CF51-02A4-8D8C-53FB3639B6F4}"/>
              </a:ext>
            </a:extLst>
          </p:cNvPr>
          <p:cNvSpPr>
            <a:spLocks noGrp="1"/>
          </p:cNvSpPr>
          <p:nvPr>
            <p:ph idx="1"/>
          </p:nvPr>
        </p:nvSpPr>
        <p:spPr>
          <a:xfrm>
            <a:off x="1154083" y="4528790"/>
            <a:ext cx="10058400" cy="1453013"/>
          </a:xfrm>
        </p:spPr>
        <p:txBody>
          <a:bodyPr>
            <a:normAutofit fontScale="92500"/>
          </a:bodyPr>
          <a:lstStyle/>
          <a:p>
            <a:pPr marL="0" indent="0" algn="just">
              <a:buNone/>
            </a:pPr>
            <a:r>
              <a:rPr lang="es-AR" dirty="0"/>
              <a:t>Los datos tipo ENVOLTURA o WRAPPERS </a:t>
            </a:r>
            <a:r>
              <a:rPr lang="es-ES" dirty="0"/>
              <a:t>se utilizan para tratar los tipos de datos primitivos como objetos. Las colecciones en Java, como </a:t>
            </a:r>
            <a:r>
              <a:rPr lang="es-ES" dirty="0" err="1"/>
              <a:t>ArrayList</a:t>
            </a:r>
            <a:r>
              <a:rPr lang="es-ES" dirty="0"/>
              <a:t> o </a:t>
            </a:r>
            <a:r>
              <a:rPr lang="es-ES" dirty="0" err="1"/>
              <a:t>HashMap</a:t>
            </a:r>
            <a:r>
              <a:rPr lang="es-ES" dirty="0"/>
              <a:t>, solo pueden almacenar objetos, no tipos primitivos. Las clases </a:t>
            </a:r>
            <a:r>
              <a:rPr lang="es-ES" dirty="0" err="1"/>
              <a:t>wrapper</a:t>
            </a:r>
            <a:r>
              <a:rPr lang="es-ES" dirty="0"/>
              <a:t> permiten "envolver" un tipo primitivo (por ejemplo, un </a:t>
            </a:r>
            <a:r>
              <a:rPr lang="es-ES" dirty="0" err="1"/>
              <a:t>int</a:t>
            </a:r>
            <a:r>
              <a:rPr lang="es-ES" dirty="0"/>
              <a:t>) en un objeto </a:t>
            </a:r>
            <a:r>
              <a:rPr lang="es-ES" dirty="0" err="1"/>
              <a:t>Integer</a:t>
            </a:r>
            <a:r>
              <a:rPr lang="es-ES" dirty="0"/>
              <a:t>, facilita su inserción en colecciones y tambien facilita operaciones como la conversión de tipos (la clase </a:t>
            </a:r>
            <a:r>
              <a:rPr lang="es-ES" dirty="0" err="1"/>
              <a:t>Integer</a:t>
            </a:r>
            <a:r>
              <a:rPr lang="es-ES" dirty="0"/>
              <a:t> para convertir un entero a una cadena .</a:t>
            </a:r>
            <a:r>
              <a:rPr lang="es-ES" dirty="0" err="1"/>
              <a:t>toString</a:t>
            </a:r>
            <a:r>
              <a:rPr lang="es-ES" dirty="0"/>
              <a:t>()) y el manejo de valores nulos.</a:t>
            </a:r>
            <a:endParaRPr lang="es-AR" dirty="0"/>
          </a:p>
          <a:p>
            <a:endParaRPr lang="es-AR" dirty="0"/>
          </a:p>
          <a:p>
            <a:pPr marL="0" indent="0">
              <a:buNone/>
            </a:pPr>
            <a:endParaRPr lang="es-AR" dirty="0"/>
          </a:p>
          <a:p>
            <a:pPr marL="0" indent="0">
              <a:buNone/>
            </a:pPr>
            <a:endParaRPr lang="es-AR" dirty="0"/>
          </a:p>
        </p:txBody>
      </p:sp>
    </p:spTree>
    <p:extLst>
      <p:ext uri="{BB962C8B-B14F-4D97-AF65-F5344CB8AC3E}">
        <p14:creationId xmlns:p14="http://schemas.microsoft.com/office/powerpoint/2010/main" val="22499083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3A6AF-A9F6-38AA-DE13-4617FC90BB3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7D1622A-946C-0E82-5D73-E881359A8868}"/>
              </a:ext>
            </a:extLst>
          </p:cNvPr>
          <p:cNvSpPr>
            <a:spLocks noGrp="1"/>
          </p:cNvSpPr>
          <p:nvPr>
            <p:ph type="title"/>
          </p:nvPr>
        </p:nvSpPr>
        <p:spPr/>
        <p:txBody>
          <a:bodyPr/>
          <a:lstStyle/>
          <a:p>
            <a:r>
              <a:rPr lang="es-ES" b="1" dirty="0"/>
              <a:t>Datos primitivos y Datos </a:t>
            </a:r>
            <a:r>
              <a:rPr lang="es-ES" b="1" dirty="0" err="1"/>
              <a:t>wrapper</a:t>
            </a:r>
            <a:endParaRPr lang="es-AR" dirty="0"/>
          </a:p>
        </p:txBody>
      </p:sp>
      <p:pic>
        <p:nvPicPr>
          <p:cNvPr id="4" name="Imagen 3">
            <a:extLst>
              <a:ext uri="{FF2B5EF4-FFF2-40B4-BE49-F238E27FC236}">
                <a16:creationId xmlns:a16="http://schemas.microsoft.com/office/drawing/2014/main" id="{4203EB0A-F029-6ED6-20A4-1A0858D1D584}"/>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C235ABB3-50E3-1F11-FB29-2CBE4C30F588}"/>
              </a:ext>
            </a:extLst>
          </p:cNvPr>
          <p:cNvSpPr>
            <a:spLocks noGrp="1"/>
          </p:cNvSpPr>
          <p:nvPr>
            <p:ph type="sldNum" sz="quarter" idx="12"/>
          </p:nvPr>
        </p:nvSpPr>
        <p:spPr/>
        <p:txBody>
          <a:bodyPr/>
          <a:lstStyle/>
          <a:p>
            <a:fld id="{6C8ECD1B-3F01-46F8-A46F-31A31EFC5ABF}" type="slidenum">
              <a:rPr lang="es-AR" smtClean="0"/>
              <a:t>49</a:t>
            </a:fld>
            <a:endParaRPr lang="es-AR"/>
          </a:p>
        </p:txBody>
      </p:sp>
      <p:pic>
        <p:nvPicPr>
          <p:cNvPr id="9" name="Imagen 8">
            <a:extLst>
              <a:ext uri="{FF2B5EF4-FFF2-40B4-BE49-F238E27FC236}">
                <a16:creationId xmlns:a16="http://schemas.microsoft.com/office/drawing/2014/main" id="{6D4B9DD8-4E1E-AD3F-9799-57AB4B0BBD91}"/>
              </a:ext>
            </a:extLst>
          </p:cNvPr>
          <p:cNvPicPr>
            <a:picLocks noChangeAspect="1"/>
          </p:cNvPicPr>
          <p:nvPr/>
        </p:nvPicPr>
        <p:blipFill>
          <a:blip r:embed="rId3"/>
          <a:stretch>
            <a:fillRect/>
          </a:stretch>
        </p:blipFill>
        <p:spPr>
          <a:xfrm>
            <a:off x="1494948" y="1913223"/>
            <a:ext cx="9263063" cy="4370699"/>
          </a:xfrm>
          <a:prstGeom prst="rect">
            <a:avLst/>
          </a:prstGeom>
        </p:spPr>
      </p:pic>
    </p:spTree>
    <p:extLst>
      <p:ext uri="{BB962C8B-B14F-4D97-AF65-F5344CB8AC3E}">
        <p14:creationId xmlns:p14="http://schemas.microsoft.com/office/powerpoint/2010/main" val="36937662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9B6EA-861A-358A-6518-6782903E932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548A934-E7FA-12B6-4334-0FFF0FADD6A4}"/>
              </a:ext>
            </a:extLst>
          </p:cNvPr>
          <p:cNvSpPr>
            <a:spLocks noGrp="1"/>
          </p:cNvSpPr>
          <p:nvPr>
            <p:ph type="title"/>
          </p:nvPr>
        </p:nvSpPr>
        <p:spPr/>
        <p:txBody>
          <a:bodyPr/>
          <a:lstStyle/>
          <a:p>
            <a:r>
              <a:rPr lang="es-ES" b="1" dirty="0"/>
              <a:t>Constructores y destructores</a:t>
            </a:r>
            <a:r>
              <a:rPr lang="es-AR" dirty="0"/>
              <a:t>.</a:t>
            </a:r>
          </a:p>
        </p:txBody>
      </p:sp>
      <p:sp>
        <p:nvSpPr>
          <p:cNvPr id="3" name="Marcador de contenido 2">
            <a:extLst>
              <a:ext uri="{FF2B5EF4-FFF2-40B4-BE49-F238E27FC236}">
                <a16:creationId xmlns:a16="http://schemas.microsoft.com/office/drawing/2014/main" id="{16CB8FA8-EB4E-028C-406A-DC9859FDF7E5}"/>
              </a:ext>
            </a:extLst>
          </p:cNvPr>
          <p:cNvSpPr>
            <a:spLocks noGrp="1"/>
          </p:cNvSpPr>
          <p:nvPr>
            <p:ph idx="1"/>
          </p:nvPr>
        </p:nvSpPr>
        <p:spPr>
          <a:xfrm>
            <a:off x="1097280" y="1845734"/>
            <a:ext cx="10058400" cy="4428066"/>
          </a:xfrm>
        </p:spPr>
        <p:txBody>
          <a:bodyPr>
            <a:normAutofit/>
          </a:bodyPr>
          <a:lstStyle/>
          <a:p>
            <a:r>
              <a:rPr lang="es-AR" b="1" dirty="0"/>
              <a:t>Constructores en JAVA</a:t>
            </a:r>
            <a:r>
              <a:rPr lang="es-AR" dirty="0"/>
              <a:t>:</a:t>
            </a:r>
            <a:r>
              <a:rPr lang="es-ES" dirty="0"/>
              <a:t> </a:t>
            </a:r>
          </a:p>
          <a:p>
            <a:r>
              <a:rPr lang="es-ES" dirty="0"/>
              <a:t>Un </a:t>
            </a:r>
            <a:r>
              <a:rPr lang="es-ES" b="1" dirty="0"/>
              <a:t>constructor</a:t>
            </a:r>
            <a:r>
              <a:rPr lang="es-ES" dirty="0"/>
              <a:t> es un método especial que se utiliza para inicializar un objeto de una clase cuando se crea. </a:t>
            </a:r>
          </a:p>
          <a:p>
            <a:r>
              <a:rPr lang="es-ES" dirty="0"/>
              <a:t>Un </a:t>
            </a:r>
            <a:r>
              <a:rPr lang="es-ES" b="1" dirty="0"/>
              <a:t>destructor</a:t>
            </a:r>
            <a:r>
              <a:rPr lang="es-ES" dirty="0"/>
              <a:t>, en cambio, es un método que se utiliza para liberar los recursos que un objeto ha utilizado antes de que sea destruido. </a:t>
            </a:r>
          </a:p>
          <a:p>
            <a:r>
              <a:rPr lang="es-ES" b="1" dirty="0"/>
              <a:t>En Java, no existen destructores </a:t>
            </a:r>
            <a:r>
              <a:rPr lang="es-ES" dirty="0"/>
              <a:t>explícitos como en otros lenguajes como C++; en su lugar, Java utiliza el “</a:t>
            </a:r>
            <a:r>
              <a:rPr lang="es-ES" dirty="0" err="1"/>
              <a:t>garbage</a:t>
            </a:r>
            <a:r>
              <a:rPr lang="es-ES" dirty="0"/>
              <a:t> </a:t>
            </a:r>
            <a:r>
              <a:rPr lang="es-ES" dirty="0" err="1"/>
              <a:t>collection</a:t>
            </a:r>
            <a:r>
              <a:rPr lang="es-ES" dirty="0"/>
              <a:t>”  para liberar la memoria. </a:t>
            </a:r>
            <a:endParaRPr lang="es-AR" dirty="0"/>
          </a:p>
        </p:txBody>
      </p:sp>
      <p:pic>
        <p:nvPicPr>
          <p:cNvPr id="4" name="Imagen 3">
            <a:extLst>
              <a:ext uri="{FF2B5EF4-FFF2-40B4-BE49-F238E27FC236}">
                <a16:creationId xmlns:a16="http://schemas.microsoft.com/office/drawing/2014/main" id="{A5D1C1CB-8007-EF47-2EBE-5862317AB2D5}"/>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EADF1886-C436-EA16-5074-2DBFDB7AEB8B}"/>
              </a:ext>
            </a:extLst>
          </p:cNvPr>
          <p:cNvSpPr>
            <a:spLocks noGrp="1"/>
          </p:cNvSpPr>
          <p:nvPr>
            <p:ph type="sldNum" sz="quarter" idx="12"/>
          </p:nvPr>
        </p:nvSpPr>
        <p:spPr/>
        <p:txBody>
          <a:bodyPr/>
          <a:lstStyle/>
          <a:p>
            <a:fld id="{6C8ECD1B-3F01-46F8-A46F-31A31EFC5ABF}" type="slidenum">
              <a:rPr lang="es-AR" smtClean="0"/>
              <a:t>50</a:t>
            </a:fld>
            <a:endParaRPr lang="es-AR"/>
          </a:p>
        </p:txBody>
      </p:sp>
    </p:spTree>
    <p:extLst>
      <p:ext uri="{BB962C8B-B14F-4D97-AF65-F5344CB8AC3E}">
        <p14:creationId xmlns:p14="http://schemas.microsoft.com/office/powerpoint/2010/main" val="25486729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E9D42-4938-44F6-D3B7-BEE20650AEF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4BC35F7-8927-6343-8347-561AC82BF08B}"/>
              </a:ext>
            </a:extLst>
          </p:cNvPr>
          <p:cNvSpPr>
            <a:spLocks noGrp="1"/>
          </p:cNvSpPr>
          <p:nvPr>
            <p:ph type="title"/>
          </p:nvPr>
        </p:nvSpPr>
        <p:spPr/>
        <p:txBody>
          <a:bodyPr/>
          <a:lstStyle/>
          <a:p>
            <a:r>
              <a:rPr lang="es-ES" b="1" dirty="0"/>
              <a:t>Constructores y destructores</a:t>
            </a:r>
            <a:r>
              <a:rPr lang="es-AR" dirty="0"/>
              <a:t>.</a:t>
            </a:r>
          </a:p>
        </p:txBody>
      </p:sp>
      <p:sp>
        <p:nvSpPr>
          <p:cNvPr id="3" name="Marcador de contenido 2">
            <a:extLst>
              <a:ext uri="{FF2B5EF4-FFF2-40B4-BE49-F238E27FC236}">
                <a16:creationId xmlns:a16="http://schemas.microsoft.com/office/drawing/2014/main" id="{A0630DB0-25CC-6F34-07D6-FD2641413EF2}"/>
              </a:ext>
            </a:extLst>
          </p:cNvPr>
          <p:cNvSpPr>
            <a:spLocks noGrp="1"/>
          </p:cNvSpPr>
          <p:nvPr>
            <p:ph idx="1"/>
          </p:nvPr>
        </p:nvSpPr>
        <p:spPr>
          <a:xfrm>
            <a:off x="1097280" y="1845734"/>
            <a:ext cx="10058400" cy="4428066"/>
          </a:xfrm>
        </p:spPr>
        <p:txBody>
          <a:bodyPr>
            <a:normAutofit/>
          </a:bodyPr>
          <a:lstStyle/>
          <a:p>
            <a:r>
              <a:rPr lang="es-AR" dirty="0"/>
              <a:t>Características constructor:</a:t>
            </a:r>
          </a:p>
          <a:p>
            <a:pPr>
              <a:buFont typeface="Arial" panose="020B0604020202020204" pitchFamily="34" charset="0"/>
              <a:buChar char="•"/>
            </a:pPr>
            <a:r>
              <a:rPr lang="es-ES" dirty="0"/>
              <a:t>Se utilizan para inicializar los atributos de un objeto cuando se crea una nueva instancia de la clase.</a:t>
            </a:r>
          </a:p>
          <a:p>
            <a:pPr>
              <a:buFont typeface="Arial" panose="020B0604020202020204" pitchFamily="34" charset="0"/>
              <a:buChar char="•"/>
            </a:pPr>
            <a:r>
              <a:rPr lang="es-ES" dirty="0"/>
              <a:t>Tienen el mismo nombre que la clase.</a:t>
            </a:r>
          </a:p>
          <a:p>
            <a:pPr>
              <a:buFont typeface="Arial" panose="020B0604020202020204" pitchFamily="34" charset="0"/>
              <a:buChar char="•"/>
            </a:pPr>
            <a:r>
              <a:rPr lang="es-ES" dirty="0"/>
              <a:t>No tienen tipo de retorno (ni siquiera </a:t>
            </a:r>
            <a:r>
              <a:rPr lang="es-ES" dirty="0" err="1"/>
              <a:t>void</a:t>
            </a:r>
            <a:r>
              <a:rPr lang="es-ES" dirty="0"/>
              <a:t>).</a:t>
            </a:r>
          </a:p>
          <a:p>
            <a:pPr>
              <a:buFont typeface="Arial" panose="020B0604020202020204" pitchFamily="34" charset="0"/>
              <a:buChar char="•"/>
            </a:pPr>
            <a:r>
              <a:rPr lang="es-ES" dirty="0"/>
              <a:t>Se invocan automáticamente al usar la palabra clave new para crear un objeto.</a:t>
            </a:r>
          </a:p>
          <a:p>
            <a:pPr>
              <a:buFont typeface="Arial" panose="020B0604020202020204" pitchFamily="34" charset="0"/>
              <a:buChar char="•"/>
            </a:pPr>
            <a:r>
              <a:rPr lang="es-ES" dirty="0"/>
              <a:t>Pueden tener parámetros para recibir valores iniciales.</a:t>
            </a:r>
          </a:p>
          <a:p>
            <a:pPr>
              <a:buFont typeface="Arial" panose="020B0604020202020204" pitchFamily="34" charset="0"/>
              <a:buChar char="•"/>
            </a:pPr>
            <a:r>
              <a:rPr lang="es-ES" dirty="0"/>
              <a:t>Una clase puede tener múltiples constructores (sobrecarga de constructores).</a:t>
            </a:r>
            <a:endParaRPr lang="es-AR" dirty="0"/>
          </a:p>
        </p:txBody>
      </p:sp>
      <p:pic>
        <p:nvPicPr>
          <p:cNvPr id="4" name="Imagen 3">
            <a:extLst>
              <a:ext uri="{FF2B5EF4-FFF2-40B4-BE49-F238E27FC236}">
                <a16:creationId xmlns:a16="http://schemas.microsoft.com/office/drawing/2014/main" id="{471774DD-56CB-0635-CF12-0272B55BE6D9}"/>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190B1FB7-CCEA-77D9-C9CE-1FDD085A3939}"/>
              </a:ext>
            </a:extLst>
          </p:cNvPr>
          <p:cNvSpPr>
            <a:spLocks noGrp="1"/>
          </p:cNvSpPr>
          <p:nvPr>
            <p:ph type="sldNum" sz="quarter" idx="12"/>
          </p:nvPr>
        </p:nvSpPr>
        <p:spPr/>
        <p:txBody>
          <a:bodyPr/>
          <a:lstStyle/>
          <a:p>
            <a:fld id="{6C8ECD1B-3F01-46F8-A46F-31A31EFC5ABF}" type="slidenum">
              <a:rPr lang="es-AR" smtClean="0"/>
              <a:t>51</a:t>
            </a:fld>
            <a:endParaRPr lang="es-AR"/>
          </a:p>
        </p:txBody>
      </p:sp>
    </p:spTree>
    <p:extLst>
      <p:ext uri="{BB962C8B-B14F-4D97-AF65-F5344CB8AC3E}">
        <p14:creationId xmlns:p14="http://schemas.microsoft.com/office/powerpoint/2010/main" val="13911891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2AB37-B30A-2CD8-B614-832228B28E2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79AA809-5767-4B9D-EBBB-55A066CAAF60}"/>
              </a:ext>
            </a:extLst>
          </p:cNvPr>
          <p:cNvSpPr>
            <a:spLocks noGrp="1"/>
          </p:cNvSpPr>
          <p:nvPr>
            <p:ph type="title"/>
          </p:nvPr>
        </p:nvSpPr>
        <p:spPr/>
        <p:txBody>
          <a:bodyPr/>
          <a:lstStyle/>
          <a:p>
            <a:r>
              <a:rPr lang="es-ES" b="1" dirty="0"/>
              <a:t>Constructores y destructores</a:t>
            </a:r>
            <a:r>
              <a:rPr lang="es-AR" dirty="0"/>
              <a:t>.</a:t>
            </a:r>
          </a:p>
        </p:txBody>
      </p:sp>
      <p:pic>
        <p:nvPicPr>
          <p:cNvPr id="4" name="Imagen 3">
            <a:extLst>
              <a:ext uri="{FF2B5EF4-FFF2-40B4-BE49-F238E27FC236}">
                <a16:creationId xmlns:a16="http://schemas.microsoft.com/office/drawing/2014/main" id="{D8289906-F3F6-6BF3-4827-7E5DDD8DAFAB}"/>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BE4E52CB-E039-BE12-C2E2-39706B42FDBC}"/>
              </a:ext>
            </a:extLst>
          </p:cNvPr>
          <p:cNvSpPr>
            <a:spLocks noGrp="1"/>
          </p:cNvSpPr>
          <p:nvPr>
            <p:ph type="sldNum" sz="quarter" idx="12"/>
          </p:nvPr>
        </p:nvSpPr>
        <p:spPr/>
        <p:txBody>
          <a:bodyPr/>
          <a:lstStyle/>
          <a:p>
            <a:fld id="{6C8ECD1B-3F01-46F8-A46F-31A31EFC5ABF}" type="slidenum">
              <a:rPr lang="es-AR" smtClean="0"/>
              <a:t>52</a:t>
            </a:fld>
            <a:endParaRPr lang="es-AR"/>
          </a:p>
        </p:txBody>
      </p:sp>
      <p:pic>
        <p:nvPicPr>
          <p:cNvPr id="7" name="Imagen 6">
            <a:extLst>
              <a:ext uri="{FF2B5EF4-FFF2-40B4-BE49-F238E27FC236}">
                <a16:creationId xmlns:a16="http://schemas.microsoft.com/office/drawing/2014/main" id="{874EA455-7FA8-65DE-513A-582141010BA0}"/>
              </a:ext>
            </a:extLst>
          </p:cNvPr>
          <p:cNvPicPr>
            <a:picLocks noChangeAspect="1"/>
          </p:cNvPicPr>
          <p:nvPr/>
        </p:nvPicPr>
        <p:blipFill>
          <a:blip r:embed="rId4"/>
          <a:stretch>
            <a:fillRect/>
          </a:stretch>
        </p:blipFill>
        <p:spPr>
          <a:xfrm>
            <a:off x="7270963" y="1888040"/>
            <a:ext cx="4282861" cy="3314330"/>
          </a:xfrm>
          <a:prstGeom prst="rect">
            <a:avLst/>
          </a:prstGeom>
        </p:spPr>
      </p:pic>
      <p:pic>
        <p:nvPicPr>
          <p:cNvPr id="9" name="Imagen 8">
            <a:extLst>
              <a:ext uri="{FF2B5EF4-FFF2-40B4-BE49-F238E27FC236}">
                <a16:creationId xmlns:a16="http://schemas.microsoft.com/office/drawing/2014/main" id="{02B1EB43-A236-5AA4-AF65-6AE2E860ADF8}"/>
              </a:ext>
            </a:extLst>
          </p:cNvPr>
          <p:cNvPicPr>
            <a:picLocks noChangeAspect="1"/>
          </p:cNvPicPr>
          <p:nvPr/>
        </p:nvPicPr>
        <p:blipFill>
          <a:blip r:embed="rId5"/>
          <a:stretch>
            <a:fillRect/>
          </a:stretch>
        </p:blipFill>
        <p:spPr>
          <a:xfrm>
            <a:off x="415925" y="2891692"/>
            <a:ext cx="6855038" cy="1307027"/>
          </a:xfrm>
          <a:prstGeom prst="rect">
            <a:avLst/>
          </a:prstGeom>
        </p:spPr>
      </p:pic>
    </p:spTree>
    <p:extLst>
      <p:ext uri="{BB962C8B-B14F-4D97-AF65-F5344CB8AC3E}">
        <p14:creationId xmlns:p14="http://schemas.microsoft.com/office/powerpoint/2010/main" val="41476561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76201-83DF-9363-AEAB-526E6626916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8FADA47-1AC4-E159-86DB-E321BC1FDF3F}"/>
              </a:ext>
            </a:extLst>
          </p:cNvPr>
          <p:cNvSpPr>
            <a:spLocks noGrp="1"/>
          </p:cNvSpPr>
          <p:nvPr>
            <p:ph type="title"/>
          </p:nvPr>
        </p:nvSpPr>
        <p:spPr/>
        <p:txBody>
          <a:bodyPr/>
          <a:lstStyle/>
          <a:p>
            <a:r>
              <a:rPr lang="es-ES" b="1" dirty="0"/>
              <a:t>Constructores y destructores</a:t>
            </a:r>
            <a:r>
              <a:rPr lang="es-AR" dirty="0"/>
              <a:t>.</a:t>
            </a:r>
          </a:p>
        </p:txBody>
      </p:sp>
      <p:sp>
        <p:nvSpPr>
          <p:cNvPr id="3" name="Marcador de contenido 2">
            <a:extLst>
              <a:ext uri="{FF2B5EF4-FFF2-40B4-BE49-F238E27FC236}">
                <a16:creationId xmlns:a16="http://schemas.microsoft.com/office/drawing/2014/main" id="{D15B1859-2D3B-2183-C18C-0E8597BECD5E}"/>
              </a:ext>
            </a:extLst>
          </p:cNvPr>
          <p:cNvSpPr>
            <a:spLocks noGrp="1"/>
          </p:cNvSpPr>
          <p:nvPr>
            <p:ph idx="1"/>
          </p:nvPr>
        </p:nvSpPr>
        <p:spPr>
          <a:xfrm>
            <a:off x="1097280" y="1845734"/>
            <a:ext cx="10058400" cy="4428066"/>
          </a:xfrm>
        </p:spPr>
        <p:txBody>
          <a:bodyPr>
            <a:normAutofit/>
          </a:bodyPr>
          <a:lstStyle/>
          <a:p>
            <a:pPr marL="0" indent="0">
              <a:buNone/>
            </a:pPr>
            <a:r>
              <a:rPr lang="es-AR" dirty="0"/>
              <a:t>Características destructor en Java:</a:t>
            </a:r>
          </a:p>
          <a:p>
            <a:pPr>
              <a:buFont typeface="Arial" panose="020B0604020202020204" pitchFamily="34" charset="0"/>
              <a:buChar char="•"/>
            </a:pPr>
            <a:r>
              <a:rPr lang="es-ES" dirty="0"/>
              <a:t>En Java, no se definen destructores explícitos como en C++.</a:t>
            </a:r>
          </a:p>
          <a:p>
            <a:pPr>
              <a:buFont typeface="Arial" panose="020B0604020202020204" pitchFamily="34" charset="0"/>
              <a:buChar char="•"/>
            </a:pPr>
            <a:r>
              <a:rPr lang="es-ES" dirty="0"/>
              <a:t>La memoria se gestiona automáticamente a través de la recolección de basura (</a:t>
            </a:r>
            <a:r>
              <a:rPr lang="es-ES" dirty="0" err="1"/>
              <a:t>garbage</a:t>
            </a:r>
            <a:r>
              <a:rPr lang="es-ES" dirty="0"/>
              <a:t> </a:t>
            </a:r>
            <a:r>
              <a:rPr lang="es-ES" dirty="0" err="1"/>
              <a:t>collection</a:t>
            </a:r>
            <a:r>
              <a:rPr lang="es-ES" dirty="0"/>
              <a:t>).</a:t>
            </a:r>
          </a:p>
          <a:p>
            <a:pPr>
              <a:buFont typeface="Arial" panose="020B0604020202020204" pitchFamily="34" charset="0"/>
              <a:buChar char="•"/>
            </a:pPr>
            <a:r>
              <a:rPr lang="es-ES" dirty="0"/>
              <a:t>El recolector de basura libera la memoria de los objetos que ya no están siendo utilizados.</a:t>
            </a:r>
          </a:p>
          <a:p>
            <a:pPr algn="just">
              <a:buFont typeface="Arial" panose="020B0604020202020204" pitchFamily="34" charset="0"/>
              <a:buChar char="•"/>
            </a:pPr>
            <a:r>
              <a:rPr lang="es-ES" dirty="0"/>
              <a:t>Se puede utilizar el método </a:t>
            </a:r>
            <a:r>
              <a:rPr lang="es-ES" dirty="0" err="1"/>
              <a:t>finalize</a:t>
            </a:r>
            <a:r>
              <a:rPr lang="es-ES" dirty="0"/>
              <a:t>() para realizar tareas de limpieza antes de que un objeto sea recolectado, pero no se considera un destructor propiamente dicho y su uso es desaconsejado en la programación moderna, se recomienda utilizar try-</a:t>
            </a:r>
            <a:r>
              <a:rPr lang="es-ES" dirty="0" err="1"/>
              <a:t>with</a:t>
            </a:r>
            <a:r>
              <a:rPr lang="es-ES" dirty="0"/>
              <a:t>-</a:t>
            </a:r>
            <a:r>
              <a:rPr lang="es-ES" dirty="0" err="1"/>
              <a:t>resources</a:t>
            </a:r>
            <a:r>
              <a:rPr lang="es-ES" dirty="0"/>
              <a:t> para la gestión de recursos.</a:t>
            </a:r>
            <a:endParaRPr lang="es-AR" dirty="0"/>
          </a:p>
        </p:txBody>
      </p:sp>
      <p:pic>
        <p:nvPicPr>
          <p:cNvPr id="4" name="Imagen 3">
            <a:extLst>
              <a:ext uri="{FF2B5EF4-FFF2-40B4-BE49-F238E27FC236}">
                <a16:creationId xmlns:a16="http://schemas.microsoft.com/office/drawing/2014/main" id="{4ACDCBCA-AACA-7B2F-B99A-E2D4E4B51EC7}"/>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7B8A3B0E-E7EB-1D16-1AF4-F397C2186E13}"/>
              </a:ext>
            </a:extLst>
          </p:cNvPr>
          <p:cNvSpPr>
            <a:spLocks noGrp="1"/>
          </p:cNvSpPr>
          <p:nvPr>
            <p:ph type="sldNum" sz="quarter" idx="12"/>
          </p:nvPr>
        </p:nvSpPr>
        <p:spPr/>
        <p:txBody>
          <a:bodyPr/>
          <a:lstStyle/>
          <a:p>
            <a:fld id="{6C8ECD1B-3F01-46F8-A46F-31A31EFC5ABF}" type="slidenum">
              <a:rPr lang="es-AR" smtClean="0"/>
              <a:t>53</a:t>
            </a:fld>
            <a:endParaRPr lang="es-AR"/>
          </a:p>
        </p:txBody>
      </p:sp>
    </p:spTree>
    <p:extLst>
      <p:ext uri="{BB962C8B-B14F-4D97-AF65-F5344CB8AC3E}">
        <p14:creationId xmlns:p14="http://schemas.microsoft.com/office/powerpoint/2010/main" val="20439909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B5ABA-F3A4-AFD9-6D28-EF270DBDCD3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24FB4BA-8E22-899B-A56B-318A74AF13C7}"/>
              </a:ext>
            </a:extLst>
          </p:cNvPr>
          <p:cNvSpPr>
            <a:spLocks noGrp="1"/>
          </p:cNvSpPr>
          <p:nvPr>
            <p:ph type="title"/>
          </p:nvPr>
        </p:nvSpPr>
        <p:spPr/>
        <p:txBody>
          <a:bodyPr/>
          <a:lstStyle/>
          <a:p>
            <a:r>
              <a:rPr lang="es-ES" b="1" dirty="0"/>
              <a:t>Constructores y destructores</a:t>
            </a:r>
            <a:r>
              <a:rPr lang="es-AR" dirty="0"/>
              <a:t>.</a:t>
            </a:r>
          </a:p>
        </p:txBody>
      </p:sp>
      <p:pic>
        <p:nvPicPr>
          <p:cNvPr id="4" name="Imagen 3">
            <a:extLst>
              <a:ext uri="{FF2B5EF4-FFF2-40B4-BE49-F238E27FC236}">
                <a16:creationId xmlns:a16="http://schemas.microsoft.com/office/drawing/2014/main" id="{18DC974E-85C9-4C46-FE13-D745F9C1E26B}"/>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5CDF209E-B6F6-0D47-274F-16395D950CA7}"/>
              </a:ext>
            </a:extLst>
          </p:cNvPr>
          <p:cNvSpPr>
            <a:spLocks noGrp="1"/>
          </p:cNvSpPr>
          <p:nvPr>
            <p:ph type="sldNum" sz="quarter" idx="12"/>
          </p:nvPr>
        </p:nvSpPr>
        <p:spPr/>
        <p:txBody>
          <a:bodyPr/>
          <a:lstStyle/>
          <a:p>
            <a:fld id="{6C8ECD1B-3F01-46F8-A46F-31A31EFC5ABF}" type="slidenum">
              <a:rPr lang="es-AR" smtClean="0"/>
              <a:t>54</a:t>
            </a:fld>
            <a:endParaRPr lang="es-AR"/>
          </a:p>
        </p:txBody>
      </p:sp>
      <p:pic>
        <p:nvPicPr>
          <p:cNvPr id="7" name="Imagen 6">
            <a:extLst>
              <a:ext uri="{FF2B5EF4-FFF2-40B4-BE49-F238E27FC236}">
                <a16:creationId xmlns:a16="http://schemas.microsoft.com/office/drawing/2014/main" id="{A92B94F3-7D3B-DFB6-8F39-937899692F1D}"/>
              </a:ext>
            </a:extLst>
          </p:cNvPr>
          <p:cNvPicPr>
            <a:picLocks noChangeAspect="1"/>
          </p:cNvPicPr>
          <p:nvPr/>
        </p:nvPicPr>
        <p:blipFill>
          <a:blip r:embed="rId4"/>
          <a:stretch>
            <a:fillRect/>
          </a:stretch>
        </p:blipFill>
        <p:spPr>
          <a:xfrm>
            <a:off x="3446673" y="1871574"/>
            <a:ext cx="5298654" cy="4013626"/>
          </a:xfrm>
          <a:prstGeom prst="rect">
            <a:avLst/>
          </a:prstGeom>
        </p:spPr>
      </p:pic>
      <p:sp>
        <p:nvSpPr>
          <p:cNvPr id="6" name="Marcador de contenido 2">
            <a:extLst>
              <a:ext uri="{FF2B5EF4-FFF2-40B4-BE49-F238E27FC236}">
                <a16:creationId xmlns:a16="http://schemas.microsoft.com/office/drawing/2014/main" id="{33894B63-F9E4-D6B7-70FD-CD3D89C09672}"/>
              </a:ext>
            </a:extLst>
          </p:cNvPr>
          <p:cNvSpPr>
            <a:spLocks noGrp="1"/>
          </p:cNvSpPr>
          <p:nvPr>
            <p:ph idx="1"/>
          </p:nvPr>
        </p:nvSpPr>
        <p:spPr>
          <a:xfrm>
            <a:off x="1097280" y="1845734"/>
            <a:ext cx="10058400" cy="4428066"/>
          </a:xfrm>
        </p:spPr>
        <p:txBody>
          <a:bodyPr>
            <a:normAutofit fontScale="92500" lnSpcReduction="10000"/>
          </a:bodyPr>
          <a:lstStyle/>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r>
              <a:rPr lang="es-AR" dirty="0"/>
              <a:t>Deprecado en versiones modernas de java</a:t>
            </a:r>
          </a:p>
        </p:txBody>
      </p:sp>
    </p:spTree>
    <p:extLst>
      <p:ext uri="{BB962C8B-B14F-4D97-AF65-F5344CB8AC3E}">
        <p14:creationId xmlns:p14="http://schemas.microsoft.com/office/powerpoint/2010/main" val="9920822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F12DB-7C86-7456-52F0-DBC85C65122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9A2BBA8-4097-B7CA-346A-FC9125877DB6}"/>
              </a:ext>
            </a:extLst>
          </p:cNvPr>
          <p:cNvSpPr>
            <a:spLocks noGrp="1"/>
          </p:cNvSpPr>
          <p:nvPr>
            <p:ph type="title"/>
          </p:nvPr>
        </p:nvSpPr>
        <p:spPr/>
        <p:txBody>
          <a:bodyPr/>
          <a:lstStyle/>
          <a:p>
            <a:r>
              <a:rPr lang="es-AR" dirty="0"/>
              <a:t>Del diagrama de clase a código Java</a:t>
            </a:r>
          </a:p>
        </p:txBody>
      </p:sp>
      <p:pic>
        <p:nvPicPr>
          <p:cNvPr id="4" name="Imagen 3">
            <a:extLst>
              <a:ext uri="{FF2B5EF4-FFF2-40B4-BE49-F238E27FC236}">
                <a16:creationId xmlns:a16="http://schemas.microsoft.com/office/drawing/2014/main" id="{C7DFE1DA-5EBF-16CD-7B2D-55D530F865A3}"/>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3F905AD7-A2D4-E08B-8780-F4ECD2BD8C6B}"/>
              </a:ext>
            </a:extLst>
          </p:cNvPr>
          <p:cNvSpPr>
            <a:spLocks noGrp="1"/>
          </p:cNvSpPr>
          <p:nvPr>
            <p:ph type="sldNum" sz="quarter" idx="12"/>
          </p:nvPr>
        </p:nvSpPr>
        <p:spPr/>
        <p:txBody>
          <a:bodyPr/>
          <a:lstStyle/>
          <a:p>
            <a:fld id="{6C8ECD1B-3F01-46F8-A46F-31A31EFC5ABF}" type="slidenum">
              <a:rPr lang="es-AR" smtClean="0"/>
              <a:t>55</a:t>
            </a:fld>
            <a:endParaRPr lang="es-AR"/>
          </a:p>
        </p:txBody>
      </p:sp>
      <p:pic>
        <p:nvPicPr>
          <p:cNvPr id="13" name="Imagen 12">
            <a:extLst>
              <a:ext uri="{FF2B5EF4-FFF2-40B4-BE49-F238E27FC236}">
                <a16:creationId xmlns:a16="http://schemas.microsoft.com/office/drawing/2014/main" id="{D6BC551D-2480-8081-ECE8-C38DA0F0D1D1}"/>
              </a:ext>
            </a:extLst>
          </p:cNvPr>
          <p:cNvPicPr>
            <a:picLocks noChangeAspect="1"/>
          </p:cNvPicPr>
          <p:nvPr/>
        </p:nvPicPr>
        <p:blipFill>
          <a:blip r:embed="rId3"/>
          <a:stretch>
            <a:fillRect/>
          </a:stretch>
        </p:blipFill>
        <p:spPr>
          <a:xfrm>
            <a:off x="2301666" y="1843479"/>
            <a:ext cx="7649627" cy="4284906"/>
          </a:xfrm>
          <a:prstGeom prst="rect">
            <a:avLst/>
          </a:prstGeom>
        </p:spPr>
      </p:pic>
    </p:spTree>
    <p:extLst>
      <p:ext uri="{BB962C8B-B14F-4D97-AF65-F5344CB8AC3E}">
        <p14:creationId xmlns:p14="http://schemas.microsoft.com/office/powerpoint/2010/main" val="4570041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13834-FC96-7E72-BE3F-5C8AD1CA4AD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601D70A-9188-5B2B-9F0A-CA94B9846B16}"/>
              </a:ext>
            </a:extLst>
          </p:cNvPr>
          <p:cNvSpPr>
            <a:spLocks noGrp="1"/>
          </p:cNvSpPr>
          <p:nvPr>
            <p:ph type="title"/>
          </p:nvPr>
        </p:nvSpPr>
        <p:spPr/>
        <p:txBody>
          <a:bodyPr/>
          <a:lstStyle/>
          <a:p>
            <a:r>
              <a:rPr lang="es-AR" dirty="0"/>
              <a:t>Del diagrama de clase a código Java</a:t>
            </a:r>
          </a:p>
        </p:txBody>
      </p:sp>
      <p:pic>
        <p:nvPicPr>
          <p:cNvPr id="4" name="Imagen 3">
            <a:extLst>
              <a:ext uri="{FF2B5EF4-FFF2-40B4-BE49-F238E27FC236}">
                <a16:creationId xmlns:a16="http://schemas.microsoft.com/office/drawing/2014/main" id="{1362B22C-4DC1-FD4F-8875-713D682A64C3}"/>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A114F8F1-E8EB-C5FA-29D7-94B13A75A1C7}"/>
              </a:ext>
            </a:extLst>
          </p:cNvPr>
          <p:cNvSpPr>
            <a:spLocks noGrp="1"/>
          </p:cNvSpPr>
          <p:nvPr>
            <p:ph type="sldNum" sz="quarter" idx="12"/>
          </p:nvPr>
        </p:nvSpPr>
        <p:spPr/>
        <p:txBody>
          <a:bodyPr/>
          <a:lstStyle/>
          <a:p>
            <a:fld id="{6C8ECD1B-3F01-46F8-A46F-31A31EFC5ABF}" type="slidenum">
              <a:rPr lang="es-AR" smtClean="0"/>
              <a:t>56</a:t>
            </a:fld>
            <a:endParaRPr lang="es-AR"/>
          </a:p>
        </p:txBody>
      </p:sp>
      <p:pic>
        <p:nvPicPr>
          <p:cNvPr id="6" name="Imagen 5">
            <a:extLst>
              <a:ext uri="{FF2B5EF4-FFF2-40B4-BE49-F238E27FC236}">
                <a16:creationId xmlns:a16="http://schemas.microsoft.com/office/drawing/2014/main" id="{60620109-533B-1C3B-EEDE-B1B7C60D10AA}"/>
              </a:ext>
            </a:extLst>
          </p:cNvPr>
          <p:cNvPicPr>
            <a:picLocks noChangeAspect="1"/>
          </p:cNvPicPr>
          <p:nvPr/>
        </p:nvPicPr>
        <p:blipFill>
          <a:blip r:embed="rId3"/>
          <a:stretch>
            <a:fillRect/>
          </a:stretch>
        </p:blipFill>
        <p:spPr>
          <a:xfrm>
            <a:off x="2716875" y="1848896"/>
            <a:ext cx="6819209" cy="4298883"/>
          </a:xfrm>
          <a:prstGeom prst="rect">
            <a:avLst/>
          </a:prstGeom>
        </p:spPr>
      </p:pic>
    </p:spTree>
    <p:extLst>
      <p:ext uri="{BB962C8B-B14F-4D97-AF65-F5344CB8AC3E}">
        <p14:creationId xmlns:p14="http://schemas.microsoft.com/office/powerpoint/2010/main" val="30724106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B3FAA-6B6E-228F-D7C8-7BE19DC1A87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6137642-5FB4-C8FD-B3EA-7D8C6E66D79C}"/>
              </a:ext>
            </a:extLst>
          </p:cNvPr>
          <p:cNvSpPr>
            <a:spLocks noGrp="1"/>
          </p:cNvSpPr>
          <p:nvPr>
            <p:ph type="title"/>
          </p:nvPr>
        </p:nvSpPr>
        <p:spPr/>
        <p:txBody>
          <a:bodyPr/>
          <a:lstStyle/>
          <a:p>
            <a:r>
              <a:rPr lang="es-AR" dirty="0"/>
              <a:t>Del diagrama de clase a código Java</a:t>
            </a:r>
          </a:p>
        </p:txBody>
      </p:sp>
      <p:pic>
        <p:nvPicPr>
          <p:cNvPr id="4" name="Imagen 3">
            <a:extLst>
              <a:ext uri="{FF2B5EF4-FFF2-40B4-BE49-F238E27FC236}">
                <a16:creationId xmlns:a16="http://schemas.microsoft.com/office/drawing/2014/main" id="{67DD57AF-9802-39DB-5386-A40B784BF6FE}"/>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9891DFCD-2F6A-09A6-D790-F4F4CC5ECE8D}"/>
              </a:ext>
            </a:extLst>
          </p:cNvPr>
          <p:cNvSpPr>
            <a:spLocks noGrp="1"/>
          </p:cNvSpPr>
          <p:nvPr>
            <p:ph type="sldNum" sz="quarter" idx="12"/>
          </p:nvPr>
        </p:nvSpPr>
        <p:spPr/>
        <p:txBody>
          <a:bodyPr/>
          <a:lstStyle/>
          <a:p>
            <a:fld id="{6C8ECD1B-3F01-46F8-A46F-31A31EFC5ABF}" type="slidenum">
              <a:rPr lang="es-AR" smtClean="0"/>
              <a:t>57</a:t>
            </a:fld>
            <a:endParaRPr lang="es-AR"/>
          </a:p>
        </p:txBody>
      </p:sp>
      <p:pic>
        <p:nvPicPr>
          <p:cNvPr id="6" name="Imagen 5">
            <a:extLst>
              <a:ext uri="{FF2B5EF4-FFF2-40B4-BE49-F238E27FC236}">
                <a16:creationId xmlns:a16="http://schemas.microsoft.com/office/drawing/2014/main" id="{9132D5E6-9C2A-83C0-153F-7F437326A72D}"/>
              </a:ext>
            </a:extLst>
          </p:cNvPr>
          <p:cNvPicPr>
            <a:picLocks noChangeAspect="1"/>
          </p:cNvPicPr>
          <p:nvPr/>
        </p:nvPicPr>
        <p:blipFill>
          <a:blip r:embed="rId3"/>
          <a:stretch>
            <a:fillRect/>
          </a:stretch>
        </p:blipFill>
        <p:spPr>
          <a:xfrm>
            <a:off x="3187205" y="1899139"/>
            <a:ext cx="5817590" cy="4188958"/>
          </a:xfrm>
          <a:prstGeom prst="rect">
            <a:avLst/>
          </a:prstGeom>
        </p:spPr>
      </p:pic>
    </p:spTree>
    <p:extLst>
      <p:ext uri="{BB962C8B-B14F-4D97-AF65-F5344CB8AC3E}">
        <p14:creationId xmlns:p14="http://schemas.microsoft.com/office/powerpoint/2010/main" val="15518096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00A0B-E847-0511-BDE8-18AFEB801F6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5044A10-7ECE-F76F-01BE-F8CAED4BA691}"/>
              </a:ext>
            </a:extLst>
          </p:cNvPr>
          <p:cNvSpPr>
            <a:spLocks noGrp="1"/>
          </p:cNvSpPr>
          <p:nvPr>
            <p:ph type="title"/>
          </p:nvPr>
        </p:nvSpPr>
        <p:spPr/>
        <p:txBody>
          <a:bodyPr/>
          <a:lstStyle/>
          <a:p>
            <a:r>
              <a:rPr lang="es-AR" dirty="0"/>
              <a:t>Del diagrama de clase a código Java</a:t>
            </a:r>
          </a:p>
        </p:txBody>
      </p:sp>
      <p:pic>
        <p:nvPicPr>
          <p:cNvPr id="4" name="Imagen 3">
            <a:extLst>
              <a:ext uri="{FF2B5EF4-FFF2-40B4-BE49-F238E27FC236}">
                <a16:creationId xmlns:a16="http://schemas.microsoft.com/office/drawing/2014/main" id="{D0CD20B7-BA03-ABD6-656F-46AA489ED55C}"/>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72CAD5DB-422A-E66E-34A3-951B0A3C1CF9}"/>
              </a:ext>
            </a:extLst>
          </p:cNvPr>
          <p:cNvSpPr>
            <a:spLocks noGrp="1"/>
          </p:cNvSpPr>
          <p:nvPr>
            <p:ph type="sldNum" sz="quarter" idx="12"/>
          </p:nvPr>
        </p:nvSpPr>
        <p:spPr/>
        <p:txBody>
          <a:bodyPr/>
          <a:lstStyle/>
          <a:p>
            <a:fld id="{6C8ECD1B-3F01-46F8-A46F-31A31EFC5ABF}" type="slidenum">
              <a:rPr lang="es-AR" smtClean="0"/>
              <a:t>58</a:t>
            </a:fld>
            <a:endParaRPr lang="es-AR"/>
          </a:p>
        </p:txBody>
      </p:sp>
      <p:pic>
        <p:nvPicPr>
          <p:cNvPr id="6" name="Imagen 5">
            <a:extLst>
              <a:ext uri="{FF2B5EF4-FFF2-40B4-BE49-F238E27FC236}">
                <a16:creationId xmlns:a16="http://schemas.microsoft.com/office/drawing/2014/main" id="{19367D2F-3E1A-17B6-9A0B-59C3489FAE70}"/>
              </a:ext>
            </a:extLst>
          </p:cNvPr>
          <p:cNvPicPr>
            <a:picLocks noChangeAspect="1"/>
          </p:cNvPicPr>
          <p:nvPr/>
        </p:nvPicPr>
        <p:blipFill>
          <a:blip r:embed="rId3"/>
          <a:stretch>
            <a:fillRect/>
          </a:stretch>
        </p:blipFill>
        <p:spPr>
          <a:xfrm>
            <a:off x="2726730" y="1737360"/>
            <a:ext cx="6738539" cy="4438170"/>
          </a:xfrm>
          <a:prstGeom prst="rect">
            <a:avLst/>
          </a:prstGeom>
        </p:spPr>
      </p:pic>
    </p:spTree>
    <p:extLst>
      <p:ext uri="{BB962C8B-B14F-4D97-AF65-F5344CB8AC3E}">
        <p14:creationId xmlns:p14="http://schemas.microsoft.com/office/powerpoint/2010/main" val="33148479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F1175-8526-55B1-811F-D43BFC77857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78031EE-0989-F863-D57C-A2478030E874}"/>
              </a:ext>
            </a:extLst>
          </p:cNvPr>
          <p:cNvSpPr>
            <a:spLocks noGrp="1"/>
          </p:cNvSpPr>
          <p:nvPr>
            <p:ph type="title"/>
          </p:nvPr>
        </p:nvSpPr>
        <p:spPr/>
        <p:txBody>
          <a:bodyPr/>
          <a:lstStyle/>
          <a:p>
            <a:r>
              <a:rPr lang="es-AR" dirty="0"/>
              <a:t>Del diagrama de clase a código Java</a:t>
            </a:r>
          </a:p>
        </p:txBody>
      </p:sp>
      <p:pic>
        <p:nvPicPr>
          <p:cNvPr id="4" name="Imagen 3">
            <a:extLst>
              <a:ext uri="{FF2B5EF4-FFF2-40B4-BE49-F238E27FC236}">
                <a16:creationId xmlns:a16="http://schemas.microsoft.com/office/drawing/2014/main" id="{58E32EE3-E048-71CB-CF66-EE8FDCE16775}"/>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06A50AE4-BD99-D035-1DF4-33C361B2C85B}"/>
              </a:ext>
            </a:extLst>
          </p:cNvPr>
          <p:cNvSpPr>
            <a:spLocks noGrp="1"/>
          </p:cNvSpPr>
          <p:nvPr>
            <p:ph type="sldNum" sz="quarter" idx="12"/>
          </p:nvPr>
        </p:nvSpPr>
        <p:spPr/>
        <p:txBody>
          <a:bodyPr/>
          <a:lstStyle/>
          <a:p>
            <a:fld id="{6C8ECD1B-3F01-46F8-A46F-31A31EFC5ABF}" type="slidenum">
              <a:rPr lang="es-AR" smtClean="0"/>
              <a:t>59</a:t>
            </a:fld>
            <a:endParaRPr lang="es-AR"/>
          </a:p>
        </p:txBody>
      </p:sp>
      <p:pic>
        <p:nvPicPr>
          <p:cNvPr id="7" name="Imagen 6">
            <a:extLst>
              <a:ext uri="{FF2B5EF4-FFF2-40B4-BE49-F238E27FC236}">
                <a16:creationId xmlns:a16="http://schemas.microsoft.com/office/drawing/2014/main" id="{0C450EFB-9CD4-CF3D-D5FA-1FC74E3EE6D3}"/>
              </a:ext>
            </a:extLst>
          </p:cNvPr>
          <p:cNvPicPr>
            <a:picLocks noChangeAspect="1"/>
          </p:cNvPicPr>
          <p:nvPr/>
        </p:nvPicPr>
        <p:blipFill>
          <a:blip r:embed="rId3"/>
          <a:stretch>
            <a:fillRect/>
          </a:stretch>
        </p:blipFill>
        <p:spPr>
          <a:xfrm>
            <a:off x="2133600" y="1759969"/>
            <a:ext cx="7924800" cy="4486275"/>
          </a:xfrm>
          <a:prstGeom prst="rect">
            <a:avLst/>
          </a:prstGeom>
        </p:spPr>
      </p:pic>
    </p:spTree>
    <p:extLst>
      <p:ext uri="{BB962C8B-B14F-4D97-AF65-F5344CB8AC3E}">
        <p14:creationId xmlns:p14="http://schemas.microsoft.com/office/powerpoint/2010/main" val="37161490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8569F-5C2F-15C6-2D97-10188C635DB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A558C89-2215-210C-AEB6-E25304EC6C8D}"/>
              </a:ext>
            </a:extLst>
          </p:cNvPr>
          <p:cNvSpPr>
            <a:spLocks noGrp="1"/>
          </p:cNvSpPr>
          <p:nvPr>
            <p:ph type="title"/>
          </p:nvPr>
        </p:nvSpPr>
        <p:spPr/>
        <p:txBody>
          <a:bodyPr/>
          <a:lstStyle/>
          <a:p>
            <a:r>
              <a:rPr lang="es-AR" dirty="0"/>
              <a:t>Del diagrama de clase a código Java</a:t>
            </a:r>
          </a:p>
        </p:txBody>
      </p:sp>
      <p:pic>
        <p:nvPicPr>
          <p:cNvPr id="4" name="Imagen 3">
            <a:extLst>
              <a:ext uri="{FF2B5EF4-FFF2-40B4-BE49-F238E27FC236}">
                <a16:creationId xmlns:a16="http://schemas.microsoft.com/office/drawing/2014/main" id="{89937315-BEDA-177B-0081-1ECA4E49ACF2}"/>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F38059F3-70DB-52B3-B686-1ECECD3BC348}"/>
              </a:ext>
            </a:extLst>
          </p:cNvPr>
          <p:cNvSpPr>
            <a:spLocks noGrp="1"/>
          </p:cNvSpPr>
          <p:nvPr>
            <p:ph type="sldNum" sz="quarter" idx="12"/>
          </p:nvPr>
        </p:nvSpPr>
        <p:spPr/>
        <p:txBody>
          <a:bodyPr/>
          <a:lstStyle/>
          <a:p>
            <a:fld id="{6C8ECD1B-3F01-46F8-A46F-31A31EFC5ABF}" type="slidenum">
              <a:rPr lang="es-AR" smtClean="0"/>
              <a:t>60</a:t>
            </a:fld>
            <a:endParaRPr lang="es-AR"/>
          </a:p>
        </p:txBody>
      </p:sp>
      <p:pic>
        <p:nvPicPr>
          <p:cNvPr id="6" name="Imagen 5">
            <a:extLst>
              <a:ext uri="{FF2B5EF4-FFF2-40B4-BE49-F238E27FC236}">
                <a16:creationId xmlns:a16="http://schemas.microsoft.com/office/drawing/2014/main" id="{1A05F29F-2036-0469-109B-D1494145B4A2}"/>
              </a:ext>
            </a:extLst>
          </p:cNvPr>
          <p:cNvPicPr>
            <a:picLocks noChangeAspect="1"/>
          </p:cNvPicPr>
          <p:nvPr/>
        </p:nvPicPr>
        <p:blipFill>
          <a:blip r:embed="rId3"/>
          <a:stretch>
            <a:fillRect/>
          </a:stretch>
        </p:blipFill>
        <p:spPr>
          <a:xfrm>
            <a:off x="2761109" y="1879267"/>
            <a:ext cx="6730742" cy="4438610"/>
          </a:xfrm>
          <a:prstGeom prst="rect">
            <a:avLst/>
          </a:prstGeom>
        </p:spPr>
      </p:pic>
    </p:spTree>
    <p:extLst>
      <p:ext uri="{BB962C8B-B14F-4D97-AF65-F5344CB8AC3E}">
        <p14:creationId xmlns:p14="http://schemas.microsoft.com/office/powerpoint/2010/main" val="30078232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B77A3-A7C7-A404-9D04-5270F82A45F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5F83F2F-D17E-3340-0CD6-46FF2FE88625}"/>
              </a:ext>
            </a:extLst>
          </p:cNvPr>
          <p:cNvSpPr>
            <a:spLocks noGrp="1"/>
          </p:cNvSpPr>
          <p:nvPr>
            <p:ph type="title"/>
          </p:nvPr>
        </p:nvSpPr>
        <p:spPr/>
        <p:txBody>
          <a:bodyPr/>
          <a:lstStyle/>
          <a:p>
            <a:r>
              <a:rPr lang="es-AR" dirty="0"/>
              <a:t>Del diagrama de clase a código Java</a:t>
            </a:r>
          </a:p>
        </p:txBody>
      </p:sp>
      <p:pic>
        <p:nvPicPr>
          <p:cNvPr id="4" name="Imagen 3">
            <a:extLst>
              <a:ext uri="{FF2B5EF4-FFF2-40B4-BE49-F238E27FC236}">
                <a16:creationId xmlns:a16="http://schemas.microsoft.com/office/drawing/2014/main" id="{9A5AD155-AEBF-511C-6291-36576999B43B}"/>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E4E36324-F90E-15A1-49A8-55EB6534EE67}"/>
              </a:ext>
            </a:extLst>
          </p:cNvPr>
          <p:cNvSpPr>
            <a:spLocks noGrp="1"/>
          </p:cNvSpPr>
          <p:nvPr>
            <p:ph type="sldNum" sz="quarter" idx="12"/>
          </p:nvPr>
        </p:nvSpPr>
        <p:spPr/>
        <p:txBody>
          <a:bodyPr/>
          <a:lstStyle/>
          <a:p>
            <a:fld id="{6C8ECD1B-3F01-46F8-A46F-31A31EFC5ABF}" type="slidenum">
              <a:rPr lang="es-AR" smtClean="0"/>
              <a:t>61</a:t>
            </a:fld>
            <a:endParaRPr lang="es-AR"/>
          </a:p>
        </p:txBody>
      </p:sp>
      <p:pic>
        <p:nvPicPr>
          <p:cNvPr id="3" name="Imagen 2">
            <a:extLst>
              <a:ext uri="{FF2B5EF4-FFF2-40B4-BE49-F238E27FC236}">
                <a16:creationId xmlns:a16="http://schemas.microsoft.com/office/drawing/2014/main" id="{BF84B36E-7A88-0537-FF47-EA05FB1E53A8}"/>
              </a:ext>
            </a:extLst>
          </p:cNvPr>
          <p:cNvPicPr>
            <a:picLocks noChangeAspect="1"/>
          </p:cNvPicPr>
          <p:nvPr/>
        </p:nvPicPr>
        <p:blipFill>
          <a:blip r:embed="rId3"/>
          <a:stretch>
            <a:fillRect/>
          </a:stretch>
        </p:blipFill>
        <p:spPr>
          <a:xfrm>
            <a:off x="2652241" y="1924989"/>
            <a:ext cx="6887517" cy="4347166"/>
          </a:xfrm>
          <a:prstGeom prst="rect">
            <a:avLst/>
          </a:prstGeom>
        </p:spPr>
      </p:pic>
    </p:spTree>
    <p:extLst>
      <p:ext uri="{BB962C8B-B14F-4D97-AF65-F5344CB8AC3E}">
        <p14:creationId xmlns:p14="http://schemas.microsoft.com/office/powerpoint/2010/main" val="3109653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1B1FA-88EE-A87E-90A8-80B817F4F36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70BA78D-7C4C-34CC-36A3-67B16A6D3FE8}"/>
              </a:ext>
            </a:extLst>
          </p:cNvPr>
          <p:cNvSpPr>
            <a:spLocks noGrp="1"/>
          </p:cNvSpPr>
          <p:nvPr>
            <p:ph type="title"/>
          </p:nvPr>
        </p:nvSpPr>
        <p:spPr/>
        <p:txBody>
          <a:bodyPr/>
          <a:lstStyle/>
          <a:p>
            <a:r>
              <a:rPr lang="es-AR" dirty="0"/>
              <a:t>Del diagrama de clase a código Java</a:t>
            </a:r>
          </a:p>
        </p:txBody>
      </p:sp>
      <p:pic>
        <p:nvPicPr>
          <p:cNvPr id="4" name="Imagen 3">
            <a:extLst>
              <a:ext uri="{FF2B5EF4-FFF2-40B4-BE49-F238E27FC236}">
                <a16:creationId xmlns:a16="http://schemas.microsoft.com/office/drawing/2014/main" id="{C63DB753-A63F-8A47-B81D-B03D66A8E329}"/>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076EC8B7-8A60-C200-642A-DA772EC64059}"/>
              </a:ext>
            </a:extLst>
          </p:cNvPr>
          <p:cNvSpPr>
            <a:spLocks noGrp="1"/>
          </p:cNvSpPr>
          <p:nvPr>
            <p:ph type="sldNum" sz="quarter" idx="12"/>
          </p:nvPr>
        </p:nvSpPr>
        <p:spPr/>
        <p:txBody>
          <a:bodyPr/>
          <a:lstStyle/>
          <a:p>
            <a:fld id="{6C8ECD1B-3F01-46F8-A46F-31A31EFC5ABF}" type="slidenum">
              <a:rPr lang="es-AR" smtClean="0"/>
              <a:t>62</a:t>
            </a:fld>
            <a:endParaRPr lang="es-AR"/>
          </a:p>
        </p:txBody>
      </p:sp>
      <p:pic>
        <p:nvPicPr>
          <p:cNvPr id="7" name="Imagen 6">
            <a:extLst>
              <a:ext uri="{FF2B5EF4-FFF2-40B4-BE49-F238E27FC236}">
                <a16:creationId xmlns:a16="http://schemas.microsoft.com/office/drawing/2014/main" id="{84BE6C5A-CF94-2023-B0F2-C9453B3C2B28}"/>
              </a:ext>
            </a:extLst>
          </p:cNvPr>
          <p:cNvPicPr>
            <a:picLocks noChangeAspect="1"/>
          </p:cNvPicPr>
          <p:nvPr/>
        </p:nvPicPr>
        <p:blipFill>
          <a:blip r:embed="rId3"/>
          <a:stretch>
            <a:fillRect/>
          </a:stretch>
        </p:blipFill>
        <p:spPr>
          <a:xfrm>
            <a:off x="3005386" y="1852916"/>
            <a:ext cx="6181228" cy="4446876"/>
          </a:xfrm>
          <a:prstGeom prst="rect">
            <a:avLst/>
          </a:prstGeom>
        </p:spPr>
      </p:pic>
    </p:spTree>
    <p:extLst>
      <p:ext uri="{BB962C8B-B14F-4D97-AF65-F5344CB8AC3E}">
        <p14:creationId xmlns:p14="http://schemas.microsoft.com/office/powerpoint/2010/main" val="30324747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D4273-A59A-97C9-D2EC-6F5FFCEEC10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DBB6767-4DFF-7383-30DC-36C5401FDCCB}"/>
              </a:ext>
            </a:extLst>
          </p:cNvPr>
          <p:cNvSpPr>
            <a:spLocks noGrp="1"/>
          </p:cNvSpPr>
          <p:nvPr>
            <p:ph type="title"/>
          </p:nvPr>
        </p:nvSpPr>
        <p:spPr/>
        <p:txBody>
          <a:bodyPr/>
          <a:lstStyle/>
          <a:p>
            <a:r>
              <a:rPr lang="es-AR" dirty="0"/>
              <a:t>Del diagrama de clase a código Java</a:t>
            </a:r>
          </a:p>
        </p:txBody>
      </p:sp>
      <p:pic>
        <p:nvPicPr>
          <p:cNvPr id="4" name="Imagen 3">
            <a:extLst>
              <a:ext uri="{FF2B5EF4-FFF2-40B4-BE49-F238E27FC236}">
                <a16:creationId xmlns:a16="http://schemas.microsoft.com/office/drawing/2014/main" id="{2AFE1056-B31B-17E7-D0B6-085D163C44EF}"/>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E68145AD-83EE-D800-C32C-51F06C8DBF91}"/>
              </a:ext>
            </a:extLst>
          </p:cNvPr>
          <p:cNvSpPr>
            <a:spLocks noGrp="1"/>
          </p:cNvSpPr>
          <p:nvPr>
            <p:ph type="sldNum" sz="quarter" idx="12"/>
          </p:nvPr>
        </p:nvSpPr>
        <p:spPr/>
        <p:txBody>
          <a:bodyPr/>
          <a:lstStyle/>
          <a:p>
            <a:fld id="{6C8ECD1B-3F01-46F8-A46F-31A31EFC5ABF}" type="slidenum">
              <a:rPr lang="es-AR" smtClean="0"/>
              <a:t>63</a:t>
            </a:fld>
            <a:endParaRPr lang="es-AR"/>
          </a:p>
        </p:txBody>
      </p:sp>
      <p:pic>
        <p:nvPicPr>
          <p:cNvPr id="6" name="Imagen 5">
            <a:extLst>
              <a:ext uri="{FF2B5EF4-FFF2-40B4-BE49-F238E27FC236}">
                <a16:creationId xmlns:a16="http://schemas.microsoft.com/office/drawing/2014/main" id="{0B8A272F-6629-CB5F-4993-E9999172719F}"/>
              </a:ext>
            </a:extLst>
          </p:cNvPr>
          <p:cNvPicPr>
            <a:picLocks noChangeAspect="1"/>
          </p:cNvPicPr>
          <p:nvPr/>
        </p:nvPicPr>
        <p:blipFill>
          <a:blip r:embed="rId3"/>
          <a:stretch>
            <a:fillRect/>
          </a:stretch>
        </p:blipFill>
        <p:spPr>
          <a:xfrm>
            <a:off x="3325061" y="1858944"/>
            <a:ext cx="5541878" cy="4213295"/>
          </a:xfrm>
          <a:prstGeom prst="rect">
            <a:avLst/>
          </a:prstGeom>
        </p:spPr>
      </p:pic>
      <p:sp>
        <p:nvSpPr>
          <p:cNvPr id="8" name="Marcador de contenido 2">
            <a:extLst>
              <a:ext uri="{FF2B5EF4-FFF2-40B4-BE49-F238E27FC236}">
                <a16:creationId xmlns:a16="http://schemas.microsoft.com/office/drawing/2014/main" id="{25AB5D77-A862-2F38-D138-BF84ED597B32}"/>
              </a:ext>
            </a:extLst>
          </p:cNvPr>
          <p:cNvSpPr>
            <a:spLocks noGrp="1"/>
          </p:cNvSpPr>
          <p:nvPr>
            <p:ph idx="1"/>
          </p:nvPr>
        </p:nvSpPr>
        <p:spPr>
          <a:xfrm>
            <a:off x="1097280" y="1845734"/>
            <a:ext cx="10058400" cy="4023360"/>
          </a:xfrm>
        </p:spPr>
        <p:txBody>
          <a:bodyPr/>
          <a:lstStyle/>
          <a:p>
            <a:endParaRPr lang="es-AR" dirty="0"/>
          </a:p>
          <a:p>
            <a:endParaRPr lang="es-AR" dirty="0"/>
          </a:p>
          <a:p>
            <a:r>
              <a:rPr lang="es-AR" b="1" dirty="0"/>
              <a:t>Ejemplo:</a:t>
            </a:r>
          </a:p>
          <a:p>
            <a:endParaRPr lang="es-AR" dirty="0"/>
          </a:p>
          <a:p>
            <a:endParaRPr lang="es-AR" dirty="0"/>
          </a:p>
          <a:p>
            <a:pPr marL="0" indent="0">
              <a:buNone/>
            </a:pPr>
            <a:endParaRPr lang="es-AR" dirty="0"/>
          </a:p>
          <a:p>
            <a:pPr marL="0" indent="0">
              <a:buNone/>
            </a:pPr>
            <a:endParaRPr lang="es-AR" dirty="0"/>
          </a:p>
        </p:txBody>
      </p:sp>
    </p:spTree>
    <p:extLst>
      <p:ext uri="{BB962C8B-B14F-4D97-AF65-F5344CB8AC3E}">
        <p14:creationId xmlns:p14="http://schemas.microsoft.com/office/powerpoint/2010/main" val="15436079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920D7-E2FB-4BC6-1A89-0B197AAB5BE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366B200-653F-5F50-7678-1F7C70DB9CCA}"/>
              </a:ext>
            </a:extLst>
          </p:cNvPr>
          <p:cNvSpPr>
            <a:spLocks noGrp="1"/>
          </p:cNvSpPr>
          <p:nvPr>
            <p:ph type="title"/>
          </p:nvPr>
        </p:nvSpPr>
        <p:spPr/>
        <p:txBody>
          <a:bodyPr/>
          <a:lstStyle/>
          <a:p>
            <a:r>
              <a:rPr lang="es-AR" dirty="0"/>
              <a:t>Del diagrama de clase a código Java</a:t>
            </a:r>
          </a:p>
        </p:txBody>
      </p:sp>
      <p:pic>
        <p:nvPicPr>
          <p:cNvPr id="4" name="Imagen 3">
            <a:extLst>
              <a:ext uri="{FF2B5EF4-FFF2-40B4-BE49-F238E27FC236}">
                <a16:creationId xmlns:a16="http://schemas.microsoft.com/office/drawing/2014/main" id="{ACAEBE45-23E7-2D70-E966-00DCDBB2DFE8}"/>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4A0227B1-26A2-2182-946C-34798A582D60}"/>
              </a:ext>
            </a:extLst>
          </p:cNvPr>
          <p:cNvSpPr>
            <a:spLocks noGrp="1"/>
          </p:cNvSpPr>
          <p:nvPr>
            <p:ph type="sldNum" sz="quarter" idx="12"/>
          </p:nvPr>
        </p:nvSpPr>
        <p:spPr/>
        <p:txBody>
          <a:bodyPr/>
          <a:lstStyle/>
          <a:p>
            <a:fld id="{6C8ECD1B-3F01-46F8-A46F-31A31EFC5ABF}" type="slidenum">
              <a:rPr lang="es-AR" smtClean="0"/>
              <a:t>64</a:t>
            </a:fld>
            <a:endParaRPr lang="es-AR"/>
          </a:p>
        </p:txBody>
      </p:sp>
      <p:sp>
        <p:nvSpPr>
          <p:cNvPr id="8" name="Marcador de contenido 2">
            <a:extLst>
              <a:ext uri="{FF2B5EF4-FFF2-40B4-BE49-F238E27FC236}">
                <a16:creationId xmlns:a16="http://schemas.microsoft.com/office/drawing/2014/main" id="{7D3EEE32-1849-AF01-0F25-A0524833CE83}"/>
              </a:ext>
            </a:extLst>
          </p:cNvPr>
          <p:cNvSpPr>
            <a:spLocks noGrp="1"/>
          </p:cNvSpPr>
          <p:nvPr>
            <p:ph idx="1"/>
          </p:nvPr>
        </p:nvSpPr>
        <p:spPr>
          <a:xfrm>
            <a:off x="1097280" y="1845734"/>
            <a:ext cx="10058400" cy="4023360"/>
          </a:xfrm>
        </p:spPr>
        <p:txBody>
          <a:bodyPr/>
          <a:lstStyle/>
          <a:p>
            <a:endParaRPr lang="es-AR" dirty="0"/>
          </a:p>
          <a:p>
            <a:endParaRPr lang="es-AR" dirty="0"/>
          </a:p>
          <a:p>
            <a:r>
              <a:rPr lang="es-AR" b="1" dirty="0"/>
              <a:t>Ejemplo:</a:t>
            </a:r>
          </a:p>
          <a:p>
            <a:endParaRPr lang="es-AR" dirty="0"/>
          </a:p>
          <a:p>
            <a:endParaRPr lang="es-AR" dirty="0"/>
          </a:p>
          <a:p>
            <a:pPr marL="0" indent="0">
              <a:buNone/>
            </a:pPr>
            <a:endParaRPr lang="es-AR" dirty="0"/>
          </a:p>
          <a:p>
            <a:pPr marL="0" indent="0">
              <a:buNone/>
            </a:pPr>
            <a:endParaRPr lang="es-AR" dirty="0"/>
          </a:p>
        </p:txBody>
      </p:sp>
      <p:pic>
        <p:nvPicPr>
          <p:cNvPr id="10" name="Imagen 9">
            <a:extLst>
              <a:ext uri="{FF2B5EF4-FFF2-40B4-BE49-F238E27FC236}">
                <a16:creationId xmlns:a16="http://schemas.microsoft.com/office/drawing/2014/main" id="{1A0ACE83-CC97-7787-E440-3A76C56294D9}"/>
              </a:ext>
            </a:extLst>
          </p:cNvPr>
          <p:cNvPicPr>
            <a:picLocks noChangeAspect="1"/>
          </p:cNvPicPr>
          <p:nvPr/>
        </p:nvPicPr>
        <p:blipFill>
          <a:blip r:embed="rId3"/>
          <a:stretch>
            <a:fillRect/>
          </a:stretch>
        </p:blipFill>
        <p:spPr>
          <a:xfrm>
            <a:off x="3079265" y="2036398"/>
            <a:ext cx="6094430" cy="4236180"/>
          </a:xfrm>
          <a:prstGeom prst="rect">
            <a:avLst/>
          </a:prstGeom>
        </p:spPr>
      </p:pic>
    </p:spTree>
    <p:extLst>
      <p:ext uri="{BB962C8B-B14F-4D97-AF65-F5344CB8AC3E}">
        <p14:creationId xmlns:p14="http://schemas.microsoft.com/office/powerpoint/2010/main" val="16027823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956A9-188E-B86D-F091-0634629A02C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C68C01F-7923-711F-C158-D94F4AF2CA30}"/>
              </a:ext>
            </a:extLst>
          </p:cNvPr>
          <p:cNvSpPr>
            <a:spLocks noGrp="1"/>
          </p:cNvSpPr>
          <p:nvPr>
            <p:ph type="title"/>
          </p:nvPr>
        </p:nvSpPr>
        <p:spPr/>
        <p:txBody>
          <a:bodyPr/>
          <a:lstStyle/>
          <a:p>
            <a:r>
              <a:rPr lang="es-AR" dirty="0"/>
              <a:t>Del diagrama de clase a código Java</a:t>
            </a:r>
          </a:p>
        </p:txBody>
      </p:sp>
      <p:pic>
        <p:nvPicPr>
          <p:cNvPr id="4" name="Imagen 3">
            <a:extLst>
              <a:ext uri="{FF2B5EF4-FFF2-40B4-BE49-F238E27FC236}">
                <a16:creationId xmlns:a16="http://schemas.microsoft.com/office/drawing/2014/main" id="{D49A3310-8104-F685-9DDC-29D6B03D4B34}"/>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A0E8EFA1-602A-659E-BC54-AF157E5AAFD8}"/>
              </a:ext>
            </a:extLst>
          </p:cNvPr>
          <p:cNvSpPr>
            <a:spLocks noGrp="1"/>
          </p:cNvSpPr>
          <p:nvPr>
            <p:ph type="sldNum" sz="quarter" idx="12"/>
          </p:nvPr>
        </p:nvSpPr>
        <p:spPr/>
        <p:txBody>
          <a:bodyPr/>
          <a:lstStyle/>
          <a:p>
            <a:fld id="{6C8ECD1B-3F01-46F8-A46F-31A31EFC5ABF}" type="slidenum">
              <a:rPr lang="es-AR" smtClean="0"/>
              <a:t>65</a:t>
            </a:fld>
            <a:endParaRPr lang="es-AR"/>
          </a:p>
        </p:txBody>
      </p:sp>
      <p:sp>
        <p:nvSpPr>
          <p:cNvPr id="8" name="Marcador de contenido 2">
            <a:extLst>
              <a:ext uri="{FF2B5EF4-FFF2-40B4-BE49-F238E27FC236}">
                <a16:creationId xmlns:a16="http://schemas.microsoft.com/office/drawing/2014/main" id="{3D221969-457B-1EBD-E7E7-219990A83F79}"/>
              </a:ext>
            </a:extLst>
          </p:cNvPr>
          <p:cNvSpPr>
            <a:spLocks noGrp="1"/>
          </p:cNvSpPr>
          <p:nvPr>
            <p:ph idx="1"/>
          </p:nvPr>
        </p:nvSpPr>
        <p:spPr>
          <a:xfrm>
            <a:off x="1097280" y="1845734"/>
            <a:ext cx="10058400" cy="4023360"/>
          </a:xfrm>
        </p:spPr>
        <p:txBody>
          <a:bodyPr/>
          <a:lstStyle/>
          <a:p>
            <a:endParaRPr lang="es-AR" dirty="0"/>
          </a:p>
          <a:p>
            <a:endParaRPr lang="es-AR" dirty="0"/>
          </a:p>
          <a:p>
            <a:r>
              <a:rPr lang="es-AR" b="1" dirty="0"/>
              <a:t>Ejemplo:</a:t>
            </a:r>
          </a:p>
          <a:p>
            <a:endParaRPr lang="es-AR" dirty="0"/>
          </a:p>
          <a:p>
            <a:endParaRPr lang="es-AR" dirty="0"/>
          </a:p>
          <a:p>
            <a:pPr marL="0" indent="0">
              <a:buNone/>
            </a:pPr>
            <a:endParaRPr lang="es-AR" dirty="0"/>
          </a:p>
          <a:p>
            <a:pPr marL="0" indent="0">
              <a:buNone/>
            </a:pPr>
            <a:endParaRPr lang="es-AR" dirty="0"/>
          </a:p>
        </p:txBody>
      </p:sp>
      <p:pic>
        <p:nvPicPr>
          <p:cNvPr id="12" name="Imagen 11">
            <a:extLst>
              <a:ext uri="{FF2B5EF4-FFF2-40B4-BE49-F238E27FC236}">
                <a16:creationId xmlns:a16="http://schemas.microsoft.com/office/drawing/2014/main" id="{4E3D2FDE-911F-3281-58D8-194E4A22FA89}"/>
              </a:ext>
            </a:extLst>
          </p:cNvPr>
          <p:cNvPicPr>
            <a:picLocks noChangeAspect="1"/>
          </p:cNvPicPr>
          <p:nvPr/>
        </p:nvPicPr>
        <p:blipFill>
          <a:blip r:embed="rId3"/>
          <a:stretch>
            <a:fillRect/>
          </a:stretch>
        </p:blipFill>
        <p:spPr>
          <a:xfrm>
            <a:off x="3212221" y="1767504"/>
            <a:ext cx="5767557" cy="4510704"/>
          </a:xfrm>
          <a:prstGeom prst="rect">
            <a:avLst/>
          </a:prstGeom>
        </p:spPr>
      </p:pic>
    </p:spTree>
    <p:extLst>
      <p:ext uri="{BB962C8B-B14F-4D97-AF65-F5344CB8AC3E}">
        <p14:creationId xmlns:p14="http://schemas.microsoft.com/office/powerpoint/2010/main" val="5367934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FAC72-096C-F3D0-F29A-0EBFCC71274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B39456D-9880-6C0F-621D-C265683868C3}"/>
              </a:ext>
            </a:extLst>
          </p:cNvPr>
          <p:cNvSpPr>
            <a:spLocks noGrp="1"/>
          </p:cNvSpPr>
          <p:nvPr>
            <p:ph type="title"/>
          </p:nvPr>
        </p:nvSpPr>
        <p:spPr/>
        <p:txBody>
          <a:bodyPr/>
          <a:lstStyle/>
          <a:p>
            <a:r>
              <a:rPr lang="es-AR" dirty="0"/>
              <a:t>Trabajo Práctico </a:t>
            </a:r>
            <a:r>
              <a:rPr lang="es-AR" dirty="0" err="1"/>
              <a:t>N°</a:t>
            </a:r>
            <a:r>
              <a:rPr lang="es-AR" dirty="0"/>
              <a:t> 6 – 06/11</a:t>
            </a:r>
          </a:p>
        </p:txBody>
      </p:sp>
      <p:sp>
        <p:nvSpPr>
          <p:cNvPr id="3" name="Marcador de contenido 2">
            <a:extLst>
              <a:ext uri="{FF2B5EF4-FFF2-40B4-BE49-F238E27FC236}">
                <a16:creationId xmlns:a16="http://schemas.microsoft.com/office/drawing/2014/main" id="{ED8970E4-795A-385E-6064-5328E5767825}"/>
              </a:ext>
            </a:extLst>
          </p:cNvPr>
          <p:cNvSpPr>
            <a:spLocks noGrp="1"/>
          </p:cNvSpPr>
          <p:nvPr>
            <p:ph idx="1"/>
          </p:nvPr>
        </p:nvSpPr>
        <p:spPr/>
        <p:txBody>
          <a:bodyPr>
            <a:normAutofit/>
          </a:bodyPr>
          <a:lstStyle/>
          <a:p>
            <a:r>
              <a:rPr lang="es-AR" dirty="0"/>
              <a:t>Traducción del SDK </a:t>
            </a:r>
            <a:r>
              <a:rPr lang="es-AR" dirty="0" err="1"/>
              <a:t>Unitree</a:t>
            </a:r>
            <a:r>
              <a:rPr lang="es-AR" dirty="0"/>
              <a:t>: De Python a una Librería Java</a:t>
            </a:r>
          </a:p>
          <a:p>
            <a:r>
              <a:rPr lang="es-AR" dirty="0"/>
              <a:t>Recibirán el SDK del robot </a:t>
            </a:r>
            <a:r>
              <a:rPr lang="es-AR" dirty="0" err="1"/>
              <a:t>Unitree</a:t>
            </a:r>
            <a:r>
              <a:rPr lang="es-AR" dirty="0"/>
              <a:t> escrito en Python y lo </a:t>
            </a:r>
            <a:r>
              <a:rPr lang="es-AR" b="1" dirty="0"/>
              <a:t>traducirán a Java</a:t>
            </a:r>
            <a:r>
              <a:rPr lang="es-AR" dirty="0"/>
              <a:t>. La librería Java debe incluir las siguientes clases:</a:t>
            </a:r>
            <a:br>
              <a:rPr lang="es-AR" dirty="0"/>
            </a:br>
            <a:endParaRPr lang="es-AR" dirty="0"/>
          </a:p>
          <a:p>
            <a:r>
              <a:rPr lang="es-AR" b="1" dirty="0"/>
              <a:t>Repositorios oficiales: (no subir nada, solo consulta y pueden descargarlo local)</a:t>
            </a:r>
            <a:endParaRPr lang="es-AR" dirty="0"/>
          </a:p>
          <a:p>
            <a:r>
              <a:rPr lang="es-AR" dirty="0"/>
              <a:t>https://github.com/unitreerobotics/unitree_sdk2_python</a:t>
            </a:r>
          </a:p>
          <a:p>
            <a:r>
              <a:rPr lang="es-AR" dirty="0">
                <a:hlinkClick r:id="rId3"/>
              </a:rPr>
              <a:t>https://github.com/tsamaan/UadeRobotLab</a:t>
            </a:r>
            <a:endParaRPr lang="es-AR" dirty="0"/>
          </a:p>
          <a:p>
            <a:r>
              <a:rPr lang="es-AR" b="1" dirty="0"/>
              <a:t>Nuestro Repositorio:</a:t>
            </a:r>
            <a:endParaRPr lang="es-AR" dirty="0"/>
          </a:p>
          <a:p>
            <a:r>
              <a:rPr lang="es-AR" dirty="0"/>
              <a:t>https://github.com/coedomaximiliano/UADE-POO-2026-2/tree/main/TRABAJOS%20PRACTICOS/TP%20ROBOT</a:t>
            </a:r>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4550DC74-B98B-1F78-5A20-CD02CBE1BBB8}"/>
              </a:ext>
            </a:extLst>
          </p:cNvPr>
          <p:cNvPicPr>
            <a:picLocks noChangeAspect="1"/>
          </p:cNvPicPr>
          <p:nvPr/>
        </p:nvPicPr>
        <p:blipFill>
          <a:blip r:embed="rId4"/>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E2D021AB-1754-4F9F-F0FB-74C7FE64ABE2}"/>
              </a:ext>
            </a:extLst>
          </p:cNvPr>
          <p:cNvSpPr>
            <a:spLocks noGrp="1"/>
          </p:cNvSpPr>
          <p:nvPr>
            <p:ph type="sldNum" sz="quarter" idx="12"/>
          </p:nvPr>
        </p:nvSpPr>
        <p:spPr/>
        <p:txBody>
          <a:bodyPr/>
          <a:lstStyle/>
          <a:p>
            <a:fld id="{6C8ECD1B-3F01-46F8-A46F-31A31EFC5ABF}" type="slidenum">
              <a:rPr lang="es-AR" smtClean="0"/>
              <a:t>66</a:t>
            </a:fld>
            <a:endParaRPr lang="es-AR"/>
          </a:p>
        </p:txBody>
      </p:sp>
      <p:pic>
        <p:nvPicPr>
          <p:cNvPr id="7" name="Imagen 6">
            <a:extLst>
              <a:ext uri="{FF2B5EF4-FFF2-40B4-BE49-F238E27FC236}">
                <a16:creationId xmlns:a16="http://schemas.microsoft.com/office/drawing/2014/main" id="{D1046B0E-4941-6CF6-576B-E512CA3452CB}"/>
              </a:ext>
            </a:extLst>
          </p:cNvPr>
          <p:cNvPicPr>
            <a:picLocks noChangeAspect="1"/>
          </p:cNvPicPr>
          <p:nvPr/>
        </p:nvPicPr>
        <p:blipFill>
          <a:blip r:embed="rId5"/>
          <a:stretch>
            <a:fillRect/>
          </a:stretch>
        </p:blipFill>
        <p:spPr>
          <a:xfrm>
            <a:off x="9088067" y="3680862"/>
            <a:ext cx="1911211" cy="2483578"/>
          </a:xfrm>
          <a:prstGeom prst="rect">
            <a:avLst/>
          </a:prstGeom>
        </p:spPr>
      </p:pic>
    </p:spTree>
    <p:extLst>
      <p:ext uri="{BB962C8B-B14F-4D97-AF65-F5344CB8AC3E}">
        <p14:creationId xmlns:p14="http://schemas.microsoft.com/office/powerpoint/2010/main" val="14291345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5B3E9-F45B-29A6-63CD-1BAB31A016F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C9B96F9-B074-AFA2-7F11-33ED9B24599E}"/>
              </a:ext>
            </a:extLst>
          </p:cNvPr>
          <p:cNvSpPr>
            <a:spLocks noGrp="1"/>
          </p:cNvSpPr>
          <p:nvPr>
            <p:ph type="title"/>
          </p:nvPr>
        </p:nvSpPr>
        <p:spPr/>
        <p:txBody>
          <a:bodyPr/>
          <a:lstStyle/>
          <a:p>
            <a:pPr algn="ctr"/>
            <a:r>
              <a:rPr lang="es-AR" dirty="0"/>
              <a:t>Trabajo practico 1</a:t>
            </a:r>
          </a:p>
        </p:txBody>
      </p:sp>
      <p:sp>
        <p:nvSpPr>
          <p:cNvPr id="3" name="Marcador de contenido 2">
            <a:extLst>
              <a:ext uri="{FF2B5EF4-FFF2-40B4-BE49-F238E27FC236}">
                <a16:creationId xmlns:a16="http://schemas.microsoft.com/office/drawing/2014/main" id="{6684D31C-E41A-BD70-6C3A-EAC0AC5114D8}"/>
              </a:ext>
            </a:extLst>
          </p:cNvPr>
          <p:cNvSpPr>
            <a:spLocks noGrp="1"/>
          </p:cNvSpPr>
          <p:nvPr>
            <p:ph idx="1"/>
          </p:nvPr>
        </p:nvSpPr>
        <p:spPr>
          <a:xfrm>
            <a:off x="1097280" y="1845734"/>
            <a:ext cx="10058400" cy="3274907"/>
          </a:xfrm>
        </p:spPr>
        <p:txBody>
          <a:bodyPr>
            <a:normAutofit/>
          </a:bodyPr>
          <a:lstStyle/>
          <a:p>
            <a:pPr marL="0" indent="0" algn="ctr">
              <a:buNone/>
            </a:pPr>
            <a:r>
              <a:rPr lang="es-AR" dirty="0"/>
              <a:t>Resolver el trabajo practico 1</a:t>
            </a:r>
          </a:p>
          <a:p>
            <a:pPr>
              <a:buFont typeface="Arial" panose="020B0604020202020204" pitchFamily="34" charset="0"/>
              <a:buChar char="•"/>
            </a:pPr>
            <a:r>
              <a:rPr lang="es-AR" dirty="0"/>
              <a:t>Por grupos</a:t>
            </a:r>
          </a:p>
          <a:p>
            <a:pPr marL="292608" lvl="1" indent="0">
              <a:buNone/>
            </a:pPr>
            <a:r>
              <a:rPr lang="es-AR" dirty="0"/>
              <a:t>1) Se entrega </a:t>
            </a:r>
            <a:r>
              <a:rPr lang="es-AR" b="1" dirty="0"/>
              <a:t>diagrama de clases (starUML)</a:t>
            </a:r>
            <a:r>
              <a:rPr lang="es-AR" dirty="0"/>
              <a:t>con:</a:t>
            </a:r>
          </a:p>
          <a:p>
            <a:pPr lvl="1">
              <a:buFont typeface="Arial" panose="020B0604020202020204" pitchFamily="34" charset="0"/>
              <a:buChar char="•"/>
            </a:pPr>
            <a:r>
              <a:rPr lang="es-AR" dirty="0"/>
              <a:t>Nombre de clase.</a:t>
            </a:r>
          </a:p>
          <a:p>
            <a:pPr lvl="1">
              <a:buFont typeface="Arial" panose="020B0604020202020204" pitchFamily="34" charset="0"/>
              <a:buChar char="•"/>
            </a:pPr>
            <a:r>
              <a:rPr lang="es-AR" dirty="0"/>
              <a:t>Atributos: visibilidad, nombres representativos, tipo de datos. </a:t>
            </a:r>
          </a:p>
          <a:p>
            <a:pPr lvl="1">
              <a:buFont typeface="Arial" panose="020B0604020202020204" pitchFamily="34" charset="0"/>
              <a:buChar char="•"/>
            </a:pPr>
            <a:r>
              <a:rPr lang="es-AR" dirty="0"/>
              <a:t>Métodos: visibilidad, nombres representativos , tipo de datos de retorno y de parametría.</a:t>
            </a:r>
          </a:p>
          <a:p>
            <a:pPr lvl="1">
              <a:buFont typeface="Arial" panose="020B0604020202020204" pitchFamily="34" charset="0"/>
              <a:buChar char="•"/>
            </a:pPr>
            <a:r>
              <a:rPr lang="es-AR" dirty="0"/>
              <a:t>Relaciones (</a:t>
            </a:r>
            <a:r>
              <a:rPr lang="es-ES" dirty="0"/>
              <a:t>asociación, agregación, composición, dependencia, herencia</a:t>
            </a:r>
            <a:r>
              <a:rPr lang="es-AR" dirty="0"/>
              <a:t>), cardinalidad.</a:t>
            </a:r>
          </a:p>
          <a:p>
            <a:pPr marL="292608" lvl="1" indent="0">
              <a:buNone/>
            </a:pPr>
            <a:r>
              <a:rPr lang="es-AR" dirty="0"/>
              <a:t>2) Se entrega </a:t>
            </a:r>
            <a:r>
              <a:rPr lang="es-AR" b="1" dirty="0"/>
              <a:t>Código java (que compile) </a:t>
            </a:r>
            <a:r>
              <a:rPr lang="es-AR" dirty="0"/>
              <a:t>con:</a:t>
            </a:r>
          </a:p>
          <a:p>
            <a:pPr marL="578358" lvl="1" indent="-285750">
              <a:buFont typeface="Arial" panose="020B0604020202020204" pitchFamily="34" charset="0"/>
              <a:buChar char="•"/>
            </a:pPr>
            <a:r>
              <a:rPr lang="es-AR" dirty="0"/>
              <a:t>Código fuente de las clases diseñaron en el diagrama de clases respetando todo lo diagramado.</a:t>
            </a:r>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28240E0C-45A2-F2FB-6AFE-82B520FB566C}"/>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254FC3F7-F31F-A90A-ECBD-BCDAB4DCC3E0}"/>
              </a:ext>
            </a:extLst>
          </p:cNvPr>
          <p:cNvSpPr>
            <a:spLocks noGrp="1"/>
          </p:cNvSpPr>
          <p:nvPr>
            <p:ph type="sldNum" sz="quarter" idx="12"/>
          </p:nvPr>
        </p:nvSpPr>
        <p:spPr/>
        <p:txBody>
          <a:bodyPr/>
          <a:lstStyle/>
          <a:p>
            <a:fld id="{6C8ECD1B-3F01-46F8-A46F-31A31EFC5ABF}" type="slidenum">
              <a:rPr lang="es-AR" smtClean="0"/>
              <a:t>67</a:t>
            </a:fld>
            <a:endParaRPr lang="es-AR"/>
          </a:p>
        </p:txBody>
      </p:sp>
    </p:spTree>
    <p:extLst>
      <p:ext uri="{BB962C8B-B14F-4D97-AF65-F5344CB8AC3E}">
        <p14:creationId xmlns:p14="http://schemas.microsoft.com/office/powerpoint/2010/main" val="31137959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5F121-091F-DDFD-E42C-B4379D8A470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9B5E0EE-E3DA-EC5C-6538-48373ED5F5AE}"/>
              </a:ext>
            </a:extLst>
          </p:cNvPr>
          <p:cNvSpPr>
            <a:spLocks noGrp="1"/>
          </p:cNvSpPr>
          <p:nvPr>
            <p:ph type="title"/>
          </p:nvPr>
        </p:nvSpPr>
        <p:spPr/>
        <p:txBody>
          <a:bodyPr/>
          <a:lstStyle/>
          <a:p>
            <a:r>
              <a:rPr lang="es-AR" dirty="0"/>
              <a:t>Trabajo practico 1 </a:t>
            </a:r>
          </a:p>
        </p:txBody>
      </p:sp>
      <p:sp>
        <p:nvSpPr>
          <p:cNvPr id="3" name="Marcador de contenido 2">
            <a:extLst>
              <a:ext uri="{FF2B5EF4-FFF2-40B4-BE49-F238E27FC236}">
                <a16:creationId xmlns:a16="http://schemas.microsoft.com/office/drawing/2014/main" id="{E1AC485A-69EB-3D67-3FB9-14BA65731E3E}"/>
              </a:ext>
            </a:extLst>
          </p:cNvPr>
          <p:cNvSpPr>
            <a:spLocks noGrp="1"/>
          </p:cNvSpPr>
          <p:nvPr>
            <p:ph idx="1"/>
          </p:nvPr>
        </p:nvSpPr>
        <p:spPr/>
        <p:txBody>
          <a:bodyPr/>
          <a:lstStyle/>
          <a:p>
            <a:pPr algn="ctr"/>
            <a:r>
              <a:rPr lang="es-AR" dirty="0"/>
              <a:t>Consigna : </a:t>
            </a:r>
            <a:endParaRPr lang="es-ES" dirty="0"/>
          </a:p>
          <a:p>
            <a:endParaRPr lang="es-ES" dirty="0"/>
          </a:p>
          <a:p>
            <a:r>
              <a:rPr lang="es-AR" dirty="0"/>
              <a:t> </a:t>
            </a:r>
          </a:p>
          <a:p>
            <a:endParaRPr lang="es-AR" dirty="0"/>
          </a:p>
          <a:p>
            <a:endParaRPr lang="es-AR" dirty="0"/>
          </a:p>
          <a:p>
            <a:endParaRPr lang="es-AR" dirty="0"/>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FE2442C5-4C3C-9B9A-4514-743BCA9A7F70}"/>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00DBF836-58A3-6087-4486-859AD626F6FD}"/>
              </a:ext>
            </a:extLst>
          </p:cNvPr>
          <p:cNvSpPr>
            <a:spLocks noGrp="1"/>
          </p:cNvSpPr>
          <p:nvPr>
            <p:ph type="sldNum" sz="quarter" idx="12"/>
          </p:nvPr>
        </p:nvSpPr>
        <p:spPr/>
        <p:txBody>
          <a:bodyPr/>
          <a:lstStyle/>
          <a:p>
            <a:fld id="{6C8ECD1B-3F01-46F8-A46F-31A31EFC5ABF}" type="slidenum">
              <a:rPr lang="es-AR" smtClean="0"/>
              <a:t>68</a:t>
            </a:fld>
            <a:endParaRPr lang="es-AR"/>
          </a:p>
        </p:txBody>
      </p:sp>
      <p:pic>
        <p:nvPicPr>
          <p:cNvPr id="8" name="Imagen 7" descr="Texto, Carta&#10;&#10;El contenido generado por IA puede ser incorrecto.">
            <a:extLst>
              <a:ext uri="{FF2B5EF4-FFF2-40B4-BE49-F238E27FC236}">
                <a16:creationId xmlns:a16="http://schemas.microsoft.com/office/drawing/2014/main" id="{B1B6592B-C5EF-D1A5-84EC-E2C109724C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83130" y="2328051"/>
            <a:ext cx="7886700" cy="3771900"/>
          </a:xfrm>
          <a:prstGeom prst="rect">
            <a:avLst/>
          </a:prstGeom>
        </p:spPr>
      </p:pic>
    </p:spTree>
    <p:extLst>
      <p:ext uri="{BB962C8B-B14F-4D97-AF65-F5344CB8AC3E}">
        <p14:creationId xmlns:p14="http://schemas.microsoft.com/office/powerpoint/2010/main" val="25817308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42722-1821-152C-3F17-2062666ED93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3E8CA8-D340-BB3E-FE20-0F0A59038546}"/>
              </a:ext>
            </a:extLst>
          </p:cNvPr>
          <p:cNvSpPr>
            <a:spLocks noGrp="1"/>
          </p:cNvSpPr>
          <p:nvPr>
            <p:ph type="title"/>
          </p:nvPr>
        </p:nvSpPr>
        <p:spPr/>
        <p:txBody>
          <a:bodyPr/>
          <a:lstStyle/>
          <a:p>
            <a:pPr algn="ctr"/>
            <a:r>
              <a:rPr lang="es-AR" dirty="0"/>
              <a:t>Trabajo practico 2</a:t>
            </a:r>
          </a:p>
        </p:txBody>
      </p:sp>
      <p:sp>
        <p:nvSpPr>
          <p:cNvPr id="3" name="Marcador de contenido 2">
            <a:extLst>
              <a:ext uri="{FF2B5EF4-FFF2-40B4-BE49-F238E27FC236}">
                <a16:creationId xmlns:a16="http://schemas.microsoft.com/office/drawing/2014/main" id="{B2E666D5-BD87-E66D-5ABE-5C04AD48FED3}"/>
              </a:ext>
            </a:extLst>
          </p:cNvPr>
          <p:cNvSpPr>
            <a:spLocks noGrp="1"/>
          </p:cNvSpPr>
          <p:nvPr>
            <p:ph idx="1"/>
          </p:nvPr>
        </p:nvSpPr>
        <p:spPr>
          <a:xfrm>
            <a:off x="1097280" y="1845734"/>
            <a:ext cx="10058400" cy="3274907"/>
          </a:xfrm>
        </p:spPr>
        <p:txBody>
          <a:bodyPr>
            <a:normAutofit/>
          </a:bodyPr>
          <a:lstStyle/>
          <a:p>
            <a:pPr marL="0" indent="0" algn="ctr">
              <a:buNone/>
            </a:pPr>
            <a:r>
              <a:rPr lang="es-AR" dirty="0"/>
              <a:t>Resolver el trabajo practico 1</a:t>
            </a:r>
          </a:p>
          <a:p>
            <a:pPr>
              <a:buFont typeface="Arial" panose="020B0604020202020204" pitchFamily="34" charset="0"/>
              <a:buChar char="•"/>
            </a:pPr>
            <a:r>
              <a:rPr lang="es-AR" dirty="0"/>
              <a:t>Por grupos</a:t>
            </a:r>
          </a:p>
          <a:p>
            <a:pPr marL="292608" lvl="1" indent="0">
              <a:buNone/>
            </a:pPr>
            <a:r>
              <a:rPr lang="es-AR" dirty="0"/>
              <a:t>1) Se entrega </a:t>
            </a:r>
            <a:r>
              <a:rPr lang="es-AR" b="1" dirty="0"/>
              <a:t>diagrama de clases (starUML)</a:t>
            </a:r>
            <a:r>
              <a:rPr lang="es-AR" dirty="0"/>
              <a:t>con:</a:t>
            </a:r>
          </a:p>
          <a:p>
            <a:pPr lvl="1">
              <a:buFont typeface="Arial" panose="020B0604020202020204" pitchFamily="34" charset="0"/>
              <a:buChar char="•"/>
            </a:pPr>
            <a:r>
              <a:rPr lang="es-AR" dirty="0"/>
              <a:t>Nombre de clase.</a:t>
            </a:r>
          </a:p>
          <a:p>
            <a:pPr lvl="1">
              <a:buFont typeface="Arial" panose="020B0604020202020204" pitchFamily="34" charset="0"/>
              <a:buChar char="•"/>
            </a:pPr>
            <a:r>
              <a:rPr lang="es-AR" dirty="0"/>
              <a:t>Atributos: visibilidad, nombres representativos, tipo de datos. </a:t>
            </a:r>
          </a:p>
          <a:p>
            <a:pPr lvl="1">
              <a:buFont typeface="Arial" panose="020B0604020202020204" pitchFamily="34" charset="0"/>
              <a:buChar char="•"/>
            </a:pPr>
            <a:r>
              <a:rPr lang="es-AR" dirty="0"/>
              <a:t>Métodos: visibilidad, nombres representativos , tipo de datos de retorno y de parametría.</a:t>
            </a:r>
          </a:p>
          <a:p>
            <a:pPr lvl="1">
              <a:buFont typeface="Arial" panose="020B0604020202020204" pitchFamily="34" charset="0"/>
              <a:buChar char="•"/>
            </a:pPr>
            <a:r>
              <a:rPr lang="es-AR" dirty="0"/>
              <a:t>Relaciones (</a:t>
            </a:r>
            <a:r>
              <a:rPr lang="es-ES" dirty="0"/>
              <a:t>asociación, agregación, composición, dependencia, herencia</a:t>
            </a:r>
            <a:r>
              <a:rPr lang="es-AR" dirty="0"/>
              <a:t>), cardinalidad.</a:t>
            </a:r>
          </a:p>
          <a:p>
            <a:pPr marL="292608" lvl="1" indent="0">
              <a:buNone/>
            </a:pPr>
            <a:r>
              <a:rPr lang="es-AR" dirty="0"/>
              <a:t>2) Se entrega </a:t>
            </a:r>
            <a:r>
              <a:rPr lang="es-AR" b="1" dirty="0"/>
              <a:t>Código java (que compile) </a:t>
            </a:r>
            <a:r>
              <a:rPr lang="es-AR" dirty="0"/>
              <a:t>con:</a:t>
            </a:r>
          </a:p>
          <a:p>
            <a:pPr marL="578358" lvl="1" indent="-285750">
              <a:buFont typeface="Arial" panose="020B0604020202020204" pitchFamily="34" charset="0"/>
              <a:buChar char="•"/>
            </a:pPr>
            <a:r>
              <a:rPr lang="es-AR" dirty="0"/>
              <a:t>Código fuente de las clases diseñaron en el diagrama de clases respetando todo lo diagramado.</a:t>
            </a:r>
          </a:p>
          <a:p>
            <a:pPr marL="0" indent="0">
              <a:buNone/>
            </a:pPr>
            <a:endParaRPr lang="es-AR" dirty="0"/>
          </a:p>
          <a:p>
            <a:pPr marL="0" indent="0">
              <a:buNone/>
            </a:pPr>
            <a:endParaRPr lang="es-AR" dirty="0"/>
          </a:p>
        </p:txBody>
      </p:sp>
      <p:pic>
        <p:nvPicPr>
          <p:cNvPr id="4" name="Imagen 3">
            <a:extLst>
              <a:ext uri="{FF2B5EF4-FFF2-40B4-BE49-F238E27FC236}">
                <a16:creationId xmlns:a16="http://schemas.microsoft.com/office/drawing/2014/main" id="{CDE82ACB-D5C3-BEE2-0266-59E4129E0B23}"/>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F68CA828-41BE-E607-0BD3-C808C19177B0}"/>
              </a:ext>
            </a:extLst>
          </p:cNvPr>
          <p:cNvSpPr>
            <a:spLocks noGrp="1"/>
          </p:cNvSpPr>
          <p:nvPr>
            <p:ph type="sldNum" sz="quarter" idx="12"/>
          </p:nvPr>
        </p:nvSpPr>
        <p:spPr/>
        <p:txBody>
          <a:bodyPr/>
          <a:lstStyle/>
          <a:p>
            <a:fld id="{6C8ECD1B-3F01-46F8-A46F-31A31EFC5ABF}" type="slidenum">
              <a:rPr lang="es-AR" smtClean="0"/>
              <a:t>69</a:t>
            </a:fld>
            <a:endParaRPr lang="es-AR"/>
          </a:p>
        </p:txBody>
      </p:sp>
    </p:spTree>
    <p:extLst>
      <p:ext uri="{BB962C8B-B14F-4D97-AF65-F5344CB8AC3E}">
        <p14:creationId xmlns:p14="http://schemas.microsoft.com/office/powerpoint/2010/main" val="6053676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8EF00-B7AD-2CDD-8513-D8884F167C8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238E6E8-276C-AFE7-23F0-92D7B5E55858}"/>
              </a:ext>
            </a:extLst>
          </p:cNvPr>
          <p:cNvSpPr>
            <a:spLocks noGrp="1"/>
          </p:cNvSpPr>
          <p:nvPr>
            <p:ph type="title"/>
          </p:nvPr>
        </p:nvSpPr>
        <p:spPr/>
        <p:txBody>
          <a:bodyPr/>
          <a:lstStyle/>
          <a:p>
            <a:r>
              <a:rPr lang="es-AR" dirty="0"/>
              <a:t>TP 2 Diagrama de clases y código Java</a:t>
            </a:r>
          </a:p>
        </p:txBody>
      </p:sp>
      <p:pic>
        <p:nvPicPr>
          <p:cNvPr id="4" name="Imagen 3">
            <a:extLst>
              <a:ext uri="{FF2B5EF4-FFF2-40B4-BE49-F238E27FC236}">
                <a16:creationId xmlns:a16="http://schemas.microsoft.com/office/drawing/2014/main" id="{7FAB67A0-80A6-C81F-4401-8A493559493A}"/>
              </a:ext>
            </a:extLst>
          </p:cNvPr>
          <p:cNvPicPr>
            <a:picLocks noChangeAspect="1"/>
          </p:cNvPicPr>
          <p:nvPr/>
        </p:nvPicPr>
        <p:blipFill>
          <a:blip r:embed="rId2"/>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3224033D-8005-FC40-4A4B-78CBB87742E9}"/>
              </a:ext>
            </a:extLst>
          </p:cNvPr>
          <p:cNvSpPr>
            <a:spLocks noGrp="1"/>
          </p:cNvSpPr>
          <p:nvPr>
            <p:ph type="sldNum" sz="quarter" idx="12"/>
          </p:nvPr>
        </p:nvSpPr>
        <p:spPr/>
        <p:txBody>
          <a:bodyPr/>
          <a:lstStyle/>
          <a:p>
            <a:fld id="{6C8ECD1B-3F01-46F8-A46F-31A31EFC5ABF}" type="slidenum">
              <a:rPr lang="es-AR" smtClean="0"/>
              <a:t>70</a:t>
            </a:fld>
            <a:endParaRPr lang="es-AR"/>
          </a:p>
        </p:txBody>
      </p:sp>
      <p:pic>
        <p:nvPicPr>
          <p:cNvPr id="6" name="Imagen 5">
            <a:extLst>
              <a:ext uri="{FF2B5EF4-FFF2-40B4-BE49-F238E27FC236}">
                <a16:creationId xmlns:a16="http://schemas.microsoft.com/office/drawing/2014/main" id="{7E8517D6-418D-6076-D8AC-37AB4BF5E5FB}"/>
              </a:ext>
            </a:extLst>
          </p:cNvPr>
          <p:cNvPicPr>
            <a:picLocks noChangeAspect="1"/>
          </p:cNvPicPr>
          <p:nvPr/>
        </p:nvPicPr>
        <p:blipFill>
          <a:blip r:embed="rId3"/>
          <a:stretch>
            <a:fillRect/>
          </a:stretch>
        </p:blipFill>
        <p:spPr>
          <a:xfrm>
            <a:off x="3472670" y="1757456"/>
            <a:ext cx="5065790" cy="4547300"/>
          </a:xfrm>
          <a:prstGeom prst="rect">
            <a:avLst/>
          </a:prstGeom>
        </p:spPr>
      </p:pic>
    </p:spTree>
    <p:extLst>
      <p:ext uri="{BB962C8B-B14F-4D97-AF65-F5344CB8AC3E}">
        <p14:creationId xmlns:p14="http://schemas.microsoft.com/office/powerpoint/2010/main" val="15736239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F76E0-98C7-406D-20F7-E3718AD2D2C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A99DA90-01CB-101A-0089-5C8A2C11D41A}"/>
              </a:ext>
            </a:extLst>
          </p:cNvPr>
          <p:cNvSpPr>
            <a:spLocks noGrp="1"/>
          </p:cNvSpPr>
          <p:nvPr>
            <p:ph type="title"/>
          </p:nvPr>
        </p:nvSpPr>
        <p:spPr/>
        <p:txBody>
          <a:bodyPr>
            <a:normAutofit/>
          </a:bodyPr>
          <a:lstStyle/>
          <a:p>
            <a:r>
              <a:rPr lang="es-AR" dirty="0"/>
              <a:t>Ejercicio 1</a:t>
            </a:r>
            <a:br>
              <a:rPr lang="es-AR" dirty="0"/>
            </a:br>
            <a:r>
              <a:rPr lang="es-AR" sz="2200" dirty="0"/>
              <a:t>A partir del código JAVA desarrollar el diagrama de clases </a:t>
            </a:r>
            <a:endParaRPr lang="es-AR" dirty="0"/>
          </a:p>
        </p:txBody>
      </p:sp>
      <p:pic>
        <p:nvPicPr>
          <p:cNvPr id="4" name="Imagen 3">
            <a:extLst>
              <a:ext uri="{FF2B5EF4-FFF2-40B4-BE49-F238E27FC236}">
                <a16:creationId xmlns:a16="http://schemas.microsoft.com/office/drawing/2014/main" id="{1BD2DC44-522F-9D78-D7DE-C6D5A8D2541D}"/>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57C0B193-8B6D-0140-DC98-6B6B05D089D2}"/>
              </a:ext>
            </a:extLst>
          </p:cNvPr>
          <p:cNvSpPr>
            <a:spLocks noGrp="1"/>
          </p:cNvSpPr>
          <p:nvPr>
            <p:ph type="sldNum" sz="quarter" idx="12"/>
          </p:nvPr>
        </p:nvSpPr>
        <p:spPr/>
        <p:txBody>
          <a:bodyPr/>
          <a:lstStyle/>
          <a:p>
            <a:fld id="{6C8ECD1B-3F01-46F8-A46F-31A31EFC5ABF}" type="slidenum">
              <a:rPr lang="es-AR" smtClean="0"/>
              <a:t>71</a:t>
            </a:fld>
            <a:endParaRPr lang="es-AR"/>
          </a:p>
        </p:txBody>
      </p:sp>
      <p:pic>
        <p:nvPicPr>
          <p:cNvPr id="8" name="Imagen 7">
            <a:extLst>
              <a:ext uri="{FF2B5EF4-FFF2-40B4-BE49-F238E27FC236}">
                <a16:creationId xmlns:a16="http://schemas.microsoft.com/office/drawing/2014/main" id="{2D3D3E2C-0CD6-CEFA-5DC5-372FDA48B62F}"/>
              </a:ext>
            </a:extLst>
          </p:cNvPr>
          <p:cNvPicPr>
            <a:picLocks noChangeAspect="1"/>
          </p:cNvPicPr>
          <p:nvPr/>
        </p:nvPicPr>
        <p:blipFill>
          <a:blip r:embed="rId4"/>
          <a:stretch>
            <a:fillRect/>
          </a:stretch>
        </p:blipFill>
        <p:spPr>
          <a:xfrm>
            <a:off x="3268980" y="2148149"/>
            <a:ext cx="5715000" cy="3486150"/>
          </a:xfrm>
          <a:prstGeom prst="rect">
            <a:avLst/>
          </a:prstGeom>
        </p:spPr>
      </p:pic>
    </p:spTree>
    <p:extLst>
      <p:ext uri="{BB962C8B-B14F-4D97-AF65-F5344CB8AC3E}">
        <p14:creationId xmlns:p14="http://schemas.microsoft.com/office/powerpoint/2010/main" val="31816659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C00E8-47AB-0668-CE3A-E344E8B7026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562ABAF-714D-45E9-9EF8-CDB71B999F78}"/>
              </a:ext>
            </a:extLst>
          </p:cNvPr>
          <p:cNvSpPr>
            <a:spLocks noGrp="1"/>
          </p:cNvSpPr>
          <p:nvPr>
            <p:ph type="title"/>
          </p:nvPr>
        </p:nvSpPr>
        <p:spPr/>
        <p:txBody>
          <a:bodyPr>
            <a:normAutofit/>
          </a:bodyPr>
          <a:lstStyle/>
          <a:p>
            <a:r>
              <a:rPr lang="es-AR" dirty="0"/>
              <a:t>Respuesta ejercicio 1</a:t>
            </a:r>
          </a:p>
        </p:txBody>
      </p:sp>
      <p:pic>
        <p:nvPicPr>
          <p:cNvPr id="4" name="Imagen 3">
            <a:extLst>
              <a:ext uri="{FF2B5EF4-FFF2-40B4-BE49-F238E27FC236}">
                <a16:creationId xmlns:a16="http://schemas.microsoft.com/office/drawing/2014/main" id="{4CDAC4C4-AE2D-6FBD-2CEF-A5C320F7799D}"/>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5F9C79EC-CE84-3425-1F1B-F6749D179010}"/>
              </a:ext>
            </a:extLst>
          </p:cNvPr>
          <p:cNvSpPr>
            <a:spLocks noGrp="1"/>
          </p:cNvSpPr>
          <p:nvPr>
            <p:ph type="sldNum" sz="quarter" idx="12"/>
          </p:nvPr>
        </p:nvSpPr>
        <p:spPr/>
        <p:txBody>
          <a:bodyPr/>
          <a:lstStyle/>
          <a:p>
            <a:fld id="{6C8ECD1B-3F01-46F8-A46F-31A31EFC5ABF}" type="slidenum">
              <a:rPr lang="es-AR" smtClean="0"/>
              <a:t>72</a:t>
            </a:fld>
            <a:endParaRPr lang="es-AR"/>
          </a:p>
        </p:txBody>
      </p:sp>
      <p:pic>
        <p:nvPicPr>
          <p:cNvPr id="1026" name="Picture 2" descr="[Person|-name:String;-age:int|+Person(initialName:String);+printPerson():void;+getName():String]">
            <a:extLst>
              <a:ext uri="{FF2B5EF4-FFF2-40B4-BE49-F238E27FC236}">
                <a16:creationId xmlns:a16="http://schemas.microsoft.com/office/drawing/2014/main" id="{F17B8F67-D2EC-1932-DC97-AA09A56C79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2420" y="2843212"/>
            <a:ext cx="2286000" cy="1171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764632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DECFA-0C2B-AFC7-13A2-6A8E7297D2B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ED31837-55F0-7226-DDCA-E41C30A563D0}"/>
              </a:ext>
            </a:extLst>
          </p:cNvPr>
          <p:cNvSpPr>
            <a:spLocks noGrp="1"/>
          </p:cNvSpPr>
          <p:nvPr>
            <p:ph type="title"/>
          </p:nvPr>
        </p:nvSpPr>
        <p:spPr/>
        <p:txBody>
          <a:bodyPr>
            <a:normAutofit/>
          </a:bodyPr>
          <a:lstStyle/>
          <a:p>
            <a:r>
              <a:rPr lang="es-AR" dirty="0"/>
              <a:t>Ejercicio 2</a:t>
            </a:r>
            <a:br>
              <a:rPr lang="es-AR" dirty="0"/>
            </a:br>
            <a:r>
              <a:rPr lang="es-AR" sz="2200" dirty="0"/>
              <a:t>A partir del código JAVA desarrollar el diagrama de clases </a:t>
            </a:r>
            <a:endParaRPr lang="es-AR" dirty="0"/>
          </a:p>
        </p:txBody>
      </p:sp>
      <p:pic>
        <p:nvPicPr>
          <p:cNvPr id="4" name="Imagen 3">
            <a:extLst>
              <a:ext uri="{FF2B5EF4-FFF2-40B4-BE49-F238E27FC236}">
                <a16:creationId xmlns:a16="http://schemas.microsoft.com/office/drawing/2014/main" id="{EBEDEC6E-8C37-2F8B-E693-36BCE1D7F7EA}"/>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959DC637-EB95-4A3F-84F5-817C7C07F026}"/>
              </a:ext>
            </a:extLst>
          </p:cNvPr>
          <p:cNvSpPr>
            <a:spLocks noGrp="1"/>
          </p:cNvSpPr>
          <p:nvPr>
            <p:ph type="sldNum" sz="quarter" idx="12"/>
          </p:nvPr>
        </p:nvSpPr>
        <p:spPr/>
        <p:txBody>
          <a:bodyPr/>
          <a:lstStyle/>
          <a:p>
            <a:fld id="{6C8ECD1B-3F01-46F8-A46F-31A31EFC5ABF}" type="slidenum">
              <a:rPr lang="es-AR" smtClean="0"/>
              <a:t>73</a:t>
            </a:fld>
            <a:endParaRPr lang="es-AR"/>
          </a:p>
        </p:txBody>
      </p:sp>
      <p:pic>
        <p:nvPicPr>
          <p:cNvPr id="7" name="Imagen 6">
            <a:extLst>
              <a:ext uri="{FF2B5EF4-FFF2-40B4-BE49-F238E27FC236}">
                <a16:creationId xmlns:a16="http://schemas.microsoft.com/office/drawing/2014/main" id="{F7250521-3220-A3D9-9839-3E7E0295B20E}"/>
              </a:ext>
            </a:extLst>
          </p:cNvPr>
          <p:cNvPicPr>
            <a:picLocks noChangeAspect="1"/>
          </p:cNvPicPr>
          <p:nvPr/>
        </p:nvPicPr>
        <p:blipFill>
          <a:blip r:embed="rId4"/>
          <a:stretch>
            <a:fillRect/>
          </a:stretch>
        </p:blipFill>
        <p:spPr>
          <a:xfrm>
            <a:off x="5497483" y="2207839"/>
            <a:ext cx="5715000" cy="3486150"/>
          </a:xfrm>
          <a:prstGeom prst="rect">
            <a:avLst/>
          </a:prstGeom>
        </p:spPr>
      </p:pic>
      <p:pic>
        <p:nvPicPr>
          <p:cNvPr id="10" name="Imagen 9">
            <a:extLst>
              <a:ext uri="{FF2B5EF4-FFF2-40B4-BE49-F238E27FC236}">
                <a16:creationId xmlns:a16="http://schemas.microsoft.com/office/drawing/2014/main" id="{5A54441C-23A1-0361-D4A8-569E0705393D}"/>
              </a:ext>
            </a:extLst>
          </p:cNvPr>
          <p:cNvPicPr>
            <a:picLocks noChangeAspect="1"/>
          </p:cNvPicPr>
          <p:nvPr/>
        </p:nvPicPr>
        <p:blipFill>
          <a:blip r:embed="rId5"/>
          <a:stretch>
            <a:fillRect/>
          </a:stretch>
        </p:blipFill>
        <p:spPr>
          <a:xfrm>
            <a:off x="1097280" y="2342365"/>
            <a:ext cx="4181475" cy="3057525"/>
          </a:xfrm>
          <a:prstGeom prst="rect">
            <a:avLst/>
          </a:prstGeom>
        </p:spPr>
      </p:pic>
    </p:spTree>
    <p:extLst>
      <p:ext uri="{BB962C8B-B14F-4D97-AF65-F5344CB8AC3E}">
        <p14:creationId xmlns:p14="http://schemas.microsoft.com/office/powerpoint/2010/main" val="20274478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ECE95-7DCB-702B-266F-DCB2646FF2F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521101A-92E3-B083-4731-D7DCA2B38959}"/>
              </a:ext>
            </a:extLst>
          </p:cNvPr>
          <p:cNvSpPr>
            <a:spLocks noGrp="1"/>
          </p:cNvSpPr>
          <p:nvPr>
            <p:ph type="title"/>
          </p:nvPr>
        </p:nvSpPr>
        <p:spPr/>
        <p:txBody>
          <a:bodyPr>
            <a:normAutofit/>
          </a:bodyPr>
          <a:lstStyle/>
          <a:p>
            <a:r>
              <a:rPr lang="es-AR" dirty="0"/>
              <a:t>Respuesta ejercicio 2</a:t>
            </a:r>
          </a:p>
        </p:txBody>
      </p:sp>
      <p:pic>
        <p:nvPicPr>
          <p:cNvPr id="4" name="Imagen 3">
            <a:extLst>
              <a:ext uri="{FF2B5EF4-FFF2-40B4-BE49-F238E27FC236}">
                <a16:creationId xmlns:a16="http://schemas.microsoft.com/office/drawing/2014/main" id="{BF342A01-C351-0D4F-7A68-61C5D5783DCF}"/>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2BD7CCDE-20FE-8383-7A9E-7303E4019F24}"/>
              </a:ext>
            </a:extLst>
          </p:cNvPr>
          <p:cNvSpPr>
            <a:spLocks noGrp="1"/>
          </p:cNvSpPr>
          <p:nvPr>
            <p:ph type="sldNum" sz="quarter" idx="12"/>
          </p:nvPr>
        </p:nvSpPr>
        <p:spPr/>
        <p:txBody>
          <a:bodyPr/>
          <a:lstStyle/>
          <a:p>
            <a:fld id="{6C8ECD1B-3F01-46F8-A46F-31A31EFC5ABF}" type="slidenum">
              <a:rPr lang="es-AR" smtClean="0"/>
              <a:t>74</a:t>
            </a:fld>
            <a:endParaRPr lang="es-AR"/>
          </a:p>
        </p:txBody>
      </p:sp>
      <p:pic>
        <p:nvPicPr>
          <p:cNvPr id="6" name="Imagen 5">
            <a:extLst>
              <a:ext uri="{FF2B5EF4-FFF2-40B4-BE49-F238E27FC236}">
                <a16:creationId xmlns:a16="http://schemas.microsoft.com/office/drawing/2014/main" id="{B5D79F99-CFDE-21A1-58A9-A404F42A0A42}"/>
              </a:ext>
            </a:extLst>
          </p:cNvPr>
          <p:cNvPicPr>
            <a:picLocks noChangeAspect="1"/>
          </p:cNvPicPr>
          <p:nvPr/>
        </p:nvPicPr>
        <p:blipFill>
          <a:blip r:embed="rId4"/>
          <a:stretch>
            <a:fillRect/>
          </a:stretch>
        </p:blipFill>
        <p:spPr>
          <a:xfrm>
            <a:off x="3400425" y="2605087"/>
            <a:ext cx="5391150" cy="1647825"/>
          </a:xfrm>
          <a:prstGeom prst="rect">
            <a:avLst/>
          </a:prstGeom>
        </p:spPr>
      </p:pic>
    </p:spTree>
    <p:extLst>
      <p:ext uri="{BB962C8B-B14F-4D97-AF65-F5344CB8AC3E}">
        <p14:creationId xmlns:p14="http://schemas.microsoft.com/office/powerpoint/2010/main" val="17161561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94229-9D5A-7F6F-2A9C-A8DC49E04DD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120EBB5-87EC-A651-4A85-3ECA66363B85}"/>
              </a:ext>
            </a:extLst>
          </p:cNvPr>
          <p:cNvSpPr>
            <a:spLocks noGrp="1"/>
          </p:cNvSpPr>
          <p:nvPr>
            <p:ph type="title"/>
          </p:nvPr>
        </p:nvSpPr>
        <p:spPr/>
        <p:txBody>
          <a:bodyPr>
            <a:normAutofit/>
          </a:bodyPr>
          <a:lstStyle/>
          <a:p>
            <a:r>
              <a:rPr lang="es-AR" dirty="0"/>
              <a:t>Ejercicio 3</a:t>
            </a:r>
            <a:br>
              <a:rPr lang="es-AR" dirty="0"/>
            </a:br>
            <a:r>
              <a:rPr lang="es-AR" sz="2200" dirty="0"/>
              <a:t>A partir del diagrama de clases  desarrollar el código JAVA</a:t>
            </a:r>
            <a:endParaRPr lang="es-AR" dirty="0"/>
          </a:p>
        </p:txBody>
      </p:sp>
      <p:pic>
        <p:nvPicPr>
          <p:cNvPr id="4" name="Imagen 3">
            <a:extLst>
              <a:ext uri="{FF2B5EF4-FFF2-40B4-BE49-F238E27FC236}">
                <a16:creationId xmlns:a16="http://schemas.microsoft.com/office/drawing/2014/main" id="{9BD9D7C1-A853-AD9F-8191-64438307D136}"/>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EEAB61DF-9D67-2C66-A0AD-110FE0BC1A5B}"/>
              </a:ext>
            </a:extLst>
          </p:cNvPr>
          <p:cNvSpPr>
            <a:spLocks noGrp="1"/>
          </p:cNvSpPr>
          <p:nvPr>
            <p:ph type="sldNum" sz="quarter" idx="12"/>
          </p:nvPr>
        </p:nvSpPr>
        <p:spPr/>
        <p:txBody>
          <a:bodyPr/>
          <a:lstStyle/>
          <a:p>
            <a:fld id="{6C8ECD1B-3F01-46F8-A46F-31A31EFC5ABF}" type="slidenum">
              <a:rPr lang="es-AR" smtClean="0"/>
              <a:t>75</a:t>
            </a:fld>
            <a:endParaRPr lang="es-AR"/>
          </a:p>
        </p:txBody>
      </p:sp>
      <p:pic>
        <p:nvPicPr>
          <p:cNvPr id="6" name="Imagen 5">
            <a:extLst>
              <a:ext uri="{FF2B5EF4-FFF2-40B4-BE49-F238E27FC236}">
                <a16:creationId xmlns:a16="http://schemas.microsoft.com/office/drawing/2014/main" id="{551E6D47-88C2-D3CA-C53C-EEC52E78490D}"/>
              </a:ext>
            </a:extLst>
          </p:cNvPr>
          <p:cNvPicPr>
            <a:picLocks noChangeAspect="1"/>
          </p:cNvPicPr>
          <p:nvPr/>
        </p:nvPicPr>
        <p:blipFill>
          <a:blip r:embed="rId4"/>
          <a:stretch>
            <a:fillRect/>
          </a:stretch>
        </p:blipFill>
        <p:spPr>
          <a:xfrm>
            <a:off x="2937625" y="2029662"/>
            <a:ext cx="5553075" cy="3562350"/>
          </a:xfrm>
          <a:prstGeom prst="rect">
            <a:avLst/>
          </a:prstGeom>
        </p:spPr>
      </p:pic>
    </p:spTree>
    <p:extLst>
      <p:ext uri="{BB962C8B-B14F-4D97-AF65-F5344CB8AC3E}">
        <p14:creationId xmlns:p14="http://schemas.microsoft.com/office/powerpoint/2010/main" val="298736106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3C013-22EA-9B2E-4424-522386E0D75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8DD985E-95D1-10BA-9D61-7D70F9F41B23}"/>
              </a:ext>
            </a:extLst>
          </p:cNvPr>
          <p:cNvSpPr>
            <a:spLocks noGrp="1"/>
          </p:cNvSpPr>
          <p:nvPr>
            <p:ph type="title"/>
          </p:nvPr>
        </p:nvSpPr>
        <p:spPr/>
        <p:txBody>
          <a:bodyPr>
            <a:normAutofit/>
          </a:bodyPr>
          <a:lstStyle/>
          <a:p>
            <a:r>
              <a:rPr lang="es-AR" dirty="0"/>
              <a:t>Respuesta ejercicio 3</a:t>
            </a:r>
          </a:p>
        </p:txBody>
      </p:sp>
      <p:pic>
        <p:nvPicPr>
          <p:cNvPr id="4" name="Imagen 3">
            <a:extLst>
              <a:ext uri="{FF2B5EF4-FFF2-40B4-BE49-F238E27FC236}">
                <a16:creationId xmlns:a16="http://schemas.microsoft.com/office/drawing/2014/main" id="{95D3FF39-EA2B-398B-6256-9A09C522DD4F}"/>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EB87A3A9-34EB-58CB-4F14-43DD8A5AE889}"/>
              </a:ext>
            </a:extLst>
          </p:cNvPr>
          <p:cNvSpPr>
            <a:spLocks noGrp="1"/>
          </p:cNvSpPr>
          <p:nvPr>
            <p:ph type="sldNum" sz="quarter" idx="12"/>
          </p:nvPr>
        </p:nvSpPr>
        <p:spPr/>
        <p:txBody>
          <a:bodyPr/>
          <a:lstStyle/>
          <a:p>
            <a:fld id="{6C8ECD1B-3F01-46F8-A46F-31A31EFC5ABF}" type="slidenum">
              <a:rPr lang="es-AR" smtClean="0"/>
              <a:t>76</a:t>
            </a:fld>
            <a:endParaRPr lang="es-AR"/>
          </a:p>
        </p:txBody>
      </p:sp>
      <p:pic>
        <p:nvPicPr>
          <p:cNvPr id="9" name="Imagen 8">
            <a:extLst>
              <a:ext uri="{FF2B5EF4-FFF2-40B4-BE49-F238E27FC236}">
                <a16:creationId xmlns:a16="http://schemas.microsoft.com/office/drawing/2014/main" id="{7480F418-1422-C58B-26AD-EA4E81B05060}"/>
              </a:ext>
            </a:extLst>
          </p:cNvPr>
          <p:cNvPicPr>
            <a:picLocks noChangeAspect="1"/>
          </p:cNvPicPr>
          <p:nvPr/>
        </p:nvPicPr>
        <p:blipFill>
          <a:blip r:embed="rId4"/>
          <a:stretch>
            <a:fillRect/>
          </a:stretch>
        </p:blipFill>
        <p:spPr>
          <a:xfrm>
            <a:off x="1097280" y="2049864"/>
            <a:ext cx="5444197" cy="3858828"/>
          </a:xfrm>
          <a:prstGeom prst="rect">
            <a:avLst/>
          </a:prstGeom>
        </p:spPr>
      </p:pic>
      <p:pic>
        <p:nvPicPr>
          <p:cNvPr id="11" name="Imagen 10">
            <a:extLst>
              <a:ext uri="{FF2B5EF4-FFF2-40B4-BE49-F238E27FC236}">
                <a16:creationId xmlns:a16="http://schemas.microsoft.com/office/drawing/2014/main" id="{07EC91C9-0F0F-3A97-F321-58787F09810B}"/>
              </a:ext>
            </a:extLst>
          </p:cNvPr>
          <p:cNvPicPr>
            <a:picLocks noChangeAspect="1"/>
          </p:cNvPicPr>
          <p:nvPr/>
        </p:nvPicPr>
        <p:blipFill>
          <a:blip r:embed="rId5"/>
          <a:stretch>
            <a:fillRect/>
          </a:stretch>
        </p:blipFill>
        <p:spPr>
          <a:xfrm>
            <a:off x="6712616" y="1966186"/>
            <a:ext cx="4499867" cy="3942506"/>
          </a:xfrm>
          <a:prstGeom prst="rect">
            <a:avLst/>
          </a:prstGeom>
        </p:spPr>
      </p:pic>
    </p:spTree>
    <p:extLst>
      <p:ext uri="{BB962C8B-B14F-4D97-AF65-F5344CB8AC3E}">
        <p14:creationId xmlns:p14="http://schemas.microsoft.com/office/powerpoint/2010/main" val="170280312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6C0E1-C68F-ED4B-D286-F7880AD801B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F9D5DA7-5F70-AFD3-C3B0-2BAB612F5F39}"/>
              </a:ext>
            </a:extLst>
          </p:cNvPr>
          <p:cNvSpPr>
            <a:spLocks noGrp="1"/>
          </p:cNvSpPr>
          <p:nvPr>
            <p:ph type="title"/>
          </p:nvPr>
        </p:nvSpPr>
        <p:spPr/>
        <p:txBody>
          <a:bodyPr>
            <a:normAutofit/>
          </a:bodyPr>
          <a:lstStyle/>
          <a:p>
            <a:r>
              <a:rPr lang="es-AR" dirty="0"/>
              <a:t>Respuesta ejercicio 3</a:t>
            </a:r>
          </a:p>
        </p:txBody>
      </p:sp>
      <p:pic>
        <p:nvPicPr>
          <p:cNvPr id="4" name="Imagen 3">
            <a:extLst>
              <a:ext uri="{FF2B5EF4-FFF2-40B4-BE49-F238E27FC236}">
                <a16:creationId xmlns:a16="http://schemas.microsoft.com/office/drawing/2014/main" id="{7BE9D194-F769-1A44-EEFA-504CE8266CB9}"/>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7B2D8C48-E0CD-485D-5590-1F204C0AE330}"/>
              </a:ext>
            </a:extLst>
          </p:cNvPr>
          <p:cNvSpPr>
            <a:spLocks noGrp="1"/>
          </p:cNvSpPr>
          <p:nvPr>
            <p:ph type="sldNum" sz="quarter" idx="12"/>
          </p:nvPr>
        </p:nvSpPr>
        <p:spPr/>
        <p:txBody>
          <a:bodyPr/>
          <a:lstStyle/>
          <a:p>
            <a:fld id="{6C8ECD1B-3F01-46F8-A46F-31A31EFC5ABF}" type="slidenum">
              <a:rPr lang="es-AR" smtClean="0"/>
              <a:t>77</a:t>
            </a:fld>
            <a:endParaRPr lang="es-AR"/>
          </a:p>
        </p:txBody>
      </p:sp>
      <p:pic>
        <p:nvPicPr>
          <p:cNvPr id="7" name="Imagen 6">
            <a:extLst>
              <a:ext uri="{FF2B5EF4-FFF2-40B4-BE49-F238E27FC236}">
                <a16:creationId xmlns:a16="http://schemas.microsoft.com/office/drawing/2014/main" id="{A4987880-F953-2148-5F60-78BFF00D49CB}"/>
              </a:ext>
            </a:extLst>
          </p:cNvPr>
          <p:cNvPicPr>
            <a:picLocks noChangeAspect="1"/>
          </p:cNvPicPr>
          <p:nvPr/>
        </p:nvPicPr>
        <p:blipFill>
          <a:blip r:embed="rId4"/>
          <a:stretch>
            <a:fillRect/>
          </a:stretch>
        </p:blipFill>
        <p:spPr>
          <a:xfrm>
            <a:off x="3068955" y="2256128"/>
            <a:ext cx="6115050" cy="3095625"/>
          </a:xfrm>
          <a:prstGeom prst="rect">
            <a:avLst/>
          </a:prstGeom>
        </p:spPr>
      </p:pic>
    </p:spTree>
    <p:extLst>
      <p:ext uri="{BB962C8B-B14F-4D97-AF65-F5344CB8AC3E}">
        <p14:creationId xmlns:p14="http://schemas.microsoft.com/office/powerpoint/2010/main" val="225536812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0FBC2-A8BE-EE69-269A-B5EBA38C4D6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A83FD82-6540-D93C-4D03-B8CE3C6D4C84}"/>
              </a:ext>
            </a:extLst>
          </p:cNvPr>
          <p:cNvSpPr>
            <a:spLocks noGrp="1"/>
          </p:cNvSpPr>
          <p:nvPr>
            <p:ph type="title"/>
          </p:nvPr>
        </p:nvSpPr>
        <p:spPr/>
        <p:txBody>
          <a:bodyPr>
            <a:normAutofit/>
          </a:bodyPr>
          <a:lstStyle/>
          <a:p>
            <a:r>
              <a:rPr lang="es-AR" dirty="0"/>
              <a:t>Respuesta ejercicio 3</a:t>
            </a:r>
          </a:p>
        </p:txBody>
      </p:sp>
      <p:pic>
        <p:nvPicPr>
          <p:cNvPr id="4" name="Imagen 3">
            <a:extLst>
              <a:ext uri="{FF2B5EF4-FFF2-40B4-BE49-F238E27FC236}">
                <a16:creationId xmlns:a16="http://schemas.microsoft.com/office/drawing/2014/main" id="{039C6242-C9FE-6297-2863-08EA3193E8B2}"/>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68A5A108-535B-EFA3-7C1D-F68630E077D4}"/>
              </a:ext>
            </a:extLst>
          </p:cNvPr>
          <p:cNvSpPr>
            <a:spLocks noGrp="1"/>
          </p:cNvSpPr>
          <p:nvPr>
            <p:ph type="sldNum" sz="quarter" idx="12"/>
          </p:nvPr>
        </p:nvSpPr>
        <p:spPr/>
        <p:txBody>
          <a:bodyPr/>
          <a:lstStyle/>
          <a:p>
            <a:fld id="{6C8ECD1B-3F01-46F8-A46F-31A31EFC5ABF}" type="slidenum">
              <a:rPr lang="es-AR" smtClean="0"/>
              <a:t>78</a:t>
            </a:fld>
            <a:endParaRPr lang="es-AR"/>
          </a:p>
        </p:txBody>
      </p:sp>
      <p:pic>
        <p:nvPicPr>
          <p:cNvPr id="6" name="Imagen 5">
            <a:extLst>
              <a:ext uri="{FF2B5EF4-FFF2-40B4-BE49-F238E27FC236}">
                <a16:creationId xmlns:a16="http://schemas.microsoft.com/office/drawing/2014/main" id="{984FF331-6014-EDAE-CCD6-926BFF01BA4E}"/>
              </a:ext>
            </a:extLst>
          </p:cNvPr>
          <p:cNvPicPr>
            <a:picLocks noChangeAspect="1"/>
          </p:cNvPicPr>
          <p:nvPr/>
        </p:nvPicPr>
        <p:blipFill>
          <a:blip r:embed="rId4"/>
          <a:stretch>
            <a:fillRect/>
          </a:stretch>
        </p:blipFill>
        <p:spPr>
          <a:xfrm>
            <a:off x="3176587" y="2172014"/>
            <a:ext cx="5838825" cy="3257550"/>
          </a:xfrm>
          <a:prstGeom prst="rect">
            <a:avLst/>
          </a:prstGeom>
        </p:spPr>
      </p:pic>
    </p:spTree>
    <p:extLst>
      <p:ext uri="{BB962C8B-B14F-4D97-AF65-F5344CB8AC3E}">
        <p14:creationId xmlns:p14="http://schemas.microsoft.com/office/powerpoint/2010/main" val="125545345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C5C2A-FE02-5242-DC80-0DFABCAF58E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546EBBB-9E85-4497-0DA1-2321F5F81195}"/>
              </a:ext>
            </a:extLst>
          </p:cNvPr>
          <p:cNvSpPr>
            <a:spLocks noGrp="1"/>
          </p:cNvSpPr>
          <p:nvPr>
            <p:ph type="title"/>
          </p:nvPr>
        </p:nvSpPr>
        <p:spPr/>
        <p:txBody>
          <a:bodyPr>
            <a:normAutofit/>
          </a:bodyPr>
          <a:lstStyle/>
          <a:p>
            <a:r>
              <a:rPr lang="es-AR" dirty="0"/>
              <a:t>Ejercicio tipo parcial</a:t>
            </a:r>
          </a:p>
        </p:txBody>
      </p:sp>
      <p:pic>
        <p:nvPicPr>
          <p:cNvPr id="4" name="Imagen 3">
            <a:extLst>
              <a:ext uri="{FF2B5EF4-FFF2-40B4-BE49-F238E27FC236}">
                <a16:creationId xmlns:a16="http://schemas.microsoft.com/office/drawing/2014/main" id="{610B28E0-45BB-DE22-F129-8F34DC05F85A}"/>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B823B095-BC3F-5378-391B-F72FFE61497B}"/>
              </a:ext>
            </a:extLst>
          </p:cNvPr>
          <p:cNvSpPr>
            <a:spLocks noGrp="1"/>
          </p:cNvSpPr>
          <p:nvPr>
            <p:ph type="sldNum" sz="quarter" idx="12"/>
          </p:nvPr>
        </p:nvSpPr>
        <p:spPr/>
        <p:txBody>
          <a:bodyPr/>
          <a:lstStyle/>
          <a:p>
            <a:fld id="{6C8ECD1B-3F01-46F8-A46F-31A31EFC5ABF}" type="slidenum">
              <a:rPr lang="es-AR" smtClean="0"/>
              <a:t>79</a:t>
            </a:fld>
            <a:endParaRPr lang="es-AR"/>
          </a:p>
        </p:txBody>
      </p:sp>
      <p:sp>
        <p:nvSpPr>
          <p:cNvPr id="10" name="Marcador de contenido 2">
            <a:extLst>
              <a:ext uri="{FF2B5EF4-FFF2-40B4-BE49-F238E27FC236}">
                <a16:creationId xmlns:a16="http://schemas.microsoft.com/office/drawing/2014/main" id="{C284C257-CE7F-E835-4B9E-238BE7E1C125}"/>
              </a:ext>
            </a:extLst>
          </p:cNvPr>
          <p:cNvSpPr>
            <a:spLocks noGrp="1"/>
          </p:cNvSpPr>
          <p:nvPr>
            <p:ph idx="1"/>
          </p:nvPr>
        </p:nvSpPr>
        <p:spPr>
          <a:xfrm>
            <a:off x="1097280" y="1845734"/>
            <a:ext cx="10058400" cy="4023360"/>
          </a:xfrm>
        </p:spPr>
        <p:txBody>
          <a:bodyPr>
            <a:normAutofit fontScale="92500" lnSpcReduction="20000"/>
          </a:bodyPr>
          <a:lstStyle/>
          <a:p>
            <a:pPr marL="0" indent="0">
              <a:spcBef>
                <a:spcPts val="0"/>
              </a:spcBef>
              <a:buNone/>
            </a:pPr>
            <a:endParaRPr lang="es-ES" sz="3000" b="1" dirty="0"/>
          </a:p>
          <a:p>
            <a:pPr>
              <a:spcBef>
                <a:spcPts val="0"/>
              </a:spcBef>
            </a:pPr>
            <a:r>
              <a:rPr lang="es-ES" b="1" dirty="0"/>
              <a:t>Responda claramente cada punto, detallando con la mayor precisión posible lo solicitado.</a:t>
            </a:r>
          </a:p>
          <a:p>
            <a:pPr>
              <a:spcBef>
                <a:spcPts val="0"/>
              </a:spcBef>
            </a:pPr>
            <a:r>
              <a:rPr lang="es-ES" b="1" dirty="0"/>
              <a:t>Sea prolijo y ordenado en el desarrollo de los temas.</a:t>
            </a:r>
          </a:p>
          <a:p>
            <a:pPr>
              <a:spcBef>
                <a:spcPts val="0"/>
              </a:spcBef>
            </a:pPr>
            <a:r>
              <a:rPr lang="es-ES" b="1" dirty="0"/>
              <a:t>Sea cuidadoso con las faltas de ortografía y sus oraciones.</a:t>
            </a:r>
          </a:p>
          <a:p>
            <a:pPr>
              <a:spcBef>
                <a:spcPts val="0"/>
              </a:spcBef>
            </a:pPr>
            <a:r>
              <a:rPr lang="es-ES" b="1" dirty="0"/>
              <a:t>No desarrollar el examen en lápiz. Utilizar birome de color negro o azul exclusivamente.</a:t>
            </a:r>
          </a:p>
          <a:p>
            <a:pPr>
              <a:spcBef>
                <a:spcPts val="0"/>
              </a:spcBef>
            </a:pPr>
            <a:r>
              <a:rPr lang="es-ES" b="1" dirty="0"/>
              <a:t>Aprobación del examen: Con nota mayor o igual a 4 (cuatro)</a:t>
            </a:r>
          </a:p>
          <a:p>
            <a:pPr>
              <a:spcBef>
                <a:spcPts val="0"/>
              </a:spcBef>
            </a:pPr>
            <a:r>
              <a:rPr lang="es-ES" b="1" dirty="0"/>
              <a:t>Duración de examen: 2 </a:t>
            </a:r>
            <a:r>
              <a:rPr lang="es-ES" b="1" dirty="0" err="1"/>
              <a:t>hrs</a:t>
            </a:r>
            <a:r>
              <a:rPr lang="es-ES" b="1" dirty="0"/>
              <a:t>.</a:t>
            </a:r>
          </a:p>
          <a:p>
            <a:pPr>
              <a:spcBef>
                <a:spcPts val="0"/>
              </a:spcBef>
            </a:pPr>
            <a:endParaRPr lang="es-ES" b="1" dirty="0"/>
          </a:p>
          <a:p>
            <a:pPr>
              <a:spcBef>
                <a:spcPts val="0"/>
              </a:spcBef>
            </a:pPr>
            <a:r>
              <a:rPr lang="es-ES" b="1" dirty="0"/>
              <a:t>Condiciones de aprobación: </a:t>
            </a:r>
          </a:p>
          <a:p>
            <a:pPr>
              <a:spcBef>
                <a:spcPts val="0"/>
              </a:spcBef>
            </a:pPr>
            <a:r>
              <a:rPr lang="es-ES" b="1" dirty="0"/>
              <a:t>1. Que el diagrama UML este completo y tenga todas sus relaciones y normalizaciones. </a:t>
            </a:r>
          </a:p>
          <a:p>
            <a:pPr>
              <a:spcBef>
                <a:spcPts val="0"/>
              </a:spcBef>
            </a:pPr>
            <a:r>
              <a:rPr lang="es-ES" b="1" dirty="0"/>
              <a:t>2. Que las dos clases codificadas no tengan errores de sintaxis java. Esto es necesario para alcanzar la aprobación (4 cuatro)</a:t>
            </a:r>
          </a:p>
          <a:p>
            <a:pPr>
              <a:spcBef>
                <a:spcPts val="0"/>
              </a:spcBef>
            </a:pPr>
            <a:r>
              <a:rPr lang="es-ES" b="1" dirty="0"/>
              <a:t>3. Los siguientes puntos van a subir la nota para llegar al máximo posible (10 diez)</a:t>
            </a:r>
          </a:p>
          <a:p>
            <a:pPr>
              <a:spcBef>
                <a:spcPts val="0"/>
              </a:spcBef>
            </a:pPr>
            <a:r>
              <a:rPr lang="es-ES" b="1" dirty="0"/>
              <a:t> Utilización clases abstractas</a:t>
            </a:r>
          </a:p>
          <a:p>
            <a:pPr>
              <a:spcBef>
                <a:spcPts val="0"/>
              </a:spcBef>
            </a:pPr>
            <a:r>
              <a:rPr lang="es-ES" b="1" dirty="0"/>
              <a:t> Utilización herencia</a:t>
            </a:r>
          </a:p>
          <a:p>
            <a:pPr>
              <a:spcBef>
                <a:spcPts val="0"/>
              </a:spcBef>
            </a:pPr>
            <a:r>
              <a:rPr lang="es-ES" b="1" dirty="0"/>
              <a:t> Utilización estructuras java (cíclicas, decisión, </a:t>
            </a:r>
            <a:r>
              <a:rPr lang="es-ES" b="1" dirty="0" err="1"/>
              <a:t>etc</a:t>
            </a:r>
            <a:r>
              <a:rPr lang="es-ES" b="1" dirty="0"/>
              <a:t>)</a:t>
            </a:r>
            <a:endParaRPr lang="es-AR" dirty="0"/>
          </a:p>
          <a:p>
            <a:pPr>
              <a:spcBef>
                <a:spcPts val="0"/>
              </a:spcBef>
            </a:pPr>
            <a:endParaRPr lang="es-AR" dirty="0"/>
          </a:p>
          <a:p>
            <a:pPr marL="0" indent="0">
              <a:spcBef>
                <a:spcPts val="0"/>
              </a:spcBef>
              <a:buNone/>
            </a:pPr>
            <a:endParaRPr lang="es-AR" dirty="0"/>
          </a:p>
          <a:p>
            <a:pPr marL="0" indent="0">
              <a:spcBef>
                <a:spcPts val="0"/>
              </a:spcBef>
              <a:buNone/>
            </a:pPr>
            <a:endParaRPr lang="es-AR" dirty="0"/>
          </a:p>
        </p:txBody>
      </p:sp>
    </p:spTree>
    <p:extLst>
      <p:ext uri="{BB962C8B-B14F-4D97-AF65-F5344CB8AC3E}">
        <p14:creationId xmlns:p14="http://schemas.microsoft.com/office/powerpoint/2010/main" val="25576867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74D10-FBA5-AF53-6A16-6BC1D95FE3A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0A2B3A4-AFCE-51DD-36DE-8331B5354C80}"/>
              </a:ext>
            </a:extLst>
          </p:cNvPr>
          <p:cNvSpPr>
            <a:spLocks noGrp="1"/>
          </p:cNvSpPr>
          <p:nvPr>
            <p:ph type="title"/>
          </p:nvPr>
        </p:nvSpPr>
        <p:spPr/>
        <p:txBody>
          <a:bodyPr>
            <a:normAutofit/>
          </a:bodyPr>
          <a:lstStyle/>
          <a:p>
            <a:r>
              <a:rPr lang="es-AR" dirty="0"/>
              <a:t>Ejercicio tipo parcial</a:t>
            </a:r>
          </a:p>
        </p:txBody>
      </p:sp>
      <p:pic>
        <p:nvPicPr>
          <p:cNvPr id="4" name="Imagen 3">
            <a:extLst>
              <a:ext uri="{FF2B5EF4-FFF2-40B4-BE49-F238E27FC236}">
                <a16:creationId xmlns:a16="http://schemas.microsoft.com/office/drawing/2014/main" id="{3C9DAC6B-51D7-5844-F036-F6D7CD615832}"/>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59D3B8D8-5A28-AA9F-A403-9E9F9D55BF23}"/>
              </a:ext>
            </a:extLst>
          </p:cNvPr>
          <p:cNvSpPr>
            <a:spLocks noGrp="1"/>
          </p:cNvSpPr>
          <p:nvPr>
            <p:ph type="sldNum" sz="quarter" idx="12"/>
          </p:nvPr>
        </p:nvSpPr>
        <p:spPr/>
        <p:txBody>
          <a:bodyPr/>
          <a:lstStyle/>
          <a:p>
            <a:fld id="{6C8ECD1B-3F01-46F8-A46F-31A31EFC5ABF}" type="slidenum">
              <a:rPr lang="es-AR" smtClean="0"/>
              <a:t>80</a:t>
            </a:fld>
            <a:endParaRPr lang="es-AR"/>
          </a:p>
        </p:txBody>
      </p:sp>
      <p:sp>
        <p:nvSpPr>
          <p:cNvPr id="10" name="Marcador de contenido 2">
            <a:extLst>
              <a:ext uri="{FF2B5EF4-FFF2-40B4-BE49-F238E27FC236}">
                <a16:creationId xmlns:a16="http://schemas.microsoft.com/office/drawing/2014/main" id="{B8E57765-0CB5-AF85-9ED3-23E808D5F222}"/>
              </a:ext>
            </a:extLst>
          </p:cNvPr>
          <p:cNvSpPr>
            <a:spLocks noGrp="1"/>
          </p:cNvSpPr>
          <p:nvPr>
            <p:ph idx="1"/>
          </p:nvPr>
        </p:nvSpPr>
        <p:spPr>
          <a:xfrm>
            <a:off x="1097280" y="1845734"/>
            <a:ext cx="10058400" cy="4023360"/>
          </a:xfrm>
        </p:spPr>
        <p:txBody>
          <a:bodyPr>
            <a:normAutofit fontScale="40000" lnSpcReduction="20000"/>
          </a:bodyPr>
          <a:lstStyle/>
          <a:p>
            <a:pPr algn="ctr">
              <a:spcBef>
                <a:spcPts val="0"/>
              </a:spcBef>
            </a:pPr>
            <a:r>
              <a:rPr lang="es-ES" sz="3000" b="1" dirty="0"/>
              <a:t>Selección “de ensueño” Nacional </a:t>
            </a:r>
          </a:p>
          <a:p>
            <a:pPr>
              <a:spcBef>
                <a:spcPts val="0"/>
              </a:spcBef>
            </a:pPr>
            <a:endParaRPr lang="es-ES" b="1" dirty="0"/>
          </a:p>
          <a:p>
            <a:pPr>
              <a:spcBef>
                <a:spcPts val="0"/>
              </a:spcBef>
            </a:pPr>
            <a:r>
              <a:rPr lang="es-ES" b="1" dirty="0"/>
              <a:t>Se requiere desarrollar un programa que modele la conformación de un equipo de fútbol teniendo en cuenta las siguientes especificaciones. </a:t>
            </a:r>
          </a:p>
          <a:p>
            <a:pPr>
              <a:spcBef>
                <a:spcPts val="0"/>
              </a:spcBef>
            </a:pPr>
            <a:r>
              <a:rPr lang="es-ES" b="1" dirty="0"/>
              <a:t>Un equipo de fútbol tiene atributos como: nombre, país, un técnico, un arquero, cuatro defensas, cuatro mediocampos y dos delanteros. </a:t>
            </a:r>
          </a:p>
          <a:p>
            <a:pPr>
              <a:spcBef>
                <a:spcPts val="0"/>
              </a:spcBef>
            </a:pPr>
            <a:r>
              <a:rPr lang="es-ES" b="1" dirty="0"/>
              <a:t>Se requieren dos constructores para el equipo: el primero recibe como parámetros el nombre del equipo y del país. El segundo invoca al primero e inicializa los jugadores que conforman el equipo. </a:t>
            </a:r>
          </a:p>
          <a:p>
            <a:pPr>
              <a:spcBef>
                <a:spcPts val="0"/>
              </a:spcBef>
            </a:pPr>
            <a:r>
              <a:rPr lang="es-ES" b="1" dirty="0"/>
              <a:t>Los técnicos y jugadores son personas. Las personas tienen un nombre, apellidos y edad. </a:t>
            </a:r>
          </a:p>
          <a:p>
            <a:pPr>
              <a:spcBef>
                <a:spcPts val="0"/>
              </a:spcBef>
            </a:pPr>
            <a:r>
              <a:rPr lang="es-ES" b="1" dirty="0"/>
              <a:t>Además, los jugadores tienen un atributo booleano para representar si son titulares o no en el equipo. </a:t>
            </a:r>
          </a:p>
          <a:p>
            <a:pPr>
              <a:spcBef>
                <a:spcPts val="0"/>
              </a:spcBef>
            </a:pPr>
            <a:r>
              <a:rPr lang="es-ES" b="1" dirty="0"/>
              <a:t>Los técnicos tienen como atributos los años de experiencia (tipo </a:t>
            </a:r>
            <a:r>
              <a:rPr lang="es-ES" b="1" dirty="0" err="1"/>
              <a:t>int</a:t>
            </a:r>
            <a:r>
              <a:rPr lang="es-ES" b="1" dirty="0"/>
              <a:t>) y si son nacionales o extranjeros (tipo </a:t>
            </a:r>
            <a:r>
              <a:rPr lang="es-ES" b="1" dirty="0" err="1"/>
              <a:t>boolean</a:t>
            </a:r>
            <a:r>
              <a:rPr lang="es-ES" b="1" dirty="0"/>
              <a:t>).  </a:t>
            </a:r>
          </a:p>
          <a:p>
            <a:pPr>
              <a:spcBef>
                <a:spcPts val="0"/>
              </a:spcBef>
            </a:pPr>
            <a:r>
              <a:rPr lang="es-ES" b="1" dirty="0"/>
              <a:t>Los jugadores pueden ser arqueros, defensas, mediocampistas o delanteros. </a:t>
            </a:r>
          </a:p>
          <a:p>
            <a:pPr>
              <a:spcBef>
                <a:spcPts val="0"/>
              </a:spcBef>
            </a:pPr>
            <a:r>
              <a:rPr lang="es-ES" b="1" dirty="0"/>
              <a:t>Los arqueros tienen como atributo propio la cantidad de goles recibidos y los jugadores mediocampistas, el número de asistencias realizadas (tipo </a:t>
            </a:r>
            <a:r>
              <a:rPr lang="es-ES" b="1" dirty="0" err="1"/>
              <a:t>int</a:t>
            </a:r>
            <a:r>
              <a:rPr lang="es-ES" b="1" dirty="0"/>
              <a:t>). </a:t>
            </a:r>
          </a:p>
          <a:p>
            <a:pPr>
              <a:spcBef>
                <a:spcPts val="0"/>
              </a:spcBef>
            </a:pPr>
            <a:r>
              <a:rPr lang="es-ES" b="1" dirty="0"/>
              <a:t>Finalmente, los delanteros tienen como atributo propio la cantidad de goles anotados. </a:t>
            </a:r>
          </a:p>
          <a:p>
            <a:pPr>
              <a:spcBef>
                <a:spcPts val="0"/>
              </a:spcBef>
            </a:pPr>
            <a:r>
              <a:rPr lang="es-ES" b="1" dirty="0"/>
              <a:t>Además, se requiere un método que devuelva un </a:t>
            </a:r>
            <a:r>
              <a:rPr lang="es-ES" b="1" dirty="0" err="1"/>
              <a:t>String</a:t>
            </a:r>
            <a:r>
              <a:rPr lang="es-ES" b="1" dirty="0"/>
              <a:t> formateado que muestre la conformación del equipo de fútbol, su técnico y sus jugadores. </a:t>
            </a:r>
          </a:p>
          <a:p>
            <a:pPr>
              <a:spcBef>
                <a:spcPts val="0"/>
              </a:spcBef>
            </a:pPr>
            <a:r>
              <a:rPr lang="es-ES" b="1" dirty="0"/>
              <a:t>Se debe realizar una clase de prueba con un método </a:t>
            </a:r>
            <a:r>
              <a:rPr lang="es-ES" b="1" dirty="0" err="1"/>
              <a:t>main</a:t>
            </a:r>
            <a:r>
              <a:rPr lang="es-ES" b="1" dirty="0"/>
              <a:t> que cree un equipo de fútbol de la Selección “de ensueño” Argentina con los siguientes datos: </a:t>
            </a:r>
          </a:p>
          <a:p>
            <a:pPr>
              <a:spcBef>
                <a:spcPts val="0"/>
              </a:spcBef>
            </a:pPr>
            <a:r>
              <a:rPr lang="es-ES" b="1" dirty="0"/>
              <a:t>Técnico: César Luis </a:t>
            </a:r>
            <a:r>
              <a:rPr lang="es-ES" b="1" dirty="0" err="1"/>
              <a:t>Menotti</a:t>
            </a:r>
            <a:r>
              <a:rPr lang="es-ES" b="1" dirty="0"/>
              <a:t>, 76 años, 40 años de experiencia y no es extranjero.</a:t>
            </a:r>
          </a:p>
          <a:p>
            <a:pPr>
              <a:spcBef>
                <a:spcPts val="0"/>
              </a:spcBef>
            </a:pPr>
            <a:r>
              <a:rPr lang="es-ES" b="1" dirty="0"/>
              <a:t>Arquero: Amadeo Carrizo, 30 años y 10 goles recibidos. </a:t>
            </a:r>
          </a:p>
          <a:p>
            <a:pPr>
              <a:spcBef>
                <a:spcPts val="0"/>
              </a:spcBef>
            </a:pPr>
            <a:endParaRPr lang="es-ES" b="1" dirty="0"/>
          </a:p>
          <a:p>
            <a:pPr>
              <a:spcBef>
                <a:spcPts val="0"/>
              </a:spcBef>
            </a:pPr>
            <a:r>
              <a:rPr lang="es-ES" b="1" dirty="0"/>
              <a:t>Los defensas son: </a:t>
            </a:r>
          </a:p>
          <a:p>
            <a:pPr>
              <a:spcBef>
                <a:spcPts val="0"/>
              </a:spcBef>
            </a:pPr>
            <a:r>
              <a:rPr lang="es-ES" b="1" dirty="0"/>
              <a:t>• Roberto Perfumo, 24 años. </a:t>
            </a:r>
          </a:p>
          <a:p>
            <a:pPr>
              <a:spcBef>
                <a:spcPts val="0"/>
              </a:spcBef>
            </a:pPr>
            <a:r>
              <a:rPr lang="es-ES" b="1" dirty="0"/>
              <a:t>• Daniel Passarella, 23 años. </a:t>
            </a:r>
          </a:p>
          <a:p>
            <a:pPr>
              <a:spcBef>
                <a:spcPts val="0"/>
              </a:spcBef>
            </a:pPr>
            <a:r>
              <a:rPr lang="es-ES" b="1" dirty="0"/>
              <a:t>• Javier Zanetti, 29 años. </a:t>
            </a:r>
          </a:p>
          <a:p>
            <a:pPr>
              <a:spcBef>
                <a:spcPts val="0"/>
              </a:spcBef>
            </a:pPr>
            <a:r>
              <a:rPr lang="es-ES" b="1" dirty="0"/>
              <a:t>• Oscar Ruggeri, 29 años. </a:t>
            </a:r>
          </a:p>
          <a:p>
            <a:pPr>
              <a:spcBef>
                <a:spcPts val="0"/>
              </a:spcBef>
            </a:pPr>
            <a:endParaRPr lang="es-ES" b="1" dirty="0"/>
          </a:p>
          <a:p>
            <a:pPr>
              <a:spcBef>
                <a:spcPts val="0"/>
              </a:spcBef>
            </a:pPr>
            <a:r>
              <a:rPr lang="es-ES" b="1" dirty="0"/>
              <a:t>Los jugadores del mediocampo son: </a:t>
            </a:r>
          </a:p>
          <a:p>
            <a:pPr>
              <a:spcBef>
                <a:spcPts val="0"/>
              </a:spcBef>
            </a:pPr>
            <a:r>
              <a:rPr lang="es-ES" b="1" dirty="0"/>
              <a:t>• Diego Maradona, 28 años, 1200 asistencias. </a:t>
            </a:r>
          </a:p>
          <a:p>
            <a:pPr>
              <a:spcBef>
                <a:spcPts val="0"/>
              </a:spcBef>
            </a:pPr>
            <a:r>
              <a:rPr lang="es-ES" b="1" dirty="0"/>
              <a:t>• Fernando Redondo, 25 años, 12 asistencias. </a:t>
            </a:r>
          </a:p>
          <a:p>
            <a:pPr>
              <a:spcBef>
                <a:spcPts val="0"/>
              </a:spcBef>
            </a:pPr>
            <a:r>
              <a:rPr lang="es-ES" b="1" dirty="0"/>
              <a:t>• Juan Román Riquelme, 31 años, 1 asistencias. </a:t>
            </a:r>
          </a:p>
          <a:p>
            <a:pPr>
              <a:spcBef>
                <a:spcPts val="0"/>
              </a:spcBef>
            </a:pPr>
            <a:r>
              <a:rPr lang="es-ES" b="1" dirty="0"/>
              <a:t> </a:t>
            </a:r>
          </a:p>
          <a:p>
            <a:pPr>
              <a:spcBef>
                <a:spcPts val="0"/>
              </a:spcBef>
            </a:pPr>
            <a:r>
              <a:rPr lang="es-ES" b="1" dirty="0"/>
              <a:t>Los delanteros son:  </a:t>
            </a:r>
          </a:p>
          <a:p>
            <a:pPr>
              <a:spcBef>
                <a:spcPts val="0"/>
              </a:spcBef>
            </a:pPr>
            <a:r>
              <a:rPr lang="es-ES" b="1" dirty="0"/>
              <a:t>• Lionel Messi, 36 años, 150 goles.  </a:t>
            </a:r>
          </a:p>
          <a:p>
            <a:pPr>
              <a:spcBef>
                <a:spcPts val="0"/>
              </a:spcBef>
            </a:pPr>
            <a:r>
              <a:rPr lang="es-ES" b="1" dirty="0"/>
              <a:t>• Gabriel Batistuta, 28 años, 300 goles.  </a:t>
            </a:r>
          </a:p>
          <a:p>
            <a:pPr>
              <a:spcBef>
                <a:spcPts val="0"/>
              </a:spcBef>
            </a:pPr>
            <a:r>
              <a:rPr lang="es-ES" b="1" dirty="0"/>
              <a:t>• Alfredo Di Stéfano, 30 años, 400 goles. </a:t>
            </a:r>
          </a:p>
          <a:p>
            <a:pPr>
              <a:spcBef>
                <a:spcPts val="0"/>
              </a:spcBef>
            </a:pPr>
            <a:r>
              <a:rPr lang="es-ES" b="1" dirty="0"/>
              <a:t> </a:t>
            </a:r>
          </a:p>
          <a:p>
            <a:pPr>
              <a:spcBef>
                <a:spcPts val="0"/>
              </a:spcBef>
            </a:pPr>
            <a:r>
              <a:rPr lang="es-ES" b="1" dirty="0"/>
              <a:t>Todos los jugadores son titulares. </a:t>
            </a:r>
            <a:endParaRPr lang="es-AR" b="1" dirty="0"/>
          </a:p>
          <a:p>
            <a:pPr>
              <a:spcBef>
                <a:spcPts val="0"/>
              </a:spcBef>
            </a:pPr>
            <a:endParaRPr lang="es-AR" dirty="0"/>
          </a:p>
          <a:p>
            <a:pPr>
              <a:spcBef>
                <a:spcPts val="0"/>
              </a:spcBef>
            </a:pPr>
            <a:endParaRPr lang="es-AR" dirty="0"/>
          </a:p>
          <a:p>
            <a:pPr marL="0" indent="0">
              <a:spcBef>
                <a:spcPts val="0"/>
              </a:spcBef>
              <a:buNone/>
            </a:pPr>
            <a:endParaRPr lang="es-AR" dirty="0"/>
          </a:p>
          <a:p>
            <a:pPr marL="0" indent="0">
              <a:spcBef>
                <a:spcPts val="0"/>
              </a:spcBef>
              <a:buNone/>
            </a:pPr>
            <a:endParaRPr lang="es-AR" dirty="0"/>
          </a:p>
        </p:txBody>
      </p:sp>
    </p:spTree>
    <p:extLst>
      <p:ext uri="{BB962C8B-B14F-4D97-AF65-F5344CB8AC3E}">
        <p14:creationId xmlns:p14="http://schemas.microsoft.com/office/powerpoint/2010/main" val="255327040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33BDC-5AD1-FCA5-0BD9-B08DDA901878}"/>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E36DB389-509A-321F-D9B5-7ECE767229CD}"/>
              </a:ext>
            </a:extLst>
          </p:cNvPr>
          <p:cNvPicPr>
            <a:picLocks noChangeAspect="1"/>
          </p:cNvPicPr>
          <p:nvPr/>
        </p:nvPicPr>
        <p:blipFill>
          <a:blip r:embed="rId3"/>
          <a:stretch>
            <a:fillRect/>
          </a:stretch>
        </p:blipFill>
        <p:spPr>
          <a:xfrm>
            <a:off x="1136484" y="358332"/>
            <a:ext cx="10075999" cy="5938528"/>
          </a:xfrm>
          <a:prstGeom prst="rect">
            <a:avLst/>
          </a:prstGeom>
        </p:spPr>
      </p:pic>
      <p:pic>
        <p:nvPicPr>
          <p:cNvPr id="4" name="Imagen 3">
            <a:extLst>
              <a:ext uri="{FF2B5EF4-FFF2-40B4-BE49-F238E27FC236}">
                <a16:creationId xmlns:a16="http://schemas.microsoft.com/office/drawing/2014/main" id="{B5043CB3-0CA8-95DC-7C56-B1DD9DCF3FD0}"/>
              </a:ext>
            </a:extLst>
          </p:cNvPr>
          <p:cNvPicPr>
            <a:picLocks noChangeAspect="1"/>
          </p:cNvPicPr>
          <p:nvPr/>
        </p:nvPicPr>
        <p:blipFill>
          <a:blip r:embed="rId4"/>
          <a:stretch>
            <a:fillRect/>
          </a:stretch>
        </p:blipFill>
        <p:spPr>
          <a:xfrm>
            <a:off x="10241060" y="467833"/>
            <a:ext cx="971423" cy="502297"/>
          </a:xfrm>
          <a:prstGeom prst="rect">
            <a:avLst/>
          </a:prstGeom>
        </p:spPr>
      </p:pic>
      <p:sp>
        <p:nvSpPr>
          <p:cNvPr id="5" name="Marcador de número de diapositiva 4">
            <a:extLst>
              <a:ext uri="{FF2B5EF4-FFF2-40B4-BE49-F238E27FC236}">
                <a16:creationId xmlns:a16="http://schemas.microsoft.com/office/drawing/2014/main" id="{7CBC0219-35B4-AD09-CE60-287F8739D3CF}"/>
              </a:ext>
            </a:extLst>
          </p:cNvPr>
          <p:cNvSpPr>
            <a:spLocks noGrp="1"/>
          </p:cNvSpPr>
          <p:nvPr>
            <p:ph type="sldNum" sz="quarter" idx="12"/>
          </p:nvPr>
        </p:nvSpPr>
        <p:spPr/>
        <p:txBody>
          <a:bodyPr/>
          <a:lstStyle/>
          <a:p>
            <a:fld id="{6C8ECD1B-3F01-46F8-A46F-31A31EFC5ABF}" type="slidenum">
              <a:rPr lang="es-AR" smtClean="0"/>
              <a:t>81</a:t>
            </a:fld>
            <a:endParaRPr lang="es-AR"/>
          </a:p>
        </p:txBody>
      </p:sp>
    </p:spTree>
    <p:extLst>
      <p:ext uri="{BB962C8B-B14F-4D97-AF65-F5344CB8AC3E}">
        <p14:creationId xmlns:p14="http://schemas.microsoft.com/office/powerpoint/2010/main" val="351275895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5AB02-3534-0593-4027-67EDD06FBBF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9AA83E7-5D3B-CF78-3A06-945B37A2ED9D}"/>
              </a:ext>
            </a:extLst>
          </p:cNvPr>
          <p:cNvSpPr>
            <a:spLocks noGrp="1"/>
          </p:cNvSpPr>
          <p:nvPr>
            <p:ph type="title"/>
          </p:nvPr>
        </p:nvSpPr>
        <p:spPr/>
        <p:txBody>
          <a:bodyPr>
            <a:normAutofit/>
          </a:bodyPr>
          <a:lstStyle/>
          <a:p>
            <a:r>
              <a:rPr lang="es-AR" dirty="0"/>
              <a:t>Ejercicio tipo parcial - código</a:t>
            </a:r>
          </a:p>
        </p:txBody>
      </p:sp>
      <p:pic>
        <p:nvPicPr>
          <p:cNvPr id="4" name="Imagen 3">
            <a:extLst>
              <a:ext uri="{FF2B5EF4-FFF2-40B4-BE49-F238E27FC236}">
                <a16:creationId xmlns:a16="http://schemas.microsoft.com/office/drawing/2014/main" id="{11950F0B-D0E7-6EDC-0195-660660F76148}"/>
              </a:ext>
            </a:extLst>
          </p:cNvPr>
          <p:cNvPicPr>
            <a:picLocks noChangeAspect="1"/>
          </p:cNvPicPr>
          <p:nvPr/>
        </p:nvPicPr>
        <p:blipFill>
          <a:blip r:embed="rId3"/>
          <a:stretch>
            <a:fillRect/>
          </a:stretch>
        </p:blipFill>
        <p:spPr>
          <a:xfrm>
            <a:off x="10184257" y="757082"/>
            <a:ext cx="971423" cy="502297"/>
          </a:xfrm>
          <a:prstGeom prst="rect">
            <a:avLst/>
          </a:prstGeom>
        </p:spPr>
      </p:pic>
      <p:sp>
        <p:nvSpPr>
          <p:cNvPr id="5" name="Marcador de número de diapositiva 4">
            <a:extLst>
              <a:ext uri="{FF2B5EF4-FFF2-40B4-BE49-F238E27FC236}">
                <a16:creationId xmlns:a16="http://schemas.microsoft.com/office/drawing/2014/main" id="{863FEE48-A7C0-6953-E19F-87027E1B827E}"/>
              </a:ext>
            </a:extLst>
          </p:cNvPr>
          <p:cNvSpPr>
            <a:spLocks noGrp="1"/>
          </p:cNvSpPr>
          <p:nvPr>
            <p:ph type="sldNum" sz="quarter" idx="12"/>
          </p:nvPr>
        </p:nvSpPr>
        <p:spPr/>
        <p:txBody>
          <a:bodyPr/>
          <a:lstStyle/>
          <a:p>
            <a:fld id="{6C8ECD1B-3F01-46F8-A46F-31A31EFC5ABF}" type="slidenum">
              <a:rPr lang="es-AR" smtClean="0"/>
              <a:t>82</a:t>
            </a:fld>
            <a:endParaRPr lang="es-AR"/>
          </a:p>
        </p:txBody>
      </p:sp>
    </p:spTree>
    <p:extLst>
      <p:ext uri="{BB962C8B-B14F-4D97-AF65-F5344CB8AC3E}">
        <p14:creationId xmlns:p14="http://schemas.microsoft.com/office/powerpoint/2010/main" val="4033873403"/>
      </p:ext>
    </p:extLst>
  </p:cSld>
  <p:clrMapOvr>
    <a:masterClrMapping/>
  </p:clrMapOvr>
</p:sld>
</file>

<file path=ppt/theme/theme1.xml><?xml version="1.0" encoding="utf-8"?>
<a:theme xmlns:a="http://schemas.openxmlformats.org/drawingml/2006/main" name="Retrospección">
  <a:themeElements>
    <a:clrScheme name="Azul cálido">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5333</TotalTime>
  <Words>6397</Words>
  <Application>Microsoft Office PowerPoint</Application>
  <PresentationFormat>Panorámica</PresentationFormat>
  <Paragraphs>627</Paragraphs>
  <Slides>82</Slides>
  <Notes>40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82</vt:i4>
      </vt:variant>
    </vt:vector>
  </HeadingPairs>
  <TitlesOfParts>
    <vt:vector size="86" baseType="lpstr">
      <vt:lpstr>Arial</vt:lpstr>
      <vt:lpstr>Calibri</vt:lpstr>
      <vt:lpstr>Calibri Light</vt:lpstr>
      <vt:lpstr>Retrospección</vt:lpstr>
      <vt:lpstr> PARADIGMA ORIENTADO A OBJETOS  Clase 6</vt:lpstr>
      <vt:lpstr>¿Qué vamos a ver hoy?</vt:lpstr>
      <vt:lpstr> </vt:lpstr>
      <vt:lpstr> </vt:lpstr>
      <vt:lpstr> </vt:lpstr>
      <vt:lpstr> </vt:lpstr>
      <vt:lpstr> </vt:lpstr>
      <vt:lpstr> </vt:lpstr>
      <vt:lpstr> </vt:lpstr>
      <vt:lpstr> </vt:lpstr>
      <vt:lpstr> </vt:lpstr>
      <vt:lpstr> </vt:lpstr>
      <vt:lpstr>Presentación de PowerPoint</vt:lpstr>
      <vt:lpstr>Presentación de PowerPoint</vt:lpstr>
      <vt:lpstr>Presentación de PowerPoint</vt:lpstr>
      <vt:lpstr>Diagramas Clases </vt:lpstr>
      <vt:lpstr>Diagramas Clases: Asociación </vt:lpstr>
      <vt:lpstr>Diagramas Clases: Agregación </vt:lpstr>
      <vt:lpstr>Diagramas Clases: Composición </vt:lpstr>
      <vt:lpstr>Diagramas Clases: Dependencia </vt:lpstr>
      <vt:lpstr>Diagramas Clases: Herencia </vt:lpstr>
      <vt:lpstr>¿Por qué necesitamos UML?</vt:lpstr>
      <vt:lpstr>Diferentes tipos de diagramas UML</vt:lpstr>
      <vt:lpstr>Diagrama de clases</vt:lpstr>
      <vt:lpstr>Diagrama de clases: Atributos</vt:lpstr>
      <vt:lpstr>Diagrama de clases: Métodos</vt:lpstr>
      <vt:lpstr>Diagrama de clases: Modificadores</vt:lpstr>
      <vt:lpstr>Diagrama de clases: Asociación</vt:lpstr>
      <vt:lpstr>Diagrama de clases: Generalización y especialización</vt:lpstr>
      <vt:lpstr>Diagrama de clases: Herencia</vt:lpstr>
      <vt:lpstr>Diagrama de clases: Herencia</vt:lpstr>
      <vt:lpstr>Introducción al lenguaje Java</vt:lpstr>
      <vt:lpstr>Introducción al lenguaje Java</vt:lpstr>
      <vt:lpstr>JDK, JVM y JRE</vt:lpstr>
      <vt:lpstr>JDK, JVM y JRE</vt:lpstr>
      <vt:lpstr>JDK, JVM y JRE</vt:lpstr>
      <vt:lpstr>JDK, JVM y JRE</vt:lpstr>
      <vt:lpstr>JDK, JVM y JRE</vt:lpstr>
      <vt:lpstr>JDK, JVM y JRE</vt:lpstr>
      <vt:lpstr>JDK, JVM y JRE</vt:lpstr>
      <vt:lpstr>Ejecución en  Java</vt:lpstr>
      <vt:lpstr>Classpath</vt:lpstr>
      <vt:lpstr>Uso de convenciones de nomenclatura</vt:lpstr>
      <vt:lpstr>Uso de convenciones de nomenclatura</vt:lpstr>
      <vt:lpstr>Tipos de notación</vt:lpstr>
      <vt:lpstr>Palabras reservadas en JAVA</vt:lpstr>
      <vt:lpstr>Tipos de datos</vt:lpstr>
      <vt:lpstr>Datos primitivos y Datos wrapper</vt:lpstr>
      <vt:lpstr>Datos primitivos y Datos wrapper</vt:lpstr>
      <vt:lpstr>Constructores y destructores.</vt:lpstr>
      <vt:lpstr>Constructores y destructores.</vt:lpstr>
      <vt:lpstr>Constructores y destructores.</vt:lpstr>
      <vt:lpstr>Constructores y destructores.</vt:lpstr>
      <vt:lpstr>Constructores y destructores.</vt:lpstr>
      <vt:lpstr>Del diagrama de clase a código Java</vt:lpstr>
      <vt:lpstr>Del diagrama de clase a código Java</vt:lpstr>
      <vt:lpstr>Del diagrama de clase a código Java</vt:lpstr>
      <vt:lpstr>Del diagrama de clase a código Java</vt:lpstr>
      <vt:lpstr>Del diagrama de clase a código Java</vt:lpstr>
      <vt:lpstr>Del diagrama de clase a código Java</vt:lpstr>
      <vt:lpstr>Del diagrama de clase a código Java</vt:lpstr>
      <vt:lpstr>Del diagrama de clase a código Java</vt:lpstr>
      <vt:lpstr>Del diagrama de clase a código Java</vt:lpstr>
      <vt:lpstr>Del diagrama de clase a código Java</vt:lpstr>
      <vt:lpstr>Del diagrama de clase a código Java</vt:lpstr>
      <vt:lpstr>Trabajo Práctico N° 6 – 06/11</vt:lpstr>
      <vt:lpstr>Trabajo practico 1</vt:lpstr>
      <vt:lpstr>Trabajo practico 1 </vt:lpstr>
      <vt:lpstr>Trabajo practico 2</vt:lpstr>
      <vt:lpstr>TP 2 Diagrama de clases y código Java</vt:lpstr>
      <vt:lpstr>Ejercicio 1 A partir del código JAVA desarrollar el diagrama de clases </vt:lpstr>
      <vt:lpstr>Respuesta ejercicio 1</vt:lpstr>
      <vt:lpstr>Ejercicio 2 A partir del código JAVA desarrollar el diagrama de clases </vt:lpstr>
      <vt:lpstr>Respuesta ejercicio 2</vt:lpstr>
      <vt:lpstr>Ejercicio 3 A partir del diagrama de clases  desarrollar el código JAVA</vt:lpstr>
      <vt:lpstr>Respuesta ejercicio 3</vt:lpstr>
      <vt:lpstr>Respuesta ejercicio 3</vt:lpstr>
      <vt:lpstr>Respuesta ejercicio 3</vt:lpstr>
      <vt:lpstr>Ejercicio tipo parcial</vt:lpstr>
      <vt:lpstr>Ejercicio tipo parcial</vt:lpstr>
      <vt:lpstr>Presentación de PowerPoint</vt:lpstr>
      <vt:lpstr>Ejercicio tipo parcial - código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Maximiliano</dc:creator>
  <cp:lastModifiedBy>maximiliano coedo</cp:lastModifiedBy>
  <cp:revision>48</cp:revision>
  <dcterms:created xsi:type="dcterms:W3CDTF">2025-03-04T22:20:11Z</dcterms:created>
  <dcterms:modified xsi:type="dcterms:W3CDTF">2026-09-11T19:24:28Z</dcterms:modified>
</cp:coreProperties>
</file>