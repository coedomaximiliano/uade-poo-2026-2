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RESOLUCIÓN SUGERIDA - Abstracción
1) Datos relevantes: nombre, DNI, obra social, historia clínica, alergias, medicación actual, próximos turnos.
2) Datos que quedan afuera: color de ojos, hobbies, marca de auto, gustos musicales, etc. — cualquier dato que no aporte valor al dominio del problema (la atención médica).
3) Es abstracción porque es una decisión consciente sobre qué atributos importan para el contexto del sistema, no un olvido: se modela solo lo relevante para el problema que se quiere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RESOLUCIÓN SUGERIDA - Encapsulamiento
1) Riesgos: dejar el saldo en negativo sin validar, inconsistencias, fraude, pérdida de registro/auditoría de los movimientos.
2) Protección: hacer el dato privado (no accesible directamente desde afuera) y exponer métodos como depositar() y extraer() que apliquen las reglas de negocio (ej. no permitir saldo negativo).
3) “Controlado” significa que es el propio objeto el que decide cómo y cuándo cambia su estado interno, no quien lo usa desde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RESOLUCIÓN SUGERIDA - Herencia
1) En común: marca, modelo, patente, acelerar(), frenar().
2) En la clase padre Vehículo: los atributos y métodos comunes de arriba. Propio de cada hijo: Camión → capacidad de carga; Moto → cilindrada; Auto → cantidad de puertas.
3) Evitan escribir tres veces el mismo código para marca, patente, acelerar(), frenar(), etc. — se define una sola vez en Vehículo y las tres clases lo heredan.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RESOLUCIÓN SUGERIDA - Polimorfismo
1) Conviene porque quien usa las figuras (por ejemplo, para sumar todas las áreas) no necesita saber de qué tipo es cada una: solo le pide “calculá tu área” y cada una responde a su manera.
2) Con nombres distintos (areaCirculo(), areaCuadrado()...) haría falta preguntar primero de qué tipo es cada figura y usar condicionales (if/else) para cada caso, perdiendo flexibilidad.
3) El código que usa las figuras queda desacoplado de los tipos concretos: puede recorrer una lista de “figuras” sin importarle la implementación de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RESOLUCIÓN SUGERIDA - Biblioteca
Clases: Libro, Persona (Socio y Bibliotecario, posiblemente como roles distintos), Préstamo.
Objetos concretos: “El Principito” (instancia de Libro), “Ana” (instancia de Socio), “María” (instancia de Bibliotecario).
Atributos posibles:
- Libro: título, autor, ISBN, disponible.
- Persona: nombre, DNI.
- Préstamo: fecha, libro, socio.
Métodos posibles:
- Préstamo: registrar(), devolver().
- Libro: estaDisponible().
Es válido que los grupos propongan variantes razonables — el objetivo es que distingan clase vs. objeto concreto y que justifiquen sus atributos/métodos.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RESOLUCIÓN - Completar la clase CuentaBancaria
double saldo;   (el atributo que faltaba)
extraer(double monto);   (el método que faltaba, análogo a depositar)
double consultarSaldo();   (método que devuelve el saldo actual)
Se puede aprovechar para comentar que saldo debería ser privado y que extraer() debería validar que no se retire más de lo disponible — enlaza con encapsulamiento.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9692640" y="-1371600"/>
            <a:ext cx="4572000" cy="4572000"/>
          </a:xfrm>
          <a:prstGeom prst="ellipse">
            <a:avLst/>
          </a:prstGeom>
          <a:solidFill>
            <a:srgbClr val="141B47"/>
          </a:solidFill>
          <a:ln/>
        </p:spPr>
      </p:sp>
      <p:sp>
        <p:nvSpPr>
          <p:cNvPr id="4" name="Shape 2"/>
          <p:cNvSpPr/>
          <p:nvPr/>
        </p:nvSpPr>
        <p:spPr>
          <a:xfrm>
            <a:off x="10789920" y="4389120"/>
            <a:ext cx="2926080" cy="2926080"/>
          </a:xfrm>
          <a:prstGeom prst="ellipse">
            <a:avLst/>
          </a:prstGeom>
          <a:solidFill>
            <a:srgbClr val="24306B"/>
          </a:solidFill>
          <a:ln/>
        </p:spPr>
      </p:sp>
      <p:sp>
        <p:nvSpPr>
          <p:cNvPr id="5" name="Shape 3"/>
          <p:cNvSpPr/>
          <p:nvPr/>
        </p:nvSpPr>
        <p:spPr>
          <a:xfrm>
            <a:off x="-1097280" y="5029200"/>
            <a:ext cx="2743200" cy="2743200"/>
          </a:xfrm>
          <a:prstGeom prst="ellipse">
            <a:avLst/>
          </a:prstGeom>
          <a:solidFill>
            <a:srgbClr val="141B47"/>
          </a:solidFill>
          <a:ln/>
        </p:spPr>
      </p:sp>
      <p:sp>
        <p:nvSpPr>
          <p:cNvPr id="6" name="Shape 4"/>
          <p:cNvSpPr/>
          <p:nvPr/>
        </p:nvSpPr>
        <p:spPr>
          <a:xfrm>
            <a:off x="10689336" y="192024"/>
            <a:ext cx="1216152" cy="757123"/>
          </a:xfrm>
          <a:prstGeom prst="roundRect">
            <a:avLst>
              <a:gd name="adj" fmla="val 7246"/>
            </a:avLst>
          </a:prstGeom>
          <a:solidFill>
            <a:srgbClr val="FFFFFF"/>
          </a:solidFill>
          <a:ln/>
        </p:spPr>
      </p:sp>
      <p:pic>
        <p:nvPicPr>
          <p:cNvPr id="7"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8" name="Text 5"/>
          <p:cNvSpPr/>
          <p:nvPr/>
        </p:nvSpPr>
        <p:spPr>
          <a:xfrm>
            <a:off x="822960" y="2377440"/>
            <a:ext cx="9144000" cy="457200"/>
          </a:xfrm>
          <a:prstGeom prst="rect">
            <a:avLst/>
          </a:prstGeom>
          <a:noFill/>
          <a:ln/>
        </p:spPr>
        <p:txBody>
          <a:bodyPr wrap="square"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PARADIGMA ORIENTADO A OBJETOS</a:t>
            </a:r>
            <a:endParaRPr lang="en-US" sz="1400" dirty="0"/>
          </a:p>
        </p:txBody>
      </p:sp>
      <p:sp>
        <p:nvSpPr>
          <p:cNvPr id="9" name="Text 6"/>
          <p:cNvSpPr/>
          <p:nvPr/>
        </p:nvSpPr>
        <p:spPr>
          <a:xfrm>
            <a:off x="777240" y="2788920"/>
            <a:ext cx="91440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Clase 1</a:t>
            </a:r>
            <a:endParaRPr lang="en-US" sz="6000" dirty="0"/>
          </a:p>
        </p:txBody>
      </p:sp>
      <p:sp>
        <p:nvSpPr>
          <p:cNvPr id="10" name="Text 7"/>
          <p:cNvSpPr/>
          <p:nvPr/>
        </p:nvSpPr>
        <p:spPr>
          <a:xfrm>
            <a:off x="822960" y="3794760"/>
            <a:ext cx="9144000" cy="45720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Introducción a la Orientación a Objetos</a:t>
            </a:r>
            <a:endParaRPr lang="en-US" sz="1800" dirty="0"/>
          </a:p>
        </p:txBody>
      </p:sp>
      <p:sp>
        <p:nvSpPr>
          <p:cNvPr id="11" name="Shape 8"/>
          <p:cNvSpPr/>
          <p:nvPr/>
        </p:nvSpPr>
        <p:spPr>
          <a:xfrm>
            <a:off x="822960" y="5349240"/>
            <a:ext cx="2011680" cy="0"/>
          </a:xfrm>
          <a:prstGeom prst="line">
            <a:avLst/>
          </a:prstGeom>
          <a:noFill/>
          <a:ln w="25400">
            <a:solidFill>
              <a:srgbClr val="F2A541"/>
            </a:solidFill>
            <a:prstDash val="solid"/>
          </a:ln>
        </p:spPr>
      </p:sp>
      <p:sp>
        <p:nvSpPr>
          <p:cNvPr id="12" name="Text 9"/>
          <p:cNvSpPr/>
          <p:nvPr/>
        </p:nvSpPr>
        <p:spPr>
          <a:xfrm>
            <a:off x="822960" y="5486400"/>
            <a:ext cx="54864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Ing. Maximiliano Coedo</a:t>
            </a:r>
            <a:endParaRPr lang="en-US" sz="1400" dirty="0"/>
          </a:p>
        </p:txBody>
      </p:sp>
      <p:sp>
        <p:nvSpPr>
          <p:cNvPr id="13" name="Text 10"/>
          <p:cNvSpPr/>
          <p:nvPr/>
        </p:nvSpPr>
        <p:spPr>
          <a:xfrm>
            <a:off x="822960" y="5806440"/>
            <a:ext cx="5486400" cy="27432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mcoedo@uade.edu.ar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INFORMACIÓN DE LA CURSADA</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Logística de la materia</a:t>
            </a:r>
            <a:endParaRPr lang="en-US" sz="3200" dirty="0"/>
          </a:p>
        </p:txBody>
      </p:sp>
      <p:sp>
        <p:nvSpPr>
          <p:cNvPr id="5" name="Shape 2"/>
          <p:cNvSpPr/>
          <p:nvPr/>
        </p:nvSpPr>
        <p:spPr>
          <a:xfrm>
            <a:off x="640080" y="1828800"/>
            <a:ext cx="82296" cy="566928"/>
          </a:xfrm>
          <a:prstGeom prst="rect">
            <a:avLst/>
          </a:prstGeom>
          <a:solidFill>
            <a:srgbClr val="F2A541"/>
          </a:solidFill>
          <a:ln/>
        </p:spPr>
      </p:sp>
      <p:sp>
        <p:nvSpPr>
          <p:cNvPr id="6" name="Text 3"/>
          <p:cNvSpPr/>
          <p:nvPr/>
        </p:nvSpPr>
        <p:spPr>
          <a:xfrm>
            <a:off x="914400" y="1783080"/>
            <a:ext cx="2377440" cy="64008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Aula</a:t>
            </a:r>
            <a:endParaRPr lang="en-US" sz="1300" dirty="0"/>
          </a:p>
        </p:txBody>
      </p:sp>
      <p:sp>
        <p:nvSpPr>
          <p:cNvPr id="7" name="Text 4"/>
          <p:cNvSpPr/>
          <p:nvPr/>
        </p:nvSpPr>
        <p:spPr>
          <a:xfrm>
            <a:off x="3383280" y="1783080"/>
            <a:ext cx="8229600" cy="640080"/>
          </a:xfrm>
          <a:prstGeom prst="rect">
            <a:avLst/>
          </a:prstGeom>
          <a:noFill/>
          <a:ln/>
        </p:spPr>
        <p:txBody>
          <a:bodyPr wrap="square" rtlCol="0" anchor="t"/>
          <a:lstStyle/>
          <a:p>
            <a:pPr indent="0" marL="0">
              <a:buNone/>
            </a:pPr>
            <a:r>
              <a:rPr lang="en-US" sz="1300" dirty="0">
                <a:solidFill>
                  <a:srgbClr val="44506B"/>
                </a:solidFill>
                <a:latin typeface="Calibri" pitchFamily="34" charset="0"/>
                <a:ea typeface="Calibri" pitchFamily="34" charset="-122"/>
                <a:cs typeface="Calibri" pitchFamily="34" charset="-120"/>
              </a:rPr>
              <a:t>B004 - Sede Belgrano</a:t>
            </a:r>
            <a:endParaRPr lang="en-US" sz="1300" dirty="0"/>
          </a:p>
        </p:txBody>
      </p:sp>
      <p:sp>
        <p:nvSpPr>
          <p:cNvPr id="8" name="Shape 5"/>
          <p:cNvSpPr/>
          <p:nvPr/>
        </p:nvSpPr>
        <p:spPr>
          <a:xfrm>
            <a:off x="640080" y="2542032"/>
            <a:ext cx="82296" cy="566928"/>
          </a:xfrm>
          <a:prstGeom prst="rect">
            <a:avLst/>
          </a:prstGeom>
          <a:solidFill>
            <a:srgbClr val="F2A541"/>
          </a:solidFill>
          <a:ln/>
        </p:spPr>
      </p:sp>
      <p:sp>
        <p:nvSpPr>
          <p:cNvPr id="9" name="Text 6"/>
          <p:cNvSpPr/>
          <p:nvPr/>
        </p:nvSpPr>
        <p:spPr>
          <a:xfrm>
            <a:off x="914400" y="2496312"/>
            <a:ext cx="2377440" cy="64008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Clases</a:t>
            </a:r>
            <a:endParaRPr lang="en-US" sz="1300" dirty="0"/>
          </a:p>
        </p:txBody>
      </p:sp>
      <p:sp>
        <p:nvSpPr>
          <p:cNvPr id="10" name="Text 7"/>
          <p:cNvSpPr/>
          <p:nvPr/>
        </p:nvSpPr>
        <p:spPr>
          <a:xfrm>
            <a:off x="3383280" y="2496312"/>
            <a:ext cx="8229600" cy="640080"/>
          </a:xfrm>
          <a:prstGeom prst="rect">
            <a:avLst/>
          </a:prstGeom>
          <a:noFill/>
          <a:ln/>
        </p:spPr>
        <p:txBody>
          <a:bodyPr wrap="square" rtlCol="0" anchor="t"/>
          <a:lstStyle/>
          <a:p>
            <a:pPr indent="0" marL="0">
              <a:buNone/>
            </a:pPr>
            <a:r>
              <a:rPr lang="en-US" sz="1300" dirty="0">
                <a:solidFill>
                  <a:srgbClr val="44506B"/>
                </a:solidFill>
                <a:latin typeface="Calibri" pitchFamily="34" charset="0"/>
                <a:ea typeface="Calibri" pitchFamily="34" charset="-122"/>
                <a:cs typeface="Calibri" pitchFamily="34" charset="-120"/>
              </a:rPr>
              <a:t>17 presenciales + 1 virtual</a:t>
            </a:r>
            <a:endParaRPr lang="en-US" sz="1300" dirty="0"/>
          </a:p>
        </p:txBody>
      </p:sp>
      <p:sp>
        <p:nvSpPr>
          <p:cNvPr id="11" name="Shape 8"/>
          <p:cNvSpPr/>
          <p:nvPr/>
        </p:nvSpPr>
        <p:spPr>
          <a:xfrm>
            <a:off x="640080" y="3255264"/>
            <a:ext cx="82296" cy="566928"/>
          </a:xfrm>
          <a:prstGeom prst="rect">
            <a:avLst/>
          </a:prstGeom>
          <a:solidFill>
            <a:srgbClr val="F2A541"/>
          </a:solidFill>
          <a:ln/>
        </p:spPr>
      </p:sp>
      <p:sp>
        <p:nvSpPr>
          <p:cNvPr id="12" name="Text 9"/>
          <p:cNvSpPr/>
          <p:nvPr/>
        </p:nvSpPr>
        <p:spPr>
          <a:xfrm>
            <a:off x="914400" y="3209544"/>
            <a:ext cx="2377440" cy="64008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Horario presencial</a:t>
            </a:r>
            <a:endParaRPr lang="en-US" sz="1300" dirty="0"/>
          </a:p>
        </p:txBody>
      </p:sp>
      <p:sp>
        <p:nvSpPr>
          <p:cNvPr id="13" name="Text 10"/>
          <p:cNvSpPr/>
          <p:nvPr/>
        </p:nvSpPr>
        <p:spPr>
          <a:xfrm>
            <a:off x="3383280" y="3209544"/>
            <a:ext cx="8229600" cy="640080"/>
          </a:xfrm>
          <a:prstGeom prst="rect">
            <a:avLst/>
          </a:prstGeom>
          <a:noFill/>
          <a:ln/>
        </p:spPr>
        <p:txBody>
          <a:bodyPr wrap="square" rtlCol="0" anchor="t"/>
          <a:lstStyle/>
          <a:p>
            <a:pPr indent="0" marL="0">
              <a:buNone/>
            </a:pPr>
            <a:r>
              <a:rPr lang="en-US" sz="1300" dirty="0">
                <a:solidFill>
                  <a:srgbClr val="44506B"/>
                </a:solidFill>
                <a:latin typeface="Calibri" pitchFamily="34" charset="0"/>
                <a:ea typeface="Calibri" pitchFamily="34" charset="-122"/>
                <a:cs typeface="Calibri" pitchFamily="34" charset="-120"/>
              </a:rPr>
              <a:t>Viernes 18:30 a 22:00 hs (break 20:10 a 20:30 hs)</a:t>
            </a:r>
            <a:endParaRPr lang="en-US" sz="1300" dirty="0"/>
          </a:p>
        </p:txBody>
      </p:sp>
      <p:sp>
        <p:nvSpPr>
          <p:cNvPr id="14" name="Shape 11"/>
          <p:cNvSpPr/>
          <p:nvPr/>
        </p:nvSpPr>
        <p:spPr>
          <a:xfrm>
            <a:off x="640080" y="3968496"/>
            <a:ext cx="82296" cy="566928"/>
          </a:xfrm>
          <a:prstGeom prst="rect">
            <a:avLst/>
          </a:prstGeom>
          <a:solidFill>
            <a:srgbClr val="F2A541"/>
          </a:solidFill>
          <a:ln/>
        </p:spPr>
      </p:sp>
      <p:sp>
        <p:nvSpPr>
          <p:cNvPr id="15" name="Text 12"/>
          <p:cNvSpPr/>
          <p:nvPr/>
        </p:nvSpPr>
        <p:spPr>
          <a:xfrm>
            <a:off x="914400" y="3922776"/>
            <a:ext cx="2377440" cy="64008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Horario virtual</a:t>
            </a:r>
            <a:endParaRPr lang="en-US" sz="1300" dirty="0"/>
          </a:p>
        </p:txBody>
      </p:sp>
      <p:sp>
        <p:nvSpPr>
          <p:cNvPr id="16" name="Text 13"/>
          <p:cNvSpPr/>
          <p:nvPr/>
        </p:nvSpPr>
        <p:spPr>
          <a:xfrm>
            <a:off x="3383280" y="3922776"/>
            <a:ext cx="8229600" cy="640080"/>
          </a:xfrm>
          <a:prstGeom prst="rect">
            <a:avLst/>
          </a:prstGeom>
          <a:noFill/>
          <a:ln/>
        </p:spPr>
        <p:txBody>
          <a:bodyPr wrap="square" rtlCol="0" anchor="t"/>
          <a:lstStyle/>
          <a:p>
            <a:pPr indent="0" marL="0">
              <a:buNone/>
            </a:pPr>
            <a:r>
              <a:rPr lang="en-US" sz="1300" dirty="0">
                <a:solidFill>
                  <a:srgbClr val="44506B"/>
                </a:solidFill>
                <a:latin typeface="Calibri" pitchFamily="34" charset="0"/>
                <a:ea typeface="Calibri" pitchFamily="34" charset="-122"/>
                <a:cs typeface="Calibri" pitchFamily="34" charset="-120"/>
              </a:rPr>
              <a:t>Sábado 26/09, 09:00 a 13:00 hs</a:t>
            </a:r>
            <a:endParaRPr lang="en-US" sz="1300" dirty="0"/>
          </a:p>
        </p:txBody>
      </p:sp>
      <p:sp>
        <p:nvSpPr>
          <p:cNvPr id="17" name="Shape 14"/>
          <p:cNvSpPr/>
          <p:nvPr/>
        </p:nvSpPr>
        <p:spPr>
          <a:xfrm>
            <a:off x="640080" y="4681728"/>
            <a:ext cx="82296" cy="566928"/>
          </a:xfrm>
          <a:prstGeom prst="rect">
            <a:avLst/>
          </a:prstGeom>
          <a:solidFill>
            <a:srgbClr val="F2A541"/>
          </a:solidFill>
          <a:ln/>
        </p:spPr>
      </p:sp>
      <p:sp>
        <p:nvSpPr>
          <p:cNvPr id="18" name="Text 15"/>
          <p:cNvSpPr/>
          <p:nvPr/>
        </p:nvSpPr>
        <p:spPr>
          <a:xfrm>
            <a:off x="914400" y="4636008"/>
            <a:ext cx="2377440" cy="64008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Trabajo final</a:t>
            </a:r>
            <a:endParaRPr lang="en-US" sz="1300" dirty="0"/>
          </a:p>
        </p:txBody>
      </p:sp>
      <p:sp>
        <p:nvSpPr>
          <p:cNvPr id="19" name="Text 16"/>
          <p:cNvSpPr/>
          <p:nvPr/>
        </p:nvSpPr>
        <p:spPr>
          <a:xfrm>
            <a:off x="3383280" y="4636008"/>
            <a:ext cx="8229600" cy="640080"/>
          </a:xfrm>
          <a:prstGeom prst="rect">
            <a:avLst/>
          </a:prstGeom>
          <a:noFill/>
          <a:ln/>
        </p:spPr>
        <p:txBody>
          <a:bodyPr wrap="square" rtlCol="0" anchor="t"/>
          <a:lstStyle/>
          <a:p>
            <a:pPr indent="0" marL="0">
              <a:buNone/>
            </a:pPr>
            <a:r>
              <a:rPr lang="en-US" sz="1300" dirty="0">
                <a:solidFill>
                  <a:srgbClr val="44506B"/>
                </a:solidFill>
                <a:latin typeface="Calibri" pitchFamily="34" charset="0"/>
                <a:ea typeface="Calibri" pitchFamily="34" charset="-122"/>
                <a:cs typeface="Calibri" pitchFamily="34" charset="-120"/>
              </a:rPr>
              <a:t>3 entregas</a:t>
            </a:r>
            <a:endParaRPr lang="en-US" sz="1300" dirty="0"/>
          </a:p>
        </p:txBody>
      </p:sp>
      <p:sp>
        <p:nvSpPr>
          <p:cNvPr id="20" name="Shape 17"/>
          <p:cNvSpPr/>
          <p:nvPr/>
        </p:nvSpPr>
        <p:spPr>
          <a:xfrm>
            <a:off x="640080" y="5394960"/>
            <a:ext cx="82296" cy="566928"/>
          </a:xfrm>
          <a:prstGeom prst="rect">
            <a:avLst/>
          </a:prstGeom>
          <a:solidFill>
            <a:srgbClr val="F2A541"/>
          </a:solidFill>
          <a:ln/>
        </p:spPr>
      </p:sp>
      <p:sp>
        <p:nvSpPr>
          <p:cNvPr id="21" name="Text 18"/>
          <p:cNvSpPr/>
          <p:nvPr/>
        </p:nvSpPr>
        <p:spPr>
          <a:xfrm>
            <a:off x="914400" y="5349240"/>
            <a:ext cx="2377440" cy="64008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Exámenes</a:t>
            </a:r>
            <a:endParaRPr lang="en-US" sz="1300" dirty="0"/>
          </a:p>
        </p:txBody>
      </p:sp>
      <p:sp>
        <p:nvSpPr>
          <p:cNvPr id="22" name="Text 19"/>
          <p:cNvSpPr/>
          <p:nvPr/>
        </p:nvSpPr>
        <p:spPr>
          <a:xfrm>
            <a:off x="3383280" y="5349240"/>
            <a:ext cx="8229600" cy="640080"/>
          </a:xfrm>
          <a:prstGeom prst="rect">
            <a:avLst/>
          </a:prstGeom>
          <a:noFill/>
          <a:ln/>
        </p:spPr>
        <p:txBody>
          <a:bodyPr wrap="square" rtlCol="0" anchor="t"/>
          <a:lstStyle/>
          <a:p>
            <a:pPr indent="0" marL="0">
              <a:buNone/>
            </a:pPr>
            <a:r>
              <a:rPr lang="en-US" sz="1300" dirty="0">
                <a:solidFill>
                  <a:srgbClr val="44506B"/>
                </a:solidFill>
                <a:latin typeface="Calibri" pitchFamily="34" charset="0"/>
                <a:ea typeface="Calibri" pitchFamily="34" charset="-122"/>
                <a:cs typeface="Calibri" pitchFamily="34" charset="-120"/>
              </a:rPr>
              <a:t>2 parciales (18/09 y 13/11), 1 recuperatorio / final adelantado, 1 final</a:t>
            </a:r>
            <a:endParaRPr lang="en-US" sz="1300" dirty="0"/>
          </a:p>
        </p:txBody>
      </p:sp>
      <p:sp>
        <p:nvSpPr>
          <p:cNvPr id="23"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4" name="Text 21"/>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PROGRAMA · OBJETIVOS</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Objetivos de aprendizaje</a:t>
            </a:r>
            <a:endParaRPr lang="en-US" sz="3200" dirty="0"/>
          </a:p>
        </p:txBody>
      </p:sp>
      <p:sp>
        <p:nvSpPr>
          <p:cNvPr id="5" name="Text 2"/>
          <p:cNvSpPr/>
          <p:nvPr/>
        </p:nvSpPr>
        <p:spPr>
          <a:xfrm>
            <a:off x="640080" y="1508760"/>
            <a:ext cx="100584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Al finalizar la materia, el estudiante podrá:</a:t>
            </a:r>
            <a:endParaRPr lang="en-US" sz="1300" dirty="0"/>
          </a:p>
        </p:txBody>
      </p:sp>
      <p:sp>
        <p:nvSpPr>
          <p:cNvPr id="6" name="Shape 3"/>
          <p:cNvSpPr/>
          <p:nvPr/>
        </p:nvSpPr>
        <p:spPr>
          <a:xfrm>
            <a:off x="640080" y="2057400"/>
            <a:ext cx="384048" cy="384048"/>
          </a:xfrm>
          <a:prstGeom prst="ellipse">
            <a:avLst/>
          </a:prstGeom>
          <a:solidFill>
            <a:srgbClr val="1E2761"/>
          </a:solidFill>
          <a:ln/>
        </p:spPr>
      </p:sp>
      <p:sp>
        <p:nvSpPr>
          <p:cNvPr id="7" name="Text 4"/>
          <p:cNvSpPr/>
          <p:nvPr/>
        </p:nvSpPr>
        <p:spPr>
          <a:xfrm>
            <a:off x="640080" y="20574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88720" y="2002536"/>
            <a:ext cx="10332720" cy="50292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Aproximarse al paradigma de la programación orientada a objetos.</a:t>
            </a:r>
            <a:endParaRPr lang="en-US" sz="1350" dirty="0"/>
          </a:p>
        </p:txBody>
      </p:sp>
      <p:sp>
        <p:nvSpPr>
          <p:cNvPr id="9" name="Shape 6"/>
          <p:cNvSpPr/>
          <p:nvPr/>
        </p:nvSpPr>
        <p:spPr>
          <a:xfrm>
            <a:off x="640080" y="2834640"/>
            <a:ext cx="384048" cy="384048"/>
          </a:xfrm>
          <a:prstGeom prst="ellipse">
            <a:avLst/>
          </a:prstGeom>
          <a:solidFill>
            <a:srgbClr val="1E2761"/>
          </a:solidFill>
          <a:ln/>
        </p:spPr>
      </p:sp>
      <p:sp>
        <p:nvSpPr>
          <p:cNvPr id="10" name="Text 7"/>
          <p:cNvSpPr/>
          <p:nvPr/>
        </p:nvSpPr>
        <p:spPr>
          <a:xfrm>
            <a:off x="640080" y="283464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88720" y="2779776"/>
            <a:ext cx="10332720" cy="50292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Conocer distintas técnicas de diseño y patrones especializados en el tratamiento de objetos.</a:t>
            </a:r>
            <a:endParaRPr lang="en-US" sz="1350" dirty="0"/>
          </a:p>
        </p:txBody>
      </p:sp>
      <p:sp>
        <p:nvSpPr>
          <p:cNvPr id="12" name="Shape 9"/>
          <p:cNvSpPr/>
          <p:nvPr/>
        </p:nvSpPr>
        <p:spPr>
          <a:xfrm>
            <a:off x="640080" y="3611880"/>
            <a:ext cx="384048" cy="384048"/>
          </a:xfrm>
          <a:prstGeom prst="ellipse">
            <a:avLst/>
          </a:prstGeom>
          <a:solidFill>
            <a:srgbClr val="1E2761"/>
          </a:solidFill>
          <a:ln/>
        </p:spPr>
      </p:sp>
      <p:sp>
        <p:nvSpPr>
          <p:cNvPr id="13" name="Text 10"/>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88720" y="3557016"/>
            <a:ext cx="10332720" cy="50292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Comprender los conceptos de clases, objetos y las características principales del lenguaje OO.</a:t>
            </a:r>
            <a:endParaRPr lang="en-US" sz="1350" dirty="0"/>
          </a:p>
        </p:txBody>
      </p:sp>
      <p:sp>
        <p:nvSpPr>
          <p:cNvPr id="15" name="Shape 12"/>
          <p:cNvSpPr/>
          <p:nvPr/>
        </p:nvSpPr>
        <p:spPr>
          <a:xfrm>
            <a:off x="640080" y="4389120"/>
            <a:ext cx="384048" cy="384048"/>
          </a:xfrm>
          <a:prstGeom prst="ellipse">
            <a:avLst/>
          </a:prstGeom>
          <a:solidFill>
            <a:srgbClr val="1E2761"/>
          </a:solidFill>
          <a:ln/>
        </p:spPr>
      </p:sp>
      <p:sp>
        <p:nvSpPr>
          <p:cNvPr id="16" name="Text 13"/>
          <p:cNvSpPr/>
          <p:nvPr/>
        </p:nvSpPr>
        <p:spPr>
          <a:xfrm>
            <a:off x="640080" y="438912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88720" y="4334256"/>
            <a:ext cx="10332720" cy="50292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Aproximarse a UML: diagramas de clases y secuencia, con comparación frente a diagramas de estado e interacción.</a:t>
            </a:r>
            <a:endParaRPr lang="en-US" sz="1350" dirty="0"/>
          </a:p>
        </p:txBody>
      </p:sp>
      <p:sp>
        <p:nvSpPr>
          <p:cNvPr id="18" name="Shape 15"/>
          <p:cNvSpPr/>
          <p:nvPr/>
        </p:nvSpPr>
        <p:spPr>
          <a:xfrm>
            <a:off x="640080" y="5166360"/>
            <a:ext cx="384048" cy="384048"/>
          </a:xfrm>
          <a:prstGeom prst="ellipse">
            <a:avLst/>
          </a:prstGeom>
          <a:solidFill>
            <a:srgbClr val="1E2761"/>
          </a:solidFill>
          <a:ln/>
        </p:spPr>
      </p:sp>
      <p:sp>
        <p:nvSpPr>
          <p:cNvPr id="19" name="Text 16"/>
          <p:cNvSpPr/>
          <p:nvPr/>
        </p:nvSpPr>
        <p:spPr>
          <a:xfrm>
            <a:off x="640080" y="51663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88720" y="5111496"/>
            <a:ext cx="10332720" cy="50292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Programar en un lenguaje orientado a objetos.</a:t>
            </a:r>
            <a:endParaRPr lang="en-US" sz="1350" dirty="0"/>
          </a:p>
        </p:txBody>
      </p:sp>
      <p:sp>
        <p:nvSpPr>
          <p:cNvPr id="21" name="Text 18"/>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2" name="Text 19"/>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PROGRAMA · CONTENIDOS</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Seis unidades temáticas</a:t>
            </a:r>
            <a:endParaRPr lang="en-US" sz="3200" dirty="0"/>
          </a:p>
        </p:txBody>
      </p:sp>
      <p:sp>
        <p:nvSpPr>
          <p:cNvPr id="5" name="Shape 2"/>
          <p:cNvSpPr/>
          <p:nvPr/>
        </p:nvSpPr>
        <p:spPr>
          <a:xfrm>
            <a:off x="640080" y="1737360"/>
            <a:ext cx="3566160" cy="1965960"/>
          </a:xfrm>
          <a:prstGeom prst="roundRect">
            <a:avLst>
              <a:gd name="adj" fmla="val 3721"/>
            </a:avLst>
          </a:prstGeom>
          <a:solidFill>
            <a:srgbClr val="FFFFFF"/>
          </a:solidFill>
          <a:ln w="12700">
            <a:solidFill>
              <a:srgbClr val="E1E5F2"/>
            </a:solidFill>
            <a:prstDash val="solid"/>
          </a:ln>
          <a:effectLst>
            <a:outerShdw sx="100000" sy="100000" kx="0" ky="0" algn="bl" rotWithShape="0" blurRad="76200" dist="25400" dir="5400000">
              <a:srgbClr val="1E2761">
                <a:alpha val="12000"/>
              </a:srgbClr>
            </a:outerShdw>
          </a:effectLst>
        </p:spPr>
      </p:sp>
      <p:sp>
        <p:nvSpPr>
          <p:cNvPr id="6" name="Text 3"/>
          <p:cNvSpPr/>
          <p:nvPr/>
        </p:nvSpPr>
        <p:spPr>
          <a:xfrm>
            <a:off x="822960" y="1874520"/>
            <a:ext cx="914400" cy="457200"/>
          </a:xfrm>
          <a:prstGeom prst="rect">
            <a:avLst/>
          </a:prstGeom>
          <a:noFill/>
          <a:ln/>
        </p:spPr>
        <p:txBody>
          <a:bodyPr wrap="square"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7" name="Text 4"/>
          <p:cNvSpPr/>
          <p:nvPr/>
        </p:nvSpPr>
        <p:spPr>
          <a:xfrm>
            <a:off x="822960" y="2359152"/>
            <a:ext cx="3200400" cy="5029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Introducción a la POO y UML</a:t>
            </a:r>
            <a:endParaRPr lang="en-US" sz="1300" dirty="0"/>
          </a:p>
        </p:txBody>
      </p:sp>
      <p:sp>
        <p:nvSpPr>
          <p:cNvPr id="8" name="Text 5"/>
          <p:cNvSpPr/>
          <p:nvPr/>
        </p:nvSpPr>
        <p:spPr>
          <a:xfrm>
            <a:off x="822960" y="2852928"/>
            <a:ext cx="3200400" cy="777240"/>
          </a:xfrm>
          <a:prstGeom prst="rect">
            <a:avLst/>
          </a:prstGeom>
          <a:noFill/>
          <a:ln/>
        </p:spPr>
        <p:txBody>
          <a:bodyPr wrap="square" rtlCol="0" anchor="t"/>
          <a:lstStyle/>
          <a:p>
            <a:pPr indent="0" marL="0">
              <a:buNone/>
            </a:pPr>
            <a:r>
              <a:rPr lang="en-US" sz="1050" dirty="0">
                <a:solidFill>
                  <a:srgbClr val="5B6478"/>
                </a:solidFill>
                <a:latin typeface="Calibri" pitchFamily="34" charset="0"/>
                <a:ea typeface="Calibri" pitchFamily="34" charset="-122"/>
                <a:cs typeface="Calibri" pitchFamily="34" charset="-120"/>
              </a:rPr>
              <a:t>Clases, objetos, abstracción, herencia, diagramas de clase y secuencia</a:t>
            </a:r>
            <a:endParaRPr lang="en-US" sz="1050" dirty="0"/>
          </a:p>
        </p:txBody>
      </p:sp>
      <p:sp>
        <p:nvSpPr>
          <p:cNvPr id="9" name="Shape 6"/>
          <p:cNvSpPr/>
          <p:nvPr/>
        </p:nvSpPr>
        <p:spPr>
          <a:xfrm>
            <a:off x="4434840" y="1737360"/>
            <a:ext cx="3566160" cy="1965960"/>
          </a:xfrm>
          <a:prstGeom prst="roundRect">
            <a:avLst>
              <a:gd name="adj" fmla="val 3721"/>
            </a:avLst>
          </a:prstGeom>
          <a:solidFill>
            <a:srgbClr val="FFFFFF"/>
          </a:solidFill>
          <a:ln w="12700">
            <a:solidFill>
              <a:srgbClr val="E1E5F2"/>
            </a:solidFill>
            <a:prstDash val="solid"/>
          </a:ln>
          <a:effectLst>
            <a:outerShdw sx="100000" sy="100000" kx="0" ky="0" algn="bl" rotWithShape="0" blurRad="76200" dist="25400" dir="5400000">
              <a:srgbClr val="1E2761">
                <a:alpha val="12000"/>
              </a:srgbClr>
            </a:outerShdw>
          </a:effectLst>
        </p:spPr>
      </p:sp>
      <p:sp>
        <p:nvSpPr>
          <p:cNvPr id="10" name="Text 7"/>
          <p:cNvSpPr/>
          <p:nvPr/>
        </p:nvSpPr>
        <p:spPr>
          <a:xfrm>
            <a:off x="4617720" y="1874520"/>
            <a:ext cx="914400" cy="457200"/>
          </a:xfrm>
          <a:prstGeom prst="rect">
            <a:avLst/>
          </a:prstGeom>
          <a:noFill/>
          <a:ln/>
        </p:spPr>
        <p:txBody>
          <a:bodyPr wrap="square"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1" name="Text 8"/>
          <p:cNvSpPr/>
          <p:nvPr/>
        </p:nvSpPr>
        <p:spPr>
          <a:xfrm>
            <a:off x="4617720" y="2359152"/>
            <a:ext cx="3200400" cy="5029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Funcionamiento de lenguajes OO</a:t>
            </a:r>
            <a:endParaRPr lang="en-US" sz="1300" dirty="0"/>
          </a:p>
        </p:txBody>
      </p:sp>
      <p:sp>
        <p:nvSpPr>
          <p:cNvPr id="12" name="Text 9"/>
          <p:cNvSpPr/>
          <p:nvPr/>
        </p:nvSpPr>
        <p:spPr>
          <a:xfrm>
            <a:off x="4617720" y="2852928"/>
            <a:ext cx="3200400" cy="777240"/>
          </a:xfrm>
          <a:prstGeom prst="rect">
            <a:avLst/>
          </a:prstGeom>
          <a:noFill/>
          <a:ln/>
        </p:spPr>
        <p:txBody>
          <a:bodyPr wrap="square" rtlCol="0" anchor="t"/>
          <a:lstStyle/>
          <a:p>
            <a:pPr indent="0" marL="0">
              <a:buNone/>
            </a:pPr>
            <a:r>
              <a:rPr lang="en-US" sz="1050" dirty="0">
                <a:solidFill>
                  <a:srgbClr val="5B6478"/>
                </a:solidFill>
                <a:latin typeface="Calibri" pitchFamily="34" charset="0"/>
                <a:ea typeface="Calibri" pitchFamily="34" charset="-122"/>
                <a:cs typeface="Calibri" pitchFamily="34" charset="-120"/>
              </a:rPr>
              <a:t>Máquina virtual, sintaxis, control de flujo, arreglos</a:t>
            </a:r>
            <a:endParaRPr lang="en-US" sz="1050" dirty="0"/>
          </a:p>
        </p:txBody>
      </p:sp>
      <p:sp>
        <p:nvSpPr>
          <p:cNvPr id="13" name="Shape 10"/>
          <p:cNvSpPr/>
          <p:nvPr/>
        </p:nvSpPr>
        <p:spPr>
          <a:xfrm>
            <a:off x="8229600" y="1737360"/>
            <a:ext cx="3566160" cy="1965960"/>
          </a:xfrm>
          <a:prstGeom prst="roundRect">
            <a:avLst>
              <a:gd name="adj" fmla="val 3721"/>
            </a:avLst>
          </a:prstGeom>
          <a:solidFill>
            <a:srgbClr val="FFFFFF"/>
          </a:solidFill>
          <a:ln w="12700">
            <a:solidFill>
              <a:srgbClr val="E1E5F2"/>
            </a:solidFill>
            <a:prstDash val="solid"/>
          </a:ln>
          <a:effectLst>
            <a:outerShdw sx="100000" sy="100000" kx="0" ky="0" algn="bl" rotWithShape="0" blurRad="76200" dist="25400" dir="5400000">
              <a:srgbClr val="1E2761">
                <a:alpha val="12000"/>
              </a:srgbClr>
            </a:outerShdw>
          </a:effectLst>
        </p:spPr>
      </p:sp>
      <p:sp>
        <p:nvSpPr>
          <p:cNvPr id="14" name="Text 11"/>
          <p:cNvSpPr/>
          <p:nvPr/>
        </p:nvSpPr>
        <p:spPr>
          <a:xfrm>
            <a:off x="8412480" y="1874520"/>
            <a:ext cx="914400" cy="457200"/>
          </a:xfrm>
          <a:prstGeom prst="rect">
            <a:avLst/>
          </a:prstGeom>
          <a:noFill/>
          <a:ln/>
        </p:spPr>
        <p:txBody>
          <a:bodyPr wrap="square"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Text 12"/>
          <p:cNvSpPr/>
          <p:nvPr/>
        </p:nvSpPr>
        <p:spPr>
          <a:xfrm>
            <a:off x="8412480" y="2359152"/>
            <a:ext cx="3200400" cy="5029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Clases y Objetos</a:t>
            </a:r>
            <a:endParaRPr lang="en-US" sz="1300" dirty="0"/>
          </a:p>
        </p:txBody>
      </p:sp>
      <p:sp>
        <p:nvSpPr>
          <p:cNvPr id="16" name="Text 13"/>
          <p:cNvSpPr/>
          <p:nvPr/>
        </p:nvSpPr>
        <p:spPr>
          <a:xfrm>
            <a:off x="8412480" y="2852928"/>
            <a:ext cx="3200400" cy="777240"/>
          </a:xfrm>
          <a:prstGeom prst="rect">
            <a:avLst/>
          </a:prstGeom>
          <a:noFill/>
          <a:ln/>
        </p:spPr>
        <p:txBody>
          <a:bodyPr wrap="square" rtlCol="0" anchor="t"/>
          <a:lstStyle/>
          <a:p>
            <a:pPr indent="0" marL="0">
              <a:buNone/>
            </a:pPr>
            <a:r>
              <a:rPr lang="en-US" sz="1050" dirty="0">
                <a:solidFill>
                  <a:srgbClr val="5B6478"/>
                </a:solidFill>
                <a:latin typeface="Calibri" pitchFamily="34" charset="0"/>
                <a:ea typeface="Calibri" pitchFamily="34" charset="-122"/>
                <a:cs typeface="Calibri" pitchFamily="34" charset="-120"/>
              </a:rPr>
              <a:t>Herencia, sobrecarga, modificadores de acceso, patrones GRASP y SOLID</a:t>
            </a:r>
            <a:endParaRPr lang="en-US" sz="1050" dirty="0"/>
          </a:p>
        </p:txBody>
      </p:sp>
      <p:sp>
        <p:nvSpPr>
          <p:cNvPr id="17" name="Shape 14"/>
          <p:cNvSpPr/>
          <p:nvPr/>
        </p:nvSpPr>
        <p:spPr>
          <a:xfrm>
            <a:off x="640080" y="3931920"/>
            <a:ext cx="3566160" cy="1965960"/>
          </a:xfrm>
          <a:prstGeom prst="roundRect">
            <a:avLst>
              <a:gd name="adj" fmla="val 3721"/>
            </a:avLst>
          </a:prstGeom>
          <a:solidFill>
            <a:srgbClr val="FFFFFF"/>
          </a:solidFill>
          <a:ln w="12700">
            <a:solidFill>
              <a:srgbClr val="E1E5F2"/>
            </a:solidFill>
            <a:prstDash val="solid"/>
          </a:ln>
          <a:effectLst>
            <a:outerShdw sx="100000" sy="100000" kx="0" ky="0" algn="bl" rotWithShape="0" blurRad="76200" dist="25400" dir="5400000">
              <a:srgbClr val="1E2761">
                <a:alpha val="12000"/>
              </a:srgbClr>
            </a:outerShdw>
          </a:effectLst>
        </p:spPr>
      </p:sp>
      <p:sp>
        <p:nvSpPr>
          <p:cNvPr id="18" name="Text 15"/>
          <p:cNvSpPr/>
          <p:nvPr/>
        </p:nvSpPr>
        <p:spPr>
          <a:xfrm>
            <a:off x="822960" y="4069080"/>
            <a:ext cx="914400" cy="457200"/>
          </a:xfrm>
          <a:prstGeom prst="rect">
            <a:avLst/>
          </a:prstGeom>
          <a:noFill/>
          <a:ln/>
        </p:spPr>
        <p:txBody>
          <a:bodyPr wrap="square"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19" name="Text 16"/>
          <p:cNvSpPr/>
          <p:nvPr/>
        </p:nvSpPr>
        <p:spPr>
          <a:xfrm>
            <a:off x="822960" y="4553712"/>
            <a:ext cx="3200400" cy="5029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Colecciones</a:t>
            </a:r>
            <a:endParaRPr lang="en-US" sz="1300" dirty="0"/>
          </a:p>
        </p:txBody>
      </p:sp>
      <p:sp>
        <p:nvSpPr>
          <p:cNvPr id="20" name="Text 17"/>
          <p:cNvSpPr/>
          <p:nvPr/>
        </p:nvSpPr>
        <p:spPr>
          <a:xfrm>
            <a:off x="822960" y="5047488"/>
            <a:ext cx="3200400" cy="777240"/>
          </a:xfrm>
          <a:prstGeom prst="rect">
            <a:avLst/>
          </a:prstGeom>
          <a:noFill/>
          <a:ln/>
        </p:spPr>
        <p:txBody>
          <a:bodyPr wrap="square" rtlCol="0" anchor="t"/>
          <a:lstStyle/>
          <a:p>
            <a:pPr indent="0" marL="0">
              <a:buNone/>
            </a:pPr>
            <a:r>
              <a:rPr lang="en-US" sz="1050" dirty="0">
                <a:solidFill>
                  <a:srgbClr val="5B6478"/>
                </a:solidFill>
                <a:latin typeface="Calibri" pitchFamily="34" charset="0"/>
                <a:ea typeface="Calibri" pitchFamily="34" charset="-122"/>
                <a:cs typeface="Calibri" pitchFamily="34" charset="-120"/>
              </a:rPr>
              <a:t>Jerarquía de colecciones, comparadores, tipos genéricos</a:t>
            </a:r>
            <a:endParaRPr lang="en-US" sz="1050" dirty="0"/>
          </a:p>
        </p:txBody>
      </p:sp>
      <p:sp>
        <p:nvSpPr>
          <p:cNvPr id="21" name="Shape 18"/>
          <p:cNvSpPr/>
          <p:nvPr/>
        </p:nvSpPr>
        <p:spPr>
          <a:xfrm>
            <a:off x="4434840" y="3931920"/>
            <a:ext cx="3566160" cy="1965960"/>
          </a:xfrm>
          <a:prstGeom prst="roundRect">
            <a:avLst>
              <a:gd name="adj" fmla="val 3721"/>
            </a:avLst>
          </a:prstGeom>
          <a:solidFill>
            <a:srgbClr val="FFFFFF"/>
          </a:solidFill>
          <a:ln w="12700">
            <a:solidFill>
              <a:srgbClr val="E1E5F2"/>
            </a:solidFill>
            <a:prstDash val="solid"/>
          </a:ln>
          <a:effectLst>
            <a:outerShdw sx="100000" sy="100000" kx="0" ky="0" algn="bl" rotWithShape="0" blurRad="76200" dist="25400" dir="5400000">
              <a:srgbClr val="1E2761">
                <a:alpha val="12000"/>
              </a:srgbClr>
            </a:outerShdw>
          </a:effectLst>
        </p:spPr>
      </p:sp>
      <p:sp>
        <p:nvSpPr>
          <p:cNvPr id="22" name="Text 19"/>
          <p:cNvSpPr/>
          <p:nvPr/>
        </p:nvSpPr>
        <p:spPr>
          <a:xfrm>
            <a:off x="4617720" y="4069080"/>
            <a:ext cx="914400" cy="457200"/>
          </a:xfrm>
          <a:prstGeom prst="rect">
            <a:avLst/>
          </a:prstGeom>
          <a:noFill/>
          <a:ln/>
        </p:spPr>
        <p:txBody>
          <a:bodyPr wrap="square"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3" name="Text 20"/>
          <p:cNvSpPr/>
          <p:nvPr/>
        </p:nvSpPr>
        <p:spPr>
          <a:xfrm>
            <a:off x="4617720" y="4553712"/>
            <a:ext cx="3200400" cy="5029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Manejo de Excepciones</a:t>
            </a:r>
            <a:endParaRPr lang="en-US" sz="1300" dirty="0"/>
          </a:p>
        </p:txBody>
      </p:sp>
      <p:sp>
        <p:nvSpPr>
          <p:cNvPr id="24" name="Text 21"/>
          <p:cNvSpPr/>
          <p:nvPr/>
        </p:nvSpPr>
        <p:spPr>
          <a:xfrm>
            <a:off x="4617720" y="5047488"/>
            <a:ext cx="3200400" cy="777240"/>
          </a:xfrm>
          <a:prstGeom prst="rect">
            <a:avLst/>
          </a:prstGeom>
          <a:noFill/>
          <a:ln/>
        </p:spPr>
        <p:txBody>
          <a:bodyPr wrap="square" rtlCol="0" anchor="t"/>
          <a:lstStyle/>
          <a:p>
            <a:pPr indent="0" marL="0">
              <a:buNone/>
            </a:pPr>
            <a:r>
              <a:rPr lang="en-US" sz="1050" dirty="0">
                <a:solidFill>
                  <a:srgbClr val="5B6478"/>
                </a:solidFill>
                <a:latin typeface="Calibri" pitchFamily="34" charset="0"/>
                <a:ea typeface="Calibri" pitchFamily="34" charset="-122"/>
                <a:cs typeface="Calibri" pitchFamily="34" charset="-120"/>
              </a:rPr>
              <a:t>try/catch/finally, throw, throws, try-with-resources</a:t>
            </a:r>
            <a:endParaRPr lang="en-US" sz="1050" dirty="0"/>
          </a:p>
        </p:txBody>
      </p:sp>
      <p:sp>
        <p:nvSpPr>
          <p:cNvPr id="25" name="Shape 22"/>
          <p:cNvSpPr/>
          <p:nvPr/>
        </p:nvSpPr>
        <p:spPr>
          <a:xfrm>
            <a:off x="8229600" y="3931920"/>
            <a:ext cx="3566160" cy="1965960"/>
          </a:xfrm>
          <a:prstGeom prst="roundRect">
            <a:avLst>
              <a:gd name="adj" fmla="val 3721"/>
            </a:avLst>
          </a:prstGeom>
          <a:solidFill>
            <a:srgbClr val="FFFFFF"/>
          </a:solidFill>
          <a:ln w="12700">
            <a:solidFill>
              <a:srgbClr val="E1E5F2"/>
            </a:solidFill>
            <a:prstDash val="solid"/>
          </a:ln>
          <a:effectLst>
            <a:outerShdw sx="100000" sy="100000" kx="0" ky="0" algn="bl" rotWithShape="0" blurRad="76200" dist="25400" dir="5400000">
              <a:srgbClr val="1E2761">
                <a:alpha val="12000"/>
              </a:srgbClr>
            </a:outerShdw>
          </a:effectLst>
        </p:spPr>
      </p:sp>
      <p:sp>
        <p:nvSpPr>
          <p:cNvPr id="26" name="Text 23"/>
          <p:cNvSpPr/>
          <p:nvPr/>
        </p:nvSpPr>
        <p:spPr>
          <a:xfrm>
            <a:off x="8412480" y="4069080"/>
            <a:ext cx="914400" cy="457200"/>
          </a:xfrm>
          <a:prstGeom prst="rect">
            <a:avLst/>
          </a:prstGeom>
          <a:noFill/>
          <a:ln/>
        </p:spPr>
        <p:txBody>
          <a:bodyPr wrap="square"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06</a:t>
            </a:r>
            <a:endParaRPr lang="en-US" sz="2400" dirty="0"/>
          </a:p>
        </p:txBody>
      </p:sp>
      <p:sp>
        <p:nvSpPr>
          <p:cNvPr id="27" name="Text 24"/>
          <p:cNvSpPr/>
          <p:nvPr/>
        </p:nvSpPr>
        <p:spPr>
          <a:xfrm>
            <a:off x="8412480" y="4553712"/>
            <a:ext cx="3200400" cy="5029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Entrada / Salida</a:t>
            </a:r>
            <a:endParaRPr lang="en-US" sz="1300" dirty="0"/>
          </a:p>
        </p:txBody>
      </p:sp>
      <p:sp>
        <p:nvSpPr>
          <p:cNvPr id="28" name="Text 25"/>
          <p:cNvSpPr/>
          <p:nvPr/>
        </p:nvSpPr>
        <p:spPr>
          <a:xfrm>
            <a:off x="8412480" y="5047488"/>
            <a:ext cx="3200400" cy="777240"/>
          </a:xfrm>
          <a:prstGeom prst="rect">
            <a:avLst/>
          </a:prstGeom>
          <a:noFill/>
          <a:ln/>
        </p:spPr>
        <p:txBody>
          <a:bodyPr wrap="square" rtlCol="0" anchor="t"/>
          <a:lstStyle/>
          <a:p>
            <a:pPr indent="0" marL="0">
              <a:buNone/>
            </a:pPr>
            <a:r>
              <a:rPr lang="en-US" sz="1050" dirty="0">
                <a:solidFill>
                  <a:srgbClr val="5B6478"/>
                </a:solidFill>
                <a:latin typeface="Calibri" pitchFamily="34" charset="0"/>
                <a:ea typeface="Calibri" pitchFamily="34" charset="-122"/>
                <a:cs typeface="Calibri" pitchFamily="34" charset="-120"/>
              </a:rPr>
              <a:t>Consola, entorno gráfico Swing, eventos, hilos de ejecución</a:t>
            </a:r>
            <a:endParaRPr lang="en-US" sz="1050" dirty="0"/>
          </a:p>
        </p:txBody>
      </p:sp>
      <p:sp>
        <p:nvSpPr>
          <p:cNvPr id="29" name="Text 2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30" name="Text 2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PROGRAMA · PLANIFICACIÓN</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Cronograma de clases</a:t>
            </a:r>
            <a:endParaRPr lang="en-US" sz="3200" dirty="0"/>
          </a:p>
        </p:txBody>
      </p:sp>
      <p:sp>
        <p:nvSpPr>
          <p:cNvPr id="5" name="Text 2"/>
          <p:cNvSpPr/>
          <p:nvPr/>
        </p:nvSpPr>
        <p:spPr>
          <a:xfrm>
            <a:off x="640080" y="1463040"/>
            <a:ext cx="10058400" cy="320040"/>
          </a:xfrm>
          <a:prstGeom prst="rect">
            <a:avLst/>
          </a:prstGeom>
          <a:noFill/>
          <a:ln/>
        </p:spPr>
        <p:txBody>
          <a:bodyPr wrap="square"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La cantidad de clases está sujeta al turno de la materia.</a:t>
            </a:r>
            <a:endParaRPr lang="en-US" sz="1150" dirty="0"/>
          </a:p>
        </p:txBody>
      </p:sp>
      <p:sp>
        <p:nvSpPr>
          <p:cNvPr id="6" name="Shape 3"/>
          <p:cNvSpPr/>
          <p:nvPr/>
        </p:nvSpPr>
        <p:spPr>
          <a:xfrm>
            <a:off x="640080" y="1965960"/>
            <a:ext cx="384048" cy="384048"/>
          </a:xfrm>
          <a:prstGeom prst="roundRect">
            <a:avLst>
              <a:gd name="adj" fmla="val 14286"/>
            </a:avLst>
          </a:prstGeom>
          <a:solidFill>
            <a:srgbClr val="1E2761"/>
          </a:solidFill>
          <a:ln/>
        </p:spPr>
      </p:sp>
      <p:sp>
        <p:nvSpPr>
          <p:cNvPr id="7" name="Text 4"/>
          <p:cNvSpPr/>
          <p:nvPr/>
        </p:nvSpPr>
        <p:spPr>
          <a:xfrm>
            <a:off x="640080" y="1965960"/>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1143000" y="1938528"/>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Introducción a la OO: clases, objetos, atributos, métodos</a:t>
            </a:r>
            <a:endParaRPr lang="en-US" sz="1050" dirty="0"/>
          </a:p>
        </p:txBody>
      </p:sp>
      <p:sp>
        <p:nvSpPr>
          <p:cNvPr id="9" name="Shape 6"/>
          <p:cNvSpPr/>
          <p:nvPr/>
        </p:nvSpPr>
        <p:spPr>
          <a:xfrm>
            <a:off x="640080" y="2500884"/>
            <a:ext cx="384048" cy="384048"/>
          </a:xfrm>
          <a:prstGeom prst="roundRect">
            <a:avLst>
              <a:gd name="adj" fmla="val 14286"/>
            </a:avLst>
          </a:prstGeom>
          <a:solidFill>
            <a:srgbClr val="1E2761"/>
          </a:solidFill>
          <a:ln/>
        </p:spPr>
      </p:sp>
      <p:sp>
        <p:nvSpPr>
          <p:cNvPr id="10" name="Text 7"/>
          <p:cNvSpPr/>
          <p:nvPr/>
        </p:nvSpPr>
        <p:spPr>
          <a:xfrm>
            <a:off x="640080" y="2500884"/>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8"/>
          <p:cNvSpPr/>
          <p:nvPr/>
        </p:nvSpPr>
        <p:spPr>
          <a:xfrm>
            <a:off x="1143000" y="2473452"/>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Introducción a Java. Funcionamiento de la máquina virtual</a:t>
            </a:r>
            <a:endParaRPr lang="en-US" sz="1050" dirty="0"/>
          </a:p>
        </p:txBody>
      </p:sp>
      <p:sp>
        <p:nvSpPr>
          <p:cNvPr id="12" name="Shape 9"/>
          <p:cNvSpPr/>
          <p:nvPr/>
        </p:nvSpPr>
        <p:spPr>
          <a:xfrm>
            <a:off x="640080" y="3035808"/>
            <a:ext cx="384048" cy="384048"/>
          </a:xfrm>
          <a:prstGeom prst="roundRect">
            <a:avLst>
              <a:gd name="adj" fmla="val 14286"/>
            </a:avLst>
          </a:prstGeom>
          <a:solidFill>
            <a:srgbClr val="1E2761"/>
          </a:solidFill>
          <a:ln/>
        </p:spPr>
      </p:sp>
      <p:sp>
        <p:nvSpPr>
          <p:cNvPr id="13" name="Text 10"/>
          <p:cNvSpPr/>
          <p:nvPr/>
        </p:nvSpPr>
        <p:spPr>
          <a:xfrm>
            <a:off x="640080" y="3035808"/>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1"/>
          <p:cNvSpPr/>
          <p:nvPr/>
        </p:nvSpPr>
        <p:spPr>
          <a:xfrm>
            <a:off x="1143000" y="3008376"/>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Métodos, abstracción, atributos, relaciones. Tipos primitivos y wrapper</a:t>
            </a:r>
            <a:endParaRPr lang="en-US" sz="1050" dirty="0"/>
          </a:p>
        </p:txBody>
      </p:sp>
      <p:sp>
        <p:nvSpPr>
          <p:cNvPr id="15" name="Shape 12"/>
          <p:cNvSpPr/>
          <p:nvPr/>
        </p:nvSpPr>
        <p:spPr>
          <a:xfrm>
            <a:off x="640080" y="3570732"/>
            <a:ext cx="384048" cy="384048"/>
          </a:xfrm>
          <a:prstGeom prst="roundRect">
            <a:avLst>
              <a:gd name="adj" fmla="val 14286"/>
            </a:avLst>
          </a:prstGeom>
          <a:solidFill>
            <a:srgbClr val="1E2761"/>
          </a:solidFill>
          <a:ln/>
        </p:spPr>
      </p:sp>
      <p:sp>
        <p:nvSpPr>
          <p:cNvPr id="16" name="Text 13"/>
          <p:cNvSpPr/>
          <p:nvPr/>
        </p:nvSpPr>
        <p:spPr>
          <a:xfrm>
            <a:off x="640080" y="3570732"/>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4"/>
          <p:cNvSpPr/>
          <p:nvPr/>
        </p:nvSpPr>
        <p:spPr>
          <a:xfrm>
            <a:off x="1143000" y="3543300"/>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UML: diagramas estáticos y dinámicos. Clase y Secuencia</a:t>
            </a:r>
            <a:endParaRPr lang="en-US" sz="1050" dirty="0"/>
          </a:p>
        </p:txBody>
      </p:sp>
      <p:sp>
        <p:nvSpPr>
          <p:cNvPr id="18" name="Shape 15"/>
          <p:cNvSpPr/>
          <p:nvPr/>
        </p:nvSpPr>
        <p:spPr>
          <a:xfrm>
            <a:off x="640080" y="4105656"/>
            <a:ext cx="384048" cy="384048"/>
          </a:xfrm>
          <a:prstGeom prst="roundRect">
            <a:avLst>
              <a:gd name="adj" fmla="val 14286"/>
            </a:avLst>
          </a:prstGeom>
          <a:solidFill>
            <a:srgbClr val="1E2761"/>
          </a:solidFill>
          <a:ln/>
        </p:spPr>
      </p:sp>
      <p:sp>
        <p:nvSpPr>
          <p:cNvPr id="19" name="Text 16"/>
          <p:cNvSpPr/>
          <p:nvPr/>
        </p:nvSpPr>
        <p:spPr>
          <a:xfrm>
            <a:off x="640080" y="4105656"/>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p:nvPr/>
        </p:nvSpPr>
        <p:spPr>
          <a:xfrm>
            <a:off x="1143000" y="4078224"/>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Diagramas de Clase y Secuencia a partir de un enunciado de negocio</a:t>
            </a:r>
            <a:endParaRPr lang="en-US" sz="1050" dirty="0"/>
          </a:p>
        </p:txBody>
      </p:sp>
      <p:sp>
        <p:nvSpPr>
          <p:cNvPr id="21" name="Shape 18"/>
          <p:cNvSpPr/>
          <p:nvPr/>
        </p:nvSpPr>
        <p:spPr>
          <a:xfrm>
            <a:off x="640080" y="4640580"/>
            <a:ext cx="384048" cy="384048"/>
          </a:xfrm>
          <a:prstGeom prst="roundRect">
            <a:avLst>
              <a:gd name="adj" fmla="val 14286"/>
            </a:avLst>
          </a:prstGeom>
          <a:solidFill>
            <a:srgbClr val="1E2761"/>
          </a:solidFill>
          <a:ln/>
        </p:spPr>
      </p:sp>
      <p:sp>
        <p:nvSpPr>
          <p:cNvPr id="22" name="Text 19"/>
          <p:cNvSpPr/>
          <p:nvPr/>
        </p:nvSpPr>
        <p:spPr>
          <a:xfrm>
            <a:off x="640080" y="4640580"/>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0"/>
          <p:cNvSpPr/>
          <p:nvPr/>
        </p:nvSpPr>
        <p:spPr>
          <a:xfrm>
            <a:off x="1143000" y="4613148"/>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Codificar clases en base a diagramas de clase y secuencia</a:t>
            </a:r>
            <a:endParaRPr lang="en-US" sz="1050" dirty="0"/>
          </a:p>
        </p:txBody>
      </p:sp>
      <p:sp>
        <p:nvSpPr>
          <p:cNvPr id="24" name="Shape 21"/>
          <p:cNvSpPr/>
          <p:nvPr/>
        </p:nvSpPr>
        <p:spPr>
          <a:xfrm>
            <a:off x="640080" y="5175504"/>
            <a:ext cx="384048" cy="384048"/>
          </a:xfrm>
          <a:prstGeom prst="roundRect">
            <a:avLst>
              <a:gd name="adj" fmla="val 14286"/>
            </a:avLst>
          </a:prstGeom>
          <a:solidFill>
            <a:srgbClr val="1E2761"/>
          </a:solidFill>
          <a:ln/>
        </p:spPr>
      </p:sp>
      <p:sp>
        <p:nvSpPr>
          <p:cNvPr id="25" name="Text 22"/>
          <p:cNvSpPr/>
          <p:nvPr/>
        </p:nvSpPr>
        <p:spPr>
          <a:xfrm>
            <a:off x="640080" y="5175504"/>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3"/>
          <p:cNvSpPr/>
          <p:nvPr/>
        </p:nvSpPr>
        <p:spPr>
          <a:xfrm>
            <a:off x="1143000" y="5148072"/>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Herencia, sobrecarga y sobreescritura. Modificador protected</a:t>
            </a:r>
            <a:endParaRPr lang="en-US" sz="1050" dirty="0"/>
          </a:p>
        </p:txBody>
      </p:sp>
      <p:sp>
        <p:nvSpPr>
          <p:cNvPr id="27" name="Shape 24"/>
          <p:cNvSpPr/>
          <p:nvPr/>
        </p:nvSpPr>
        <p:spPr>
          <a:xfrm>
            <a:off x="640080" y="5710428"/>
            <a:ext cx="384048" cy="384048"/>
          </a:xfrm>
          <a:prstGeom prst="roundRect">
            <a:avLst>
              <a:gd name="adj" fmla="val 14286"/>
            </a:avLst>
          </a:prstGeom>
          <a:solidFill>
            <a:srgbClr val="1E2761"/>
          </a:solidFill>
          <a:ln/>
        </p:spPr>
      </p:sp>
      <p:sp>
        <p:nvSpPr>
          <p:cNvPr id="28" name="Text 25"/>
          <p:cNvSpPr/>
          <p:nvPr/>
        </p:nvSpPr>
        <p:spPr>
          <a:xfrm>
            <a:off x="640080" y="5710428"/>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9" name="Text 26"/>
          <p:cNvSpPr/>
          <p:nvPr/>
        </p:nvSpPr>
        <p:spPr>
          <a:xfrm>
            <a:off x="1143000" y="5682996"/>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Patrones GRASP y SOLID</a:t>
            </a:r>
            <a:endParaRPr lang="en-US" sz="1050" dirty="0"/>
          </a:p>
        </p:txBody>
      </p:sp>
      <p:sp>
        <p:nvSpPr>
          <p:cNvPr id="30" name="Shape 27"/>
          <p:cNvSpPr/>
          <p:nvPr/>
        </p:nvSpPr>
        <p:spPr>
          <a:xfrm>
            <a:off x="6263640" y="1965960"/>
            <a:ext cx="384048" cy="384048"/>
          </a:xfrm>
          <a:prstGeom prst="roundRect">
            <a:avLst>
              <a:gd name="adj" fmla="val 14286"/>
            </a:avLst>
          </a:prstGeom>
          <a:solidFill>
            <a:srgbClr val="1E2761"/>
          </a:solidFill>
          <a:ln/>
        </p:spPr>
      </p:sp>
      <p:sp>
        <p:nvSpPr>
          <p:cNvPr id="31" name="Text 28"/>
          <p:cNvSpPr/>
          <p:nvPr/>
        </p:nvSpPr>
        <p:spPr>
          <a:xfrm>
            <a:off x="6263640" y="1965960"/>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2" name="Text 29"/>
          <p:cNvSpPr/>
          <p:nvPr/>
        </p:nvSpPr>
        <p:spPr>
          <a:xfrm>
            <a:off x="6766560" y="1938528"/>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Clases internas, abiertas y cerradas</a:t>
            </a:r>
            <a:endParaRPr lang="en-US" sz="1050" dirty="0"/>
          </a:p>
        </p:txBody>
      </p:sp>
      <p:sp>
        <p:nvSpPr>
          <p:cNvPr id="33" name="Shape 30"/>
          <p:cNvSpPr/>
          <p:nvPr/>
        </p:nvSpPr>
        <p:spPr>
          <a:xfrm>
            <a:off x="6263640" y="2500884"/>
            <a:ext cx="384048" cy="384048"/>
          </a:xfrm>
          <a:prstGeom prst="roundRect">
            <a:avLst>
              <a:gd name="adj" fmla="val 14286"/>
            </a:avLst>
          </a:prstGeom>
          <a:solidFill>
            <a:srgbClr val="1E2761"/>
          </a:solidFill>
          <a:ln/>
        </p:spPr>
      </p:sp>
      <p:sp>
        <p:nvSpPr>
          <p:cNvPr id="34" name="Text 31"/>
          <p:cNvSpPr/>
          <p:nvPr/>
        </p:nvSpPr>
        <p:spPr>
          <a:xfrm>
            <a:off x="6263640" y="2500884"/>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5" name="Text 32"/>
          <p:cNvSpPr/>
          <p:nvPr/>
        </p:nvSpPr>
        <p:spPr>
          <a:xfrm>
            <a:off x="6766560" y="2473452"/>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Ejercitación · Repaso previo al parcial</a:t>
            </a:r>
            <a:endParaRPr lang="en-US" sz="1050" dirty="0"/>
          </a:p>
        </p:txBody>
      </p:sp>
      <p:sp>
        <p:nvSpPr>
          <p:cNvPr id="36" name="Shape 33"/>
          <p:cNvSpPr/>
          <p:nvPr/>
        </p:nvSpPr>
        <p:spPr>
          <a:xfrm>
            <a:off x="6263640" y="3035808"/>
            <a:ext cx="384048" cy="384048"/>
          </a:xfrm>
          <a:prstGeom prst="roundRect">
            <a:avLst>
              <a:gd name="adj" fmla="val 14286"/>
            </a:avLst>
          </a:prstGeom>
          <a:solidFill>
            <a:srgbClr val="1E2761"/>
          </a:solidFill>
          <a:ln/>
        </p:spPr>
      </p:sp>
      <p:sp>
        <p:nvSpPr>
          <p:cNvPr id="37" name="Text 34"/>
          <p:cNvSpPr/>
          <p:nvPr/>
        </p:nvSpPr>
        <p:spPr>
          <a:xfrm>
            <a:off x="6263640" y="3035808"/>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8" name="Text 35"/>
          <p:cNvSpPr/>
          <p:nvPr/>
        </p:nvSpPr>
        <p:spPr>
          <a:xfrm>
            <a:off x="6766560" y="3008376"/>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Primer Parcial</a:t>
            </a:r>
            <a:endParaRPr lang="en-US" sz="1050" dirty="0"/>
          </a:p>
        </p:txBody>
      </p:sp>
      <p:sp>
        <p:nvSpPr>
          <p:cNvPr id="39" name="Shape 36"/>
          <p:cNvSpPr/>
          <p:nvPr/>
        </p:nvSpPr>
        <p:spPr>
          <a:xfrm>
            <a:off x="6263640" y="3570732"/>
            <a:ext cx="384048" cy="384048"/>
          </a:xfrm>
          <a:prstGeom prst="roundRect">
            <a:avLst>
              <a:gd name="adj" fmla="val 14286"/>
            </a:avLst>
          </a:prstGeom>
          <a:solidFill>
            <a:srgbClr val="1E2761"/>
          </a:solidFill>
          <a:ln/>
        </p:spPr>
      </p:sp>
      <p:sp>
        <p:nvSpPr>
          <p:cNvPr id="40" name="Text 37"/>
          <p:cNvSpPr/>
          <p:nvPr/>
        </p:nvSpPr>
        <p:spPr>
          <a:xfrm>
            <a:off x="6263640" y="3570732"/>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1" name="Text 38"/>
          <p:cNvSpPr/>
          <p:nvPr/>
        </p:nvSpPr>
        <p:spPr>
          <a:xfrm>
            <a:off x="6766560" y="3543300"/>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Colecciones: jerarquía, comparadores, ordenamiento</a:t>
            </a:r>
            <a:endParaRPr lang="en-US" sz="1050" dirty="0"/>
          </a:p>
        </p:txBody>
      </p:sp>
      <p:sp>
        <p:nvSpPr>
          <p:cNvPr id="42" name="Shape 39"/>
          <p:cNvSpPr/>
          <p:nvPr/>
        </p:nvSpPr>
        <p:spPr>
          <a:xfrm>
            <a:off x="6263640" y="4105656"/>
            <a:ext cx="384048" cy="384048"/>
          </a:xfrm>
          <a:prstGeom prst="roundRect">
            <a:avLst>
              <a:gd name="adj" fmla="val 14286"/>
            </a:avLst>
          </a:prstGeom>
          <a:solidFill>
            <a:srgbClr val="1E2761"/>
          </a:solidFill>
          <a:ln/>
        </p:spPr>
      </p:sp>
      <p:sp>
        <p:nvSpPr>
          <p:cNvPr id="43" name="Text 40"/>
          <p:cNvSpPr/>
          <p:nvPr/>
        </p:nvSpPr>
        <p:spPr>
          <a:xfrm>
            <a:off x="6263640" y="4105656"/>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44" name="Text 41"/>
          <p:cNvSpPr/>
          <p:nvPr/>
        </p:nvSpPr>
        <p:spPr>
          <a:xfrm>
            <a:off x="6766560" y="4078224"/>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Excepciones: try, catch, finally, throw, throws</a:t>
            </a:r>
            <a:endParaRPr lang="en-US" sz="1050" dirty="0"/>
          </a:p>
        </p:txBody>
      </p:sp>
      <p:sp>
        <p:nvSpPr>
          <p:cNvPr id="45" name="Shape 42"/>
          <p:cNvSpPr/>
          <p:nvPr/>
        </p:nvSpPr>
        <p:spPr>
          <a:xfrm>
            <a:off x="6263640" y="4640580"/>
            <a:ext cx="384048" cy="384048"/>
          </a:xfrm>
          <a:prstGeom prst="roundRect">
            <a:avLst>
              <a:gd name="adj" fmla="val 14286"/>
            </a:avLst>
          </a:prstGeom>
          <a:solidFill>
            <a:srgbClr val="1E2761"/>
          </a:solidFill>
          <a:ln/>
        </p:spPr>
      </p:sp>
      <p:sp>
        <p:nvSpPr>
          <p:cNvPr id="46" name="Text 43"/>
          <p:cNvSpPr/>
          <p:nvPr/>
        </p:nvSpPr>
        <p:spPr>
          <a:xfrm>
            <a:off x="6263640" y="4640580"/>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47" name="Text 44"/>
          <p:cNvSpPr/>
          <p:nvPr/>
        </p:nvSpPr>
        <p:spPr>
          <a:xfrm>
            <a:off x="6766560" y="4613148"/>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Entrada/salida de datos. Flujos. Entorno gráfico</a:t>
            </a:r>
            <a:endParaRPr lang="en-US" sz="1050" dirty="0"/>
          </a:p>
        </p:txBody>
      </p:sp>
      <p:sp>
        <p:nvSpPr>
          <p:cNvPr id="48" name="Shape 45"/>
          <p:cNvSpPr/>
          <p:nvPr/>
        </p:nvSpPr>
        <p:spPr>
          <a:xfrm>
            <a:off x="6263640" y="5175504"/>
            <a:ext cx="384048" cy="384048"/>
          </a:xfrm>
          <a:prstGeom prst="roundRect">
            <a:avLst>
              <a:gd name="adj" fmla="val 14286"/>
            </a:avLst>
          </a:prstGeom>
          <a:solidFill>
            <a:srgbClr val="1E2761"/>
          </a:solidFill>
          <a:ln/>
        </p:spPr>
      </p:sp>
      <p:sp>
        <p:nvSpPr>
          <p:cNvPr id="49" name="Text 46"/>
          <p:cNvSpPr/>
          <p:nvPr/>
        </p:nvSpPr>
        <p:spPr>
          <a:xfrm>
            <a:off x="6263640" y="5175504"/>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50" name="Text 47"/>
          <p:cNvSpPr/>
          <p:nvPr/>
        </p:nvSpPr>
        <p:spPr>
          <a:xfrm>
            <a:off x="6766560" y="5148072"/>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Arquitectura de aplicación. Eventos. Hilos de ejecución</a:t>
            </a:r>
            <a:endParaRPr lang="en-US" sz="1050" dirty="0"/>
          </a:p>
        </p:txBody>
      </p:sp>
      <p:sp>
        <p:nvSpPr>
          <p:cNvPr id="51" name="Shape 48"/>
          <p:cNvSpPr/>
          <p:nvPr/>
        </p:nvSpPr>
        <p:spPr>
          <a:xfrm>
            <a:off x="6263640" y="5710428"/>
            <a:ext cx="384048" cy="384048"/>
          </a:xfrm>
          <a:prstGeom prst="roundRect">
            <a:avLst>
              <a:gd name="adj" fmla="val 14286"/>
            </a:avLst>
          </a:prstGeom>
          <a:solidFill>
            <a:srgbClr val="1E2761"/>
          </a:solidFill>
          <a:ln/>
        </p:spPr>
      </p:sp>
      <p:sp>
        <p:nvSpPr>
          <p:cNvPr id="52" name="Text 49"/>
          <p:cNvSpPr/>
          <p:nvPr/>
        </p:nvSpPr>
        <p:spPr>
          <a:xfrm>
            <a:off x="6263640" y="5710428"/>
            <a:ext cx="3840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16</a:t>
            </a:r>
            <a:endParaRPr lang="en-US" sz="1100" dirty="0"/>
          </a:p>
        </p:txBody>
      </p:sp>
      <p:sp>
        <p:nvSpPr>
          <p:cNvPr id="53" name="Text 50"/>
          <p:cNvSpPr/>
          <p:nvPr/>
        </p:nvSpPr>
        <p:spPr>
          <a:xfrm>
            <a:off x="6766560" y="5682996"/>
            <a:ext cx="4937760" cy="45720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Ejercitación · Consultas sobre recuperatorio y final</a:t>
            </a:r>
            <a:endParaRPr lang="en-US" sz="1050" dirty="0"/>
          </a:p>
        </p:txBody>
      </p:sp>
      <p:sp>
        <p:nvSpPr>
          <p:cNvPr id="54" name="Text 51"/>
          <p:cNvSpPr/>
          <p:nvPr/>
        </p:nvSpPr>
        <p:spPr>
          <a:xfrm>
            <a:off x="640080" y="6263640"/>
            <a:ext cx="10058400" cy="274320"/>
          </a:xfrm>
          <a:prstGeom prst="rect">
            <a:avLst/>
          </a:prstGeom>
          <a:noFill/>
          <a:ln/>
        </p:spPr>
        <p:txBody>
          <a:bodyPr wrap="square" rtlCol="0" anchor="ctr"/>
          <a:lstStyle/>
          <a:p>
            <a:pPr indent="0" marL="0">
              <a:buNone/>
            </a:pPr>
            <a:r>
              <a:rPr lang="en-US" sz="1050" i="1" dirty="0">
                <a:solidFill>
                  <a:srgbClr val="5B6478"/>
                </a:solidFill>
                <a:latin typeface="Calibri" pitchFamily="34" charset="0"/>
                <a:ea typeface="Calibri" pitchFamily="34" charset="-122"/>
                <a:cs typeface="Calibri" pitchFamily="34" charset="-120"/>
              </a:rPr>
              <a:t>Clase 17 · Recuperatorio y Final Adelantado</a:t>
            </a:r>
            <a:endParaRPr lang="en-US" sz="1050" dirty="0"/>
          </a:p>
        </p:txBody>
      </p:sp>
      <p:sp>
        <p:nvSpPr>
          <p:cNvPr id="55" name="Text 5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56" name="Text 5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PROGRAMA · EVALUACIÓN</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Requisitos y régimen de aprobación</a:t>
            </a:r>
            <a:endParaRPr lang="en-US" sz="3200" dirty="0"/>
          </a:p>
        </p:txBody>
      </p:sp>
      <p:sp>
        <p:nvSpPr>
          <p:cNvPr id="5" name="Shape 2"/>
          <p:cNvSpPr/>
          <p:nvPr/>
        </p:nvSpPr>
        <p:spPr>
          <a:xfrm>
            <a:off x="640080" y="1783080"/>
            <a:ext cx="5257800" cy="1691640"/>
          </a:xfrm>
          <a:prstGeom prst="roundRect">
            <a:avLst>
              <a:gd name="adj" fmla="val 4324"/>
            </a:avLst>
          </a:prstGeom>
          <a:solidFill>
            <a:srgbClr val="FFFFFF"/>
          </a:solidFill>
          <a:ln w="12700">
            <a:solidFill>
              <a:srgbClr val="E1E5F2"/>
            </a:solidFill>
            <a:prstDash val="solid"/>
          </a:ln>
        </p:spPr>
      </p:sp>
      <p:sp>
        <p:nvSpPr>
          <p:cNvPr id="6" name="Shape 3"/>
          <p:cNvSpPr/>
          <p:nvPr/>
        </p:nvSpPr>
        <p:spPr>
          <a:xfrm>
            <a:off x="841248" y="1984248"/>
            <a:ext cx="457200" cy="457200"/>
          </a:xfrm>
          <a:prstGeom prst="roundRect">
            <a:avLst>
              <a:gd name="adj" fmla="val 50000"/>
            </a:avLst>
          </a:prstGeom>
          <a:solidFill>
            <a:srgbClr val="F2A541"/>
          </a:solidFill>
          <a:ln/>
        </p:spPr>
      </p:sp>
      <p:sp>
        <p:nvSpPr>
          <p:cNvPr id="7" name="Text 4"/>
          <p:cNvSpPr/>
          <p:nvPr/>
        </p:nvSpPr>
        <p:spPr>
          <a:xfrm>
            <a:off x="841248" y="1984248"/>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463040" y="1965960"/>
            <a:ext cx="42519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Asistencia</a:t>
            </a:r>
            <a:endParaRPr lang="en-US" sz="1400" dirty="0"/>
          </a:p>
        </p:txBody>
      </p:sp>
      <p:sp>
        <p:nvSpPr>
          <p:cNvPr id="9" name="Text 6"/>
          <p:cNvSpPr/>
          <p:nvPr/>
        </p:nvSpPr>
        <p:spPr>
          <a:xfrm>
            <a:off x="841248" y="2560320"/>
            <a:ext cx="4855464" cy="82296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Cumplimiento mínimo del 75% de asistencia a clases.</a:t>
            </a:r>
            <a:endParaRPr lang="en-US" sz="1100" dirty="0"/>
          </a:p>
        </p:txBody>
      </p:sp>
      <p:sp>
        <p:nvSpPr>
          <p:cNvPr id="10" name="Shape 7"/>
          <p:cNvSpPr/>
          <p:nvPr/>
        </p:nvSpPr>
        <p:spPr>
          <a:xfrm>
            <a:off x="6172200" y="1783080"/>
            <a:ext cx="5257800" cy="1691640"/>
          </a:xfrm>
          <a:prstGeom prst="roundRect">
            <a:avLst>
              <a:gd name="adj" fmla="val 4324"/>
            </a:avLst>
          </a:prstGeom>
          <a:solidFill>
            <a:srgbClr val="FFFFFF"/>
          </a:solidFill>
          <a:ln w="12700">
            <a:solidFill>
              <a:srgbClr val="E1E5F2"/>
            </a:solidFill>
            <a:prstDash val="solid"/>
          </a:ln>
        </p:spPr>
      </p:sp>
      <p:sp>
        <p:nvSpPr>
          <p:cNvPr id="11" name="Shape 8"/>
          <p:cNvSpPr/>
          <p:nvPr/>
        </p:nvSpPr>
        <p:spPr>
          <a:xfrm>
            <a:off x="6373368" y="1984248"/>
            <a:ext cx="457200" cy="457200"/>
          </a:xfrm>
          <a:prstGeom prst="roundRect">
            <a:avLst>
              <a:gd name="adj" fmla="val 50000"/>
            </a:avLst>
          </a:prstGeom>
          <a:solidFill>
            <a:srgbClr val="F2A541"/>
          </a:solidFill>
          <a:ln/>
        </p:spPr>
      </p:sp>
      <p:sp>
        <p:nvSpPr>
          <p:cNvPr id="12" name="Text 9"/>
          <p:cNvSpPr/>
          <p:nvPr/>
        </p:nvSpPr>
        <p:spPr>
          <a:xfrm>
            <a:off x="6373368" y="1984248"/>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6995160" y="1965960"/>
            <a:ext cx="42519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Parciales</a:t>
            </a:r>
            <a:endParaRPr lang="en-US" sz="1400" dirty="0"/>
          </a:p>
        </p:txBody>
      </p:sp>
      <p:sp>
        <p:nvSpPr>
          <p:cNvPr id="14" name="Text 11"/>
          <p:cNvSpPr/>
          <p:nvPr/>
        </p:nvSpPr>
        <p:spPr>
          <a:xfrm>
            <a:off x="6373368" y="2560320"/>
            <a:ext cx="4855464" cy="82296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Aprobación de cada evaluación parcial y/o recuperatorio con calificación mínima de 4 puntos.</a:t>
            </a:r>
            <a:endParaRPr lang="en-US" sz="1100" dirty="0"/>
          </a:p>
        </p:txBody>
      </p:sp>
      <p:sp>
        <p:nvSpPr>
          <p:cNvPr id="15" name="Shape 12"/>
          <p:cNvSpPr/>
          <p:nvPr/>
        </p:nvSpPr>
        <p:spPr>
          <a:xfrm>
            <a:off x="640080" y="3749040"/>
            <a:ext cx="5257800" cy="1691640"/>
          </a:xfrm>
          <a:prstGeom prst="roundRect">
            <a:avLst>
              <a:gd name="adj" fmla="val 4324"/>
            </a:avLst>
          </a:prstGeom>
          <a:solidFill>
            <a:srgbClr val="FFFFFF"/>
          </a:solidFill>
          <a:ln w="12700">
            <a:solidFill>
              <a:srgbClr val="E1E5F2"/>
            </a:solidFill>
            <a:prstDash val="solid"/>
          </a:ln>
        </p:spPr>
      </p:sp>
      <p:sp>
        <p:nvSpPr>
          <p:cNvPr id="16" name="Shape 13"/>
          <p:cNvSpPr/>
          <p:nvPr/>
        </p:nvSpPr>
        <p:spPr>
          <a:xfrm>
            <a:off x="841248" y="3950208"/>
            <a:ext cx="457200" cy="457200"/>
          </a:xfrm>
          <a:prstGeom prst="roundRect">
            <a:avLst>
              <a:gd name="adj" fmla="val 50000"/>
            </a:avLst>
          </a:prstGeom>
          <a:solidFill>
            <a:srgbClr val="F2A541"/>
          </a:solidFill>
          <a:ln/>
        </p:spPr>
      </p:sp>
      <p:sp>
        <p:nvSpPr>
          <p:cNvPr id="17" name="Text 14"/>
          <p:cNvSpPr/>
          <p:nvPr/>
        </p:nvSpPr>
        <p:spPr>
          <a:xfrm>
            <a:off x="841248" y="3950208"/>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463040" y="3931920"/>
            <a:ext cx="42519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Modalidad</a:t>
            </a:r>
            <a:endParaRPr lang="en-US" sz="1400" dirty="0"/>
          </a:p>
        </p:txBody>
      </p:sp>
      <p:sp>
        <p:nvSpPr>
          <p:cNvPr id="19" name="Text 16"/>
          <p:cNvSpPr/>
          <p:nvPr/>
        </p:nvSpPr>
        <p:spPr>
          <a:xfrm>
            <a:off x="841248" y="4526280"/>
            <a:ext cx="4855464" cy="82296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Examen teórico-práctico: resolución de una situación en el laboratorio.</a:t>
            </a:r>
            <a:endParaRPr lang="en-US" sz="1100" dirty="0"/>
          </a:p>
        </p:txBody>
      </p:sp>
      <p:sp>
        <p:nvSpPr>
          <p:cNvPr id="20" name="Shape 17"/>
          <p:cNvSpPr/>
          <p:nvPr/>
        </p:nvSpPr>
        <p:spPr>
          <a:xfrm>
            <a:off x="6172200" y="3749040"/>
            <a:ext cx="5257800" cy="1691640"/>
          </a:xfrm>
          <a:prstGeom prst="roundRect">
            <a:avLst>
              <a:gd name="adj" fmla="val 4324"/>
            </a:avLst>
          </a:prstGeom>
          <a:solidFill>
            <a:srgbClr val="FFFFFF"/>
          </a:solidFill>
          <a:ln w="12700">
            <a:solidFill>
              <a:srgbClr val="E1E5F2"/>
            </a:solidFill>
            <a:prstDash val="solid"/>
          </a:ln>
        </p:spPr>
      </p:sp>
      <p:sp>
        <p:nvSpPr>
          <p:cNvPr id="21" name="Shape 18"/>
          <p:cNvSpPr/>
          <p:nvPr/>
        </p:nvSpPr>
        <p:spPr>
          <a:xfrm>
            <a:off x="6373368" y="3950208"/>
            <a:ext cx="457200" cy="457200"/>
          </a:xfrm>
          <a:prstGeom prst="roundRect">
            <a:avLst>
              <a:gd name="adj" fmla="val 50000"/>
            </a:avLst>
          </a:prstGeom>
          <a:solidFill>
            <a:srgbClr val="F2A541"/>
          </a:solidFill>
          <a:ln/>
        </p:spPr>
      </p:sp>
      <p:sp>
        <p:nvSpPr>
          <p:cNvPr id="22" name="Text 19"/>
          <p:cNvSpPr/>
          <p:nvPr/>
        </p:nvSpPr>
        <p:spPr>
          <a:xfrm>
            <a:off x="6373368" y="3950208"/>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6995160" y="3931920"/>
            <a:ext cx="42519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Final obligatorio</a:t>
            </a:r>
            <a:endParaRPr lang="en-US" sz="1400" dirty="0"/>
          </a:p>
        </p:txBody>
      </p:sp>
      <p:sp>
        <p:nvSpPr>
          <p:cNvPr id="24" name="Text 21"/>
          <p:cNvSpPr/>
          <p:nvPr/>
        </p:nvSpPr>
        <p:spPr>
          <a:xfrm>
            <a:off x="6373368" y="4526280"/>
            <a:ext cx="4855464" cy="82296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Con ambos parciales aprobados (mínimo 4), el estudiante puede presentarse a los 11 turnos de finales consecutivos posteriores a la cursada.</a:t>
            </a:r>
            <a:endParaRPr lang="en-US" sz="1100" dirty="0"/>
          </a:p>
        </p:txBody>
      </p:sp>
      <p:sp>
        <p:nvSpPr>
          <p:cNvPr id="25" name="Text 2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6" name="Text 2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PROGRAMA · RECURSOS</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Bibliografía y trabajos prácticos</a:t>
            </a:r>
            <a:endParaRPr lang="en-US" sz="3200" dirty="0"/>
          </a:p>
        </p:txBody>
      </p:sp>
      <p:sp>
        <p:nvSpPr>
          <p:cNvPr id="5" name="Text 2"/>
          <p:cNvSpPr/>
          <p:nvPr/>
        </p:nvSpPr>
        <p:spPr>
          <a:xfrm>
            <a:off x="640080" y="1691640"/>
            <a:ext cx="548640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Bibliografía obligatoria</a:t>
            </a:r>
            <a:endParaRPr lang="en-US" sz="1400" dirty="0"/>
          </a:p>
        </p:txBody>
      </p:sp>
      <p:sp>
        <p:nvSpPr>
          <p:cNvPr id="6" name="Shape 3"/>
          <p:cNvSpPr/>
          <p:nvPr/>
        </p:nvSpPr>
        <p:spPr>
          <a:xfrm>
            <a:off x="685800" y="2221992"/>
            <a:ext cx="73152" cy="73152"/>
          </a:xfrm>
          <a:prstGeom prst="ellipse">
            <a:avLst/>
          </a:prstGeom>
          <a:solidFill>
            <a:srgbClr val="F2A541"/>
          </a:solidFill>
          <a:ln/>
        </p:spPr>
      </p:sp>
      <p:sp>
        <p:nvSpPr>
          <p:cNvPr id="7" name="Text 4"/>
          <p:cNvSpPr/>
          <p:nvPr/>
        </p:nvSpPr>
        <p:spPr>
          <a:xfrm>
            <a:off x="914400" y="2103120"/>
            <a:ext cx="5212080" cy="685800"/>
          </a:xfrm>
          <a:prstGeom prst="rect">
            <a:avLst/>
          </a:prstGeom>
          <a:noFill/>
          <a:ln/>
        </p:spPr>
        <p:txBody>
          <a:bodyPr wrap="square" rtlCol="0" anchor="t"/>
          <a:lstStyle/>
          <a:p>
            <a:pPr indent="0" marL="0">
              <a:buNone/>
            </a:pPr>
            <a:r>
              <a:rPr lang="en-US" sz="1100" dirty="0">
                <a:solidFill>
                  <a:srgbClr val="1E2761"/>
                </a:solidFill>
                <a:latin typeface="Calibri" pitchFamily="34" charset="0"/>
                <a:ea typeface="Calibri" pitchFamily="34" charset="-122"/>
                <a:cs typeface="Calibri" pitchFamily="34" charset="-120"/>
              </a:rPr>
              <a:t>Fowler, M. (2004). UML Distilled: A Brief Guide to the Standard Object Modeling Language (3ª ed.). Addison-Wesley.</a:t>
            </a:r>
            <a:endParaRPr lang="en-US" sz="1100" dirty="0"/>
          </a:p>
        </p:txBody>
      </p:sp>
      <p:sp>
        <p:nvSpPr>
          <p:cNvPr id="8" name="Shape 5"/>
          <p:cNvSpPr/>
          <p:nvPr/>
        </p:nvSpPr>
        <p:spPr>
          <a:xfrm>
            <a:off x="685800" y="2999232"/>
            <a:ext cx="73152" cy="73152"/>
          </a:xfrm>
          <a:prstGeom prst="ellipse">
            <a:avLst/>
          </a:prstGeom>
          <a:solidFill>
            <a:srgbClr val="F2A541"/>
          </a:solidFill>
          <a:ln/>
        </p:spPr>
      </p:sp>
      <p:sp>
        <p:nvSpPr>
          <p:cNvPr id="9" name="Text 6"/>
          <p:cNvSpPr/>
          <p:nvPr/>
        </p:nvSpPr>
        <p:spPr>
          <a:xfrm>
            <a:off x="914400" y="2880360"/>
            <a:ext cx="5212080" cy="685800"/>
          </a:xfrm>
          <a:prstGeom prst="rect">
            <a:avLst/>
          </a:prstGeom>
          <a:noFill/>
          <a:ln/>
        </p:spPr>
        <p:txBody>
          <a:bodyPr wrap="square" rtlCol="0" anchor="t"/>
          <a:lstStyle/>
          <a:p>
            <a:pPr indent="0" marL="0">
              <a:buNone/>
            </a:pPr>
            <a:r>
              <a:rPr lang="en-US" sz="1100" dirty="0">
                <a:solidFill>
                  <a:srgbClr val="1E2761"/>
                </a:solidFill>
                <a:latin typeface="Calibri" pitchFamily="34" charset="0"/>
                <a:ea typeface="Calibri" pitchFamily="34" charset="-122"/>
                <a:cs typeface="Calibri" pitchFamily="34" charset="-120"/>
              </a:rPr>
              <a:t>Pressman, R. S. (2010). Ingeniería del Software: Un Enfoque Práctico. McGraw-Hill.</a:t>
            </a:r>
            <a:endParaRPr lang="en-US" sz="1100" dirty="0"/>
          </a:p>
        </p:txBody>
      </p:sp>
      <p:sp>
        <p:nvSpPr>
          <p:cNvPr id="10" name="Shape 7"/>
          <p:cNvSpPr/>
          <p:nvPr/>
        </p:nvSpPr>
        <p:spPr>
          <a:xfrm>
            <a:off x="685800" y="3776472"/>
            <a:ext cx="73152" cy="73152"/>
          </a:xfrm>
          <a:prstGeom prst="ellipse">
            <a:avLst/>
          </a:prstGeom>
          <a:solidFill>
            <a:srgbClr val="F2A541"/>
          </a:solidFill>
          <a:ln/>
        </p:spPr>
      </p:sp>
      <p:sp>
        <p:nvSpPr>
          <p:cNvPr id="11" name="Text 8"/>
          <p:cNvSpPr/>
          <p:nvPr/>
        </p:nvSpPr>
        <p:spPr>
          <a:xfrm>
            <a:off x="914400" y="3657600"/>
            <a:ext cx="5212080" cy="685800"/>
          </a:xfrm>
          <a:prstGeom prst="rect">
            <a:avLst/>
          </a:prstGeom>
          <a:noFill/>
          <a:ln/>
        </p:spPr>
        <p:txBody>
          <a:bodyPr wrap="square" rtlCol="0" anchor="t"/>
          <a:lstStyle/>
          <a:p>
            <a:pPr indent="0" marL="0">
              <a:buNone/>
            </a:pPr>
            <a:r>
              <a:rPr lang="en-US" sz="1100" dirty="0">
                <a:solidFill>
                  <a:srgbClr val="1E2761"/>
                </a:solidFill>
                <a:latin typeface="Calibri" pitchFamily="34" charset="0"/>
                <a:ea typeface="Calibri" pitchFamily="34" charset="-122"/>
                <a:cs typeface="Calibri" pitchFamily="34" charset="-120"/>
              </a:rPr>
              <a:t>Fontela, C. (2010). UML: Modelado de Software para Profesionales. Alfaomega.</a:t>
            </a:r>
            <a:endParaRPr lang="en-US" sz="1100" dirty="0"/>
          </a:p>
        </p:txBody>
      </p:sp>
      <p:sp>
        <p:nvSpPr>
          <p:cNvPr id="12" name="Shape 9"/>
          <p:cNvSpPr/>
          <p:nvPr/>
        </p:nvSpPr>
        <p:spPr>
          <a:xfrm>
            <a:off x="6400800" y="1691640"/>
            <a:ext cx="5166360" cy="3931920"/>
          </a:xfrm>
          <a:prstGeom prst="roundRect">
            <a:avLst>
              <a:gd name="adj" fmla="val 2326"/>
            </a:avLst>
          </a:prstGeom>
          <a:solidFill>
            <a:srgbClr val="1E2761"/>
          </a:solidFill>
          <a:ln/>
        </p:spPr>
      </p:sp>
      <p:sp>
        <p:nvSpPr>
          <p:cNvPr id="13" name="Text 10"/>
          <p:cNvSpPr/>
          <p:nvPr/>
        </p:nvSpPr>
        <p:spPr>
          <a:xfrm>
            <a:off x="6720840" y="1965960"/>
            <a:ext cx="457200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Trabajos prácticos</a:t>
            </a:r>
            <a:endParaRPr lang="en-US" sz="1600" dirty="0"/>
          </a:p>
        </p:txBody>
      </p:sp>
      <p:sp>
        <p:nvSpPr>
          <p:cNvPr id="14" name="Text 11"/>
          <p:cNvSpPr/>
          <p:nvPr/>
        </p:nvSpPr>
        <p:spPr>
          <a:xfrm>
            <a:off x="6720840" y="2468880"/>
            <a:ext cx="4572000" cy="82296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Todo el material y las consignas de los TP se encuentran disponibles en el repositorio de la cátedra:</a:t>
            </a:r>
            <a:endParaRPr lang="en-US" sz="1200" dirty="0"/>
          </a:p>
        </p:txBody>
      </p:sp>
      <p:sp>
        <p:nvSpPr>
          <p:cNvPr id="15" name="Shape 12"/>
          <p:cNvSpPr/>
          <p:nvPr/>
        </p:nvSpPr>
        <p:spPr>
          <a:xfrm>
            <a:off x="6720840" y="3429000"/>
            <a:ext cx="4526280" cy="594360"/>
          </a:xfrm>
          <a:prstGeom prst="roundRect">
            <a:avLst>
              <a:gd name="adj" fmla="val 9231"/>
            </a:avLst>
          </a:prstGeom>
          <a:solidFill>
            <a:srgbClr val="141B47"/>
          </a:solidFill>
          <a:ln w="12700">
            <a:solidFill>
              <a:srgbClr val="F2A541"/>
            </a:solidFill>
            <a:prstDash val="solid"/>
          </a:ln>
        </p:spPr>
      </p:sp>
      <p:sp>
        <p:nvSpPr>
          <p:cNvPr id="16" name="Text 13"/>
          <p:cNvSpPr/>
          <p:nvPr/>
        </p:nvSpPr>
        <p:spPr>
          <a:xfrm>
            <a:off x="6858000" y="3429000"/>
            <a:ext cx="4297680" cy="594360"/>
          </a:xfrm>
          <a:prstGeom prst="rect">
            <a:avLst/>
          </a:prstGeom>
          <a:noFill/>
          <a:ln/>
        </p:spPr>
        <p:txBody>
          <a:bodyPr wrap="square" rtlCol="0" anchor="ctr"/>
          <a:lstStyle/>
          <a:p>
            <a:pPr indent="0" marL="0">
              <a:buNone/>
            </a:pPr>
            <a:r>
              <a:rPr lang="en-US" sz="1100" dirty="0">
                <a:solidFill>
                  <a:srgbClr val="F2A541"/>
                </a:solidFill>
                <a:latin typeface="Courier New" pitchFamily="34" charset="0"/>
                <a:ea typeface="Courier New" pitchFamily="34" charset="-122"/>
                <a:cs typeface="Courier New" pitchFamily="34" charset="-120"/>
              </a:rPr>
              <a:t>github.com/coedomaximiliano/</a:t>
            </a:r>
            <a:endParaRPr lang="en-US" sz="1100" dirty="0"/>
          </a:p>
          <a:p>
            <a:pPr indent="0" marL="0">
              <a:buNone/>
            </a:pPr>
            <a:r>
              <a:rPr lang="en-US" sz="1100" dirty="0">
                <a:solidFill>
                  <a:srgbClr val="F2A541"/>
                </a:solidFill>
                <a:latin typeface="Courier New" pitchFamily="34" charset="0"/>
                <a:ea typeface="Courier New" pitchFamily="34" charset="-122"/>
                <a:cs typeface="Courier New" pitchFamily="34" charset="-120"/>
              </a:rPr>
              <a:t>UADE-POO-2026-2</a:t>
            </a:r>
            <a:endParaRPr lang="en-US" sz="1100" dirty="0"/>
          </a:p>
        </p:txBody>
      </p:sp>
      <p:sp>
        <p:nvSpPr>
          <p:cNvPr id="17" name="Text 14"/>
          <p:cNvSpPr/>
          <p:nvPr/>
        </p:nvSpPr>
        <p:spPr>
          <a:xfrm>
            <a:off x="6720840" y="4251960"/>
            <a:ext cx="4572000" cy="36576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3 entregas a lo largo de la cursada</a:t>
            </a:r>
            <a:endParaRPr lang="en-US" sz="1100" dirty="0"/>
          </a:p>
        </p:txBody>
      </p:sp>
      <p:sp>
        <p:nvSpPr>
          <p:cNvPr id="18" name="Text 15"/>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9" name="Text 16"/>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PROGRAMA · RECURSOS</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El repositorio de la cátedra</a:t>
            </a:r>
            <a:endParaRPr lang="en-US" sz="3200" dirty="0"/>
          </a:p>
        </p:txBody>
      </p:sp>
      <p:sp>
        <p:nvSpPr>
          <p:cNvPr id="5" name="Text 2"/>
          <p:cNvSpPr/>
          <p:nvPr/>
        </p:nvSpPr>
        <p:spPr>
          <a:xfrm>
            <a:off x="640080" y="1691640"/>
            <a:ext cx="512064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UADE-POO-2026-2</a:t>
            </a:r>
            <a:endParaRPr lang="en-US" sz="1400" dirty="0"/>
          </a:p>
        </p:txBody>
      </p:sp>
      <p:sp>
        <p:nvSpPr>
          <p:cNvPr id="6" name="Text 3"/>
          <p:cNvSpPr/>
          <p:nvPr/>
        </p:nvSpPr>
        <p:spPr>
          <a:xfrm>
            <a:off x="640080" y="2103120"/>
            <a:ext cx="5120640" cy="594360"/>
          </a:xfrm>
          <a:prstGeom prst="rect">
            <a:avLst/>
          </a:prstGeom>
          <a:noFill/>
          <a:ln/>
        </p:spPr>
        <p:txBody>
          <a:bodyPr wrap="square" rtlCol="0" anchor="t"/>
          <a:lstStyle/>
          <a:p>
            <a:pPr indent="0" marL="0">
              <a:buNone/>
            </a:pPr>
            <a:r>
              <a:rPr lang="en-US" sz="1200" dirty="0">
                <a:solidFill>
                  <a:srgbClr val="5B6478"/>
                </a:solidFill>
                <a:latin typeface="Calibri" pitchFamily="34" charset="0"/>
                <a:ea typeface="Calibri" pitchFamily="34" charset="-122"/>
                <a:cs typeface="Calibri" pitchFamily="34" charset="-120"/>
              </a:rPr>
              <a:t>Repositorio público donde cada grupo sube el código de sus trabajos prácticos.</a:t>
            </a:r>
            <a:endParaRPr lang="en-US" sz="1200" dirty="0"/>
          </a:p>
        </p:txBody>
      </p:sp>
      <p:sp>
        <p:nvSpPr>
          <p:cNvPr id="7" name="Shape 4"/>
          <p:cNvSpPr/>
          <p:nvPr/>
        </p:nvSpPr>
        <p:spPr>
          <a:xfrm>
            <a:off x="640080" y="2916936"/>
            <a:ext cx="54864" cy="566928"/>
          </a:xfrm>
          <a:prstGeom prst="rect">
            <a:avLst/>
          </a:prstGeom>
          <a:solidFill>
            <a:srgbClr val="F2A541"/>
          </a:solidFill>
          <a:ln/>
        </p:spPr>
      </p:sp>
      <p:sp>
        <p:nvSpPr>
          <p:cNvPr id="8" name="Text 5"/>
          <p:cNvSpPr/>
          <p:nvPr/>
        </p:nvSpPr>
        <p:spPr>
          <a:xfrm>
            <a:off x="868680" y="2880360"/>
            <a:ext cx="489204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Organización</a:t>
            </a:r>
            <a:endParaRPr lang="en-US" sz="1250" dirty="0"/>
          </a:p>
        </p:txBody>
      </p:sp>
      <p:sp>
        <p:nvSpPr>
          <p:cNvPr id="9" name="Text 6"/>
          <p:cNvSpPr/>
          <p:nvPr/>
        </p:nvSpPr>
        <p:spPr>
          <a:xfrm>
            <a:off x="868680" y="3172968"/>
            <a:ext cx="4892040" cy="50292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El código se ordena por TP y, dentro de cada uno, por grupo: tps/tp1/grupo1/</a:t>
            </a:r>
            <a:endParaRPr lang="en-US" sz="1100" dirty="0"/>
          </a:p>
        </p:txBody>
      </p:sp>
      <p:sp>
        <p:nvSpPr>
          <p:cNvPr id="10" name="Shape 7"/>
          <p:cNvSpPr/>
          <p:nvPr/>
        </p:nvSpPr>
        <p:spPr>
          <a:xfrm>
            <a:off x="640080" y="3831336"/>
            <a:ext cx="54864" cy="566928"/>
          </a:xfrm>
          <a:prstGeom prst="rect">
            <a:avLst/>
          </a:prstGeom>
          <a:solidFill>
            <a:srgbClr val="F2A541"/>
          </a:solidFill>
          <a:ln/>
        </p:spPr>
      </p:sp>
      <p:sp>
        <p:nvSpPr>
          <p:cNvPr id="11" name="Text 8"/>
          <p:cNvSpPr/>
          <p:nvPr/>
        </p:nvSpPr>
        <p:spPr>
          <a:xfrm>
            <a:off x="868680" y="3794760"/>
            <a:ext cx="489204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Primera vez con Git</a:t>
            </a:r>
            <a:endParaRPr lang="en-US" sz="1250" dirty="0"/>
          </a:p>
        </p:txBody>
      </p:sp>
      <p:sp>
        <p:nvSpPr>
          <p:cNvPr id="12" name="Text 9"/>
          <p:cNvSpPr/>
          <p:nvPr/>
        </p:nvSpPr>
        <p:spPr>
          <a:xfrm>
            <a:off x="868680" y="4087368"/>
            <a:ext cx="4892040" cy="50292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Seguir la guía paso a paso para alumnos (GUIA-ALUMNOS.md)</a:t>
            </a:r>
            <a:endParaRPr lang="en-US" sz="1100" dirty="0"/>
          </a:p>
        </p:txBody>
      </p:sp>
      <p:sp>
        <p:nvSpPr>
          <p:cNvPr id="13" name="Shape 10"/>
          <p:cNvSpPr/>
          <p:nvPr/>
        </p:nvSpPr>
        <p:spPr>
          <a:xfrm>
            <a:off x="640080" y="4745736"/>
            <a:ext cx="54864" cy="566928"/>
          </a:xfrm>
          <a:prstGeom prst="rect">
            <a:avLst/>
          </a:prstGeom>
          <a:solidFill>
            <a:srgbClr val="F2A541"/>
          </a:solidFill>
          <a:ln/>
        </p:spPr>
      </p:sp>
      <p:sp>
        <p:nvSpPr>
          <p:cNvPr id="14" name="Text 11"/>
          <p:cNvSpPr/>
          <p:nvPr/>
        </p:nvSpPr>
        <p:spPr>
          <a:xfrm>
            <a:off x="868680" y="4709160"/>
            <a:ext cx="489204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Flujo de trabajo</a:t>
            </a:r>
            <a:endParaRPr lang="en-US" sz="1250" dirty="0"/>
          </a:p>
        </p:txBody>
      </p:sp>
      <p:sp>
        <p:nvSpPr>
          <p:cNvPr id="15" name="Text 12"/>
          <p:cNvSpPr/>
          <p:nvPr/>
        </p:nvSpPr>
        <p:spPr>
          <a:xfrm>
            <a:off x="868680" y="5001768"/>
            <a:ext cx="4892040" cy="50292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Resumido en CONTRIBUTING.md, incluye cómo resolver conflictos de merge</a:t>
            </a:r>
            <a:endParaRPr lang="en-US" sz="1100" dirty="0"/>
          </a:p>
        </p:txBody>
      </p:sp>
      <p:sp>
        <p:nvSpPr>
          <p:cNvPr id="16" name="Shape 13"/>
          <p:cNvSpPr/>
          <p:nvPr/>
        </p:nvSpPr>
        <p:spPr>
          <a:xfrm>
            <a:off x="640080" y="5715000"/>
            <a:ext cx="5120640" cy="548640"/>
          </a:xfrm>
          <a:prstGeom prst="roundRect">
            <a:avLst>
              <a:gd name="adj" fmla="val 10000"/>
            </a:avLst>
          </a:prstGeom>
          <a:solidFill>
            <a:srgbClr val="141B47"/>
          </a:solidFill>
          <a:ln w="12700">
            <a:solidFill>
              <a:srgbClr val="F2A541"/>
            </a:solidFill>
            <a:prstDash val="solid"/>
          </a:ln>
        </p:spPr>
      </p:sp>
      <p:sp>
        <p:nvSpPr>
          <p:cNvPr id="17" name="Text 14"/>
          <p:cNvSpPr/>
          <p:nvPr/>
        </p:nvSpPr>
        <p:spPr>
          <a:xfrm>
            <a:off x="777240" y="5715000"/>
            <a:ext cx="4846320" cy="548640"/>
          </a:xfrm>
          <a:prstGeom prst="rect">
            <a:avLst/>
          </a:prstGeom>
          <a:noFill/>
          <a:ln/>
        </p:spPr>
        <p:txBody>
          <a:bodyPr wrap="square" rtlCol="0" anchor="ctr"/>
          <a:lstStyle/>
          <a:p>
            <a:pPr indent="0" marL="0">
              <a:buNone/>
            </a:pPr>
            <a:r>
              <a:rPr lang="en-US" sz="1000" dirty="0">
                <a:solidFill>
                  <a:srgbClr val="F2A541"/>
                </a:solidFill>
                <a:latin typeface="Courier New" pitchFamily="34" charset="0"/>
                <a:ea typeface="Courier New" pitchFamily="34" charset="-122"/>
                <a:cs typeface="Courier New" pitchFamily="34" charset="-120"/>
              </a:rPr>
              <a:t>github.com/coedomaximiliano/UADE-POO-2026-2</a:t>
            </a:r>
            <a:endParaRPr lang="en-US" sz="1000" dirty="0"/>
          </a:p>
        </p:txBody>
      </p:sp>
      <p:sp>
        <p:nvSpPr>
          <p:cNvPr id="18" name="Shape 15"/>
          <p:cNvSpPr/>
          <p:nvPr/>
        </p:nvSpPr>
        <p:spPr>
          <a:xfrm>
            <a:off x="6172200" y="1417320"/>
            <a:ext cx="5440680" cy="4937760"/>
          </a:xfrm>
          <a:prstGeom prst="roundRect">
            <a:avLst>
              <a:gd name="adj" fmla="val 1481"/>
            </a:avLst>
          </a:prstGeom>
          <a:solidFill>
            <a:srgbClr val="FFFFFF"/>
          </a:solidFill>
          <a:ln w="12700">
            <a:solidFill>
              <a:srgbClr val="E1E5F2"/>
            </a:solidFill>
            <a:prstDash val="solid"/>
          </a:ln>
          <a:effectLst>
            <a:outerShdw sx="100000" sy="100000" kx="0" ky="0" algn="bl" rotWithShape="0" blurRad="101600" dist="25400" dir="5400000">
              <a:srgbClr val="1E2761">
                <a:alpha val="15000"/>
              </a:srgbClr>
            </a:outerShdw>
          </a:effectLst>
        </p:spPr>
      </p:sp>
      <p:pic>
        <p:nvPicPr>
          <p:cNvPr id="19" name="Image 1" descr="/home/claude/github_repo_screenshot.png">    </p:cNvPr>
          <p:cNvPicPr>
            <a:picLocks noChangeAspect="1"/>
          </p:cNvPicPr>
          <p:nvPr/>
        </p:nvPicPr>
        <p:blipFill>
          <a:blip r:embed="rId2"/>
          <a:stretch>
            <a:fillRect/>
          </a:stretch>
        </p:blipFill>
        <p:spPr>
          <a:xfrm>
            <a:off x="6858000" y="1554480"/>
            <a:ext cx="4069080" cy="4663440"/>
          </a:xfrm>
          <a:prstGeom prst="rect">
            <a:avLst/>
          </a:prstGeom>
        </p:spPr>
      </p:pic>
      <p:sp>
        <p:nvSpPr>
          <p:cNvPr id="20" name="Text 1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1" name="Text 1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41B47"/>
          </a:solidFill>
          <a:ln/>
        </p:spPr>
      </p:sp>
      <p:sp>
        <p:nvSpPr>
          <p:cNvPr id="3" name="Shape 1"/>
          <p:cNvSpPr/>
          <p:nvPr/>
        </p:nvSpPr>
        <p:spPr>
          <a:xfrm>
            <a:off x="10689336" y="192024"/>
            <a:ext cx="1216152" cy="757123"/>
          </a:xfrm>
          <a:prstGeom prst="roundRect">
            <a:avLst>
              <a:gd name="adj" fmla="val 7246"/>
            </a:avLst>
          </a:prstGeom>
          <a:solidFill>
            <a:srgbClr val="FFFFFF"/>
          </a:solidFill>
          <a:ln/>
        </p:spPr>
      </p:sp>
      <p:pic>
        <p:nvPicPr>
          <p:cNvPr id="4"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5" name="Text 2"/>
          <p:cNvSpPr/>
          <p:nvPr/>
        </p:nvSpPr>
        <p:spPr>
          <a:xfrm>
            <a:off x="822960" y="2743200"/>
            <a:ext cx="5486400" cy="365760"/>
          </a:xfrm>
          <a:prstGeom prst="rect">
            <a:avLst/>
          </a:prstGeom>
          <a:noFill/>
          <a:ln/>
        </p:spPr>
        <p:txBody>
          <a:bodyPr wrap="square"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PARTE 1</a:t>
            </a:r>
            <a:endParaRPr lang="en-US" sz="1300" dirty="0"/>
          </a:p>
        </p:txBody>
      </p:sp>
      <p:sp>
        <p:nvSpPr>
          <p:cNvPr id="6" name="Text 3"/>
          <p:cNvSpPr/>
          <p:nvPr/>
        </p:nvSpPr>
        <p:spPr>
          <a:xfrm>
            <a:off x="777240" y="3108960"/>
            <a:ext cx="914400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Introducción a la orientación</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 objetos</a:t>
            </a:r>
            <a:endParaRPr lang="en-US" sz="4000" dirty="0"/>
          </a:p>
        </p:txBody>
      </p:sp>
      <p:sp>
        <p:nvSpPr>
          <p:cNvPr id="7" name="Shape 4"/>
          <p:cNvSpPr/>
          <p:nvPr/>
        </p:nvSpPr>
        <p:spPr>
          <a:xfrm>
            <a:off x="822960" y="4709160"/>
            <a:ext cx="1463040" cy="0"/>
          </a:xfrm>
          <a:prstGeom prst="line">
            <a:avLst/>
          </a:prstGeom>
          <a:noFill/>
          <a:ln w="25400">
            <a:solidFill>
              <a:srgbClr val="F2A541"/>
            </a:solidFill>
            <a:prstDash val="solid"/>
          </a:ln>
        </p:spPr>
      </p:sp>
      <p:sp>
        <p:nvSpPr>
          <p:cNvPr id="8" name="Text 5"/>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891B0"/>
                </a:solidFill>
                <a:latin typeface="Calibri" pitchFamily="34" charset="0"/>
                <a:ea typeface="Calibri" pitchFamily="34" charset="-122"/>
                <a:cs typeface="Calibri" pitchFamily="34" charset="-120"/>
              </a:rPr>
              <a:t>Paradigma Orientado a Objetos  ·  Clase 1</a:t>
            </a:r>
            <a:endParaRPr lang="en-US" sz="900" dirty="0"/>
          </a:p>
        </p:txBody>
      </p:sp>
      <p:sp>
        <p:nvSpPr>
          <p:cNvPr id="9" name="Text 6"/>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891B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INTRODUCCIÓN A LA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¿Qué es un objeto?</a:t>
            </a:r>
            <a:endParaRPr lang="en-US" sz="3200" dirty="0"/>
          </a:p>
        </p:txBody>
      </p:sp>
      <p:sp>
        <p:nvSpPr>
          <p:cNvPr id="5" name="Shape 2"/>
          <p:cNvSpPr/>
          <p:nvPr/>
        </p:nvSpPr>
        <p:spPr>
          <a:xfrm>
            <a:off x="640080" y="1828800"/>
            <a:ext cx="6583680" cy="3840480"/>
          </a:xfrm>
          <a:prstGeom prst="roundRect">
            <a:avLst>
              <a:gd name="adj" fmla="val 2381"/>
            </a:avLst>
          </a:prstGeom>
          <a:solidFill>
            <a:srgbClr val="FFFFFF"/>
          </a:solidFill>
          <a:ln w="12700">
            <a:solidFill>
              <a:srgbClr val="E1E5F2"/>
            </a:solidFill>
            <a:prstDash val="solid"/>
          </a:ln>
        </p:spPr>
      </p:sp>
      <p:sp>
        <p:nvSpPr>
          <p:cNvPr id="6" name="Text 3"/>
          <p:cNvSpPr/>
          <p:nvPr/>
        </p:nvSpPr>
        <p:spPr>
          <a:xfrm>
            <a:off x="960120" y="2148840"/>
            <a:ext cx="5943600" cy="457200"/>
          </a:xfrm>
          <a:prstGeom prst="rect">
            <a:avLst/>
          </a:prstGeom>
          <a:noFill/>
          <a:ln/>
        </p:spPr>
        <p:txBody>
          <a:bodyPr wrap="square" rtlCol="0" anchor="ctr"/>
          <a:lstStyle/>
          <a:p>
            <a:pPr indent="0" marL="0">
              <a:buNone/>
            </a:pPr>
            <a:r>
              <a:rPr lang="en-US" sz="1300" dirty="0">
                <a:solidFill>
                  <a:srgbClr val="5B6478"/>
                </a:solidFill>
                <a:latin typeface="Calibri" pitchFamily="34" charset="0"/>
                <a:ea typeface="Calibri" pitchFamily="34" charset="-122"/>
                <a:cs typeface="Calibri" pitchFamily="34" charset="-120"/>
              </a:rPr>
              <a:t>Según la Real Academia Española, un objeto es:</a:t>
            </a:r>
            <a:endParaRPr lang="en-US" sz="1300" dirty="0"/>
          </a:p>
        </p:txBody>
      </p:sp>
      <p:sp>
        <p:nvSpPr>
          <p:cNvPr id="7" name="Text 4"/>
          <p:cNvSpPr/>
          <p:nvPr/>
        </p:nvSpPr>
        <p:spPr>
          <a:xfrm>
            <a:off x="960120" y="2606040"/>
            <a:ext cx="5943600" cy="548640"/>
          </a:xfrm>
          <a:prstGeom prst="rect">
            <a:avLst/>
          </a:prstGeom>
          <a:noFill/>
          <a:ln/>
        </p:spPr>
        <p:txBody>
          <a:bodyPr wrap="square" rtlCol="0" anchor="ctr"/>
          <a:lstStyle/>
          <a:p>
            <a:pPr indent="0" marL="0">
              <a:buNone/>
            </a:pPr>
            <a:r>
              <a:rPr lang="en-US" sz="2200" b="1" i="1" dirty="0">
                <a:solidFill>
                  <a:srgbClr val="1E2761"/>
                </a:solidFill>
                <a:latin typeface="Cambria" pitchFamily="34" charset="0"/>
                <a:ea typeface="Cambria" pitchFamily="34" charset="-122"/>
                <a:cs typeface="Cambria" pitchFamily="34" charset="-120"/>
              </a:rPr>
              <a:t>“Una cosa, algo.”</a:t>
            </a:r>
            <a:endParaRPr lang="en-US" sz="2200" dirty="0"/>
          </a:p>
        </p:txBody>
      </p:sp>
      <p:sp>
        <p:nvSpPr>
          <p:cNvPr id="8" name="Shape 5"/>
          <p:cNvSpPr/>
          <p:nvPr/>
        </p:nvSpPr>
        <p:spPr>
          <a:xfrm>
            <a:off x="960120" y="3337560"/>
            <a:ext cx="5943600" cy="0"/>
          </a:xfrm>
          <a:prstGeom prst="line">
            <a:avLst/>
          </a:prstGeom>
          <a:noFill/>
          <a:ln w="12700">
            <a:solidFill>
              <a:srgbClr val="E1E5F2"/>
            </a:solidFill>
            <a:prstDash val="solid"/>
          </a:ln>
        </p:spPr>
      </p:sp>
      <p:sp>
        <p:nvSpPr>
          <p:cNvPr id="9" name="Text 6"/>
          <p:cNvSpPr/>
          <p:nvPr/>
        </p:nvSpPr>
        <p:spPr>
          <a:xfrm>
            <a:off x="960120" y="3520440"/>
            <a:ext cx="5943600" cy="457200"/>
          </a:xfrm>
          <a:prstGeom prst="rect">
            <a:avLst/>
          </a:prstGeom>
          <a:noFill/>
          <a:ln/>
        </p:spPr>
        <p:txBody>
          <a:bodyPr wrap="square" rtlCol="0" anchor="ctr"/>
          <a:lstStyle/>
          <a:p>
            <a:pPr indent="0" marL="0">
              <a:buNone/>
            </a:pPr>
            <a:r>
              <a:rPr lang="en-US" sz="1300" dirty="0">
                <a:solidFill>
                  <a:srgbClr val="5B6478"/>
                </a:solidFill>
                <a:latin typeface="Calibri" pitchFamily="34" charset="0"/>
                <a:ea typeface="Calibri" pitchFamily="34" charset="-122"/>
                <a:cs typeface="Calibri" pitchFamily="34" charset="-120"/>
              </a:rPr>
              <a:t>¿Y qué es una cosa?</a:t>
            </a:r>
            <a:endParaRPr lang="en-US" sz="1300" dirty="0"/>
          </a:p>
        </p:txBody>
      </p:sp>
      <p:sp>
        <p:nvSpPr>
          <p:cNvPr id="10" name="Text 7"/>
          <p:cNvSpPr/>
          <p:nvPr/>
        </p:nvSpPr>
        <p:spPr>
          <a:xfrm>
            <a:off x="960120" y="3977640"/>
            <a:ext cx="5943600" cy="1463040"/>
          </a:xfrm>
          <a:prstGeom prst="rect">
            <a:avLst/>
          </a:prstGeom>
          <a:noFill/>
          <a:ln/>
        </p:spPr>
        <p:txBody>
          <a:bodyPr wrap="square" rtlCol="0" anchor="t"/>
          <a:lstStyle/>
          <a:p>
            <a:pPr indent="0" marL="0">
              <a:buNone/>
            </a:pPr>
            <a:r>
              <a:rPr lang="en-US" sz="1800" b="1" i="1" dirty="0">
                <a:solidFill>
                  <a:srgbClr val="1E2761"/>
                </a:solidFill>
                <a:latin typeface="Cambria" pitchFamily="34" charset="0"/>
                <a:ea typeface="Cambria" pitchFamily="34" charset="-122"/>
                <a:cs typeface="Cambria" pitchFamily="34" charset="-120"/>
              </a:rPr>
              <a:t>“Lo que tiene entidad, ya sea corporal o espiritual, natural o artificial, concreta, abstracta o virtual.”</a:t>
            </a:r>
            <a:endParaRPr lang="en-US" sz="1800" dirty="0"/>
          </a:p>
        </p:txBody>
      </p:sp>
      <p:sp>
        <p:nvSpPr>
          <p:cNvPr id="11" name="Shape 8"/>
          <p:cNvSpPr/>
          <p:nvPr/>
        </p:nvSpPr>
        <p:spPr>
          <a:xfrm>
            <a:off x="7635240" y="2011680"/>
            <a:ext cx="1737360" cy="1645920"/>
          </a:xfrm>
          <a:prstGeom prst="roundRect">
            <a:avLst>
              <a:gd name="adj" fmla="val 6667"/>
            </a:avLst>
          </a:prstGeom>
          <a:solidFill>
            <a:srgbClr val="CADCFC"/>
          </a:solidFill>
          <a:ln/>
        </p:spPr>
      </p:sp>
      <p:sp>
        <p:nvSpPr>
          <p:cNvPr id="12" name="Text 9"/>
          <p:cNvSpPr/>
          <p:nvPr/>
        </p:nvSpPr>
        <p:spPr>
          <a:xfrm>
            <a:off x="7635240" y="2148840"/>
            <a:ext cx="1737360" cy="91440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3" name="Text 10"/>
          <p:cNvSpPr/>
          <p:nvPr/>
        </p:nvSpPr>
        <p:spPr>
          <a:xfrm>
            <a:off x="7635240" y="3108960"/>
            <a:ext cx="173736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Libro</a:t>
            </a:r>
            <a:endParaRPr lang="en-US" sz="1200" dirty="0"/>
          </a:p>
        </p:txBody>
      </p:sp>
      <p:sp>
        <p:nvSpPr>
          <p:cNvPr id="14" name="Shape 11"/>
          <p:cNvSpPr/>
          <p:nvPr/>
        </p:nvSpPr>
        <p:spPr>
          <a:xfrm>
            <a:off x="9555480" y="2011680"/>
            <a:ext cx="1737360" cy="1645920"/>
          </a:xfrm>
          <a:prstGeom prst="roundRect">
            <a:avLst>
              <a:gd name="adj" fmla="val 6667"/>
            </a:avLst>
          </a:prstGeom>
          <a:solidFill>
            <a:srgbClr val="E8EEFB"/>
          </a:solidFill>
          <a:ln/>
        </p:spPr>
      </p:sp>
      <p:sp>
        <p:nvSpPr>
          <p:cNvPr id="15" name="Text 12"/>
          <p:cNvSpPr/>
          <p:nvPr/>
        </p:nvSpPr>
        <p:spPr>
          <a:xfrm>
            <a:off x="9555480" y="2148840"/>
            <a:ext cx="1737360" cy="91440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6" name="Text 13"/>
          <p:cNvSpPr/>
          <p:nvPr/>
        </p:nvSpPr>
        <p:spPr>
          <a:xfrm>
            <a:off x="9555480" y="3108960"/>
            <a:ext cx="173736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Lápiz</a:t>
            </a:r>
            <a:endParaRPr lang="en-US" sz="1200" dirty="0"/>
          </a:p>
        </p:txBody>
      </p:sp>
      <p:sp>
        <p:nvSpPr>
          <p:cNvPr id="17" name="Shape 14"/>
          <p:cNvSpPr/>
          <p:nvPr/>
        </p:nvSpPr>
        <p:spPr>
          <a:xfrm>
            <a:off x="7635240" y="3840480"/>
            <a:ext cx="1737360" cy="1645920"/>
          </a:xfrm>
          <a:prstGeom prst="roundRect">
            <a:avLst>
              <a:gd name="adj" fmla="val 6667"/>
            </a:avLst>
          </a:prstGeom>
          <a:solidFill>
            <a:srgbClr val="CADCFC"/>
          </a:solidFill>
          <a:ln/>
        </p:spPr>
      </p:sp>
      <p:sp>
        <p:nvSpPr>
          <p:cNvPr id="18" name="Text 15"/>
          <p:cNvSpPr/>
          <p:nvPr/>
        </p:nvSpPr>
        <p:spPr>
          <a:xfrm>
            <a:off x="7635240" y="3977640"/>
            <a:ext cx="1737360" cy="91440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9" name="Text 16"/>
          <p:cNvSpPr/>
          <p:nvPr/>
        </p:nvSpPr>
        <p:spPr>
          <a:xfrm>
            <a:off x="7635240" y="4937760"/>
            <a:ext cx="173736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Mochila</a:t>
            </a:r>
            <a:endParaRPr lang="en-US" sz="1200" dirty="0"/>
          </a:p>
        </p:txBody>
      </p:sp>
      <p:sp>
        <p:nvSpPr>
          <p:cNvPr id="20" name="Shape 17"/>
          <p:cNvSpPr/>
          <p:nvPr/>
        </p:nvSpPr>
        <p:spPr>
          <a:xfrm>
            <a:off x="9555480" y="3840480"/>
            <a:ext cx="1737360" cy="1645920"/>
          </a:xfrm>
          <a:prstGeom prst="roundRect">
            <a:avLst>
              <a:gd name="adj" fmla="val 6667"/>
            </a:avLst>
          </a:prstGeom>
          <a:solidFill>
            <a:srgbClr val="E8EEFB"/>
          </a:solidFill>
          <a:ln/>
        </p:spPr>
      </p:sp>
      <p:sp>
        <p:nvSpPr>
          <p:cNvPr id="21" name="Text 18"/>
          <p:cNvSpPr/>
          <p:nvPr/>
        </p:nvSpPr>
        <p:spPr>
          <a:xfrm>
            <a:off x="9555480" y="3977640"/>
            <a:ext cx="1737360" cy="91440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2" name="Text 19"/>
          <p:cNvSpPr/>
          <p:nvPr/>
        </p:nvSpPr>
        <p:spPr>
          <a:xfrm>
            <a:off x="9555480" y="4937760"/>
            <a:ext cx="173736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Tijera</a:t>
            </a:r>
            <a:endParaRPr lang="en-US" sz="1200" dirty="0"/>
          </a:p>
        </p:txBody>
      </p:sp>
      <p:sp>
        <p:nvSpPr>
          <p:cNvPr id="23"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4" name="Text 21"/>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INTRODUCCIÓN A LA OO · ACTIVIDAD</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Actividad: el zoológico</a:t>
            </a:r>
            <a:endParaRPr lang="en-US" sz="3200" dirty="0"/>
          </a:p>
        </p:txBody>
      </p:sp>
      <p:sp>
        <p:nvSpPr>
          <p:cNvPr id="5" name="Shape 2"/>
          <p:cNvSpPr/>
          <p:nvPr/>
        </p:nvSpPr>
        <p:spPr>
          <a:xfrm>
            <a:off x="640080" y="1920240"/>
            <a:ext cx="10881360" cy="1371600"/>
          </a:xfrm>
          <a:prstGeom prst="roundRect">
            <a:avLst>
              <a:gd name="adj" fmla="val 6667"/>
            </a:avLst>
          </a:prstGeom>
          <a:solidFill>
            <a:srgbClr val="F2A541"/>
          </a:solidFill>
          <a:ln/>
        </p:spPr>
      </p:sp>
      <p:sp>
        <p:nvSpPr>
          <p:cNvPr id="6" name="Text 3"/>
          <p:cNvSpPr/>
          <p:nvPr/>
        </p:nvSpPr>
        <p:spPr>
          <a:xfrm>
            <a:off x="1005840" y="2103120"/>
            <a:ext cx="10149840" cy="502920"/>
          </a:xfrm>
          <a:prstGeom prst="rect">
            <a:avLst/>
          </a:prstGeom>
          <a:noFill/>
          <a:ln/>
        </p:spPr>
        <p:txBody>
          <a:bodyPr wrap="square" rtlCol="0" anchor="ctr"/>
          <a:lstStyle/>
          <a:p>
            <a:pPr indent="0" marL="0">
              <a:buNone/>
            </a:pPr>
            <a:r>
              <a:rPr lang="en-US" sz="2000" b="1" dirty="0">
                <a:solidFill>
                  <a:srgbClr val="141B47"/>
                </a:solidFill>
                <a:latin typeface="Cambria" pitchFamily="34" charset="0"/>
                <a:ea typeface="Cambria" pitchFamily="34" charset="-122"/>
                <a:cs typeface="Cambria" pitchFamily="34" charset="-120"/>
              </a:rPr>
              <a:t>⏱  15 segundos para decir qué vieron en un zoológico</a:t>
            </a:r>
            <a:endParaRPr lang="en-US" sz="2000" dirty="0"/>
          </a:p>
        </p:txBody>
      </p:sp>
      <p:sp>
        <p:nvSpPr>
          <p:cNvPr id="7" name="Text 4"/>
          <p:cNvSpPr/>
          <p:nvPr/>
        </p:nvSpPr>
        <p:spPr>
          <a:xfrm>
            <a:off x="1005840" y="2651760"/>
            <a:ext cx="10149840" cy="457200"/>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Intentando generalizar la respuesta.</a:t>
            </a:r>
            <a:endParaRPr lang="en-US" sz="1400" dirty="0"/>
          </a:p>
        </p:txBody>
      </p:sp>
      <p:sp>
        <p:nvSpPr>
          <p:cNvPr id="8" name="Text 5"/>
          <p:cNvSpPr/>
          <p:nvPr/>
        </p:nvSpPr>
        <p:spPr>
          <a:xfrm>
            <a:off x="640080" y="3657600"/>
            <a:ext cx="10881360" cy="914400"/>
          </a:xfrm>
          <a:prstGeom prst="rect">
            <a:avLst/>
          </a:prstGeom>
          <a:noFill/>
          <a:ln/>
        </p:spPr>
        <p:txBody>
          <a:bodyPr wrap="square" rtlCol="0" anchor="t"/>
          <a:lstStyle/>
          <a:p>
            <a:pPr indent="0" marL="0">
              <a:buNone/>
            </a:pPr>
            <a:r>
              <a:rPr lang="en-US" sz="1900" i="1" dirty="0">
                <a:solidFill>
                  <a:srgbClr val="1E2761"/>
                </a:solidFill>
                <a:latin typeface="Cambria" pitchFamily="34" charset="0"/>
                <a:ea typeface="Cambria" pitchFamily="34" charset="-122"/>
                <a:cs typeface="Cambria" pitchFamily="34" charset="-120"/>
              </a:rPr>
              <a:t>Usamos características y acciones comunes para modelar el mundo que vivimos, llevarlo a un formato manipulable y poder usarlo.</a:t>
            </a:r>
            <a:endParaRPr lang="en-US" sz="1900" dirty="0"/>
          </a:p>
        </p:txBody>
      </p:sp>
      <p:sp>
        <p:nvSpPr>
          <p:cNvPr id="9" name="Text 6"/>
          <p:cNvSpPr/>
          <p:nvPr/>
        </p:nvSpPr>
        <p:spPr>
          <a:xfrm>
            <a:off x="640080" y="4663440"/>
            <a:ext cx="10881360" cy="731520"/>
          </a:xfrm>
          <a:prstGeom prst="rect">
            <a:avLst/>
          </a:prstGeom>
          <a:noFill/>
          <a:ln/>
        </p:spPr>
        <p:txBody>
          <a:bodyPr wrap="square" rtlCol="0" anchor="t"/>
          <a:lstStyle/>
          <a:p>
            <a:pPr indent="0" marL="0">
              <a:buNone/>
            </a:pPr>
            <a:r>
              <a:rPr lang="en-US" sz="1300" dirty="0">
                <a:solidFill>
                  <a:srgbClr val="5B6478"/>
                </a:solidFill>
                <a:latin typeface="Calibri" pitchFamily="34" charset="0"/>
                <a:ea typeface="Calibri" pitchFamily="34" charset="-122"/>
                <a:cs typeface="Calibri" pitchFamily="34" charset="-120"/>
              </a:rPr>
              <a:t>Este es el punto de partida de la abstracción: de muchos animales distintos, extraemos lo que tienen en común.</a:t>
            </a:r>
            <a:endParaRPr lang="en-US" sz="1300" dirty="0"/>
          </a:p>
        </p:txBody>
      </p:sp>
      <p:sp>
        <p:nvSpPr>
          <p:cNvPr id="10" name="Text 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1" name="Text 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Clases, objetos, atributos y métodos</a:t>
            </a:r>
            <a:endParaRPr lang="en-US" sz="3200" dirty="0"/>
          </a:p>
        </p:txBody>
      </p:sp>
      <p:sp>
        <p:nvSpPr>
          <p:cNvPr id="5" name="Shape 2"/>
          <p:cNvSpPr/>
          <p:nvPr/>
        </p:nvSpPr>
        <p:spPr>
          <a:xfrm>
            <a:off x="640080" y="1737360"/>
            <a:ext cx="54864" cy="640080"/>
          </a:xfrm>
          <a:prstGeom prst="rect">
            <a:avLst/>
          </a:prstGeom>
          <a:solidFill>
            <a:srgbClr val="F2A541"/>
          </a:solidFill>
          <a:ln/>
        </p:spPr>
      </p:sp>
      <p:sp>
        <p:nvSpPr>
          <p:cNvPr id="6" name="Text 3"/>
          <p:cNvSpPr/>
          <p:nvPr/>
        </p:nvSpPr>
        <p:spPr>
          <a:xfrm>
            <a:off x="868680" y="1691640"/>
            <a:ext cx="10607040" cy="777240"/>
          </a:xfrm>
          <a:prstGeom prst="rect">
            <a:avLst/>
          </a:prstGeom>
          <a:noFill/>
          <a:ln/>
        </p:spPr>
        <p:txBody>
          <a:bodyPr wrap="square" rtlCol="0" anchor="t"/>
          <a:lstStyle/>
          <a:p>
            <a:pPr indent="0" marL="0">
              <a:buNone/>
            </a:pPr>
            <a:r>
              <a:rPr lang="en-US" sz="1300" dirty="0">
                <a:solidFill>
                  <a:srgbClr val="1E2761"/>
                </a:solidFill>
                <a:latin typeface="Calibri" pitchFamily="34" charset="0"/>
                <a:ea typeface="Calibri" pitchFamily="34" charset="-122"/>
                <a:cs typeface="Calibri" pitchFamily="34" charset="-120"/>
              </a:rPr>
              <a:t>La POO intenta reflejar el mundo lo más fielmente posible: el mundo está formado por cosas obtenidas a partir de modelos, y éstas cambian continuamente junto con el mundo.</a:t>
            </a:r>
            <a:endParaRPr lang="en-US" sz="1300" dirty="0"/>
          </a:p>
        </p:txBody>
      </p:sp>
      <p:sp>
        <p:nvSpPr>
          <p:cNvPr id="7" name="Shape 4"/>
          <p:cNvSpPr/>
          <p:nvPr/>
        </p:nvSpPr>
        <p:spPr>
          <a:xfrm>
            <a:off x="640080" y="2633472"/>
            <a:ext cx="54864" cy="640080"/>
          </a:xfrm>
          <a:prstGeom prst="rect">
            <a:avLst/>
          </a:prstGeom>
          <a:solidFill>
            <a:srgbClr val="F2A541"/>
          </a:solidFill>
          <a:ln/>
        </p:spPr>
      </p:sp>
      <p:sp>
        <p:nvSpPr>
          <p:cNvPr id="8" name="Text 5"/>
          <p:cNvSpPr/>
          <p:nvPr/>
        </p:nvSpPr>
        <p:spPr>
          <a:xfrm>
            <a:off x="868680" y="2587752"/>
            <a:ext cx="10607040" cy="777240"/>
          </a:xfrm>
          <a:prstGeom prst="rect">
            <a:avLst/>
          </a:prstGeom>
          <a:noFill/>
          <a:ln/>
        </p:spPr>
        <p:txBody>
          <a:bodyPr wrap="square" rtlCol="0" anchor="t"/>
          <a:lstStyle/>
          <a:p>
            <a:pPr indent="0" marL="0">
              <a:buNone/>
            </a:pPr>
            <a:r>
              <a:rPr lang="en-US" sz="1300" dirty="0">
                <a:solidFill>
                  <a:srgbClr val="1E2761"/>
                </a:solidFill>
                <a:latin typeface="Calibri" pitchFamily="34" charset="0"/>
                <a:ea typeface="Calibri" pitchFamily="34" charset="-122"/>
                <a:cs typeface="Calibri" pitchFamily="34" charset="-120"/>
              </a:rPr>
              <a:t>La POO habla de “clases”: son los modelos. El más genérico, de mayor orden, es la clase Object.</a:t>
            </a:r>
            <a:endParaRPr lang="en-US" sz="1300" dirty="0"/>
          </a:p>
        </p:txBody>
      </p:sp>
      <p:sp>
        <p:nvSpPr>
          <p:cNvPr id="9" name="Shape 6"/>
          <p:cNvSpPr/>
          <p:nvPr/>
        </p:nvSpPr>
        <p:spPr>
          <a:xfrm>
            <a:off x="640080" y="3529584"/>
            <a:ext cx="54864" cy="640080"/>
          </a:xfrm>
          <a:prstGeom prst="rect">
            <a:avLst/>
          </a:prstGeom>
          <a:solidFill>
            <a:srgbClr val="F2A541"/>
          </a:solidFill>
          <a:ln/>
        </p:spPr>
      </p:sp>
      <p:sp>
        <p:nvSpPr>
          <p:cNvPr id="10" name="Text 7"/>
          <p:cNvSpPr/>
          <p:nvPr/>
        </p:nvSpPr>
        <p:spPr>
          <a:xfrm>
            <a:off x="868680" y="3483864"/>
            <a:ext cx="10607040" cy="777240"/>
          </a:xfrm>
          <a:prstGeom prst="rect">
            <a:avLst/>
          </a:prstGeom>
          <a:noFill/>
          <a:ln/>
        </p:spPr>
        <p:txBody>
          <a:bodyPr wrap="square" rtlCol="0" anchor="t"/>
          <a:lstStyle/>
          <a:p>
            <a:pPr indent="0" marL="0">
              <a:buNone/>
            </a:pPr>
            <a:r>
              <a:rPr lang="en-US" sz="1300" dirty="0">
                <a:solidFill>
                  <a:srgbClr val="1E2761"/>
                </a:solidFill>
                <a:latin typeface="Calibri" pitchFamily="34" charset="0"/>
                <a:ea typeface="Calibri" pitchFamily="34" charset="-122"/>
                <a:cs typeface="Calibri" pitchFamily="34" charset="-120"/>
              </a:rPr>
              <a:t>La POO habla de “objetos”, que se obtienen a partir de las clases. ¿Qué tienen en común todos los objetos? Que son todos objetos, ¡son cosas!</a:t>
            </a:r>
            <a:endParaRPr lang="en-US" sz="1300" dirty="0"/>
          </a:p>
        </p:txBody>
      </p:sp>
      <p:sp>
        <p:nvSpPr>
          <p:cNvPr id="11" name="Shape 8"/>
          <p:cNvSpPr/>
          <p:nvPr/>
        </p:nvSpPr>
        <p:spPr>
          <a:xfrm>
            <a:off x="640080" y="4425696"/>
            <a:ext cx="54864" cy="640080"/>
          </a:xfrm>
          <a:prstGeom prst="rect">
            <a:avLst/>
          </a:prstGeom>
          <a:solidFill>
            <a:srgbClr val="F2A541"/>
          </a:solidFill>
          <a:ln/>
        </p:spPr>
      </p:sp>
      <p:sp>
        <p:nvSpPr>
          <p:cNvPr id="12" name="Text 9"/>
          <p:cNvSpPr/>
          <p:nvPr/>
        </p:nvSpPr>
        <p:spPr>
          <a:xfrm>
            <a:off x="868680" y="4379976"/>
            <a:ext cx="10607040" cy="777240"/>
          </a:xfrm>
          <a:prstGeom prst="rect">
            <a:avLst/>
          </a:prstGeom>
          <a:noFill/>
          <a:ln/>
        </p:spPr>
        <p:txBody>
          <a:bodyPr wrap="square" rtlCol="0" anchor="t"/>
          <a:lstStyle/>
          <a:p>
            <a:pPr indent="0" marL="0">
              <a:buNone/>
            </a:pPr>
            <a:r>
              <a:rPr lang="en-US" sz="1300" dirty="0">
                <a:solidFill>
                  <a:srgbClr val="1E2761"/>
                </a:solidFill>
                <a:latin typeface="Calibri" pitchFamily="34" charset="0"/>
                <a:ea typeface="Calibri" pitchFamily="34" charset="-122"/>
                <a:cs typeface="Calibri" pitchFamily="34" charset="-120"/>
              </a:rPr>
              <a:t>Las clases funcionan de manera jerárquica: todas “heredan” características comunes de su modelo supremo, el Objeto (Object).</a:t>
            </a:r>
            <a:endParaRPr lang="en-US" sz="1300" dirty="0"/>
          </a:p>
        </p:txBody>
      </p:sp>
      <p:sp>
        <p:nvSpPr>
          <p:cNvPr id="13" name="Text 10"/>
          <p:cNvSpPr/>
          <p:nvPr/>
        </p:nvSpPr>
        <p:spPr>
          <a:xfrm>
            <a:off x="640080" y="5321808"/>
            <a:ext cx="10607040" cy="457200"/>
          </a:xfrm>
          <a:prstGeom prst="rect">
            <a:avLst/>
          </a:prstGeom>
          <a:noFill/>
          <a:ln/>
        </p:spPr>
        <p:txBody>
          <a:bodyPr wrap="square" rtlCol="0" anchor="ctr"/>
          <a:lstStyle/>
          <a:p>
            <a:pPr indent="0" marL="0">
              <a:buNone/>
            </a:pPr>
            <a:r>
              <a:rPr lang="en-US" sz="1300" b="1" i="1" dirty="0">
                <a:solidFill>
                  <a:srgbClr val="1E2761"/>
                </a:solidFill>
                <a:latin typeface="Calibri" pitchFamily="34" charset="0"/>
                <a:ea typeface="Calibri" pitchFamily="34" charset="-122"/>
                <a:cs typeface="Calibri" pitchFamily="34" charset="-120"/>
              </a:rPr>
              <a:t>El cambio: operaciones para modificar el estado en que se encuentran los objetos y el mundo.</a:t>
            </a:r>
            <a:endParaRPr lang="en-US" sz="1300" dirty="0"/>
          </a:p>
        </p:txBody>
      </p:sp>
      <p:sp>
        <p:nvSpPr>
          <p:cNvPr id="14" name="Text 11"/>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5" name="Text 12"/>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Objeto, clase y objeto concreto</a:t>
            </a:r>
            <a:endParaRPr lang="en-US" sz="3200" dirty="0"/>
          </a:p>
        </p:txBody>
      </p:sp>
      <p:sp>
        <p:nvSpPr>
          <p:cNvPr id="5" name="Shape 2"/>
          <p:cNvSpPr/>
          <p:nvPr/>
        </p:nvSpPr>
        <p:spPr>
          <a:xfrm>
            <a:off x="640080" y="1920240"/>
            <a:ext cx="3429000" cy="3566160"/>
          </a:xfrm>
          <a:prstGeom prst="roundRect">
            <a:avLst>
              <a:gd name="adj" fmla="val 2667"/>
            </a:avLst>
          </a:prstGeom>
          <a:solidFill>
            <a:srgbClr val="FFFFFF"/>
          </a:solidFill>
          <a:ln w="12700">
            <a:solidFill>
              <a:srgbClr val="E1E5F2"/>
            </a:solidFill>
            <a:prstDash val="solid"/>
          </a:ln>
        </p:spPr>
      </p:sp>
      <p:sp>
        <p:nvSpPr>
          <p:cNvPr id="6" name="Shape 3"/>
          <p:cNvSpPr/>
          <p:nvPr/>
        </p:nvSpPr>
        <p:spPr>
          <a:xfrm>
            <a:off x="1851660" y="2240280"/>
            <a:ext cx="1005840" cy="1005840"/>
          </a:xfrm>
          <a:prstGeom prst="roundRect">
            <a:avLst>
              <a:gd name="adj" fmla="val 50000"/>
            </a:avLst>
          </a:prstGeom>
          <a:solidFill>
            <a:srgbClr val="CADCFC"/>
          </a:solidFill>
          <a:ln/>
        </p:spPr>
      </p:sp>
      <p:sp>
        <p:nvSpPr>
          <p:cNvPr id="7" name="Text 4"/>
          <p:cNvSpPr/>
          <p:nvPr/>
        </p:nvSpPr>
        <p:spPr>
          <a:xfrm>
            <a:off x="1851660" y="2240280"/>
            <a:ext cx="1005840" cy="100584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8" name="Text 5"/>
          <p:cNvSpPr/>
          <p:nvPr/>
        </p:nvSpPr>
        <p:spPr>
          <a:xfrm>
            <a:off x="822960" y="3429000"/>
            <a:ext cx="30632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Un objeto</a:t>
            </a:r>
            <a:endParaRPr lang="en-US" sz="1600" dirty="0"/>
          </a:p>
        </p:txBody>
      </p:sp>
      <p:sp>
        <p:nvSpPr>
          <p:cNvPr id="9" name="Text 6"/>
          <p:cNvSpPr/>
          <p:nvPr/>
        </p:nvSpPr>
        <p:spPr>
          <a:xfrm>
            <a:off x="914400" y="3931920"/>
            <a:ext cx="2880360" cy="1280160"/>
          </a:xfrm>
          <a:prstGeom prst="rect">
            <a:avLst/>
          </a:prstGeom>
          <a:noFill/>
          <a:ln/>
        </p:spPr>
        <p:txBody>
          <a:bodyPr wrap="square" rtlCol="0" anchor="t"/>
          <a:lstStyle/>
          <a:p>
            <a:pPr algn="ctr" indent="0" marL="0">
              <a:buNone/>
            </a:pPr>
            <a:r>
              <a:rPr lang="en-US" sz="1200" dirty="0">
                <a:solidFill>
                  <a:srgbClr val="5B6478"/>
                </a:solidFill>
                <a:latin typeface="Calibri" pitchFamily="34" charset="0"/>
                <a:ea typeface="Calibri" pitchFamily="34" charset="-122"/>
                <a:cs typeface="Calibri" pitchFamily="34" charset="-120"/>
              </a:rPr>
              <a:t>Concepto abstracto: cualquier “cosa” que puede modelarse.</a:t>
            </a:r>
            <a:endParaRPr lang="en-US" sz="1200" dirty="0"/>
          </a:p>
        </p:txBody>
      </p:sp>
      <p:sp>
        <p:nvSpPr>
          <p:cNvPr id="10" name="Text 7"/>
          <p:cNvSpPr/>
          <p:nvPr/>
        </p:nvSpPr>
        <p:spPr>
          <a:xfrm>
            <a:off x="4087368" y="3383280"/>
            <a:ext cx="237744" cy="548640"/>
          </a:xfrm>
          <a:prstGeom prst="rect">
            <a:avLst/>
          </a:prstGeom>
          <a:noFill/>
          <a:ln/>
        </p:spPr>
        <p:txBody>
          <a:bodyPr wrap="square" rtlCol="0" anchor="ctr"/>
          <a:lstStyle/>
          <a:p>
            <a:pPr algn="ctr" indent="0" marL="0">
              <a:buNone/>
            </a:pPr>
            <a:r>
              <a:rPr lang="en-US" sz="2200" b="1" dirty="0">
                <a:solidFill>
                  <a:srgbClr val="F2A541"/>
                </a:solidFill>
              </a:rPr>
              <a:t>→</a:t>
            </a:r>
            <a:endParaRPr lang="en-US" sz="2200" dirty="0"/>
          </a:p>
        </p:txBody>
      </p:sp>
      <p:sp>
        <p:nvSpPr>
          <p:cNvPr id="11" name="Shape 8"/>
          <p:cNvSpPr/>
          <p:nvPr/>
        </p:nvSpPr>
        <p:spPr>
          <a:xfrm>
            <a:off x="4343400" y="1920240"/>
            <a:ext cx="3429000" cy="3566160"/>
          </a:xfrm>
          <a:prstGeom prst="roundRect">
            <a:avLst>
              <a:gd name="adj" fmla="val 2667"/>
            </a:avLst>
          </a:prstGeom>
          <a:solidFill>
            <a:srgbClr val="FFFFFF"/>
          </a:solidFill>
          <a:ln w="12700">
            <a:solidFill>
              <a:srgbClr val="E1E5F2"/>
            </a:solidFill>
            <a:prstDash val="solid"/>
          </a:ln>
        </p:spPr>
      </p:sp>
      <p:sp>
        <p:nvSpPr>
          <p:cNvPr id="12" name="Shape 9"/>
          <p:cNvSpPr/>
          <p:nvPr/>
        </p:nvSpPr>
        <p:spPr>
          <a:xfrm>
            <a:off x="5554980" y="2240280"/>
            <a:ext cx="1005840" cy="1005840"/>
          </a:xfrm>
          <a:prstGeom prst="roundRect">
            <a:avLst>
              <a:gd name="adj" fmla="val 50000"/>
            </a:avLst>
          </a:prstGeom>
          <a:solidFill>
            <a:srgbClr val="F2A541"/>
          </a:solidFill>
          <a:ln/>
        </p:spPr>
      </p:sp>
      <p:sp>
        <p:nvSpPr>
          <p:cNvPr id="13" name="Text 10"/>
          <p:cNvSpPr/>
          <p:nvPr/>
        </p:nvSpPr>
        <p:spPr>
          <a:xfrm>
            <a:off x="5554980" y="2240280"/>
            <a:ext cx="1005840" cy="100584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4" name="Text 11"/>
          <p:cNvSpPr/>
          <p:nvPr/>
        </p:nvSpPr>
        <p:spPr>
          <a:xfrm>
            <a:off x="4526280" y="3429000"/>
            <a:ext cx="30632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Una clase</a:t>
            </a:r>
            <a:endParaRPr lang="en-US" sz="1600" dirty="0"/>
          </a:p>
        </p:txBody>
      </p:sp>
      <p:sp>
        <p:nvSpPr>
          <p:cNvPr id="15" name="Text 12"/>
          <p:cNvSpPr/>
          <p:nvPr/>
        </p:nvSpPr>
        <p:spPr>
          <a:xfrm>
            <a:off x="4617720" y="3931920"/>
            <a:ext cx="2880360" cy="1280160"/>
          </a:xfrm>
          <a:prstGeom prst="rect">
            <a:avLst/>
          </a:prstGeom>
          <a:noFill/>
          <a:ln/>
        </p:spPr>
        <p:txBody>
          <a:bodyPr wrap="square" rtlCol="0" anchor="t"/>
          <a:lstStyle/>
          <a:p>
            <a:pPr algn="ctr" indent="0" marL="0">
              <a:buNone/>
            </a:pPr>
            <a:r>
              <a:rPr lang="en-US" sz="1200" dirty="0">
                <a:solidFill>
                  <a:srgbClr val="5B6478"/>
                </a:solidFill>
                <a:latin typeface="Calibri" pitchFamily="34" charset="0"/>
                <a:ea typeface="Calibri" pitchFamily="34" charset="-122"/>
                <a:cs typeface="Calibri" pitchFamily="34" charset="-120"/>
              </a:rPr>
              <a:t>El molde o plantilla que define atributos y comportamiento comunes.</a:t>
            </a:r>
            <a:endParaRPr lang="en-US" sz="1200" dirty="0"/>
          </a:p>
        </p:txBody>
      </p:sp>
      <p:sp>
        <p:nvSpPr>
          <p:cNvPr id="16" name="Text 13"/>
          <p:cNvSpPr/>
          <p:nvPr/>
        </p:nvSpPr>
        <p:spPr>
          <a:xfrm>
            <a:off x="7790688" y="3383280"/>
            <a:ext cx="237744" cy="548640"/>
          </a:xfrm>
          <a:prstGeom prst="rect">
            <a:avLst/>
          </a:prstGeom>
          <a:noFill/>
          <a:ln/>
        </p:spPr>
        <p:txBody>
          <a:bodyPr wrap="square" rtlCol="0" anchor="ctr"/>
          <a:lstStyle/>
          <a:p>
            <a:pPr algn="ctr" indent="0" marL="0">
              <a:buNone/>
            </a:pPr>
            <a:r>
              <a:rPr lang="en-US" sz="2200" b="1" dirty="0">
                <a:solidFill>
                  <a:srgbClr val="F2A541"/>
                </a:solidFill>
              </a:rPr>
              <a:t>→</a:t>
            </a:r>
            <a:endParaRPr lang="en-US" sz="2200" dirty="0"/>
          </a:p>
        </p:txBody>
      </p:sp>
      <p:sp>
        <p:nvSpPr>
          <p:cNvPr id="17" name="Shape 14"/>
          <p:cNvSpPr/>
          <p:nvPr/>
        </p:nvSpPr>
        <p:spPr>
          <a:xfrm>
            <a:off x="8046720" y="1920240"/>
            <a:ext cx="3429000" cy="3566160"/>
          </a:xfrm>
          <a:prstGeom prst="roundRect">
            <a:avLst>
              <a:gd name="adj" fmla="val 2667"/>
            </a:avLst>
          </a:prstGeom>
          <a:solidFill>
            <a:srgbClr val="FFFFFF"/>
          </a:solidFill>
          <a:ln w="12700">
            <a:solidFill>
              <a:srgbClr val="E1E5F2"/>
            </a:solidFill>
            <a:prstDash val="solid"/>
          </a:ln>
        </p:spPr>
      </p:sp>
      <p:sp>
        <p:nvSpPr>
          <p:cNvPr id="18" name="Shape 15"/>
          <p:cNvSpPr/>
          <p:nvPr/>
        </p:nvSpPr>
        <p:spPr>
          <a:xfrm>
            <a:off x="9258300" y="2240280"/>
            <a:ext cx="1005840" cy="1005840"/>
          </a:xfrm>
          <a:prstGeom prst="roundRect">
            <a:avLst>
              <a:gd name="adj" fmla="val 50000"/>
            </a:avLst>
          </a:prstGeom>
          <a:solidFill>
            <a:srgbClr val="CADCFC"/>
          </a:solidFill>
          <a:ln/>
        </p:spPr>
      </p:sp>
      <p:sp>
        <p:nvSpPr>
          <p:cNvPr id="19" name="Text 16"/>
          <p:cNvSpPr/>
          <p:nvPr/>
        </p:nvSpPr>
        <p:spPr>
          <a:xfrm>
            <a:off x="9258300" y="2240280"/>
            <a:ext cx="1005840" cy="100584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20" name="Text 17"/>
          <p:cNvSpPr/>
          <p:nvPr/>
        </p:nvSpPr>
        <p:spPr>
          <a:xfrm>
            <a:off x="8229600" y="3429000"/>
            <a:ext cx="30632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Un objeto concreto</a:t>
            </a:r>
            <a:endParaRPr lang="en-US" sz="1600" dirty="0"/>
          </a:p>
        </p:txBody>
      </p:sp>
      <p:sp>
        <p:nvSpPr>
          <p:cNvPr id="21" name="Text 18"/>
          <p:cNvSpPr/>
          <p:nvPr/>
        </p:nvSpPr>
        <p:spPr>
          <a:xfrm>
            <a:off x="8321040" y="3931920"/>
            <a:ext cx="2880360" cy="1280160"/>
          </a:xfrm>
          <a:prstGeom prst="rect">
            <a:avLst/>
          </a:prstGeom>
          <a:noFill/>
          <a:ln/>
        </p:spPr>
        <p:txBody>
          <a:bodyPr wrap="square" rtlCol="0" anchor="t"/>
          <a:lstStyle/>
          <a:p>
            <a:pPr algn="ctr" indent="0" marL="0">
              <a:buNone/>
            </a:pPr>
            <a:r>
              <a:rPr lang="en-US" sz="1200" dirty="0">
                <a:solidFill>
                  <a:srgbClr val="5B6478"/>
                </a:solidFill>
                <a:latin typeface="Calibri" pitchFamily="34" charset="0"/>
                <a:ea typeface="Calibri" pitchFamily="34" charset="-122"/>
                <a:cs typeface="Calibri" pitchFamily="34" charset="-120"/>
              </a:rPr>
              <a:t>Una instancia real de la clase, con valores propios.</a:t>
            </a:r>
            <a:endParaRPr lang="en-US" sz="1200" dirty="0"/>
          </a:p>
        </p:txBody>
      </p:sp>
      <p:sp>
        <p:nvSpPr>
          <p:cNvPr id="22" name="Text 1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3" name="Text 20"/>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Cómo modelamos el mundo real</a:t>
            </a:r>
            <a:endParaRPr lang="en-US" sz="3200" dirty="0"/>
          </a:p>
        </p:txBody>
      </p:sp>
      <p:sp>
        <p:nvSpPr>
          <p:cNvPr id="5" name="Text 2"/>
          <p:cNvSpPr/>
          <p:nvPr/>
        </p:nvSpPr>
        <p:spPr>
          <a:xfrm>
            <a:off x="640080" y="1508760"/>
            <a:ext cx="10515600" cy="45720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Llevamos las características del mundo real a un formato que la máquina puede manejar.</a:t>
            </a:r>
            <a:endParaRPr lang="en-US" sz="1300" dirty="0"/>
          </a:p>
        </p:txBody>
      </p:sp>
      <p:sp>
        <p:nvSpPr>
          <p:cNvPr id="6" name="Shape 3"/>
          <p:cNvSpPr/>
          <p:nvPr/>
        </p:nvSpPr>
        <p:spPr>
          <a:xfrm>
            <a:off x="640080" y="2148840"/>
            <a:ext cx="4846320" cy="3566160"/>
          </a:xfrm>
          <a:prstGeom prst="roundRect">
            <a:avLst>
              <a:gd name="adj" fmla="val 2564"/>
            </a:avLst>
          </a:prstGeom>
          <a:solidFill>
            <a:srgbClr val="CADCFC"/>
          </a:solidFill>
          <a:ln/>
        </p:spPr>
      </p:sp>
      <p:sp>
        <p:nvSpPr>
          <p:cNvPr id="7" name="Text 4"/>
          <p:cNvSpPr/>
          <p:nvPr/>
        </p:nvSpPr>
        <p:spPr>
          <a:xfrm>
            <a:off x="640080" y="2331720"/>
            <a:ext cx="4846320" cy="146304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8" name="Text 5"/>
          <p:cNvSpPr/>
          <p:nvPr/>
        </p:nvSpPr>
        <p:spPr>
          <a:xfrm>
            <a:off x="640080" y="3794760"/>
            <a:ext cx="484632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Mundo real</a:t>
            </a:r>
            <a:endParaRPr lang="en-US" sz="1400" dirty="0"/>
          </a:p>
        </p:txBody>
      </p:sp>
      <p:sp>
        <p:nvSpPr>
          <p:cNvPr id="9" name="Text 6"/>
          <p:cNvSpPr/>
          <p:nvPr/>
        </p:nvSpPr>
        <p:spPr>
          <a:xfrm>
            <a:off x="822960" y="4206240"/>
            <a:ext cx="4480560" cy="457200"/>
          </a:xfrm>
          <a:prstGeom prst="rect">
            <a:avLst/>
          </a:prstGeom>
          <a:noFill/>
          <a:ln/>
        </p:spPr>
        <p:txBody>
          <a:bodyPr wrap="square" rtlCol="0" anchor="ctr"/>
          <a:lstStyle/>
          <a:p>
            <a:pPr algn="ctr" indent="0" marL="0">
              <a:buNone/>
            </a:pPr>
            <a:r>
              <a:rPr lang="en-US" sz="1200" dirty="0">
                <a:solidFill>
                  <a:srgbClr val="44506B"/>
                </a:solidFill>
                <a:latin typeface="Calibri" pitchFamily="34" charset="0"/>
                <a:ea typeface="Calibri" pitchFamily="34" charset="-122"/>
                <a:cs typeface="Calibri" pitchFamily="34" charset="-120"/>
              </a:rPr>
              <a:t>Un perro con nombre, raza y altura propios</a:t>
            </a:r>
            <a:endParaRPr lang="en-US" sz="1200" dirty="0"/>
          </a:p>
        </p:txBody>
      </p:sp>
      <p:sp>
        <p:nvSpPr>
          <p:cNvPr id="10" name="Text 7"/>
          <p:cNvSpPr/>
          <p:nvPr/>
        </p:nvSpPr>
        <p:spPr>
          <a:xfrm>
            <a:off x="5623560" y="3566160"/>
            <a:ext cx="822960" cy="731520"/>
          </a:xfrm>
          <a:prstGeom prst="rect">
            <a:avLst/>
          </a:prstGeom>
          <a:noFill/>
          <a:ln/>
        </p:spPr>
        <p:txBody>
          <a:bodyPr wrap="square" rtlCol="0" anchor="ctr"/>
          <a:lstStyle/>
          <a:p>
            <a:pPr algn="ctr" indent="0" marL="0">
              <a:buNone/>
            </a:pPr>
            <a:r>
              <a:rPr lang="en-US" sz="3400" b="1" dirty="0">
                <a:solidFill>
                  <a:srgbClr val="F2A541"/>
                </a:solidFill>
              </a:rPr>
              <a:t>→</a:t>
            </a:r>
            <a:endParaRPr lang="en-US" sz="3400" dirty="0"/>
          </a:p>
        </p:txBody>
      </p:sp>
      <p:sp>
        <p:nvSpPr>
          <p:cNvPr id="11" name="Shape 8"/>
          <p:cNvSpPr/>
          <p:nvPr/>
        </p:nvSpPr>
        <p:spPr>
          <a:xfrm>
            <a:off x="6583680" y="2148840"/>
            <a:ext cx="4937760" cy="3566160"/>
          </a:xfrm>
          <a:prstGeom prst="roundRect">
            <a:avLst>
              <a:gd name="adj" fmla="val 2564"/>
            </a:avLst>
          </a:prstGeom>
          <a:solidFill>
            <a:srgbClr val="141B47"/>
          </a:solidFill>
          <a:ln/>
        </p:spPr>
      </p:sp>
      <p:sp>
        <p:nvSpPr>
          <p:cNvPr id="12" name="Text 9"/>
          <p:cNvSpPr/>
          <p:nvPr/>
        </p:nvSpPr>
        <p:spPr>
          <a:xfrm>
            <a:off x="6903720" y="2423160"/>
            <a:ext cx="4480560" cy="365760"/>
          </a:xfrm>
          <a:prstGeom prst="rect">
            <a:avLst/>
          </a:prstGeom>
          <a:noFill/>
          <a:ln/>
        </p:spPr>
        <p:txBody>
          <a:bodyPr wrap="square" rtlCol="0" anchor="ctr"/>
          <a:lstStyle/>
          <a:p>
            <a:pPr indent="0" marL="0">
              <a:buNone/>
            </a:pPr>
            <a:r>
              <a:rPr lang="en-US" sz="1400" dirty="0">
                <a:solidFill>
                  <a:srgbClr val="F2A541"/>
                </a:solidFill>
                <a:latin typeface="Courier New" pitchFamily="34" charset="0"/>
                <a:ea typeface="Courier New" pitchFamily="34" charset="-122"/>
                <a:cs typeface="Courier New" pitchFamily="34" charset="-120"/>
              </a:rPr>
              <a:t>class Perro {</a:t>
            </a:r>
            <a:endParaRPr lang="en-US" sz="1400" dirty="0"/>
          </a:p>
        </p:txBody>
      </p:sp>
      <p:sp>
        <p:nvSpPr>
          <p:cNvPr id="13" name="Text 10"/>
          <p:cNvSpPr/>
          <p:nvPr/>
        </p:nvSpPr>
        <p:spPr>
          <a:xfrm>
            <a:off x="7178040" y="2788920"/>
            <a:ext cx="4206240" cy="2560320"/>
          </a:xfrm>
          <a:prstGeom prst="rect">
            <a:avLst/>
          </a:prstGeom>
          <a:noFill/>
          <a:ln/>
        </p:spPr>
        <p:txBody>
          <a:bodyPr wrap="square" rtlCol="0" anchor="t"/>
          <a:lstStyle/>
          <a:p>
            <a:pPr indent="0" marL="0">
              <a:lnSpc>
                <a:spcPct val="130000"/>
              </a:lnSpc>
              <a:buNone/>
            </a:pPr>
            <a:r>
              <a:rPr lang="en-US" sz="1350" dirty="0">
                <a:solidFill>
                  <a:srgbClr val="FFFFFF"/>
                </a:solidFill>
                <a:latin typeface="Courier New" pitchFamily="34" charset="0"/>
                <a:ea typeface="Courier New" pitchFamily="34" charset="-122"/>
                <a:cs typeface="Courier New" pitchFamily="34" charset="-120"/>
              </a:rPr>
              <a:t>  String nombre;</a:t>
            </a:r>
            <a:endParaRPr lang="en-US" sz="1350" dirty="0"/>
          </a:p>
          <a:p>
            <a:pPr indent="0" marL="0">
              <a:lnSpc>
                <a:spcPct val="130000"/>
              </a:lnSpc>
              <a:buNone/>
            </a:pPr>
            <a:r>
              <a:rPr lang="en-US" sz="1350" dirty="0">
                <a:solidFill>
                  <a:srgbClr val="FFFFFF"/>
                </a:solidFill>
                <a:latin typeface="Courier New" pitchFamily="34" charset="0"/>
                <a:ea typeface="Courier New" pitchFamily="34" charset="-122"/>
                <a:cs typeface="Courier New" pitchFamily="34" charset="-120"/>
              </a:rPr>
              <a:t>  String raza;</a:t>
            </a:r>
            <a:endParaRPr lang="en-US" sz="1350" dirty="0"/>
          </a:p>
          <a:p>
            <a:pPr indent="0" marL="0">
              <a:lnSpc>
                <a:spcPct val="130000"/>
              </a:lnSpc>
              <a:buNone/>
            </a:pPr>
            <a:r>
              <a:rPr lang="en-US" sz="1350" dirty="0">
                <a:solidFill>
                  <a:srgbClr val="FFFFFF"/>
                </a:solidFill>
                <a:latin typeface="Courier New" pitchFamily="34" charset="0"/>
                <a:ea typeface="Courier New" pitchFamily="34" charset="-122"/>
                <a:cs typeface="Courier New" pitchFamily="34" charset="-120"/>
              </a:rPr>
              <a:t>  double altura;</a:t>
            </a:r>
            <a:endParaRPr lang="en-US" sz="1350" dirty="0"/>
          </a:p>
          <a:p>
            <a:pPr indent="0" marL="0">
              <a:lnSpc>
                <a:spcPct val="130000"/>
              </a:lnSpc>
              <a:buNone/>
            </a:pPr>
            <a:endParaRPr lang="en-US" sz="1350" dirty="0"/>
          </a:p>
          <a:p>
            <a:pPr indent="0" marL="0">
              <a:lnSpc>
                <a:spcPct val="130000"/>
              </a:lnSpc>
              <a:buNone/>
            </a:pPr>
            <a:r>
              <a:rPr lang="en-US" sz="1350" dirty="0">
                <a:solidFill>
                  <a:srgbClr val="FFFFFF"/>
                </a:solidFill>
                <a:latin typeface="Courier New" pitchFamily="34" charset="0"/>
                <a:ea typeface="Courier New" pitchFamily="34" charset="-122"/>
                <a:cs typeface="Courier New" pitchFamily="34" charset="-120"/>
              </a:rPr>
              <a:t>  comer();</a:t>
            </a:r>
            <a:endParaRPr lang="en-US" sz="1350" dirty="0"/>
          </a:p>
          <a:p>
            <a:pPr indent="0" marL="0">
              <a:lnSpc>
                <a:spcPct val="130000"/>
              </a:lnSpc>
              <a:buNone/>
            </a:pPr>
            <a:r>
              <a:rPr lang="en-US" sz="1350" dirty="0">
                <a:solidFill>
                  <a:srgbClr val="FFFFFF"/>
                </a:solidFill>
                <a:latin typeface="Courier New" pitchFamily="34" charset="0"/>
                <a:ea typeface="Courier New" pitchFamily="34" charset="-122"/>
                <a:cs typeface="Courier New" pitchFamily="34" charset="-120"/>
              </a:rPr>
              <a:t>  dormir();</a:t>
            </a:r>
            <a:endParaRPr lang="en-US" sz="1350" dirty="0"/>
          </a:p>
          <a:p>
            <a:pPr indent="0" marL="0">
              <a:lnSpc>
                <a:spcPct val="130000"/>
              </a:lnSpc>
              <a:buNone/>
            </a:pPr>
            <a:r>
              <a:rPr lang="en-US" sz="1350" dirty="0">
                <a:solidFill>
                  <a:srgbClr val="FFFFFF"/>
                </a:solidFill>
                <a:latin typeface="Courier New" pitchFamily="34" charset="0"/>
                <a:ea typeface="Courier New" pitchFamily="34" charset="-122"/>
                <a:cs typeface="Courier New" pitchFamily="34" charset="-120"/>
              </a:rPr>
              <a:t>  ladrar();</a:t>
            </a:r>
            <a:endParaRPr lang="en-US" sz="1350" dirty="0"/>
          </a:p>
        </p:txBody>
      </p:sp>
      <p:sp>
        <p:nvSpPr>
          <p:cNvPr id="14" name="Text 11"/>
          <p:cNvSpPr/>
          <p:nvPr/>
        </p:nvSpPr>
        <p:spPr>
          <a:xfrm>
            <a:off x="6903720" y="5349240"/>
            <a:ext cx="4480560" cy="365760"/>
          </a:xfrm>
          <a:prstGeom prst="rect">
            <a:avLst/>
          </a:prstGeom>
          <a:noFill/>
          <a:ln/>
        </p:spPr>
        <p:txBody>
          <a:bodyPr wrap="square" rtlCol="0" anchor="ctr"/>
          <a:lstStyle/>
          <a:p>
            <a:pPr indent="0" marL="0">
              <a:buNone/>
            </a:pPr>
            <a:r>
              <a:rPr lang="en-US" sz="1400" dirty="0">
                <a:solidFill>
                  <a:srgbClr val="F2A541"/>
                </a:solidFill>
                <a:latin typeface="Courier New" pitchFamily="34" charset="0"/>
                <a:ea typeface="Courier New" pitchFamily="34" charset="-122"/>
                <a:cs typeface="Courier New" pitchFamily="34" charset="-120"/>
              </a:rPr>
              <a:t>}</a:t>
            </a:r>
            <a:endParaRPr lang="en-US" sz="1400" dirty="0"/>
          </a:p>
        </p:txBody>
      </p:sp>
      <p:sp>
        <p:nvSpPr>
          <p:cNvPr id="15" name="Text 1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6" name="Text 1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Beneficios de la POO</a:t>
            </a:r>
            <a:endParaRPr lang="en-US" sz="3200" dirty="0"/>
          </a:p>
        </p:txBody>
      </p:sp>
      <p:sp>
        <p:nvSpPr>
          <p:cNvPr id="5" name="Shape 2"/>
          <p:cNvSpPr/>
          <p:nvPr/>
        </p:nvSpPr>
        <p:spPr>
          <a:xfrm>
            <a:off x="640080" y="1874520"/>
            <a:ext cx="2048256" cy="3749040"/>
          </a:xfrm>
          <a:prstGeom prst="roundRect">
            <a:avLst>
              <a:gd name="adj" fmla="val 3571"/>
            </a:avLst>
          </a:prstGeom>
          <a:solidFill>
            <a:srgbClr val="1E2761"/>
          </a:solidFill>
          <a:ln/>
        </p:spPr>
      </p:sp>
      <p:sp>
        <p:nvSpPr>
          <p:cNvPr id="6" name="Shape 3"/>
          <p:cNvSpPr/>
          <p:nvPr/>
        </p:nvSpPr>
        <p:spPr>
          <a:xfrm>
            <a:off x="822960" y="2103120"/>
            <a:ext cx="457200" cy="457200"/>
          </a:xfrm>
          <a:prstGeom prst="roundRect">
            <a:avLst>
              <a:gd name="adj" fmla="val 50000"/>
            </a:avLst>
          </a:prstGeom>
          <a:solidFill>
            <a:srgbClr val="F2A541"/>
          </a:solidFill>
          <a:ln/>
        </p:spPr>
      </p:sp>
      <p:sp>
        <p:nvSpPr>
          <p:cNvPr id="7" name="Text 4"/>
          <p:cNvSpPr/>
          <p:nvPr/>
        </p:nvSpPr>
        <p:spPr>
          <a:xfrm>
            <a:off x="822960" y="2103120"/>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804672" y="2788920"/>
            <a:ext cx="1719072" cy="59436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Reutilización</a:t>
            </a:r>
            <a:endParaRPr lang="en-US" sz="1400" dirty="0"/>
          </a:p>
        </p:txBody>
      </p:sp>
      <p:sp>
        <p:nvSpPr>
          <p:cNvPr id="9" name="Text 6"/>
          <p:cNvSpPr/>
          <p:nvPr/>
        </p:nvSpPr>
        <p:spPr>
          <a:xfrm>
            <a:off x="804672" y="3383280"/>
            <a:ext cx="1719072" cy="210312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Clases y objetos se reutilizan entre partes del programa e incluso entre proyectos, gracias a la herencia.</a:t>
            </a:r>
            <a:endParaRPr lang="en-US" sz="1000" dirty="0"/>
          </a:p>
        </p:txBody>
      </p:sp>
      <p:sp>
        <p:nvSpPr>
          <p:cNvPr id="10" name="Shape 7"/>
          <p:cNvSpPr/>
          <p:nvPr/>
        </p:nvSpPr>
        <p:spPr>
          <a:xfrm>
            <a:off x="2852928" y="1874520"/>
            <a:ext cx="2048256" cy="3749040"/>
          </a:xfrm>
          <a:prstGeom prst="roundRect">
            <a:avLst>
              <a:gd name="adj" fmla="val 3571"/>
            </a:avLst>
          </a:prstGeom>
          <a:solidFill>
            <a:srgbClr val="44506B"/>
          </a:solidFill>
          <a:ln/>
        </p:spPr>
      </p:sp>
      <p:sp>
        <p:nvSpPr>
          <p:cNvPr id="11" name="Shape 8"/>
          <p:cNvSpPr/>
          <p:nvPr/>
        </p:nvSpPr>
        <p:spPr>
          <a:xfrm>
            <a:off x="3035808" y="2103120"/>
            <a:ext cx="457200" cy="457200"/>
          </a:xfrm>
          <a:prstGeom prst="roundRect">
            <a:avLst>
              <a:gd name="adj" fmla="val 50000"/>
            </a:avLst>
          </a:prstGeom>
          <a:solidFill>
            <a:srgbClr val="F2A541"/>
          </a:solidFill>
          <a:ln/>
        </p:spPr>
      </p:sp>
      <p:sp>
        <p:nvSpPr>
          <p:cNvPr id="12" name="Text 9"/>
          <p:cNvSpPr/>
          <p:nvPr/>
        </p:nvSpPr>
        <p:spPr>
          <a:xfrm>
            <a:off x="3035808" y="2103120"/>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3017520" y="2788920"/>
            <a:ext cx="1719072" cy="59436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Mantenibilidad</a:t>
            </a:r>
            <a:endParaRPr lang="en-US" sz="1400" dirty="0"/>
          </a:p>
        </p:txBody>
      </p:sp>
      <p:sp>
        <p:nvSpPr>
          <p:cNvPr id="14" name="Text 11"/>
          <p:cNvSpPr/>
          <p:nvPr/>
        </p:nvSpPr>
        <p:spPr>
          <a:xfrm>
            <a:off x="3017520" y="3383280"/>
            <a:ext cx="1719072" cy="210312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Código organizado en módulos lógicos, más fácil de entender, adaptar y expandir sin afectar lo existente.</a:t>
            </a:r>
            <a:endParaRPr lang="en-US" sz="1000" dirty="0"/>
          </a:p>
        </p:txBody>
      </p:sp>
      <p:sp>
        <p:nvSpPr>
          <p:cNvPr id="15" name="Shape 12"/>
          <p:cNvSpPr/>
          <p:nvPr/>
        </p:nvSpPr>
        <p:spPr>
          <a:xfrm>
            <a:off x="5065776" y="1874520"/>
            <a:ext cx="2048256" cy="3749040"/>
          </a:xfrm>
          <a:prstGeom prst="roundRect">
            <a:avLst>
              <a:gd name="adj" fmla="val 3571"/>
            </a:avLst>
          </a:prstGeom>
          <a:solidFill>
            <a:srgbClr val="1E2761"/>
          </a:solidFill>
          <a:ln/>
        </p:spPr>
      </p:sp>
      <p:sp>
        <p:nvSpPr>
          <p:cNvPr id="16" name="Shape 13"/>
          <p:cNvSpPr/>
          <p:nvPr/>
        </p:nvSpPr>
        <p:spPr>
          <a:xfrm>
            <a:off x="5248656" y="2103120"/>
            <a:ext cx="457200" cy="457200"/>
          </a:xfrm>
          <a:prstGeom prst="roundRect">
            <a:avLst>
              <a:gd name="adj" fmla="val 50000"/>
            </a:avLst>
          </a:prstGeom>
          <a:solidFill>
            <a:srgbClr val="F2A541"/>
          </a:solidFill>
          <a:ln/>
        </p:spPr>
      </p:sp>
      <p:sp>
        <p:nvSpPr>
          <p:cNvPr id="17" name="Text 14"/>
          <p:cNvSpPr/>
          <p:nvPr/>
        </p:nvSpPr>
        <p:spPr>
          <a:xfrm>
            <a:off x="5248656" y="2103120"/>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5230368" y="2788920"/>
            <a:ext cx="1719072" cy="59436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Modularidad</a:t>
            </a:r>
            <a:endParaRPr lang="en-US" sz="1400" dirty="0"/>
          </a:p>
        </p:txBody>
      </p:sp>
      <p:sp>
        <p:nvSpPr>
          <p:cNvPr id="19" name="Text 16"/>
          <p:cNvSpPr/>
          <p:nvPr/>
        </p:nvSpPr>
        <p:spPr>
          <a:xfrm>
            <a:off x="5230368" y="3383280"/>
            <a:ext cx="1719072" cy="210312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Divide un programa complejo en partes manejables, facilitando el desarrollo en equipo.</a:t>
            </a:r>
            <a:endParaRPr lang="en-US" sz="1000" dirty="0"/>
          </a:p>
        </p:txBody>
      </p:sp>
      <p:sp>
        <p:nvSpPr>
          <p:cNvPr id="20" name="Shape 17"/>
          <p:cNvSpPr/>
          <p:nvPr/>
        </p:nvSpPr>
        <p:spPr>
          <a:xfrm>
            <a:off x="7278624" y="1874520"/>
            <a:ext cx="2048256" cy="3749040"/>
          </a:xfrm>
          <a:prstGeom prst="roundRect">
            <a:avLst>
              <a:gd name="adj" fmla="val 3571"/>
            </a:avLst>
          </a:prstGeom>
          <a:solidFill>
            <a:srgbClr val="44506B"/>
          </a:solidFill>
          <a:ln/>
        </p:spPr>
      </p:sp>
      <p:sp>
        <p:nvSpPr>
          <p:cNvPr id="21" name="Shape 18"/>
          <p:cNvSpPr/>
          <p:nvPr/>
        </p:nvSpPr>
        <p:spPr>
          <a:xfrm>
            <a:off x="7461504" y="2103120"/>
            <a:ext cx="457200" cy="457200"/>
          </a:xfrm>
          <a:prstGeom prst="roundRect">
            <a:avLst>
              <a:gd name="adj" fmla="val 50000"/>
            </a:avLst>
          </a:prstGeom>
          <a:solidFill>
            <a:srgbClr val="F2A541"/>
          </a:solidFill>
          <a:ln/>
        </p:spPr>
      </p:sp>
      <p:sp>
        <p:nvSpPr>
          <p:cNvPr id="22" name="Text 19"/>
          <p:cNvSpPr/>
          <p:nvPr/>
        </p:nvSpPr>
        <p:spPr>
          <a:xfrm>
            <a:off x="7461504" y="2103120"/>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7443216" y="2788920"/>
            <a:ext cx="1719072" cy="59436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Flexibilidad</a:t>
            </a:r>
            <a:endParaRPr lang="en-US" sz="1400" dirty="0"/>
          </a:p>
        </p:txBody>
      </p:sp>
      <p:sp>
        <p:nvSpPr>
          <p:cNvPr id="24" name="Text 21"/>
          <p:cNvSpPr/>
          <p:nvPr/>
        </p:nvSpPr>
        <p:spPr>
          <a:xfrm>
            <a:off x="7443216" y="3383280"/>
            <a:ext cx="1719072" cy="210312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El polimorfismo permite adaptarse a cambios y nuevas funcionalidades sin tocar la estructura original.</a:t>
            </a:r>
            <a:endParaRPr lang="en-US" sz="1000" dirty="0"/>
          </a:p>
        </p:txBody>
      </p:sp>
      <p:sp>
        <p:nvSpPr>
          <p:cNvPr id="25" name="Shape 22"/>
          <p:cNvSpPr/>
          <p:nvPr/>
        </p:nvSpPr>
        <p:spPr>
          <a:xfrm>
            <a:off x="9491472" y="1874520"/>
            <a:ext cx="2048256" cy="3749040"/>
          </a:xfrm>
          <a:prstGeom prst="roundRect">
            <a:avLst>
              <a:gd name="adj" fmla="val 3571"/>
            </a:avLst>
          </a:prstGeom>
          <a:solidFill>
            <a:srgbClr val="1E2761"/>
          </a:solidFill>
          <a:ln/>
        </p:spPr>
      </p:sp>
      <p:sp>
        <p:nvSpPr>
          <p:cNvPr id="26" name="Shape 23"/>
          <p:cNvSpPr/>
          <p:nvPr/>
        </p:nvSpPr>
        <p:spPr>
          <a:xfrm>
            <a:off x="9674352" y="2103120"/>
            <a:ext cx="457200" cy="457200"/>
          </a:xfrm>
          <a:prstGeom prst="roundRect">
            <a:avLst>
              <a:gd name="adj" fmla="val 50000"/>
            </a:avLst>
          </a:prstGeom>
          <a:solidFill>
            <a:srgbClr val="F2A541"/>
          </a:solidFill>
          <a:ln/>
        </p:spPr>
      </p:sp>
      <p:sp>
        <p:nvSpPr>
          <p:cNvPr id="27" name="Text 24"/>
          <p:cNvSpPr/>
          <p:nvPr/>
        </p:nvSpPr>
        <p:spPr>
          <a:xfrm>
            <a:off x="9674352" y="2103120"/>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5</a:t>
            </a:r>
            <a:endParaRPr lang="en-US" sz="1400" dirty="0"/>
          </a:p>
        </p:txBody>
      </p:sp>
      <p:sp>
        <p:nvSpPr>
          <p:cNvPr id="28" name="Text 25"/>
          <p:cNvSpPr/>
          <p:nvPr/>
        </p:nvSpPr>
        <p:spPr>
          <a:xfrm>
            <a:off x="9656064" y="2788920"/>
            <a:ext cx="1719072" cy="59436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Abstracción</a:t>
            </a:r>
            <a:endParaRPr lang="en-US" sz="1400" dirty="0"/>
          </a:p>
        </p:txBody>
      </p:sp>
      <p:sp>
        <p:nvSpPr>
          <p:cNvPr id="29" name="Text 26"/>
          <p:cNvSpPr/>
          <p:nvPr/>
        </p:nvSpPr>
        <p:spPr>
          <a:xfrm>
            <a:off x="9656064" y="3383280"/>
            <a:ext cx="1719072" cy="210312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Representa conceptos complejos del mundo real de forma simplificada, a través de objetos que interactúan.</a:t>
            </a:r>
            <a:endParaRPr lang="en-US" sz="1000" dirty="0"/>
          </a:p>
        </p:txBody>
      </p:sp>
      <p:sp>
        <p:nvSpPr>
          <p:cNvPr id="30" name="Text 2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31" name="Text 2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89336" y="192024"/>
            <a:ext cx="1216152" cy="757123"/>
          </a:xfrm>
          <a:prstGeom prst="roundRect">
            <a:avLst>
              <a:gd name="adj" fmla="val 7246"/>
            </a:avLst>
          </a:prstGeom>
          <a:solidFill>
            <a:srgbClr val="FFFFFF"/>
          </a:solidFill>
          <a:ln/>
        </p:spPr>
      </p:sp>
      <p:pic>
        <p:nvPicPr>
          <p:cNvPr id="3"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4" name="Text 1"/>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5" name="Text 2"/>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Los cuatro pilares de la POO</a:t>
            </a:r>
            <a:endParaRPr lang="en-US" sz="3200" dirty="0"/>
          </a:p>
        </p:txBody>
      </p:sp>
      <p:sp>
        <p:nvSpPr>
          <p:cNvPr id="6" name="Text 3"/>
          <p:cNvSpPr/>
          <p:nvPr/>
        </p:nvSpPr>
        <p:spPr>
          <a:xfrm>
            <a:off x="640080" y="1508760"/>
            <a:ext cx="10515600" cy="5029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La POO se caracteriza por cuatro principios fundamentales que permiten organizar el código en objetos que interactúan entre sí.</a:t>
            </a:r>
            <a:endParaRPr lang="en-US" sz="1300" dirty="0"/>
          </a:p>
        </p:txBody>
      </p:sp>
      <p:sp>
        <p:nvSpPr>
          <p:cNvPr id="7" name="Shape 4"/>
          <p:cNvSpPr/>
          <p:nvPr/>
        </p:nvSpPr>
        <p:spPr>
          <a:xfrm>
            <a:off x="822960" y="2377440"/>
            <a:ext cx="2514600" cy="3108960"/>
          </a:xfrm>
          <a:prstGeom prst="roundRect">
            <a:avLst>
              <a:gd name="adj" fmla="val 3636"/>
            </a:avLst>
          </a:prstGeom>
          <a:solidFill>
            <a:srgbClr val="141B47"/>
          </a:solidFill>
          <a:ln w="12700">
            <a:solidFill>
              <a:srgbClr val="F2A541"/>
            </a:solidFill>
            <a:prstDash val="solid"/>
          </a:ln>
        </p:spPr>
      </p:sp>
      <p:sp>
        <p:nvSpPr>
          <p:cNvPr id="8" name="Shape 5"/>
          <p:cNvSpPr/>
          <p:nvPr/>
        </p:nvSpPr>
        <p:spPr>
          <a:xfrm>
            <a:off x="1577340" y="2834640"/>
            <a:ext cx="1005840" cy="1005840"/>
          </a:xfrm>
          <a:prstGeom prst="ellipse">
            <a:avLst/>
          </a:prstGeom>
          <a:solidFill>
            <a:srgbClr val="F2A541"/>
          </a:solidFill>
          <a:ln/>
        </p:spPr>
      </p:sp>
      <p:sp>
        <p:nvSpPr>
          <p:cNvPr id="9" name="Text 6"/>
          <p:cNvSpPr/>
          <p:nvPr/>
        </p:nvSpPr>
        <p:spPr>
          <a:xfrm>
            <a:off x="1577340" y="2834640"/>
            <a:ext cx="1005840" cy="100584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A</a:t>
            </a:r>
            <a:endParaRPr lang="en-US" sz="4000" dirty="0"/>
          </a:p>
        </p:txBody>
      </p:sp>
      <p:sp>
        <p:nvSpPr>
          <p:cNvPr id="10" name="Text 7"/>
          <p:cNvSpPr/>
          <p:nvPr/>
        </p:nvSpPr>
        <p:spPr>
          <a:xfrm>
            <a:off x="960120" y="4206240"/>
            <a:ext cx="2240280" cy="822960"/>
          </a:xfrm>
          <a:prstGeom prst="rect">
            <a:avLst/>
          </a:prstGeom>
          <a:noFill/>
          <a:ln/>
        </p:spPr>
        <p:txBody>
          <a:bodyPr wrap="square"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Abstracción</a:t>
            </a:r>
            <a:endParaRPr lang="en-US" sz="1500" dirty="0"/>
          </a:p>
        </p:txBody>
      </p:sp>
      <p:sp>
        <p:nvSpPr>
          <p:cNvPr id="11" name="Shape 8"/>
          <p:cNvSpPr/>
          <p:nvPr/>
        </p:nvSpPr>
        <p:spPr>
          <a:xfrm>
            <a:off x="3611880" y="2377440"/>
            <a:ext cx="2514600" cy="3108960"/>
          </a:xfrm>
          <a:prstGeom prst="roundRect">
            <a:avLst>
              <a:gd name="adj" fmla="val 3636"/>
            </a:avLst>
          </a:prstGeom>
          <a:solidFill>
            <a:srgbClr val="141B47"/>
          </a:solidFill>
          <a:ln w="12700">
            <a:solidFill>
              <a:srgbClr val="F2A541"/>
            </a:solidFill>
            <a:prstDash val="solid"/>
          </a:ln>
        </p:spPr>
      </p:sp>
      <p:sp>
        <p:nvSpPr>
          <p:cNvPr id="12" name="Shape 9"/>
          <p:cNvSpPr/>
          <p:nvPr/>
        </p:nvSpPr>
        <p:spPr>
          <a:xfrm>
            <a:off x="4366260" y="2834640"/>
            <a:ext cx="1005840" cy="1005840"/>
          </a:xfrm>
          <a:prstGeom prst="ellipse">
            <a:avLst/>
          </a:prstGeom>
          <a:solidFill>
            <a:srgbClr val="F2A541"/>
          </a:solidFill>
          <a:ln/>
        </p:spPr>
      </p:sp>
      <p:sp>
        <p:nvSpPr>
          <p:cNvPr id="13" name="Text 10"/>
          <p:cNvSpPr/>
          <p:nvPr/>
        </p:nvSpPr>
        <p:spPr>
          <a:xfrm>
            <a:off x="4366260" y="2834640"/>
            <a:ext cx="1005840" cy="100584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E</a:t>
            </a:r>
            <a:endParaRPr lang="en-US" sz="4000" dirty="0"/>
          </a:p>
        </p:txBody>
      </p:sp>
      <p:sp>
        <p:nvSpPr>
          <p:cNvPr id="14" name="Text 11"/>
          <p:cNvSpPr/>
          <p:nvPr/>
        </p:nvSpPr>
        <p:spPr>
          <a:xfrm>
            <a:off x="3749040" y="4206240"/>
            <a:ext cx="2240280" cy="822960"/>
          </a:xfrm>
          <a:prstGeom prst="rect">
            <a:avLst/>
          </a:prstGeom>
          <a:noFill/>
          <a:ln/>
        </p:spPr>
        <p:txBody>
          <a:bodyPr wrap="square"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Encapsulamiento</a:t>
            </a:r>
            <a:endParaRPr lang="en-US" sz="1500" dirty="0"/>
          </a:p>
        </p:txBody>
      </p:sp>
      <p:sp>
        <p:nvSpPr>
          <p:cNvPr id="15" name="Shape 12"/>
          <p:cNvSpPr/>
          <p:nvPr/>
        </p:nvSpPr>
        <p:spPr>
          <a:xfrm>
            <a:off x="6400800" y="2377440"/>
            <a:ext cx="2514600" cy="3108960"/>
          </a:xfrm>
          <a:prstGeom prst="roundRect">
            <a:avLst>
              <a:gd name="adj" fmla="val 3636"/>
            </a:avLst>
          </a:prstGeom>
          <a:solidFill>
            <a:srgbClr val="141B47"/>
          </a:solidFill>
          <a:ln w="12700">
            <a:solidFill>
              <a:srgbClr val="F2A541"/>
            </a:solidFill>
            <a:prstDash val="solid"/>
          </a:ln>
        </p:spPr>
      </p:sp>
      <p:sp>
        <p:nvSpPr>
          <p:cNvPr id="16" name="Shape 13"/>
          <p:cNvSpPr/>
          <p:nvPr/>
        </p:nvSpPr>
        <p:spPr>
          <a:xfrm>
            <a:off x="7155180" y="2834640"/>
            <a:ext cx="1005840" cy="1005840"/>
          </a:xfrm>
          <a:prstGeom prst="ellipse">
            <a:avLst/>
          </a:prstGeom>
          <a:solidFill>
            <a:srgbClr val="F2A541"/>
          </a:solidFill>
          <a:ln/>
        </p:spPr>
      </p:sp>
      <p:sp>
        <p:nvSpPr>
          <p:cNvPr id="17" name="Text 14"/>
          <p:cNvSpPr/>
          <p:nvPr/>
        </p:nvSpPr>
        <p:spPr>
          <a:xfrm>
            <a:off x="7155180" y="2834640"/>
            <a:ext cx="1005840" cy="100584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H</a:t>
            </a:r>
            <a:endParaRPr lang="en-US" sz="4000" dirty="0"/>
          </a:p>
        </p:txBody>
      </p:sp>
      <p:sp>
        <p:nvSpPr>
          <p:cNvPr id="18" name="Text 15"/>
          <p:cNvSpPr/>
          <p:nvPr/>
        </p:nvSpPr>
        <p:spPr>
          <a:xfrm>
            <a:off x="6537960" y="4206240"/>
            <a:ext cx="2240280" cy="822960"/>
          </a:xfrm>
          <a:prstGeom prst="rect">
            <a:avLst/>
          </a:prstGeom>
          <a:noFill/>
          <a:ln/>
        </p:spPr>
        <p:txBody>
          <a:bodyPr wrap="square"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Herencia</a:t>
            </a:r>
            <a:endParaRPr lang="en-US" sz="1500" dirty="0"/>
          </a:p>
        </p:txBody>
      </p:sp>
      <p:sp>
        <p:nvSpPr>
          <p:cNvPr id="19" name="Shape 16"/>
          <p:cNvSpPr/>
          <p:nvPr/>
        </p:nvSpPr>
        <p:spPr>
          <a:xfrm>
            <a:off x="9189720" y="2377440"/>
            <a:ext cx="2514600" cy="3108960"/>
          </a:xfrm>
          <a:prstGeom prst="roundRect">
            <a:avLst>
              <a:gd name="adj" fmla="val 3636"/>
            </a:avLst>
          </a:prstGeom>
          <a:solidFill>
            <a:srgbClr val="141B47"/>
          </a:solidFill>
          <a:ln w="12700">
            <a:solidFill>
              <a:srgbClr val="F2A541"/>
            </a:solidFill>
            <a:prstDash val="solid"/>
          </a:ln>
        </p:spPr>
      </p:sp>
      <p:sp>
        <p:nvSpPr>
          <p:cNvPr id="20" name="Shape 17"/>
          <p:cNvSpPr/>
          <p:nvPr/>
        </p:nvSpPr>
        <p:spPr>
          <a:xfrm>
            <a:off x="9944100" y="2834640"/>
            <a:ext cx="1005840" cy="1005840"/>
          </a:xfrm>
          <a:prstGeom prst="ellipse">
            <a:avLst/>
          </a:prstGeom>
          <a:solidFill>
            <a:srgbClr val="F2A541"/>
          </a:solidFill>
          <a:ln/>
        </p:spPr>
      </p:sp>
      <p:sp>
        <p:nvSpPr>
          <p:cNvPr id="21" name="Text 18"/>
          <p:cNvSpPr/>
          <p:nvPr/>
        </p:nvSpPr>
        <p:spPr>
          <a:xfrm>
            <a:off x="9944100" y="2834640"/>
            <a:ext cx="1005840" cy="100584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P</a:t>
            </a:r>
            <a:endParaRPr lang="en-US" sz="4000" dirty="0"/>
          </a:p>
        </p:txBody>
      </p:sp>
      <p:sp>
        <p:nvSpPr>
          <p:cNvPr id="22" name="Text 19"/>
          <p:cNvSpPr/>
          <p:nvPr/>
        </p:nvSpPr>
        <p:spPr>
          <a:xfrm>
            <a:off x="9326880" y="4206240"/>
            <a:ext cx="2240280" cy="822960"/>
          </a:xfrm>
          <a:prstGeom prst="rect">
            <a:avLst/>
          </a:prstGeom>
          <a:noFill/>
          <a:ln/>
        </p:spPr>
        <p:txBody>
          <a:bodyPr wrap="square"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Polimorfismo</a:t>
            </a:r>
            <a:endParaRPr lang="en-US" sz="1500" dirty="0"/>
          </a:p>
        </p:txBody>
      </p:sp>
      <p:sp>
        <p:nvSpPr>
          <p:cNvPr id="23"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891B0"/>
                </a:solidFill>
                <a:latin typeface="Calibri" pitchFamily="34" charset="0"/>
                <a:ea typeface="Calibri" pitchFamily="34" charset="-122"/>
                <a:cs typeface="Calibri" pitchFamily="34" charset="-120"/>
              </a:rPr>
              <a:t>Paradigma Orientado a Objetos  ·  Clase 1</a:t>
            </a:r>
            <a:endParaRPr lang="en-US" sz="900" dirty="0"/>
          </a:p>
        </p:txBody>
      </p:sp>
      <p:sp>
        <p:nvSpPr>
          <p:cNvPr id="24" name="Text 21"/>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891B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PILAR 1 DE 4</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Abstracción</a:t>
            </a:r>
            <a:endParaRPr lang="en-US" sz="3200" dirty="0"/>
          </a:p>
        </p:txBody>
      </p:sp>
      <p:sp>
        <p:nvSpPr>
          <p:cNvPr id="5" name="Shape 2"/>
          <p:cNvSpPr/>
          <p:nvPr/>
        </p:nvSpPr>
        <p:spPr>
          <a:xfrm>
            <a:off x="640080" y="1828800"/>
            <a:ext cx="6858000" cy="3840480"/>
          </a:xfrm>
          <a:prstGeom prst="roundRect">
            <a:avLst>
              <a:gd name="adj" fmla="val 2381"/>
            </a:avLst>
          </a:prstGeom>
          <a:solidFill>
            <a:srgbClr val="FFFFFF"/>
          </a:solidFill>
          <a:ln w="12700">
            <a:solidFill>
              <a:srgbClr val="E1E5F2"/>
            </a:solidFill>
            <a:prstDash val="solid"/>
          </a:ln>
        </p:spPr>
      </p:sp>
      <p:sp>
        <p:nvSpPr>
          <p:cNvPr id="6" name="Shape 3"/>
          <p:cNvSpPr/>
          <p:nvPr/>
        </p:nvSpPr>
        <p:spPr>
          <a:xfrm>
            <a:off x="960120" y="2148840"/>
            <a:ext cx="457200" cy="0"/>
          </a:xfrm>
          <a:prstGeom prst="line">
            <a:avLst/>
          </a:prstGeom>
          <a:noFill/>
          <a:ln w="38100">
            <a:solidFill>
              <a:srgbClr val="F2A541"/>
            </a:solidFill>
            <a:prstDash val="solid"/>
          </a:ln>
        </p:spPr>
      </p:sp>
      <p:sp>
        <p:nvSpPr>
          <p:cNvPr id="7" name="Text 4"/>
          <p:cNvSpPr/>
          <p:nvPr/>
        </p:nvSpPr>
        <p:spPr>
          <a:xfrm>
            <a:off x="960120" y="2331720"/>
            <a:ext cx="6217920" cy="3017520"/>
          </a:xfrm>
          <a:prstGeom prst="rect">
            <a:avLst/>
          </a:prstGeom>
          <a:noFill/>
          <a:ln/>
        </p:spPr>
        <p:txBody>
          <a:bodyPr wrap="square" rtlCol="0" anchor="t"/>
          <a:lstStyle/>
          <a:p>
            <a:pPr indent="0" marL="0">
              <a:buNone/>
            </a:pPr>
            <a:r>
              <a:rPr lang="en-US" sz="1900" dirty="0">
                <a:solidFill>
                  <a:srgbClr val="1E2761"/>
                </a:solidFill>
                <a:latin typeface="Cambria" pitchFamily="34" charset="0"/>
                <a:ea typeface="Cambria" pitchFamily="34" charset="-122"/>
                <a:cs typeface="Cambria" pitchFamily="34" charset="-120"/>
              </a:rPr>
              <a:t>Permite representar entidades del mundo real como objetos, ocultando detalles innecesarios y mostrando solo la información relevante para el contexto.</a:t>
            </a:r>
            <a:endParaRPr lang="en-US" sz="1900" dirty="0"/>
          </a:p>
        </p:txBody>
      </p:sp>
      <p:sp>
        <p:nvSpPr>
          <p:cNvPr id="8" name="Shape 5"/>
          <p:cNvSpPr/>
          <p:nvPr/>
        </p:nvSpPr>
        <p:spPr>
          <a:xfrm>
            <a:off x="7818120" y="1828800"/>
            <a:ext cx="3703320" cy="3840480"/>
          </a:xfrm>
          <a:prstGeom prst="roundRect">
            <a:avLst>
              <a:gd name="adj" fmla="val 2469"/>
            </a:avLst>
          </a:prstGeom>
          <a:solidFill>
            <a:srgbClr val="1E2761"/>
          </a:solidFill>
          <a:ln/>
        </p:spPr>
      </p:sp>
      <p:sp>
        <p:nvSpPr>
          <p:cNvPr id="9" name="Shape 6"/>
          <p:cNvSpPr/>
          <p:nvPr/>
        </p:nvSpPr>
        <p:spPr>
          <a:xfrm>
            <a:off x="8915400" y="2468880"/>
            <a:ext cx="1508760" cy="1508760"/>
          </a:xfrm>
          <a:prstGeom prst="ellipse">
            <a:avLst/>
          </a:prstGeom>
          <a:solidFill>
            <a:srgbClr val="F2A541"/>
          </a:solidFill>
          <a:ln/>
        </p:spPr>
      </p:sp>
      <p:sp>
        <p:nvSpPr>
          <p:cNvPr id="10" name="Text 7"/>
          <p:cNvSpPr/>
          <p:nvPr/>
        </p:nvSpPr>
        <p:spPr>
          <a:xfrm>
            <a:off x="8915400" y="2468880"/>
            <a:ext cx="1508760" cy="1508760"/>
          </a:xfrm>
          <a:prstGeom prst="rect">
            <a:avLst/>
          </a:prstGeom>
          <a:noFill/>
          <a:ln/>
        </p:spPr>
        <p:txBody>
          <a:bodyPr wrap="square" rtlCol="0" anchor="ctr"/>
          <a:lstStyle/>
          <a:p>
            <a:pPr algn="ctr" indent="0" marL="0">
              <a:buNone/>
            </a:pPr>
            <a:r>
              <a:rPr lang="en-US" sz="5500" dirty="0">
                <a:solidFill>
                  <a:srgbClr val="000000"/>
                </a:solidFill>
              </a:rPr>
              <a:t>🔍</a:t>
            </a:r>
            <a:endParaRPr lang="en-US" sz="5500" dirty="0"/>
          </a:p>
        </p:txBody>
      </p:sp>
      <p:sp>
        <p:nvSpPr>
          <p:cNvPr id="11" name="Text 8"/>
          <p:cNvSpPr/>
          <p:nvPr/>
        </p:nvSpPr>
        <p:spPr>
          <a:xfrm>
            <a:off x="8001000" y="4251960"/>
            <a:ext cx="3337560" cy="1097280"/>
          </a:xfrm>
          <a:prstGeom prst="rect">
            <a:avLst/>
          </a:prstGeom>
          <a:noFill/>
          <a:ln/>
        </p:spPr>
        <p:txBody>
          <a:bodyPr wrap="square" rtlCol="0" anchor="t"/>
          <a:lstStyle/>
          <a:p>
            <a:pPr algn="ctr" indent="0" marL="0">
              <a:buNone/>
            </a:pPr>
            <a:r>
              <a:rPr lang="en-US" sz="1300" b="1" dirty="0">
                <a:solidFill>
                  <a:srgbClr val="CADCFC"/>
                </a:solidFill>
                <a:latin typeface="Calibri" pitchFamily="34" charset="0"/>
                <a:ea typeface="Calibri" pitchFamily="34" charset="-122"/>
                <a:cs typeface="Calibri" pitchFamily="34" charset="-120"/>
              </a:rPr>
              <a:t>A de POO</a:t>
            </a:r>
            <a:endParaRPr lang="en-US" sz="1300" dirty="0"/>
          </a:p>
        </p:txBody>
      </p:sp>
      <p:sp>
        <p:nvSpPr>
          <p:cNvPr id="12" name="Text 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3" name="Text 10"/>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EJERCICIO · ABSTRACCIÓN</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Pensemos en abstracción</a:t>
            </a:r>
            <a:endParaRPr lang="en-US" sz="3200" dirty="0"/>
          </a:p>
        </p:txBody>
      </p:sp>
      <p:sp>
        <p:nvSpPr>
          <p:cNvPr id="5" name="Shape 2"/>
          <p:cNvSpPr/>
          <p:nvPr/>
        </p:nvSpPr>
        <p:spPr>
          <a:xfrm>
            <a:off x="640080" y="1737360"/>
            <a:ext cx="10881360" cy="777240"/>
          </a:xfrm>
          <a:prstGeom prst="roundRect">
            <a:avLst>
              <a:gd name="adj" fmla="val 9412"/>
            </a:avLst>
          </a:prstGeom>
          <a:solidFill>
            <a:srgbClr val="CADCFC"/>
          </a:solidFill>
          <a:ln/>
        </p:spPr>
      </p:sp>
      <p:sp>
        <p:nvSpPr>
          <p:cNvPr id="6" name="Text 3"/>
          <p:cNvSpPr/>
          <p:nvPr/>
        </p:nvSpPr>
        <p:spPr>
          <a:xfrm>
            <a:off x="914400" y="1737360"/>
            <a:ext cx="1033272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Van a diseñar la clase Paciente para el sistema de un hospital.</a:t>
            </a:r>
            <a:endParaRPr lang="en-US" sz="1400" dirty="0"/>
          </a:p>
        </p:txBody>
      </p:sp>
      <p:sp>
        <p:nvSpPr>
          <p:cNvPr id="7" name="Text 4"/>
          <p:cNvSpPr/>
          <p:nvPr/>
        </p:nvSpPr>
        <p:spPr>
          <a:xfrm>
            <a:off x="640080" y="2743200"/>
            <a:ext cx="7315200" cy="365760"/>
          </a:xfrm>
          <a:prstGeom prst="rect">
            <a:avLst/>
          </a:prstGeom>
          <a:noFill/>
          <a:ln/>
        </p:spPr>
        <p:txBody>
          <a:bodyPr wrap="square"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Discutan en grupos:</a:t>
            </a:r>
            <a:endParaRPr lang="en-US" sz="1300" dirty="0"/>
          </a:p>
        </p:txBody>
      </p:sp>
      <p:sp>
        <p:nvSpPr>
          <p:cNvPr id="8" name="Shape 5"/>
          <p:cNvSpPr/>
          <p:nvPr/>
        </p:nvSpPr>
        <p:spPr>
          <a:xfrm>
            <a:off x="640080" y="3200400"/>
            <a:ext cx="365760" cy="365760"/>
          </a:xfrm>
          <a:prstGeom prst="ellipse">
            <a:avLst/>
          </a:prstGeom>
          <a:solidFill>
            <a:srgbClr val="F2A541"/>
          </a:solidFill>
          <a:ln/>
        </p:spPr>
      </p:sp>
      <p:sp>
        <p:nvSpPr>
          <p:cNvPr id="9" name="Text 6"/>
          <p:cNvSpPr/>
          <p:nvPr/>
        </p:nvSpPr>
        <p:spPr>
          <a:xfrm>
            <a:off x="640080" y="320040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143000" y="310896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datos del paciente son relevantes para ese sistema?</a:t>
            </a:r>
            <a:endParaRPr lang="en-US" sz="1350" dirty="0"/>
          </a:p>
        </p:txBody>
      </p:sp>
      <p:sp>
        <p:nvSpPr>
          <p:cNvPr id="11" name="Shape 8"/>
          <p:cNvSpPr/>
          <p:nvPr/>
        </p:nvSpPr>
        <p:spPr>
          <a:xfrm>
            <a:off x="640080" y="4069080"/>
            <a:ext cx="365760" cy="365760"/>
          </a:xfrm>
          <a:prstGeom prst="ellipse">
            <a:avLst/>
          </a:prstGeom>
          <a:solidFill>
            <a:srgbClr val="F2A541"/>
          </a:solidFill>
          <a:ln/>
        </p:spPr>
      </p:sp>
      <p:sp>
        <p:nvSpPr>
          <p:cNvPr id="12" name="Text 9"/>
          <p:cNvSpPr/>
          <p:nvPr/>
        </p:nvSpPr>
        <p:spPr>
          <a:xfrm>
            <a:off x="640080" y="406908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143000" y="397764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datos personales quedarían afuera del modelo?</a:t>
            </a:r>
            <a:endParaRPr lang="en-US" sz="1350" dirty="0"/>
          </a:p>
        </p:txBody>
      </p:sp>
      <p:sp>
        <p:nvSpPr>
          <p:cNvPr id="14" name="Shape 11"/>
          <p:cNvSpPr/>
          <p:nvPr/>
        </p:nvSpPr>
        <p:spPr>
          <a:xfrm>
            <a:off x="640080" y="4937760"/>
            <a:ext cx="365760" cy="365760"/>
          </a:xfrm>
          <a:prstGeom prst="ellipse">
            <a:avLst/>
          </a:prstGeom>
          <a:solidFill>
            <a:srgbClr val="F2A541"/>
          </a:solidFill>
          <a:ln/>
        </p:spPr>
      </p:sp>
      <p:sp>
        <p:nvSpPr>
          <p:cNvPr id="15" name="Text 12"/>
          <p:cNvSpPr/>
          <p:nvPr/>
        </p:nvSpPr>
        <p:spPr>
          <a:xfrm>
            <a:off x="640080" y="493776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143000" y="484632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¿Por qué dejar esos datos afuera es abstracción, y no simplemente “olvidarlos”?</a:t>
            </a:r>
            <a:endParaRPr lang="en-US" sz="1350" dirty="0"/>
          </a:p>
        </p:txBody>
      </p:sp>
      <p:sp>
        <p:nvSpPr>
          <p:cNvPr id="18" name="Text 1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9" name="Text 1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PILAR 2 DE 4</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Encapsulamiento</a:t>
            </a:r>
            <a:endParaRPr lang="en-US" sz="3200" dirty="0"/>
          </a:p>
        </p:txBody>
      </p:sp>
      <p:sp>
        <p:nvSpPr>
          <p:cNvPr id="5" name="Shape 2"/>
          <p:cNvSpPr/>
          <p:nvPr/>
        </p:nvSpPr>
        <p:spPr>
          <a:xfrm>
            <a:off x="640080" y="1828800"/>
            <a:ext cx="6858000" cy="3840480"/>
          </a:xfrm>
          <a:prstGeom prst="roundRect">
            <a:avLst>
              <a:gd name="adj" fmla="val 2381"/>
            </a:avLst>
          </a:prstGeom>
          <a:solidFill>
            <a:srgbClr val="FFFFFF"/>
          </a:solidFill>
          <a:ln w="12700">
            <a:solidFill>
              <a:srgbClr val="E1E5F2"/>
            </a:solidFill>
            <a:prstDash val="solid"/>
          </a:ln>
        </p:spPr>
      </p:sp>
      <p:sp>
        <p:nvSpPr>
          <p:cNvPr id="6" name="Shape 3"/>
          <p:cNvSpPr/>
          <p:nvPr/>
        </p:nvSpPr>
        <p:spPr>
          <a:xfrm>
            <a:off x="960120" y="2148840"/>
            <a:ext cx="457200" cy="0"/>
          </a:xfrm>
          <a:prstGeom prst="line">
            <a:avLst/>
          </a:prstGeom>
          <a:noFill/>
          <a:ln w="38100">
            <a:solidFill>
              <a:srgbClr val="F2A541"/>
            </a:solidFill>
            <a:prstDash val="solid"/>
          </a:ln>
        </p:spPr>
      </p:sp>
      <p:sp>
        <p:nvSpPr>
          <p:cNvPr id="7" name="Text 4"/>
          <p:cNvSpPr/>
          <p:nvPr/>
        </p:nvSpPr>
        <p:spPr>
          <a:xfrm>
            <a:off x="960120" y="2331720"/>
            <a:ext cx="6217920" cy="3017520"/>
          </a:xfrm>
          <a:prstGeom prst="rect">
            <a:avLst/>
          </a:prstGeom>
          <a:noFill/>
          <a:ln/>
        </p:spPr>
        <p:txBody>
          <a:bodyPr wrap="square" rtlCol="0" anchor="t"/>
          <a:lstStyle/>
          <a:p>
            <a:pPr indent="0" marL="0">
              <a:buNone/>
            </a:pPr>
            <a:r>
              <a:rPr lang="en-US" sz="1900" dirty="0">
                <a:solidFill>
                  <a:srgbClr val="1E2761"/>
                </a:solidFill>
                <a:latin typeface="Cambria" pitchFamily="34" charset="0"/>
                <a:ea typeface="Cambria" pitchFamily="34" charset="-122"/>
                <a:cs typeface="Cambria" pitchFamily="34" charset="-120"/>
              </a:rPr>
              <a:t>Agrupa datos (atributos) y métodos (funciones) que operan sobre esos datos dentro de un objeto, protegiendo la información interna y controlando el acceso a ella. Se vincula con el ocultamiento, ya que provee un mecanismo controlado para acceder a los atributos de las clases.</a:t>
            </a:r>
            <a:endParaRPr lang="en-US" sz="1900" dirty="0"/>
          </a:p>
        </p:txBody>
      </p:sp>
      <p:sp>
        <p:nvSpPr>
          <p:cNvPr id="8" name="Shape 5"/>
          <p:cNvSpPr/>
          <p:nvPr/>
        </p:nvSpPr>
        <p:spPr>
          <a:xfrm>
            <a:off x="7818120" y="1828800"/>
            <a:ext cx="3703320" cy="3840480"/>
          </a:xfrm>
          <a:prstGeom prst="roundRect">
            <a:avLst>
              <a:gd name="adj" fmla="val 2469"/>
            </a:avLst>
          </a:prstGeom>
          <a:solidFill>
            <a:srgbClr val="1E2761"/>
          </a:solidFill>
          <a:ln/>
        </p:spPr>
      </p:sp>
      <p:sp>
        <p:nvSpPr>
          <p:cNvPr id="9" name="Shape 6"/>
          <p:cNvSpPr/>
          <p:nvPr/>
        </p:nvSpPr>
        <p:spPr>
          <a:xfrm>
            <a:off x="8915400" y="2468880"/>
            <a:ext cx="1508760" cy="1508760"/>
          </a:xfrm>
          <a:prstGeom prst="ellipse">
            <a:avLst/>
          </a:prstGeom>
          <a:solidFill>
            <a:srgbClr val="F2A541"/>
          </a:solidFill>
          <a:ln/>
        </p:spPr>
      </p:sp>
      <p:sp>
        <p:nvSpPr>
          <p:cNvPr id="10" name="Text 7"/>
          <p:cNvSpPr/>
          <p:nvPr/>
        </p:nvSpPr>
        <p:spPr>
          <a:xfrm>
            <a:off x="8915400" y="2468880"/>
            <a:ext cx="1508760" cy="1508760"/>
          </a:xfrm>
          <a:prstGeom prst="rect">
            <a:avLst/>
          </a:prstGeom>
          <a:noFill/>
          <a:ln/>
        </p:spPr>
        <p:txBody>
          <a:bodyPr wrap="square" rtlCol="0" anchor="ctr"/>
          <a:lstStyle/>
          <a:p>
            <a:pPr algn="ctr" indent="0" marL="0">
              <a:buNone/>
            </a:pPr>
            <a:r>
              <a:rPr lang="en-US" sz="5500" dirty="0">
                <a:solidFill>
                  <a:srgbClr val="000000"/>
                </a:solidFill>
              </a:rPr>
              <a:t>🔒</a:t>
            </a:r>
            <a:endParaRPr lang="en-US" sz="5500" dirty="0"/>
          </a:p>
        </p:txBody>
      </p:sp>
      <p:sp>
        <p:nvSpPr>
          <p:cNvPr id="11" name="Text 8"/>
          <p:cNvSpPr/>
          <p:nvPr/>
        </p:nvSpPr>
        <p:spPr>
          <a:xfrm>
            <a:off x="8001000" y="4251960"/>
            <a:ext cx="3337560" cy="1097280"/>
          </a:xfrm>
          <a:prstGeom prst="rect">
            <a:avLst/>
          </a:prstGeom>
          <a:noFill/>
          <a:ln/>
        </p:spPr>
        <p:txBody>
          <a:bodyPr wrap="square" rtlCol="0" anchor="t"/>
          <a:lstStyle/>
          <a:p>
            <a:pPr algn="ctr" indent="0" marL="0">
              <a:buNone/>
            </a:pPr>
            <a:r>
              <a:rPr lang="en-US" sz="1300" b="1" dirty="0">
                <a:solidFill>
                  <a:srgbClr val="CADCFC"/>
                </a:solidFill>
                <a:latin typeface="Calibri" pitchFamily="34" charset="0"/>
                <a:ea typeface="Calibri" pitchFamily="34" charset="-122"/>
                <a:cs typeface="Calibri" pitchFamily="34" charset="-120"/>
              </a:rPr>
              <a:t>E de POO</a:t>
            </a:r>
            <a:endParaRPr lang="en-US" sz="1300" dirty="0"/>
          </a:p>
        </p:txBody>
      </p:sp>
      <p:sp>
        <p:nvSpPr>
          <p:cNvPr id="12" name="Text 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3" name="Text 10"/>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EJERCICIO · ENCAPSULAMIENTO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Pensemos en encapsulamiento</a:t>
            </a:r>
            <a:endParaRPr lang="en-US" sz="3200" dirty="0"/>
          </a:p>
        </p:txBody>
      </p:sp>
      <p:sp>
        <p:nvSpPr>
          <p:cNvPr id="5" name="Shape 2"/>
          <p:cNvSpPr/>
          <p:nvPr/>
        </p:nvSpPr>
        <p:spPr>
          <a:xfrm>
            <a:off x="640080" y="1737360"/>
            <a:ext cx="10881360" cy="777240"/>
          </a:xfrm>
          <a:prstGeom prst="roundRect">
            <a:avLst>
              <a:gd name="adj" fmla="val 9412"/>
            </a:avLst>
          </a:prstGeom>
          <a:solidFill>
            <a:srgbClr val="CADCFC"/>
          </a:solidFill>
          <a:ln/>
        </p:spPr>
      </p:sp>
      <p:sp>
        <p:nvSpPr>
          <p:cNvPr id="6" name="Text 3"/>
          <p:cNvSpPr/>
          <p:nvPr/>
        </p:nvSpPr>
        <p:spPr>
          <a:xfrm>
            <a:off x="914400" y="1737360"/>
            <a:ext cx="1033272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La clase Cuenta Bancaria tiene un dato saldo.</a:t>
            </a:r>
            <a:endParaRPr lang="en-US" sz="1400" dirty="0"/>
          </a:p>
        </p:txBody>
      </p:sp>
      <p:sp>
        <p:nvSpPr>
          <p:cNvPr id="7" name="Text 4"/>
          <p:cNvSpPr/>
          <p:nvPr/>
        </p:nvSpPr>
        <p:spPr>
          <a:xfrm>
            <a:off x="640080" y="2743200"/>
            <a:ext cx="7315200" cy="365760"/>
          </a:xfrm>
          <a:prstGeom prst="rect">
            <a:avLst/>
          </a:prstGeom>
          <a:noFill/>
          <a:ln/>
        </p:spPr>
        <p:txBody>
          <a:bodyPr wrap="square"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Discutan en grupos:</a:t>
            </a:r>
            <a:endParaRPr lang="en-US" sz="1300" dirty="0"/>
          </a:p>
        </p:txBody>
      </p:sp>
      <p:sp>
        <p:nvSpPr>
          <p:cNvPr id="8" name="Shape 5"/>
          <p:cNvSpPr/>
          <p:nvPr/>
        </p:nvSpPr>
        <p:spPr>
          <a:xfrm>
            <a:off x="640080" y="3200400"/>
            <a:ext cx="365760" cy="365760"/>
          </a:xfrm>
          <a:prstGeom prst="ellipse">
            <a:avLst/>
          </a:prstGeom>
          <a:solidFill>
            <a:srgbClr val="F2A541"/>
          </a:solidFill>
          <a:ln/>
        </p:spPr>
      </p:sp>
      <p:sp>
        <p:nvSpPr>
          <p:cNvPr id="9" name="Text 6"/>
          <p:cNvSpPr/>
          <p:nvPr/>
        </p:nvSpPr>
        <p:spPr>
          <a:xfrm>
            <a:off x="640080" y="320040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143000" y="310896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podría salir mal si cualquier parte del programa pudiera modificar el saldo directamente?</a:t>
            </a:r>
            <a:endParaRPr lang="en-US" sz="1350" dirty="0"/>
          </a:p>
        </p:txBody>
      </p:sp>
      <p:sp>
        <p:nvSpPr>
          <p:cNvPr id="11" name="Shape 8"/>
          <p:cNvSpPr/>
          <p:nvPr/>
        </p:nvSpPr>
        <p:spPr>
          <a:xfrm>
            <a:off x="640080" y="4069080"/>
            <a:ext cx="365760" cy="365760"/>
          </a:xfrm>
          <a:prstGeom prst="ellipse">
            <a:avLst/>
          </a:prstGeom>
          <a:solidFill>
            <a:srgbClr val="F2A541"/>
          </a:solidFill>
          <a:ln/>
        </p:spPr>
      </p:sp>
      <p:sp>
        <p:nvSpPr>
          <p:cNvPr id="12" name="Text 9"/>
          <p:cNvSpPr/>
          <p:nvPr/>
        </p:nvSpPr>
        <p:spPr>
          <a:xfrm>
            <a:off x="640080" y="406908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143000" y="397764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¿Cómo protegerían ese dato sin impedir depositar o extraer dinero?</a:t>
            </a:r>
            <a:endParaRPr lang="en-US" sz="1350" dirty="0"/>
          </a:p>
        </p:txBody>
      </p:sp>
      <p:sp>
        <p:nvSpPr>
          <p:cNvPr id="14" name="Shape 11"/>
          <p:cNvSpPr/>
          <p:nvPr/>
        </p:nvSpPr>
        <p:spPr>
          <a:xfrm>
            <a:off x="640080" y="4937760"/>
            <a:ext cx="365760" cy="365760"/>
          </a:xfrm>
          <a:prstGeom prst="ellipse">
            <a:avLst/>
          </a:prstGeom>
          <a:solidFill>
            <a:srgbClr val="F2A541"/>
          </a:solidFill>
          <a:ln/>
        </p:spPr>
      </p:sp>
      <p:sp>
        <p:nvSpPr>
          <p:cNvPr id="15" name="Text 12"/>
          <p:cNvSpPr/>
          <p:nvPr/>
        </p:nvSpPr>
        <p:spPr>
          <a:xfrm>
            <a:off x="640080" y="493776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143000" y="484632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significa, en sus palabras, que el acceso esté “controlado”?</a:t>
            </a:r>
            <a:endParaRPr lang="en-US" sz="1350" dirty="0"/>
          </a:p>
        </p:txBody>
      </p:sp>
      <p:sp>
        <p:nvSpPr>
          <p:cNvPr id="18" name="Text 1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9" name="Text 1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PILAR 3 DE 4</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Herencia</a:t>
            </a:r>
            <a:endParaRPr lang="en-US" sz="3200" dirty="0"/>
          </a:p>
        </p:txBody>
      </p:sp>
      <p:sp>
        <p:nvSpPr>
          <p:cNvPr id="5" name="Shape 2"/>
          <p:cNvSpPr/>
          <p:nvPr/>
        </p:nvSpPr>
        <p:spPr>
          <a:xfrm>
            <a:off x="640080" y="1828800"/>
            <a:ext cx="6858000" cy="3840480"/>
          </a:xfrm>
          <a:prstGeom prst="roundRect">
            <a:avLst>
              <a:gd name="adj" fmla="val 2381"/>
            </a:avLst>
          </a:prstGeom>
          <a:solidFill>
            <a:srgbClr val="FFFFFF"/>
          </a:solidFill>
          <a:ln w="12700">
            <a:solidFill>
              <a:srgbClr val="E1E5F2"/>
            </a:solidFill>
            <a:prstDash val="solid"/>
          </a:ln>
        </p:spPr>
      </p:sp>
      <p:sp>
        <p:nvSpPr>
          <p:cNvPr id="6" name="Shape 3"/>
          <p:cNvSpPr/>
          <p:nvPr/>
        </p:nvSpPr>
        <p:spPr>
          <a:xfrm>
            <a:off x="960120" y="2148840"/>
            <a:ext cx="457200" cy="0"/>
          </a:xfrm>
          <a:prstGeom prst="line">
            <a:avLst/>
          </a:prstGeom>
          <a:noFill/>
          <a:ln w="38100">
            <a:solidFill>
              <a:srgbClr val="F2A541"/>
            </a:solidFill>
            <a:prstDash val="solid"/>
          </a:ln>
        </p:spPr>
      </p:sp>
      <p:sp>
        <p:nvSpPr>
          <p:cNvPr id="7" name="Text 4"/>
          <p:cNvSpPr/>
          <p:nvPr/>
        </p:nvSpPr>
        <p:spPr>
          <a:xfrm>
            <a:off x="960120" y="2331720"/>
            <a:ext cx="6217920" cy="3017520"/>
          </a:xfrm>
          <a:prstGeom prst="rect">
            <a:avLst/>
          </a:prstGeom>
          <a:noFill/>
          <a:ln/>
        </p:spPr>
        <p:txBody>
          <a:bodyPr wrap="square" rtlCol="0" anchor="t"/>
          <a:lstStyle/>
          <a:p>
            <a:pPr indent="0" marL="0">
              <a:buNone/>
            </a:pPr>
            <a:r>
              <a:rPr lang="en-US" sz="1900" dirty="0">
                <a:solidFill>
                  <a:srgbClr val="1E2761"/>
                </a:solidFill>
                <a:latin typeface="Cambria" pitchFamily="34" charset="0"/>
                <a:ea typeface="Cambria" pitchFamily="34" charset="-122"/>
                <a:cs typeface="Cambria" pitchFamily="34" charset="-120"/>
              </a:rPr>
              <a:t>Permite que una clase hija herede atributos y métodos de otra clase padre, evitando la duplicación de código y promoviendo la reutilización.</a:t>
            </a:r>
            <a:endParaRPr lang="en-US" sz="1900" dirty="0"/>
          </a:p>
        </p:txBody>
      </p:sp>
      <p:sp>
        <p:nvSpPr>
          <p:cNvPr id="8" name="Shape 5"/>
          <p:cNvSpPr/>
          <p:nvPr/>
        </p:nvSpPr>
        <p:spPr>
          <a:xfrm>
            <a:off x="7818120" y="1828800"/>
            <a:ext cx="3703320" cy="3840480"/>
          </a:xfrm>
          <a:prstGeom prst="roundRect">
            <a:avLst>
              <a:gd name="adj" fmla="val 2469"/>
            </a:avLst>
          </a:prstGeom>
          <a:solidFill>
            <a:srgbClr val="1E2761"/>
          </a:solidFill>
          <a:ln/>
        </p:spPr>
      </p:sp>
      <p:sp>
        <p:nvSpPr>
          <p:cNvPr id="9" name="Shape 6"/>
          <p:cNvSpPr/>
          <p:nvPr/>
        </p:nvSpPr>
        <p:spPr>
          <a:xfrm>
            <a:off x="8915400" y="2468880"/>
            <a:ext cx="1508760" cy="1508760"/>
          </a:xfrm>
          <a:prstGeom prst="ellipse">
            <a:avLst/>
          </a:prstGeom>
          <a:solidFill>
            <a:srgbClr val="F2A541"/>
          </a:solidFill>
          <a:ln/>
        </p:spPr>
      </p:sp>
      <p:sp>
        <p:nvSpPr>
          <p:cNvPr id="10" name="Text 7"/>
          <p:cNvSpPr/>
          <p:nvPr/>
        </p:nvSpPr>
        <p:spPr>
          <a:xfrm>
            <a:off x="8915400" y="2468880"/>
            <a:ext cx="1508760" cy="1508760"/>
          </a:xfrm>
          <a:prstGeom prst="rect">
            <a:avLst/>
          </a:prstGeom>
          <a:noFill/>
          <a:ln/>
        </p:spPr>
        <p:txBody>
          <a:bodyPr wrap="square" rtlCol="0" anchor="ctr"/>
          <a:lstStyle/>
          <a:p>
            <a:pPr algn="ctr" indent="0" marL="0">
              <a:buNone/>
            </a:pPr>
            <a:r>
              <a:rPr lang="en-US" sz="5500" dirty="0">
                <a:solidFill>
                  <a:srgbClr val="000000"/>
                </a:solidFill>
              </a:rPr>
              <a:t>🌳</a:t>
            </a:r>
            <a:endParaRPr lang="en-US" sz="5500" dirty="0"/>
          </a:p>
        </p:txBody>
      </p:sp>
      <p:sp>
        <p:nvSpPr>
          <p:cNvPr id="11" name="Text 8"/>
          <p:cNvSpPr/>
          <p:nvPr/>
        </p:nvSpPr>
        <p:spPr>
          <a:xfrm>
            <a:off x="8001000" y="4251960"/>
            <a:ext cx="3337560" cy="1097280"/>
          </a:xfrm>
          <a:prstGeom prst="rect">
            <a:avLst/>
          </a:prstGeom>
          <a:noFill/>
          <a:ln/>
        </p:spPr>
        <p:txBody>
          <a:bodyPr wrap="square" rtlCol="0" anchor="t"/>
          <a:lstStyle/>
          <a:p>
            <a:pPr algn="ctr" indent="0" marL="0">
              <a:buNone/>
            </a:pPr>
            <a:r>
              <a:rPr lang="en-US" sz="1300" b="1" dirty="0">
                <a:solidFill>
                  <a:srgbClr val="CADCFC"/>
                </a:solidFill>
                <a:latin typeface="Calibri" pitchFamily="34" charset="0"/>
                <a:ea typeface="Calibri" pitchFamily="34" charset="-122"/>
                <a:cs typeface="Calibri" pitchFamily="34" charset="-120"/>
              </a:rPr>
              <a:t>H de POO</a:t>
            </a:r>
            <a:endParaRPr lang="en-US" sz="1300" dirty="0"/>
          </a:p>
        </p:txBody>
      </p:sp>
      <p:sp>
        <p:nvSpPr>
          <p:cNvPr id="12" name="Text 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3" name="Text 10"/>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EJERCICIO · HERENCIA</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Pensemos en herencia</a:t>
            </a:r>
            <a:endParaRPr lang="en-US" sz="3200" dirty="0"/>
          </a:p>
        </p:txBody>
      </p:sp>
      <p:sp>
        <p:nvSpPr>
          <p:cNvPr id="5" name="Shape 2"/>
          <p:cNvSpPr/>
          <p:nvPr/>
        </p:nvSpPr>
        <p:spPr>
          <a:xfrm>
            <a:off x="640080" y="1737360"/>
            <a:ext cx="10881360" cy="777240"/>
          </a:xfrm>
          <a:prstGeom prst="roundRect">
            <a:avLst>
              <a:gd name="adj" fmla="val 9412"/>
            </a:avLst>
          </a:prstGeom>
          <a:solidFill>
            <a:srgbClr val="CADCFC"/>
          </a:solidFill>
          <a:ln/>
        </p:spPr>
      </p:sp>
      <p:sp>
        <p:nvSpPr>
          <p:cNvPr id="6" name="Text 3"/>
          <p:cNvSpPr/>
          <p:nvPr/>
        </p:nvSpPr>
        <p:spPr>
          <a:xfrm>
            <a:off x="914400" y="1737360"/>
            <a:ext cx="1033272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Tienen que modelar Auto, Moto y Camión.</a:t>
            </a:r>
            <a:endParaRPr lang="en-US" sz="1400" dirty="0"/>
          </a:p>
        </p:txBody>
      </p:sp>
      <p:sp>
        <p:nvSpPr>
          <p:cNvPr id="7" name="Text 4"/>
          <p:cNvSpPr/>
          <p:nvPr/>
        </p:nvSpPr>
        <p:spPr>
          <a:xfrm>
            <a:off x="640080" y="2743200"/>
            <a:ext cx="7315200" cy="365760"/>
          </a:xfrm>
          <a:prstGeom prst="rect">
            <a:avLst/>
          </a:prstGeom>
          <a:noFill/>
          <a:ln/>
        </p:spPr>
        <p:txBody>
          <a:bodyPr wrap="square"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Discutan en grupos:</a:t>
            </a:r>
            <a:endParaRPr lang="en-US" sz="1300" dirty="0"/>
          </a:p>
        </p:txBody>
      </p:sp>
      <p:sp>
        <p:nvSpPr>
          <p:cNvPr id="8" name="Shape 5"/>
          <p:cNvSpPr/>
          <p:nvPr/>
        </p:nvSpPr>
        <p:spPr>
          <a:xfrm>
            <a:off x="640080" y="3200400"/>
            <a:ext cx="365760" cy="365760"/>
          </a:xfrm>
          <a:prstGeom prst="ellipse">
            <a:avLst/>
          </a:prstGeom>
          <a:solidFill>
            <a:srgbClr val="F2A541"/>
          </a:solidFill>
          <a:ln/>
        </p:spPr>
      </p:sp>
      <p:sp>
        <p:nvSpPr>
          <p:cNvPr id="9" name="Text 6"/>
          <p:cNvSpPr/>
          <p:nvPr/>
        </p:nvSpPr>
        <p:spPr>
          <a:xfrm>
            <a:off x="640080" y="320040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143000" y="310896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características tienen en común los tres?</a:t>
            </a:r>
            <a:endParaRPr lang="en-US" sz="1350" dirty="0"/>
          </a:p>
        </p:txBody>
      </p:sp>
      <p:sp>
        <p:nvSpPr>
          <p:cNvPr id="11" name="Shape 8"/>
          <p:cNvSpPr/>
          <p:nvPr/>
        </p:nvSpPr>
        <p:spPr>
          <a:xfrm>
            <a:off x="640080" y="4069080"/>
            <a:ext cx="365760" cy="365760"/>
          </a:xfrm>
          <a:prstGeom prst="ellipse">
            <a:avLst/>
          </a:prstGeom>
          <a:solidFill>
            <a:srgbClr val="F2A541"/>
          </a:solidFill>
          <a:ln/>
        </p:spPr>
      </p:sp>
      <p:sp>
        <p:nvSpPr>
          <p:cNvPr id="12" name="Text 9"/>
          <p:cNvSpPr/>
          <p:nvPr/>
        </p:nvSpPr>
        <p:spPr>
          <a:xfrm>
            <a:off x="640080" y="406908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143000" y="397764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irían en una clase padre Vehículo, y qué es propio de cada uno?</a:t>
            </a:r>
            <a:endParaRPr lang="en-US" sz="1350" dirty="0"/>
          </a:p>
        </p:txBody>
      </p:sp>
      <p:sp>
        <p:nvSpPr>
          <p:cNvPr id="14" name="Shape 11"/>
          <p:cNvSpPr/>
          <p:nvPr/>
        </p:nvSpPr>
        <p:spPr>
          <a:xfrm>
            <a:off x="640080" y="4937760"/>
            <a:ext cx="365760" cy="365760"/>
          </a:xfrm>
          <a:prstGeom prst="ellipse">
            <a:avLst/>
          </a:prstGeom>
          <a:solidFill>
            <a:srgbClr val="F2A541"/>
          </a:solidFill>
          <a:ln/>
        </p:spPr>
      </p:sp>
      <p:sp>
        <p:nvSpPr>
          <p:cNvPr id="15" name="Text 12"/>
          <p:cNvSpPr/>
          <p:nvPr/>
        </p:nvSpPr>
        <p:spPr>
          <a:xfrm>
            <a:off x="640080" y="493776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143000" y="484632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duplicación de código evitan al usar herencia acá?</a:t>
            </a:r>
            <a:endParaRPr lang="en-US" sz="1350" dirty="0"/>
          </a:p>
        </p:txBody>
      </p:sp>
      <p:sp>
        <p:nvSpPr>
          <p:cNvPr id="18" name="Text 1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9" name="Text 1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PILAR 4 DE 4</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Polimorfismo</a:t>
            </a:r>
            <a:endParaRPr lang="en-US" sz="3200" dirty="0"/>
          </a:p>
        </p:txBody>
      </p:sp>
      <p:sp>
        <p:nvSpPr>
          <p:cNvPr id="5" name="Shape 2"/>
          <p:cNvSpPr/>
          <p:nvPr/>
        </p:nvSpPr>
        <p:spPr>
          <a:xfrm>
            <a:off x="640080" y="1828800"/>
            <a:ext cx="6858000" cy="3840480"/>
          </a:xfrm>
          <a:prstGeom prst="roundRect">
            <a:avLst>
              <a:gd name="adj" fmla="val 2381"/>
            </a:avLst>
          </a:prstGeom>
          <a:solidFill>
            <a:srgbClr val="FFFFFF"/>
          </a:solidFill>
          <a:ln w="12700">
            <a:solidFill>
              <a:srgbClr val="E1E5F2"/>
            </a:solidFill>
            <a:prstDash val="solid"/>
          </a:ln>
        </p:spPr>
      </p:sp>
      <p:sp>
        <p:nvSpPr>
          <p:cNvPr id="6" name="Shape 3"/>
          <p:cNvSpPr/>
          <p:nvPr/>
        </p:nvSpPr>
        <p:spPr>
          <a:xfrm>
            <a:off x="960120" y="2148840"/>
            <a:ext cx="457200" cy="0"/>
          </a:xfrm>
          <a:prstGeom prst="line">
            <a:avLst/>
          </a:prstGeom>
          <a:noFill/>
          <a:ln w="38100">
            <a:solidFill>
              <a:srgbClr val="F2A541"/>
            </a:solidFill>
            <a:prstDash val="solid"/>
          </a:ln>
        </p:spPr>
      </p:sp>
      <p:sp>
        <p:nvSpPr>
          <p:cNvPr id="7" name="Text 4"/>
          <p:cNvSpPr/>
          <p:nvPr/>
        </p:nvSpPr>
        <p:spPr>
          <a:xfrm>
            <a:off x="960120" y="2331720"/>
            <a:ext cx="6217920" cy="3017520"/>
          </a:xfrm>
          <a:prstGeom prst="rect">
            <a:avLst/>
          </a:prstGeom>
          <a:noFill/>
          <a:ln/>
        </p:spPr>
        <p:txBody>
          <a:bodyPr wrap="square" rtlCol="0" anchor="t"/>
          <a:lstStyle/>
          <a:p>
            <a:pPr indent="0" marL="0">
              <a:buNone/>
            </a:pPr>
            <a:r>
              <a:rPr lang="en-US" sz="1900" dirty="0">
                <a:solidFill>
                  <a:srgbClr val="1E2761"/>
                </a:solidFill>
                <a:latin typeface="Cambria" pitchFamily="34" charset="0"/>
                <a:ea typeface="Cambria" pitchFamily="34" charset="-122"/>
                <a:cs typeface="Cambria" pitchFamily="34" charset="-120"/>
              </a:rPr>
              <a:t>Permite que objetos de diferentes clases respondan a la misma llamada de método de manera diferente, adaptando su comportamiento a la clase específica.</a:t>
            </a:r>
            <a:endParaRPr lang="en-US" sz="1900" dirty="0"/>
          </a:p>
        </p:txBody>
      </p:sp>
      <p:sp>
        <p:nvSpPr>
          <p:cNvPr id="8" name="Shape 5"/>
          <p:cNvSpPr/>
          <p:nvPr/>
        </p:nvSpPr>
        <p:spPr>
          <a:xfrm>
            <a:off x="7818120" y="1828800"/>
            <a:ext cx="3703320" cy="3840480"/>
          </a:xfrm>
          <a:prstGeom prst="roundRect">
            <a:avLst>
              <a:gd name="adj" fmla="val 2469"/>
            </a:avLst>
          </a:prstGeom>
          <a:solidFill>
            <a:srgbClr val="1E2761"/>
          </a:solidFill>
          <a:ln/>
        </p:spPr>
      </p:sp>
      <p:sp>
        <p:nvSpPr>
          <p:cNvPr id="9" name="Shape 6"/>
          <p:cNvSpPr/>
          <p:nvPr/>
        </p:nvSpPr>
        <p:spPr>
          <a:xfrm>
            <a:off x="8915400" y="2468880"/>
            <a:ext cx="1508760" cy="1508760"/>
          </a:xfrm>
          <a:prstGeom prst="ellipse">
            <a:avLst/>
          </a:prstGeom>
          <a:solidFill>
            <a:srgbClr val="F2A541"/>
          </a:solidFill>
          <a:ln/>
        </p:spPr>
      </p:sp>
      <p:sp>
        <p:nvSpPr>
          <p:cNvPr id="10" name="Text 7"/>
          <p:cNvSpPr/>
          <p:nvPr/>
        </p:nvSpPr>
        <p:spPr>
          <a:xfrm>
            <a:off x="8915400" y="2468880"/>
            <a:ext cx="1508760" cy="1508760"/>
          </a:xfrm>
          <a:prstGeom prst="rect">
            <a:avLst/>
          </a:prstGeom>
          <a:noFill/>
          <a:ln/>
        </p:spPr>
        <p:txBody>
          <a:bodyPr wrap="square" rtlCol="0" anchor="ctr"/>
          <a:lstStyle/>
          <a:p>
            <a:pPr algn="ctr" indent="0" marL="0">
              <a:buNone/>
            </a:pPr>
            <a:r>
              <a:rPr lang="en-US" sz="5500" dirty="0">
                <a:solidFill>
                  <a:srgbClr val="000000"/>
                </a:solidFill>
              </a:rPr>
              <a:t>🎭</a:t>
            </a:r>
            <a:endParaRPr lang="en-US" sz="5500" dirty="0"/>
          </a:p>
        </p:txBody>
      </p:sp>
      <p:sp>
        <p:nvSpPr>
          <p:cNvPr id="11" name="Text 8"/>
          <p:cNvSpPr/>
          <p:nvPr/>
        </p:nvSpPr>
        <p:spPr>
          <a:xfrm>
            <a:off x="8001000" y="4251960"/>
            <a:ext cx="3337560" cy="1097280"/>
          </a:xfrm>
          <a:prstGeom prst="rect">
            <a:avLst/>
          </a:prstGeom>
          <a:noFill/>
          <a:ln/>
        </p:spPr>
        <p:txBody>
          <a:bodyPr wrap="square" rtlCol="0" anchor="t"/>
          <a:lstStyle/>
          <a:p>
            <a:pPr algn="ctr" indent="0" marL="0">
              <a:buNone/>
            </a:pPr>
            <a:r>
              <a:rPr lang="en-US" sz="1300" b="1" dirty="0">
                <a:solidFill>
                  <a:srgbClr val="CADCFC"/>
                </a:solidFill>
                <a:latin typeface="Calibri" pitchFamily="34" charset="0"/>
                <a:ea typeface="Calibri" pitchFamily="34" charset="-122"/>
                <a:cs typeface="Calibri" pitchFamily="34" charset="-120"/>
              </a:rPr>
              <a:t>P de POO</a:t>
            </a:r>
            <a:endParaRPr lang="en-US" sz="1300" dirty="0"/>
          </a:p>
        </p:txBody>
      </p:sp>
      <p:sp>
        <p:nvSpPr>
          <p:cNvPr id="12" name="Text 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3" name="Text 10"/>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EJERCICIO · POLIMORFISMO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Pensemos en polimorfismo</a:t>
            </a:r>
            <a:endParaRPr lang="en-US" sz="3200" dirty="0"/>
          </a:p>
        </p:txBody>
      </p:sp>
      <p:sp>
        <p:nvSpPr>
          <p:cNvPr id="5" name="Shape 2"/>
          <p:cNvSpPr/>
          <p:nvPr/>
        </p:nvSpPr>
        <p:spPr>
          <a:xfrm>
            <a:off x="640080" y="1737360"/>
            <a:ext cx="10881360" cy="777240"/>
          </a:xfrm>
          <a:prstGeom prst="roundRect">
            <a:avLst>
              <a:gd name="adj" fmla="val 9412"/>
            </a:avLst>
          </a:prstGeom>
          <a:solidFill>
            <a:srgbClr val="CADCFC"/>
          </a:solidFill>
          <a:ln/>
        </p:spPr>
      </p:sp>
      <p:sp>
        <p:nvSpPr>
          <p:cNvPr id="6" name="Text 3"/>
          <p:cNvSpPr/>
          <p:nvPr/>
        </p:nvSpPr>
        <p:spPr>
          <a:xfrm>
            <a:off x="914400" y="1737360"/>
            <a:ext cx="1033272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Círculo, Cuadrado y Triángulo saben calcular su propia área.</a:t>
            </a:r>
            <a:endParaRPr lang="en-US" sz="1400" dirty="0"/>
          </a:p>
        </p:txBody>
      </p:sp>
      <p:sp>
        <p:nvSpPr>
          <p:cNvPr id="7" name="Text 4"/>
          <p:cNvSpPr/>
          <p:nvPr/>
        </p:nvSpPr>
        <p:spPr>
          <a:xfrm>
            <a:off x="640080" y="2743200"/>
            <a:ext cx="7315200" cy="365760"/>
          </a:xfrm>
          <a:prstGeom prst="rect">
            <a:avLst/>
          </a:prstGeom>
          <a:noFill/>
          <a:ln/>
        </p:spPr>
        <p:txBody>
          <a:bodyPr wrap="square"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Discutan en grupos:</a:t>
            </a:r>
            <a:endParaRPr lang="en-US" sz="1300" dirty="0"/>
          </a:p>
        </p:txBody>
      </p:sp>
      <p:sp>
        <p:nvSpPr>
          <p:cNvPr id="8" name="Shape 5"/>
          <p:cNvSpPr/>
          <p:nvPr/>
        </p:nvSpPr>
        <p:spPr>
          <a:xfrm>
            <a:off x="640080" y="3200400"/>
            <a:ext cx="365760" cy="365760"/>
          </a:xfrm>
          <a:prstGeom prst="ellipse">
            <a:avLst/>
          </a:prstGeom>
          <a:solidFill>
            <a:srgbClr val="F2A541"/>
          </a:solidFill>
          <a:ln/>
        </p:spPr>
      </p:sp>
      <p:sp>
        <p:nvSpPr>
          <p:cNvPr id="9" name="Text 6"/>
          <p:cNvSpPr/>
          <p:nvPr/>
        </p:nvSpPr>
        <p:spPr>
          <a:xfrm>
            <a:off x="640080" y="320040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143000" y="310896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¿Por qué conviene que las tres respondan a un mismo pedido “calculá tu área”, aunque cada una lo resuelva distinto?</a:t>
            </a:r>
            <a:endParaRPr lang="en-US" sz="1350" dirty="0"/>
          </a:p>
        </p:txBody>
      </p:sp>
      <p:sp>
        <p:nvSpPr>
          <p:cNvPr id="11" name="Shape 8"/>
          <p:cNvSpPr/>
          <p:nvPr/>
        </p:nvSpPr>
        <p:spPr>
          <a:xfrm>
            <a:off x="640080" y="4069080"/>
            <a:ext cx="365760" cy="365760"/>
          </a:xfrm>
          <a:prstGeom prst="ellipse">
            <a:avLst/>
          </a:prstGeom>
          <a:solidFill>
            <a:srgbClr val="F2A541"/>
          </a:solidFill>
          <a:ln/>
        </p:spPr>
      </p:sp>
      <p:sp>
        <p:nvSpPr>
          <p:cNvPr id="12" name="Text 9"/>
          <p:cNvSpPr/>
          <p:nvPr/>
        </p:nvSpPr>
        <p:spPr>
          <a:xfrm>
            <a:off x="640080" y="406908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143000" y="397764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¿Qué pasaría si en cambio cada figura tuviera un nombre distinto para esa acción?</a:t>
            </a:r>
            <a:endParaRPr lang="en-US" sz="1350" dirty="0"/>
          </a:p>
        </p:txBody>
      </p:sp>
      <p:sp>
        <p:nvSpPr>
          <p:cNvPr id="14" name="Shape 11"/>
          <p:cNvSpPr/>
          <p:nvPr/>
        </p:nvSpPr>
        <p:spPr>
          <a:xfrm>
            <a:off x="640080" y="4937760"/>
            <a:ext cx="365760" cy="365760"/>
          </a:xfrm>
          <a:prstGeom prst="ellipse">
            <a:avLst/>
          </a:prstGeom>
          <a:solidFill>
            <a:srgbClr val="F2A541"/>
          </a:solidFill>
          <a:ln/>
        </p:spPr>
      </p:sp>
      <p:sp>
        <p:nvSpPr>
          <p:cNvPr id="15" name="Text 12"/>
          <p:cNvSpPr/>
          <p:nvPr/>
        </p:nvSpPr>
        <p:spPr>
          <a:xfrm>
            <a:off x="640080" y="493776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143000" y="4846320"/>
            <a:ext cx="10149840" cy="685800"/>
          </a:xfrm>
          <a:prstGeom prst="rect">
            <a:avLst/>
          </a:prstGeom>
          <a:noFill/>
          <a:ln/>
        </p:spPr>
        <p:txBody>
          <a:bodyPr wrap="square" rtlCol="0" anchor="t"/>
          <a:lstStyle/>
          <a:p>
            <a:pPr indent="0" marL="0">
              <a:buNone/>
            </a:pPr>
            <a:r>
              <a:rPr lang="en-US" sz="1350" dirty="0">
                <a:solidFill>
                  <a:srgbClr val="1E2761"/>
                </a:solidFill>
                <a:latin typeface="Calibri" pitchFamily="34" charset="0"/>
                <a:ea typeface="Calibri" pitchFamily="34" charset="-122"/>
                <a:cs typeface="Calibri" pitchFamily="34" charset="-120"/>
              </a:rPr>
              <a:t>¿Cómo se beneficia quien usa estas figuras, sin necesitar saber de antemano cuál es cuál?</a:t>
            </a:r>
            <a:endParaRPr lang="en-US" sz="1350" dirty="0"/>
          </a:p>
        </p:txBody>
      </p:sp>
      <p:sp>
        <p:nvSpPr>
          <p:cNvPr id="18" name="Text 1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9" name="Text 1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Cohesión y acoplamiento</a:t>
            </a:r>
            <a:endParaRPr lang="en-US" sz="3200" dirty="0"/>
          </a:p>
        </p:txBody>
      </p:sp>
      <p:sp>
        <p:nvSpPr>
          <p:cNvPr id="5" name="Text 2"/>
          <p:cNvSpPr/>
          <p:nvPr/>
        </p:nvSpPr>
        <p:spPr>
          <a:xfrm>
            <a:off x="640080" y="1691640"/>
            <a:ext cx="5212080" cy="3200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Cohesión</a:t>
            </a:r>
            <a:endParaRPr lang="en-US" sz="1500" dirty="0"/>
          </a:p>
        </p:txBody>
      </p:sp>
      <p:sp>
        <p:nvSpPr>
          <p:cNvPr id="6" name="Text 3"/>
          <p:cNvSpPr/>
          <p:nvPr/>
        </p:nvSpPr>
        <p:spPr>
          <a:xfrm>
            <a:off x="640080" y="2011680"/>
            <a:ext cx="5212080" cy="685800"/>
          </a:xfrm>
          <a:prstGeom prst="rect">
            <a:avLst/>
          </a:prstGeom>
          <a:noFill/>
          <a:ln/>
        </p:spPr>
        <p:txBody>
          <a:bodyPr wrap="square" rtlCol="0" anchor="t"/>
          <a:lstStyle/>
          <a:p>
            <a:pPr indent="0" marL="0">
              <a:buNone/>
            </a:pPr>
            <a:r>
              <a:rPr lang="en-US" sz="1150" dirty="0">
                <a:solidFill>
                  <a:srgbClr val="5B6478"/>
                </a:solidFill>
                <a:latin typeface="Calibri" pitchFamily="34" charset="0"/>
                <a:ea typeface="Calibri" pitchFamily="34" charset="-122"/>
                <a:cs typeface="Calibri" pitchFamily="34" charset="-120"/>
              </a:rPr>
              <a:t>Grado de relación entre los elementos INTERNOS de un módulo. Cuanto más enfocado esté en una sola responsabilidad, mayor su cohesión.</a:t>
            </a:r>
            <a:endParaRPr lang="en-US" sz="1150" dirty="0"/>
          </a:p>
        </p:txBody>
      </p:sp>
      <p:sp>
        <p:nvSpPr>
          <p:cNvPr id="7" name="Text 4"/>
          <p:cNvSpPr/>
          <p:nvPr/>
        </p:nvSpPr>
        <p:spPr>
          <a:xfrm>
            <a:off x="640080" y="2743200"/>
            <a:ext cx="5212080" cy="3200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Acoplamiento</a:t>
            </a:r>
            <a:endParaRPr lang="en-US" sz="1500" dirty="0"/>
          </a:p>
        </p:txBody>
      </p:sp>
      <p:sp>
        <p:nvSpPr>
          <p:cNvPr id="8" name="Text 5"/>
          <p:cNvSpPr/>
          <p:nvPr/>
        </p:nvSpPr>
        <p:spPr>
          <a:xfrm>
            <a:off x="640080" y="3063240"/>
            <a:ext cx="5212080" cy="685800"/>
          </a:xfrm>
          <a:prstGeom prst="rect">
            <a:avLst/>
          </a:prstGeom>
          <a:noFill/>
          <a:ln/>
        </p:spPr>
        <p:txBody>
          <a:bodyPr wrap="square" rtlCol="0" anchor="t"/>
          <a:lstStyle/>
          <a:p>
            <a:pPr indent="0" marL="0">
              <a:buNone/>
            </a:pPr>
            <a:r>
              <a:rPr lang="en-US" sz="1150" dirty="0">
                <a:solidFill>
                  <a:srgbClr val="5B6478"/>
                </a:solidFill>
                <a:latin typeface="Calibri" pitchFamily="34" charset="0"/>
                <a:ea typeface="Calibri" pitchFamily="34" charset="-122"/>
                <a:cs typeface="Calibri" pitchFamily="34" charset="-120"/>
              </a:rPr>
              <a:t>Grado de dependencia entre distintos módulos. Cuanto más independientes sean entre sí, menor su acoplamiento.</a:t>
            </a:r>
            <a:endParaRPr lang="en-US" sz="1150" dirty="0"/>
          </a:p>
        </p:txBody>
      </p:sp>
      <p:sp>
        <p:nvSpPr>
          <p:cNvPr id="9" name="Shape 6"/>
          <p:cNvSpPr/>
          <p:nvPr/>
        </p:nvSpPr>
        <p:spPr>
          <a:xfrm>
            <a:off x="2331720" y="3977640"/>
            <a:ext cx="1463040" cy="868680"/>
          </a:xfrm>
          <a:prstGeom prst="roundRect">
            <a:avLst>
              <a:gd name="adj" fmla="val 8421"/>
            </a:avLst>
          </a:prstGeom>
          <a:solidFill>
            <a:srgbClr val="1E2761"/>
          </a:solidFill>
          <a:ln/>
        </p:spPr>
      </p:sp>
      <p:sp>
        <p:nvSpPr>
          <p:cNvPr id="10" name="Text 7"/>
          <p:cNvSpPr/>
          <p:nvPr/>
        </p:nvSpPr>
        <p:spPr>
          <a:xfrm>
            <a:off x="2331720" y="4087368"/>
            <a:ext cx="146304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Módulo A</a:t>
            </a:r>
            <a:endParaRPr lang="en-US" sz="1100" dirty="0"/>
          </a:p>
        </p:txBody>
      </p:sp>
      <p:sp>
        <p:nvSpPr>
          <p:cNvPr id="11" name="Text 8"/>
          <p:cNvSpPr/>
          <p:nvPr/>
        </p:nvSpPr>
        <p:spPr>
          <a:xfrm>
            <a:off x="2331720" y="4361688"/>
            <a:ext cx="1463040" cy="457200"/>
          </a:xfrm>
          <a:prstGeom prst="rect">
            <a:avLst/>
          </a:prstGeom>
          <a:noFill/>
          <a:ln/>
        </p:spPr>
        <p:txBody>
          <a:bodyPr wrap="square" rtlCol="0" anchor="t"/>
          <a:lstStyle/>
          <a:p>
            <a:pPr algn="ctr" indent="0" marL="0">
              <a:buNone/>
            </a:pPr>
            <a:r>
              <a:rPr lang="en-US" sz="950" i="1" dirty="0">
                <a:solidFill>
                  <a:srgbClr val="F2A541"/>
                </a:solidFill>
                <a:latin typeface="Calibri" pitchFamily="34" charset="0"/>
                <a:ea typeface="Calibri" pitchFamily="34" charset="-122"/>
                <a:cs typeface="Calibri" pitchFamily="34" charset="-120"/>
              </a:rPr>
              <a:t>cohesión</a:t>
            </a:r>
            <a:endParaRPr lang="en-US" sz="950" dirty="0"/>
          </a:p>
          <a:p>
            <a:pPr algn="ctr" indent="0" marL="0">
              <a:buNone/>
            </a:pPr>
            <a:r>
              <a:rPr lang="en-US" sz="950" i="1" dirty="0">
                <a:solidFill>
                  <a:srgbClr val="F2A541"/>
                </a:solidFill>
                <a:latin typeface="Calibri" pitchFamily="34" charset="0"/>
                <a:ea typeface="Calibri" pitchFamily="34" charset="-122"/>
                <a:cs typeface="Calibri" pitchFamily="34" charset="-120"/>
              </a:rPr>
              <a:t>interna ↔</a:t>
            </a:r>
            <a:endParaRPr lang="en-US" sz="950" dirty="0"/>
          </a:p>
        </p:txBody>
      </p:sp>
      <p:sp>
        <p:nvSpPr>
          <p:cNvPr id="12" name="Shape 9"/>
          <p:cNvSpPr/>
          <p:nvPr/>
        </p:nvSpPr>
        <p:spPr>
          <a:xfrm>
            <a:off x="640080" y="4142232"/>
            <a:ext cx="1371600" cy="548640"/>
          </a:xfrm>
          <a:prstGeom prst="roundRect">
            <a:avLst>
              <a:gd name="adj" fmla="val 10000"/>
            </a:avLst>
          </a:prstGeom>
          <a:solidFill>
            <a:srgbClr val="CADCFC"/>
          </a:solidFill>
          <a:ln/>
        </p:spPr>
      </p:sp>
      <p:sp>
        <p:nvSpPr>
          <p:cNvPr id="13" name="Text 10"/>
          <p:cNvSpPr/>
          <p:nvPr/>
        </p:nvSpPr>
        <p:spPr>
          <a:xfrm>
            <a:off x="640080" y="4142232"/>
            <a:ext cx="1371600" cy="54864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Módulo B</a:t>
            </a:r>
            <a:endParaRPr lang="en-US" sz="1050" dirty="0"/>
          </a:p>
        </p:txBody>
      </p:sp>
      <p:sp>
        <p:nvSpPr>
          <p:cNvPr id="14" name="Shape 11"/>
          <p:cNvSpPr/>
          <p:nvPr/>
        </p:nvSpPr>
        <p:spPr>
          <a:xfrm>
            <a:off x="2011680" y="4416552"/>
            <a:ext cx="320040" cy="0"/>
          </a:xfrm>
          <a:prstGeom prst="line">
            <a:avLst/>
          </a:prstGeom>
          <a:noFill/>
          <a:ln w="15875">
            <a:solidFill>
              <a:srgbClr val="44506B"/>
            </a:solidFill>
            <a:prstDash val="dash"/>
          </a:ln>
        </p:spPr>
      </p:sp>
      <p:sp>
        <p:nvSpPr>
          <p:cNvPr id="15" name="Shape 12"/>
          <p:cNvSpPr/>
          <p:nvPr/>
        </p:nvSpPr>
        <p:spPr>
          <a:xfrm>
            <a:off x="4526280" y="4142232"/>
            <a:ext cx="1371600" cy="548640"/>
          </a:xfrm>
          <a:prstGeom prst="roundRect">
            <a:avLst>
              <a:gd name="adj" fmla="val 10000"/>
            </a:avLst>
          </a:prstGeom>
          <a:solidFill>
            <a:srgbClr val="CADCFC"/>
          </a:solidFill>
          <a:ln/>
        </p:spPr>
      </p:sp>
      <p:sp>
        <p:nvSpPr>
          <p:cNvPr id="16" name="Text 13"/>
          <p:cNvSpPr/>
          <p:nvPr/>
        </p:nvSpPr>
        <p:spPr>
          <a:xfrm>
            <a:off x="4526280" y="4142232"/>
            <a:ext cx="1371600" cy="54864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Módulo C</a:t>
            </a:r>
            <a:endParaRPr lang="en-US" sz="1050" dirty="0"/>
          </a:p>
        </p:txBody>
      </p:sp>
      <p:sp>
        <p:nvSpPr>
          <p:cNvPr id="17" name="Shape 14"/>
          <p:cNvSpPr/>
          <p:nvPr/>
        </p:nvSpPr>
        <p:spPr>
          <a:xfrm>
            <a:off x="3794760" y="4416552"/>
            <a:ext cx="320040" cy="0"/>
          </a:xfrm>
          <a:prstGeom prst="line">
            <a:avLst/>
          </a:prstGeom>
          <a:noFill/>
          <a:ln w="15875">
            <a:solidFill>
              <a:srgbClr val="44506B"/>
            </a:solidFill>
            <a:prstDash val="dash"/>
          </a:ln>
        </p:spPr>
      </p:sp>
      <p:sp>
        <p:nvSpPr>
          <p:cNvPr id="18" name="Text 15"/>
          <p:cNvSpPr/>
          <p:nvPr/>
        </p:nvSpPr>
        <p:spPr>
          <a:xfrm>
            <a:off x="640080" y="4727448"/>
            <a:ext cx="1371600" cy="274320"/>
          </a:xfrm>
          <a:prstGeom prst="rect">
            <a:avLst/>
          </a:prstGeom>
          <a:noFill/>
          <a:ln/>
        </p:spPr>
        <p:txBody>
          <a:bodyPr wrap="square" rtlCol="0" anchor="ctr"/>
          <a:lstStyle/>
          <a:p>
            <a:pPr algn="ctr" indent="0" marL="0">
              <a:buNone/>
            </a:pPr>
            <a:r>
              <a:rPr lang="en-US" sz="900" i="1" dirty="0">
                <a:solidFill>
                  <a:srgbClr val="5B6478"/>
                </a:solidFill>
                <a:latin typeface="Calibri" pitchFamily="34" charset="0"/>
                <a:ea typeface="Calibri" pitchFamily="34" charset="-122"/>
                <a:cs typeface="Calibri" pitchFamily="34" charset="-120"/>
              </a:rPr>
              <a:t>acoplamiento</a:t>
            </a:r>
            <a:endParaRPr lang="en-US" sz="900" dirty="0"/>
          </a:p>
        </p:txBody>
      </p:sp>
      <p:sp>
        <p:nvSpPr>
          <p:cNvPr id="19" name="Text 16"/>
          <p:cNvSpPr/>
          <p:nvPr/>
        </p:nvSpPr>
        <p:spPr>
          <a:xfrm>
            <a:off x="4526280" y="4727448"/>
            <a:ext cx="1371600" cy="274320"/>
          </a:xfrm>
          <a:prstGeom prst="rect">
            <a:avLst/>
          </a:prstGeom>
          <a:noFill/>
          <a:ln/>
        </p:spPr>
        <p:txBody>
          <a:bodyPr wrap="square" rtlCol="0" anchor="ctr"/>
          <a:lstStyle/>
          <a:p>
            <a:pPr algn="ctr" indent="0" marL="0">
              <a:buNone/>
            </a:pPr>
            <a:r>
              <a:rPr lang="en-US" sz="900" i="1" dirty="0">
                <a:solidFill>
                  <a:srgbClr val="5B6478"/>
                </a:solidFill>
                <a:latin typeface="Calibri" pitchFamily="34" charset="0"/>
                <a:ea typeface="Calibri" pitchFamily="34" charset="-122"/>
                <a:cs typeface="Calibri" pitchFamily="34" charset="-120"/>
              </a:rPr>
              <a:t>acoplamiento</a:t>
            </a:r>
            <a:endParaRPr lang="en-US" sz="900" dirty="0"/>
          </a:p>
        </p:txBody>
      </p:sp>
      <p:sp>
        <p:nvSpPr>
          <p:cNvPr id="20" name="Text 17"/>
          <p:cNvSpPr/>
          <p:nvPr/>
        </p:nvSpPr>
        <p:spPr>
          <a:xfrm>
            <a:off x="6263640" y="1691640"/>
            <a:ext cx="5257800" cy="3200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Ejemplo concreto</a:t>
            </a:r>
            <a:endParaRPr lang="en-US" sz="1500" dirty="0"/>
          </a:p>
        </p:txBody>
      </p:sp>
      <p:sp>
        <p:nvSpPr>
          <p:cNvPr id="21" name="Shape 18"/>
          <p:cNvSpPr/>
          <p:nvPr/>
        </p:nvSpPr>
        <p:spPr>
          <a:xfrm>
            <a:off x="6263640" y="2103120"/>
            <a:ext cx="5257800" cy="1508760"/>
          </a:xfrm>
          <a:prstGeom prst="roundRect">
            <a:avLst>
              <a:gd name="adj" fmla="val 4848"/>
            </a:avLst>
          </a:prstGeom>
          <a:solidFill>
            <a:srgbClr val="141B47"/>
          </a:solidFill>
          <a:ln/>
        </p:spPr>
      </p:sp>
      <p:sp>
        <p:nvSpPr>
          <p:cNvPr id="22" name="Text 19"/>
          <p:cNvSpPr/>
          <p:nvPr/>
        </p:nvSpPr>
        <p:spPr>
          <a:xfrm>
            <a:off x="6537960" y="2240280"/>
            <a:ext cx="4754880" cy="320040"/>
          </a:xfrm>
          <a:prstGeom prst="rect">
            <a:avLst/>
          </a:prstGeom>
          <a:noFill/>
          <a:ln/>
        </p:spPr>
        <p:txBody>
          <a:bodyPr wrap="square" rtlCol="0" anchor="ctr"/>
          <a:lstStyle/>
          <a:p>
            <a:pPr indent="0" marL="0">
              <a:buNone/>
            </a:pPr>
            <a:r>
              <a:rPr lang="en-US" sz="1200" b="1" dirty="0">
                <a:solidFill>
                  <a:srgbClr val="F2726A"/>
                </a:solidFill>
                <a:latin typeface="Calibri" pitchFamily="34" charset="0"/>
                <a:ea typeface="Calibri" pitchFamily="34" charset="-122"/>
                <a:cs typeface="Calibri" pitchFamily="34" charset="-120"/>
              </a:rPr>
              <a:t>✕  Baja cohesión</a:t>
            </a:r>
            <a:endParaRPr lang="en-US" sz="1200" dirty="0"/>
          </a:p>
        </p:txBody>
      </p:sp>
      <p:sp>
        <p:nvSpPr>
          <p:cNvPr id="23" name="Text 20"/>
          <p:cNvSpPr/>
          <p:nvPr/>
        </p:nvSpPr>
        <p:spPr>
          <a:xfrm>
            <a:off x="6537960" y="2560320"/>
            <a:ext cx="4754880" cy="914400"/>
          </a:xfrm>
          <a:prstGeom prst="rect">
            <a:avLst/>
          </a:prstGeom>
          <a:noFill/>
          <a:ln/>
        </p:spPr>
        <p:txBody>
          <a:bodyPr wrap="square" rtlCol="0" anchor="t"/>
          <a:lstStyle/>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class Venta {</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buscarCliente();</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calcularTotal();</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guardarEnBd();</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4" name="Shape 21"/>
          <p:cNvSpPr/>
          <p:nvPr/>
        </p:nvSpPr>
        <p:spPr>
          <a:xfrm>
            <a:off x="6263640" y="3794760"/>
            <a:ext cx="5257800" cy="1691640"/>
          </a:xfrm>
          <a:prstGeom prst="roundRect">
            <a:avLst>
              <a:gd name="adj" fmla="val 4324"/>
            </a:avLst>
          </a:prstGeom>
          <a:solidFill>
            <a:srgbClr val="141B47"/>
          </a:solidFill>
          <a:ln/>
        </p:spPr>
      </p:sp>
      <p:sp>
        <p:nvSpPr>
          <p:cNvPr id="25" name="Text 22"/>
          <p:cNvSpPr/>
          <p:nvPr/>
        </p:nvSpPr>
        <p:spPr>
          <a:xfrm>
            <a:off x="6537960" y="3931920"/>
            <a:ext cx="4754880" cy="320040"/>
          </a:xfrm>
          <a:prstGeom prst="rect">
            <a:avLst/>
          </a:prstGeom>
          <a:noFill/>
          <a:ln/>
        </p:spPr>
        <p:txBody>
          <a:bodyPr wrap="square" rtlCol="0" anchor="ctr"/>
          <a:lstStyle/>
          <a:p>
            <a:pPr indent="0" marL="0">
              <a:buNone/>
            </a:pPr>
            <a:r>
              <a:rPr lang="en-US" sz="1200" b="1" dirty="0">
                <a:solidFill>
                  <a:srgbClr val="6FCF97"/>
                </a:solidFill>
                <a:latin typeface="Calibri" pitchFamily="34" charset="0"/>
                <a:ea typeface="Calibri" pitchFamily="34" charset="-122"/>
                <a:cs typeface="Calibri" pitchFamily="34" charset="-120"/>
              </a:rPr>
              <a:t>✓  Alta cohesión</a:t>
            </a:r>
            <a:endParaRPr lang="en-US" sz="1200" dirty="0"/>
          </a:p>
        </p:txBody>
      </p:sp>
      <p:sp>
        <p:nvSpPr>
          <p:cNvPr id="26" name="Text 23"/>
          <p:cNvSpPr/>
          <p:nvPr/>
        </p:nvSpPr>
        <p:spPr>
          <a:xfrm>
            <a:off x="6537960" y="4251960"/>
            <a:ext cx="4754880" cy="713232"/>
          </a:xfrm>
          <a:prstGeom prst="rect">
            <a:avLst/>
          </a:prstGeom>
          <a:noFill/>
          <a:ln/>
        </p:spPr>
        <p:txBody>
          <a:bodyPr wrap="square" rtlCol="0" anchor="t"/>
          <a:lstStyle/>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class Venta {</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calcularTotal();</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calcularIva();</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7" name="Text 24"/>
          <p:cNvSpPr/>
          <p:nvPr/>
        </p:nvSpPr>
        <p:spPr>
          <a:xfrm>
            <a:off x="6537960" y="5102352"/>
            <a:ext cx="4754880" cy="320040"/>
          </a:xfrm>
          <a:prstGeom prst="rect">
            <a:avLst/>
          </a:prstGeom>
          <a:noFill/>
          <a:ln/>
        </p:spPr>
        <p:txBody>
          <a:bodyPr wrap="square"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Todos sus métodos giran en torno a un mismo propósito.</a:t>
            </a:r>
            <a:endParaRPr lang="en-US" sz="1000" dirty="0"/>
          </a:p>
        </p:txBody>
      </p:sp>
      <p:sp>
        <p:nvSpPr>
          <p:cNvPr id="28" name="Shape 25"/>
          <p:cNvSpPr/>
          <p:nvPr/>
        </p:nvSpPr>
        <p:spPr>
          <a:xfrm>
            <a:off x="640080" y="5715000"/>
            <a:ext cx="10881360" cy="548640"/>
          </a:xfrm>
          <a:prstGeom prst="roundRect">
            <a:avLst>
              <a:gd name="adj" fmla="val 10000"/>
            </a:avLst>
          </a:prstGeom>
          <a:solidFill>
            <a:srgbClr val="F2A541"/>
          </a:solidFill>
          <a:ln/>
        </p:spPr>
      </p:sp>
      <p:sp>
        <p:nvSpPr>
          <p:cNvPr id="29" name="Text 26"/>
          <p:cNvSpPr/>
          <p:nvPr/>
        </p:nvSpPr>
        <p:spPr>
          <a:xfrm>
            <a:off x="914400" y="5715000"/>
            <a:ext cx="10332720" cy="548640"/>
          </a:xfrm>
          <a:prstGeom prst="rect">
            <a:avLst/>
          </a:prstGeom>
          <a:noFill/>
          <a:ln/>
        </p:spPr>
        <p:txBody>
          <a:bodyPr wrap="square" rtlCol="0" anchor="ctr"/>
          <a:lstStyle/>
          <a:p>
            <a:pPr indent="0" marL="0">
              <a:buNone/>
            </a:pPr>
            <a:r>
              <a:rPr lang="en-US" sz="1200" b="1" dirty="0">
                <a:solidFill>
                  <a:srgbClr val="141B47"/>
                </a:solidFill>
                <a:latin typeface="Calibri" pitchFamily="34" charset="0"/>
                <a:ea typeface="Calibri" pitchFamily="34" charset="-122"/>
                <a:cs typeface="Calibri" pitchFamily="34" charset="-120"/>
              </a:rPr>
              <a:t>Los patrones de diseño ayudan a mantener alta cohesión y bajo acoplamiento.</a:t>
            </a:r>
            <a:endParaRPr lang="en-US" sz="1200" dirty="0"/>
          </a:p>
        </p:txBody>
      </p:sp>
      <p:sp>
        <p:nvSpPr>
          <p:cNvPr id="30" name="Text 2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31" name="Text 2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CONCEPTOS GENERALES DE OO</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¿Qué buscamos lograr?</a:t>
            </a:r>
            <a:endParaRPr lang="en-US" sz="3200" dirty="0"/>
          </a:p>
        </p:txBody>
      </p:sp>
      <p:sp>
        <p:nvSpPr>
          <p:cNvPr id="5" name="Text 2"/>
          <p:cNvSpPr/>
          <p:nvPr/>
        </p:nvSpPr>
        <p:spPr>
          <a:xfrm>
            <a:off x="640080" y="1508760"/>
            <a:ext cx="105156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No alcanza con mejorar solo uno de los dos — importa cómo se combinan.</a:t>
            </a:r>
            <a:endParaRPr lang="en-US" sz="1300" dirty="0"/>
          </a:p>
        </p:txBody>
      </p:sp>
      <p:sp>
        <p:nvSpPr>
          <p:cNvPr id="6" name="Shape 3"/>
          <p:cNvSpPr/>
          <p:nvPr/>
        </p:nvSpPr>
        <p:spPr>
          <a:xfrm>
            <a:off x="960120" y="2057400"/>
            <a:ext cx="5120640" cy="1691640"/>
          </a:xfrm>
          <a:prstGeom prst="roundRect">
            <a:avLst>
              <a:gd name="adj" fmla="val 4324"/>
            </a:avLst>
          </a:prstGeom>
          <a:solidFill>
            <a:srgbClr val="FFFFFF"/>
          </a:solidFill>
          <a:ln w="12700">
            <a:solidFill>
              <a:srgbClr val="E1E5F2"/>
            </a:solidFill>
            <a:prstDash val="solid"/>
          </a:ln>
        </p:spPr>
      </p:sp>
      <p:sp>
        <p:nvSpPr>
          <p:cNvPr id="7" name="Shape 4"/>
          <p:cNvSpPr/>
          <p:nvPr/>
        </p:nvSpPr>
        <p:spPr>
          <a:xfrm>
            <a:off x="4709160" y="2258568"/>
            <a:ext cx="1170432" cy="365760"/>
          </a:xfrm>
          <a:prstGeom prst="roundRect">
            <a:avLst>
              <a:gd name="adj" fmla="val 50000"/>
            </a:avLst>
          </a:prstGeom>
          <a:solidFill>
            <a:srgbClr val="C0392B"/>
          </a:solidFill>
          <a:ln/>
        </p:spPr>
      </p:sp>
      <p:sp>
        <p:nvSpPr>
          <p:cNvPr id="8" name="Text 5"/>
          <p:cNvSpPr/>
          <p:nvPr/>
        </p:nvSpPr>
        <p:spPr>
          <a:xfrm>
            <a:off x="4709160" y="2258568"/>
            <a:ext cx="1170432"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Evitar</a:t>
            </a:r>
            <a:endParaRPr lang="en-US" sz="1050" dirty="0"/>
          </a:p>
        </p:txBody>
      </p:sp>
      <p:sp>
        <p:nvSpPr>
          <p:cNvPr id="9" name="Text 6"/>
          <p:cNvSpPr/>
          <p:nvPr/>
        </p:nvSpPr>
        <p:spPr>
          <a:xfrm>
            <a:off x="1188720" y="2258568"/>
            <a:ext cx="3383280" cy="68580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Baja cohesión + Alto acoplamiento</a:t>
            </a:r>
            <a:endParaRPr lang="en-US" sz="1300" dirty="0"/>
          </a:p>
        </p:txBody>
      </p:sp>
      <p:sp>
        <p:nvSpPr>
          <p:cNvPr id="10" name="Text 7"/>
          <p:cNvSpPr/>
          <p:nvPr/>
        </p:nvSpPr>
        <p:spPr>
          <a:xfrm>
            <a:off x="1188720" y="2971800"/>
            <a:ext cx="4663440" cy="64008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Módulos confusos y, encima, muy dependientes entre sí.</a:t>
            </a:r>
            <a:endParaRPr lang="en-US" sz="1100" dirty="0"/>
          </a:p>
        </p:txBody>
      </p:sp>
      <p:sp>
        <p:nvSpPr>
          <p:cNvPr id="11" name="Shape 8"/>
          <p:cNvSpPr/>
          <p:nvPr/>
        </p:nvSpPr>
        <p:spPr>
          <a:xfrm>
            <a:off x="6355080" y="2057400"/>
            <a:ext cx="5120640" cy="1691640"/>
          </a:xfrm>
          <a:prstGeom prst="roundRect">
            <a:avLst>
              <a:gd name="adj" fmla="val 4324"/>
            </a:avLst>
          </a:prstGeom>
          <a:solidFill>
            <a:srgbClr val="FFFFFF"/>
          </a:solidFill>
          <a:ln w="12700">
            <a:solidFill>
              <a:srgbClr val="E1E5F2"/>
            </a:solidFill>
            <a:prstDash val="solid"/>
          </a:ln>
        </p:spPr>
      </p:sp>
      <p:sp>
        <p:nvSpPr>
          <p:cNvPr id="12" name="Shape 9"/>
          <p:cNvSpPr/>
          <p:nvPr/>
        </p:nvSpPr>
        <p:spPr>
          <a:xfrm>
            <a:off x="10104120" y="2258568"/>
            <a:ext cx="1170432" cy="365760"/>
          </a:xfrm>
          <a:prstGeom prst="roundRect">
            <a:avLst>
              <a:gd name="adj" fmla="val 50000"/>
            </a:avLst>
          </a:prstGeom>
          <a:solidFill>
            <a:srgbClr val="D68910"/>
          </a:solidFill>
          <a:ln/>
        </p:spPr>
      </p:sp>
      <p:sp>
        <p:nvSpPr>
          <p:cNvPr id="13" name="Text 10"/>
          <p:cNvSpPr/>
          <p:nvPr/>
        </p:nvSpPr>
        <p:spPr>
          <a:xfrm>
            <a:off x="10104120" y="2258568"/>
            <a:ext cx="1170432"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Depende</a:t>
            </a:r>
            <a:endParaRPr lang="en-US" sz="1050" dirty="0"/>
          </a:p>
        </p:txBody>
      </p:sp>
      <p:sp>
        <p:nvSpPr>
          <p:cNvPr id="14" name="Text 11"/>
          <p:cNvSpPr/>
          <p:nvPr/>
        </p:nvSpPr>
        <p:spPr>
          <a:xfrm>
            <a:off x="6583680" y="2258568"/>
            <a:ext cx="3383280" cy="68580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Alta cohesión + Alto acoplamiento</a:t>
            </a:r>
            <a:endParaRPr lang="en-US" sz="1300" dirty="0"/>
          </a:p>
        </p:txBody>
      </p:sp>
      <p:sp>
        <p:nvSpPr>
          <p:cNvPr id="15" name="Text 12"/>
          <p:cNvSpPr/>
          <p:nvPr/>
        </p:nvSpPr>
        <p:spPr>
          <a:xfrm>
            <a:off x="6583680" y="2971800"/>
            <a:ext cx="4663440" cy="64008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Cada módulo es claro por dentro, pero siguen muy atados entre sí.</a:t>
            </a:r>
            <a:endParaRPr lang="en-US" sz="1100" dirty="0"/>
          </a:p>
        </p:txBody>
      </p:sp>
      <p:sp>
        <p:nvSpPr>
          <p:cNvPr id="16" name="Shape 13"/>
          <p:cNvSpPr/>
          <p:nvPr/>
        </p:nvSpPr>
        <p:spPr>
          <a:xfrm>
            <a:off x="960120" y="4023360"/>
            <a:ext cx="5120640" cy="1691640"/>
          </a:xfrm>
          <a:prstGeom prst="roundRect">
            <a:avLst>
              <a:gd name="adj" fmla="val 4324"/>
            </a:avLst>
          </a:prstGeom>
          <a:solidFill>
            <a:srgbClr val="FFFFFF"/>
          </a:solidFill>
          <a:ln w="12700">
            <a:solidFill>
              <a:srgbClr val="E1E5F2"/>
            </a:solidFill>
            <a:prstDash val="solid"/>
          </a:ln>
        </p:spPr>
      </p:sp>
      <p:sp>
        <p:nvSpPr>
          <p:cNvPr id="17" name="Shape 14"/>
          <p:cNvSpPr/>
          <p:nvPr/>
        </p:nvSpPr>
        <p:spPr>
          <a:xfrm>
            <a:off x="4709160" y="4224528"/>
            <a:ext cx="1170432" cy="365760"/>
          </a:xfrm>
          <a:prstGeom prst="roundRect">
            <a:avLst>
              <a:gd name="adj" fmla="val 50000"/>
            </a:avLst>
          </a:prstGeom>
          <a:solidFill>
            <a:srgbClr val="D68910"/>
          </a:solidFill>
          <a:ln/>
        </p:spPr>
      </p:sp>
      <p:sp>
        <p:nvSpPr>
          <p:cNvPr id="18" name="Text 15"/>
          <p:cNvSpPr/>
          <p:nvPr/>
        </p:nvSpPr>
        <p:spPr>
          <a:xfrm>
            <a:off x="4709160" y="4224528"/>
            <a:ext cx="1170432"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Depende</a:t>
            </a:r>
            <a:endParaRPr lang="en-US" sz="1050" dirty="0"/>
          </a:p>
        </p:txBody>
      </p:sp>
      <p:sp>
        <p:nvSpPr>
          <p:cNvPr id="19" name="Text 16"/>
          <p:cNvSpPr/>
          <p:nvPr/>
        </p:nvSpPr>
        <p:spPr>
          <a:xfrm>
            <a:off x="1188720" y="4224528"/>
            <a:ext cx="3383280" cy="68580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Baja cohesión + Bajo acoplamiento</a:t>
            </a:r>
            <a:endParaRPr lang="en-US" sz="1300" dirty="0"/>
          </a:p>
        </p:txBody>
      </p:sp>
      <p:sp>
        <p:nvSpPr>
          <p:cNvPr id="20" name="Text 17"/>
          <p:cNvSpPr/>
          <p:nvPr/>
        </p:nvSpPr>
        <p:spPr>
          <a:xfrm>
            <a:off x="1188720" y="4937760"/>
            <a:ext cx="4663440" cy="64008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Los módulos son independientes, pero cada uno hace demasiadas cosas.</a:t>
            </a:r>
            <a:endParaRPr lang="en-US" sz="1100" dirty="0"/>
          </a:p>
        </p:txBody>
      </p:sp>
      <p:sp>
        <p:nvSpPr>
          <p:cNvPr id="21" name="Shape 18"/>
          <p:cNvSpPr/>
          <p:nvPr/>
        </p:nvSpPr>
        <p:spPr>
          <a:xfrm>
            <a:off x="6355080" y="4023360"/>
            <a:ext cx="5120640" cy="1691640"/>
          </a:xfrm>
          <a:prstGeom prst="roundRect">
            <a:avLst>
              <a:gd name="adj" fmla="val 4324"/>
            </a:avLst>
          </a:prstGeom>
          <a:solidFill>
            <a:srgbClr val="FFFFFF"/>
          </a:solidFill>
          <a:ln w="12700">
            <a:solidFill>
              <a:srgbClr val="E1E5F2"/>
            </a:solidFill>
            <a:prstDash val="solid"/>
          </a:ln>
        </p:spPr>
      </p:sp>
      <p:sp>
        <p:nvSpPr>
          <p:cNvPr id="22" name="Shape 19"/>
          <p:cNvSpPr/>
          <p:nvPr/>
        </p:nvSpPr>
        <p:spPr>
          <a:xfrm>
            <a:off x="10104120" y="4224528"/>
            <a:ext cx="1170432" cy="365760"/>
          </a:xfrm>
          <a:prstGeom prst="roundRect">
            <a:avLst>
              <a:gd name="adj" fmla="val 50000"/>
            </a:avLst>
          </a:prstGeom>
          <a:solidFill>
            <a:srgbClr val="1E8449"/>
          </a:solidFill>
          <a:ln/>
        </p:spPr>
      </p:sp>
      <p:sp>
        <p:nvSpPr>
          <p:cNvPr id="23" name="Text 20"/>
          <p:cNvSpPr/>
          <p:nvPr/>
        </p:nvSpPr>
        <p:spPr>
          <a:xfrm>
            <a:off x="10104120" y="4224528"/>
            <a:ext cx="1170432"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 objetivo</a:t>
            </a:r>
            <a:endParaRPr lang="en-US" sz="1050" dirty="0"/>
          </a:p>
        </p:txBody>
      </p:sp>
      <p:sp>
        <p:nvSpPr>
          <p:cNvPr id="24" name="Text 21"/>
          <p:cNvSpPr/>
          <p:nvPr/>
        </p:nvSpPr>
        <p:spPr>
          <a:xfrm>
            <a:off x="6583680" y="4224528"/>
            <a:ext cx="3383280" cy="68580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Alta cohesión + Bajo acoplamiento</a:t>
            </a:r>
            <a:endParaRPr lang="en-US" sz="1300" dirty="0"/>
          </a:p>
        </p:txBody>
      </p:sp>
      <p:sp>
        <p:nvSpPr>
          <p:cNvPr id="25" name="Text 22"/>
          <p:cNvSpPr/>
          <p:nvPr/>
        </p:nvSpPr>
        <p:spPr>
          <a:xfrm>
            <a:off x="6583680" y="4937760"/>
            <a:ext cx="4663440" cy="640080"/>
          </a:xfrm>
          <a:prstGeom prst="rect">
            <a:avLst/>
          </a:prstGeom>
          <a:noFill/>
          <a:ln/>
        </p:spPr>
        <p:txBody>
          <a:bodyPr wrap="square" rtlCol="0" anchor="t"/>
          <a:lstStyle/>
          <a:p>
            <a:pPr indent="0" marL="0">
              <a:buNone/>
            </a:pPr>
            <a:r>
              <a:rPr lang="en-US" sz="1100" dirty="0">
                <a:solidFill>
                  <a:srgbClr val="5B6478"/>
                </a:solidFill>
                <a:latin typeface="Calibri" pitchFamily="34" charset="0"/>
                <a:ea typeface="Calibri" pitchFamily="34" charset="-122"/>
                <a:cs typeface="Calibri" pitchFamily="34" charset="-120"/>
              </a:rPr>
              <a:t>Módulos claros por dentro e independientes entre sí.</a:t>
            </a:r>
            <a:endParaRPr lang="en-US" sz="1100" dirty="0"/>
          </a:p>
        </p:txBody>
      </p:sp>
      <p:sp>
        <p:nvSpPr>
          <p:cNvPr id="26" name="Text 23"/>
          <p:cNvSpPr/>
          <p:nvPr/>
        </p:nvSpPr>
        <p:spPr>
          <a:xfrm>
            <a:off x="960120" y="5760720"/>
            <a:ext cx="10515600" cy="274320"/>
          </a:xfrm>
          <a:prstGeom prst="rect">
            <a:avLst/>
          </a:prstGeom>
          <a:noFill/>
          <a:ln/>
        </p:spPr>
        <p:txBody>
          <a:bodyPr wrap="square" rtlCol="0" anchor="ctr"/>
          <a:lstStyle/>
          <a:p>
            <a:pPr algn="ctr" indent="0" marL="0">
              <a:buNone/>
            </a:pPr>
            <a:r>
              <a:rPr lang="en-US" sz="1000" b="1" spc="200" kern="0" dirty="0">
                <a:solidFill>
                  <a:srgbClr val="F2A541"/>
                </a:solidFill>
                <a:latin typeface="Calibri" pitchFamily="34" charset="0"/>
                <a:ea typeface="Calibri" pitchFamily="34" charset="-122"/>
                <a:cs typeface="Calibri" pitchFamily="34" charset="-120"/>
              </a:rPr>
              <a:t>COHESIÓN →</a:t>
            </a:r>
            <a:endParaRPr lang="en-US" sz="1000" dirty="0"/>
          </a:p>
        </p:txBody>
      </p:sp>
      <p:sp>
        <p:nvSpPr>
          <p:cNvPr id="27" name="Text 2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8" name="Text 2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41B47"/>
          </a:solidFill>
          <a:ln/>
        </p:spPr>
      </p:sp>
      <p:sp>
        <p:nvSpPr>
          <p:cNvPr id="3" name="Shape 1"/>
          <p:cNvSpPr/>
          <p:nvPr/>
        </p:nvSpPr>
        <p:spPr>
          <a:xfrm>
            <a:off x="10689336" y="192024"/>
            <a:ext cx="1216152" cy="757123"/>
          </a:xfrm>
          <a:prstGeom prst="roundRect">
            <a:avLst>
              <a:gd name="adj" fmla="val 7246"/>
            </a:avLst>
          </a:prstGeom>
          <a:solidFill>
            <a:srgbClr val="FFFFFF"/>
          </a:solidFill>
          <a:ln/>
        </p:spPr>
      </p:sp>
      <p:pic>
        <p:nvPicPr>
          <p:cNvPr id="4"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5" name="Text 2"/>
          <p:cNvSpPr/>
          <p:nvPr/>
        </p:nvSpPr>
        <p:spPr>
          <a:xfrm>
            <a:off x="822960" y="2743200"/>
            <a:ext cx="5486400" cy="365760"/>
          </a:xfrm>
          <a:prstGeom prst="rect">
            <a:avLst/>
          </a:prstGeom>
          <a:noFill/>
          <a:ln/>
        </p:spPr>
        <p:txBody>
          <a:bodyPr wrap="square"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PARA PRACTICAR</a:t>
            </a:r>
            <a:endParaRPr lang="en-US" sz="1300" dirty="0"/>
          </a:p>
        </p:txBody>
      </p:sp>
      <p:sp>
        <p:nvSpPr>
          <p:cNvPr id="6" name="Text 3"/>
          <p:cNvSpPr/>
          <p:nvPr/>
        </p:nvSpPr>
        <p:spPr>
          <a:xfrm>
            <a:off x="777240" y="3108960"/>
            <a:ext cx="9144000" cy="109728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Ejercicios integradores</a:t>
            </a:r>
            <a:endParaRPr lang="en-US" sz="4000" dirty="0"/>
          </a:p>
        </p:txBody>
      </p:sp>
      <p:sp>
        <p:nvSpPr>
          <p:cNvPr id="7" name="Shape 4"/>
          <p:cNvSpPr/>
          <p:nvPr/>
        </p:nvSpPr>
        <p:spPr>
          <a:xfrm>
            <a:off x="822960" y="4206240"/>
            <a:ext cx="1463040" cy="0"/>
          </a:xfrm>
          <a:prstGeom prst="line">
            <a:avLst/>
          </a:prstGeom>
          <a:noFill/>
          <a:ln w="25400">
            <a:solidFill>
              <a:srgbClr val="F2A541"/>
            </a:solidFill>
            <a:prstDash val="solid"/>
          </a:ln>
        </p:spPr>
      </p:sp>
      <p:sp>
        <p:nvSpPr>
          <p:cNvPr id="8" name="Text 5"/>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891B0"/>
                </a:solidFill>
                <a:latin typeface="Calibri" pitchFamily="34" charset="0"/>
                <a:ea typeface="Calibri" pitchFamily="34" charset="-122"/>
                <a:cs typeface="Calibri" pitchFamily="34" charset="-120"/>
              </a:rPr>
              <a:t>Paradigma Orientado a Objetos  ·  Clase 1</a:t>
            </a:r>
            <a:endParaRPr lang="en-US" sz="900" dirty="0"/>
          </a:p>
        </p:txBody>
      </p:sp>
      <p:sp>
        <p:nvSpPr>
          <p:cNvPr id="9" name="Text 6"/>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891B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EJERCICIO INTEGRADOR 1 DE 2</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Identificar clases y objetos</a:t>
            </a:r>
            <a:endParaRPr lang="en-US" sz="3200" dirty="0"/>
          </a:p>
        </p:txBody>
      </p:sp>
      <p:sp>
        <p:nvSpPr>
          <p:cNvPr id="5" name="Shape 2"/>
          <p:cNvSpPr/>
          <p:nvPr/>
        </p:nvSpPr>
        <p:spPr>
          <a:xfrm>
            <a:off x="640080" y="1737360"/>
            <a:ext cx="10881360" cy="960120"/>
          </a:xfrm>
          <a:prstGeom prst="roundRect">
            <a:avLst>
              <a:gd name="adj" fmla="val 7619"/>
            </a:avLst>
          </a:prstGeom>
          <a:solidFill>
            <a:srgbClr val="CADCFC"/>
          </a:solidFill>
          <a:ln/>
        </p:spPr>
      </p:sp>
      <p:sp>
        <p:nvSpPr>
          <p:cNvPr id="6" name="Text 3"/>
          <p:cNvSpPr/>
          <p:nvPr/>
        </p:nvSpPr>
        <p:spPr>
          <a:xfrm>
            <a:off x="914400" y="1828800"/>
            <a:ext cx="103327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Escenario: una biblioteca</a:t>
            </a:r>
            <a:endParaRPr lang="en-US" sz="1300" dirty="0"/>
          </a:p>
        </p:txBody>
      </p:sp>
      <p:sp>
        <p:nvSpPr>
          <p:cNvPr id="7" name="Text 4"/>
          <p:cNvSpPr/>
          <p:nvPr/>
        </p:nvSpPr>
        <p:spPr>
          <a:xfrm>
            <a:off x="914400" y="2194560"/>
            <a:ext cx="10332720" cy="502920"/>
          </a:xfrm>
          <a:prstGeom prst="rect">
            <a:avLst/>
          </a:prstGeom>
          <a:noFill/>
          <a:ln/>
        </p:spPr>
        <p:txBody>
          <a:bodyPr wrap="square" rtlCol="0" anchor="t"/>
          <a:lstStyle/>
          <a:p>
            <a:pPr indent="0" marL="0">
              <a:buNone/>
            </a:pPr>
            <a:r>
              <a:rPr lang="en-US" sz="1200" i="1" dirty="0">
                <a:solidFill>
                  <a:srgbClr val="141B47"/>
                </a:solidFill>
                <a:latin typeface="Calibri" pitchFamily="34" charset="0"/>
                <a:ea typeface="Calibri" pitchFamily="34" charset="-122"/>
                <a:cs typeface="Calibri" pitchFamily="34" charset="-120"/>
              </a:rPr>
              <a:t>“La biblioteca del barrio tiene 3.400 libros. Ana pidió prestado El Principito el lunes. María trabaja como bibliotecaria y registró el préstamo.”</a:t>
            </a:r>
            <a:endParaRPr lang="en-US" sz="1200" dirty="0"/>
          </a:p>
        </p:txBody>
      </p:sp>
      <p:sp>
        <p:nvSpPr>
          <p:cNvPr id="8" name="Text 5"/>
          <p:cNvSpPr/>
          <p:nvPr/>
        </p:nvSpPr>
        <p:spPr>
          <a:xfrm>
            <a:off x="640080" y="2926080"/>
            <a:ext cx="7315200" cy="365760"/>
          </a:xfrm>
          <a:prstGeom prst="rect">
            <a:avLst/>
          </a:prstGeom>
          <a:noFill/>
          <a:ln/>
        </p:spPr>
        <p:txBody>
          <a:bodyPr wrap="square"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En grupos, identifiquen:</a:t>
            </a:r>
            <a:endParaRPr lang="en-US" sz="1300" dirty="0"/>
          </a:p>
        </p:txBody>
      </p:sp>
      <p:sp>
        <p:nvSpPr>
          <p:cNvPr id="9" name="Shape 6"/>
          <p:cNvSpPr/>
          <p:nvPr/>
        </p:nvSpPr>
        <p:spPr>
          <a:xfrm>
            <a:off x="640080" y="3429000"/>
            <a:ext cx="365760" cy="365760"/>
          </a:xfrm>
          <a:prstGeom prst="ellipse">
            <a:avLst/>
          </a:prstGeom>
          <a:solidFill>
            <a:srgbClr val="F2A541"/>
          </a:solidFill>
          <a:ln/>
        </p:spPr>
      </p:sp>
      <p:sp>
        <p:nvSpPr>
          <p:cNvPr id="10" name="Text 7"/>
          <p:cNvSpPr/>
          <p:nvPr/>
        </p:nvSpPr>
        <p:spPr>
          <a:xfrm>
            <a:off x="640080" y="3429000"/>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1143000" y="3374136"/>
            <a:ext cx="475488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¿Qué clases aparecen?</a:t>
            </a:r>
            <a:endParaRPr lang="en-US" sz="1300" dirty="0"/>
          </a:p>
        </p:txBody>
      </p:sp>
      <p:sp>
        <p:nvSpPr>
          <p:cNvPr id="12" name="Text 9"/>
          <p:cNvSpPr/>
          <p:nvPr/>
        </p:nvSpPr>
        <p:spPr>
          <a:xfrm>
            <a:off x="6035040" y="3374136"/>
            <a:ext cx="5394960" cy="502920"/>
          </a:xfrm>
          <a:prstGeom prst="rect">
            <a:avLst/>
          </a:prstGeom>
          <a:noFill/>
          <a:ln/>
        </p:spPr>
        <p:txBody>
          <a:bodyPr wrap="square"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Ej: Libro, Persona, Préstamo…</a:t>
            </a:r>
            <a:endParaRPr lang="en-US" sz="1150" dirty="0"/>
          </a:p>
        </p:txBody>
      </p:sp>
      <p:sp>
        <p:nvSpPr>
          <p:cNvPr id="13" name="Shape 10"/>
          <p:cNvSpPr/>
          <p:nvPr/>
        </p:nvSpPr>
        <p:spPr>
          <a:xfrm>
            <a:off x="640080" y="4050792"/>
            <a:ext cx="365760" cy="365760"/>
          </a:xfrm>
          <a:prstGeom prst="ellipse">
            <a:avLst/>
          </a:prstGeom>
          <a:solidFill>
            <a:srgbClr val="F2A541"/>
          </a:solidFill>
          <a:ln/>
        </p:spPr>
      </p:sp>
      <p:sp>
        <p:nvSpPr>
          <p:cNvPr id="14" name="Text 11"/>
          <p:cNvSpPr/>
          <p:nvPr/>
        </p:nvSpPr>
        <p:spPr>
          <a:xfrm>
            <a:off x="640080" y="4050792"/>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1143000" y="3995928"/>
            <a:ext cx="475488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¿Qué objetos concretos hay?</a:t>
            </a:r>
            <a:endParaRPr lang="en-US" sz="1300" dirty="0"/>
          </a:p>
        </p:txBody>
      </p:sp>
      <p:sp>
        <p:nvSpPr>
          <p:cNvPr id="16" name="Text 13"/>
          <p:cNvSpPr/>
          <p:nvPr/>
        </p:nvSpPr>
        <p:spPr>
          <a:xfrm>
            <a:off x="6035040" y="3995928"/>
            <a:ext cx="5394960" cy="502920"/>
          </a:xfrm>
          <a:prstGeom prst="rect">
            <a:avLst/>
          </a:prstGeom>
          <a:noFill/>
          <a:ln/>
        </p:spPr>
        <p:txBody>
          <a:bodyPr wrap="square"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Ej: “El Principito”, “Ana”, “María”…</a:t>
            </a:r>
            <a:endParaRPr lang="en-US" sz="1150" dirty="0"/>
          </a:p>
        </p:txBody>
      </p:sp>
      <p:sp>
        <p:nvSpPr>
          <p:cNvPr id="17" name="Shape 14"/>
          <p:cNvSpPr/>
          <p:nvPr/>
        </p:nvSpPr>
        <p:spPr>
          <a:xfrm>
            <a:off x="640080" y="4672584"/>
            <a:ext cx="365760" cy="365760"/>
          </a:xfrm>
          <a:prstGeom prst="ellipse">
            <a:avLst/>
          </a:prstGeom>
          <a:solidFill>
            <a:srgbClr val="F2A541"/>
          </a:solidFill>
          <a:ln/>
        </p:spPr>
      </p:sp>
      <p:sp>
        <p:nvSpPr>
          <p:cNvPr id="18" name="Text 15"/>
          <p:cNvSpPr/>
          <p:nvPr/>
        </p:nvSpPr>
        <p:spPr>
          <a:xfrm>
            <a:off x="640080" y="4672584"/>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1143000" y="4617720"/>
            <a:ext cx="475488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¿Qué atributos tendría cada clase?</a:t>
            </a:r>
            <a:endParaRPr lang="en-US" sz="1300" dirty="0"/>
          </a:p>
        </p:txBody>
      </p:sp>
      <p:sp>
        <p:nvSpPr>
          <p:cNvPr id="20" name="Text 17"/>
          <p:cNvSpPr/>
          <p:nvPr/>
        </p:nvSpPr>
        <p:spPr>
          <a:xfrm>
            <a:off x="6035040" y="4617720"/>
            <a:ext cx="5394960" cy="502920"/>
          </a:xfrm>
          <a:prstGeom prst="rect">
            <a:avLst/>
          </a:prstGeom>
          <a:noFill/>
          <a:ln/>
        </p:spPr>
        <p:txBody>
          <a:bodyPr wrap="square"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Ej: Libro → título, autor, ISBN</a:t>
            </a:r>
            <a:endParaRPr lang="en-US" sz="1150" dirty="0"/>
          </a:p>
        </p:txBody>
      </p:sp>
      <p:sp>
        <p:nvSpPr>
          <p:cNvPr id="21" name="Shape 18"/>
          <p:cNvSpPr/>
          <p:nvPr/>
        </p:nvSpPr>
        <p:spPr>
          <a:xfrm>
            <a:off x="640080" y="5294376"/>
            <a:ext cx="365760" cy="365760"/>
          </a:xfrm>
          <a:prstGeom prst="ellipse">
            <a:avLst/>
          </a:prstGeom>
          <a:solidFill>
            <a:srgbClr val="F2A541"/>
          </a:solidFill>
          <a:ln/>
        </p:spPr>
      </p:sp>
      <p:sp>
        <p:nvSpPr>
          <p:cNvPr id="22" name="Text 19"/>
          <p:cNvSpPr/>
          <p:nvPr/>
        </p:nvSpPr>
        <p:spPr>
          <a:xfrm>
            <a:off x="640080" y="5294376"/>
            <a:ext cx="365760" cy="365760"/>
          </a:xfrm>
          <a:prstGeom prst="rect">
            <a:avLst/>
          </a:prstGeom>
          <a:noFill/>
          <a:ln/>
        </p:spPr>
        <p:txBody>
          <a:bodyPr wrap="square" rtlCol="0" anchor="ctr"/>
          <a:lstStyle/>
          <a:p>
            <a:pPr algn="ctr" indent="0" marL="0">
              <a:buNone/>
            </a:pPr>
            <a:r>
              <a:rPr lang="en-US" sz="1300" b="1" dirty="0">
                <a:solidFill>
                  <a:srgbClr val="141B47"/>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1143000" y="5239512"/>
            <a:ext cx="475488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¿Qué métodos podría tener?</a:t>
            </a:r>
            <a:endParaRPr lang="en-US" sz="1300" dirty="0"/>
          </a:p>
        </p:txBody>
      </p:sp>
      <p:sp>
        <p:nvSpPr>
          <p:cNvPr id="24" name="Text 21"/>
          <p:cNvSpPr/>
          <p:nvPr/>
        </p:nvSpPr>
        <p:spPr>
          <a:xfrm>
            <a:off x="6035040" y="5239512"/>
            <a:ext cx="5394960" cy="502920"/>
          </a:xfrm>
          <a:prstGeom prst="rect">
            <a:avLst/>
          </a:prstGeom>
          <a:noFill/>
          <a:ln/>
        </p:spPr>
        <p:txBody>
          <a:bodyPr wrap="square"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Ej: Préstamo → registrar(), devolver()</a:t>
            </a:r>
            <a:endParaRPr lang="en-US" sz="1150" dirty="0"/>
          </a:p>
        </p:txBody>
      </p:sp>
      <p:sp>
        <p:nvSpPr>
          <p:cNvPr id="26" name="Text 2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27" name="Text 2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C"/>
        </a:solidFill>
      </p:bgPr>
    </p:bg>
    <p:spTree>
      <p:nvGrpSpPr>
        <p:cNvPr id="1" name=""/>
        <p:cNvGrpSpPr/>
        <p:nvPr/>
      </p:nvGrpSpPr>
      <p:grpSpPr>
        <a:xfrm>
          <a:off x="0" y="0"/>
          <a:ext cx="0" cy="0"/>
          <a:chOff x="0" y="0"/>
          <a:chExt cx="0" cy="0"/>
        </a:xfrm>
      </p:grpSpPr>
      <p:pic>
        <p:nvPicPr>
          <p:cNvPr id="2"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3" name="Text 0"/>
          <p:cNvSpPr/>
          <p:nvPr/>
        </p:nvSpPr>
        <p:spPr>
          <a:xfrm>
            <a:off x="640080" y="411480"/>
            <a:ext cx="73152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EJERCICIO INTEGRADOR 2 DE 2</a:t>
            </a:r>
            <a:endParaRPr lang="en-US" sz="1200" dirty="0"/>
          </a:p>
        </p:txBody>
      </p:sp>
      <p:sp>
        <p:nvSpPr>
          <p:cNvPr id="4" name="Text 1"/>
          <p:cNvSpPr/>
          <p:nvPr/>
        </p:nvSpPr>
        <p:spPr>
          <a:xfrm>
            <a:off x="640080" y="713232"/>
            <a:ext cx="978408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Completar una clase</a:t>
            </a:r>
            <a:endParaRPr lang="en-US" sz="3200" dirty="0"/>
          </a:p>
        </p:txBody>
      </p:sp>
      <p:sp>
        <p:nvSpPr>
          <p:cNvPr id="5" name="Text 2"/>
          <p:cNvSpPr/>
          <p:nvPr/>
        </p:nvSpPr>
        <p:spPr>
          <a:xfrm>
            <a:off x="640080" y="1508760"/>
            <a:ext cx="10515600" cy="45720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Dada la siguiente situación, completen los atributos y métodos que le faltan a la clase.</a:t>
            </a:r>
            <a:endParaRPr lang="en-US" sz="1300" dirty="0"/>
          </a:p>
        </p:txBody>
      </p:sp>
      <p:sp>
        <p:nvSpPr>
          <p:cNvPr id="6" name="Shape 3"/>
          <p:cNvSpPr/>
          <p:nvPr/>
        </p:nvSpPr>
        <p:spPr>
          <a:xfrm>
            <a:off x="640080" y="2148840"/>
            <a:ext cx="4846320" cy="3566160"/>
          </a:xfrm>
          <a:prstGeom prst="roundRect">
            <a:avLst>
              <a:gd name="adj" fmla="val 2564"/>
            </a:avLst>
          </a:prstGeom>
          <a:solidFill>
            <a:srgbClr val="FFFFFF"/>
          </a:solidFill>
          <a:ln w="12700">
            <a:solidFill>
              <a:srgbClr val="E1E5F2"/>
            </a:solidFill>
            <a:prstDash val="solid"/>
          </a:ln>
        </p:spPr>
      </p:sp>
      <p:sp>
        <p:nvSpPr>
          <p:cNvPr id="7" name="Text 4"/>
          <p:cNvSpPr/>
          <p:nvPr/>
        </p:nvSpPr>
        <p:spPr>
          <a:xfrm>
            <a:off x="640080" y="2331720"/>
            <a:ext cx="4846320" cy="100584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8" name="Text 5"/>
          <p:cNvSpPr/>
          <p:nvPr/>
        </p:nvSpPr>
        <p:spPr>
          <a:xfrm>
            <a:off x="640080" y="3246120"/>
            <a:ext cx="484632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Cuenta bancaria</a:t>
            </a:r>
            <a:endParaRPr lang="en-US" sz="1400" dirty="0"/>
          </a:p>
        </p:txBody>
      </p:sp>
      <p:sp>
        <p:nvSpPr>
          <p:cNvPr id="9" name="Text 6"/>
          <p:cNvSpPr/>
          <p:nvPr/>
        </p:nvSpPr>
        <p:spPr>
          <a:xfrm>
            <a:off x="868680" y="3703320"/>
            <a:ext cx="4389120" cy="1737360"/>
          </a:xfrm>
          <a:prstGeom prst="rect">
            <a:avLst/>
          </a:prstGeom>
          <a:noFill/>
          <a:ln/>
        </p:spPr>
        <p:txBody>
          <a:bodyPr wrap="square" rtlCol="0" anchor="t"/>
          <a:lstStyle/>
          <a:p>
            <a:pPr algn="ctr" indent="0" marL="0">
              <a:buNone/>
            </a:pPr>
            <a:r>
              <a:rPr lang="en-US" sz="1200" dirty="0">
                <a:solidFill>
                  <a:srgbClr val="44506B"/>
                </a:solidFill>
                <a:latin typeface="Calibri" pitchFamily="34" charset="0"/>
                <a:ea typeface="Calibri" pitchFamily="34" charset="-122"/>
                <a:cs typeface="Calibri" pitchFamily="34" charset="-120"/>
              </a:rPr>
              <a:t>Un cliente tiene una cuenta con cierto saldo. Puede depositar dinero, extraer dinero y consultar su saldo actual.</a:t>
            </a:r>
            <a:endParaRPr lang="en-US" sz="1200" dirty="0"/>
          </a:p>
        </p:txBody>
      </p:sp>
      <p:sp>
        <p:nvSpPr>
          <p:cNvPr id="10" name="Shape 7"/>
          <p:cNvSpPr/>
          <p:nvPr/>
        </p:nvSpPr>
        <p:spPr>
          <a:xfrm>
            <a:off x="5760720" y="2148840"/>
            <a:ext cx="5760720" cy="3566160"/>
          </a:xfrm>
          <a:prstGeom prst="roundRect">
            <a:avLst>
              <a:gd name="adj" fmla="val 2564"/>
            </a:avLst>
          </a:prstGeom>
          <a:solidFill>
            <a:srgbClr val="141B47"/>
          </a:solidFill>
          <a:ln/>
        </p:spPr>
      </p:sp>
      <p:sp>
        <p:nvSpPr>
          <p:cNvPr id="11" name="Text 8"/>
          <p:cNvSpPr/>
          <p:nvPr/>
        </p:nvSpPr>
        <p:spPr>
          <a:xfrm>
            <a:off x="6080760" y="2377440"/>
            <a:ext cx="5212080" cy="365760"/>
          </a:xfrm>
          <a:prstGeom prst="rect">
            <a:avLst/>
          </a:prstGeom>
          <a:noFill/>
          <a:ln/>
        </p:spPr>
        <p:txBody>
          <a:bodyPr wrap="square" rtlCol="0" anchor="ctr"/>
          <a:lstStyle/>
          <a:p>
            <a:pPr indent="0" marL="0">
              <a:buNone/>
            </a:pPr>
            <a:r>
              <a:rPr lang="en-US" sz="1300" dirty="0">
                <a:solidFill>
                  <a:srgbClr val="F2A541"/>
                </a:solidFill>
                <a:latin typeface="Courier New" pitchFamily="34" charset="0"/>
                <a:ea typeface="Courier New" pitchFamily="34" charset="-122"/>
                <a:cs typeface="Courier New" pitchFamily="34" charset="-120"/>
              </a:rPr>
              <a:t>class CuentaBancaria {</a:t>
            </a:r>
            <a:endParaRPr lang="en-US" sz="1300" dirty="0"/>
          </a:p>
        </p:txBody>
      </p:sp>
      <p:sp>
        <p:nvSpPr>
          <p:cNvPr id="12" name="Text 9"/>
          <p:cNvSpPr/>
          <p:nvPr/>
        </p:nvSpPr>
        <p:spPr>
          <a:xfrm>
            <a:off x="6355080" y="2743200"/>
            <a:ext cx="5029200" cy="2011680"/>
          </a:xfrm>
          <a:prstGeom prst="rect">
            <a:avLst/>
          </a:prstGeom>
          <a:noFill/>
          <a:ln/>
        </p:spPr>
        <p:txBody>
          <a:bodyPr wrap="square" rtlCol="0" anchor="t"/>
          <a:lstStyle/>
          <a:p>
            <a:pPr indent="0" marL="0">
              <a:lnSpc>
                <a:spcPct val="135000"/>
              </a:lnSpc>
              <a:buNone/>
            </a:pPr>
            <a:r>
              <a:rPr lang="en-US" sz="1250" dirty="0">
                <a:solidFill>
                  <a:srgbClr val="FFFFFF"/>
                </a:solidFill>
                <a:latin typeface="Courier New" pitchFamily="34" charset="0"/>
                <a:ea typeface="Courier New" pitchFamily="34" charset="-122"/>
                <a:cs typeface="Courier New" pitchFamily="34" charset="-120"/>
              </a:rPr>
              <a:t>  String titular;</a:t>
            </a:r>
            <a:endParaRPr lang="en-US" sz="1250" dirty="0"/>
          </a:p>
          <a:p>
            <a:pPr indent="0" marL="0">
              <a:lnSpc>
                <a:spcPct val="135000"/>
              </a:lnSpc>
              <a:buNone/>
            </a:pPr>
            <a:r>
              <a:rPr lang="en-US" sz="1250" dirty="0">
                <a:solidFill>
                  <a:srgbClr val="FFFFFF"/>
                </a:solidFill>
                <a:latin typeface="Courier New" pitchFamily="34" charset="0"/>
                <a:ea typeface="Courier New" pitchFamily="34" charset="-122"/>
                <a:cs typeface="Courier New" pitchFamily="34" charset="-120"/>
              </a:rPr>
              <a:t>  double ____________;</a:t>
            </a:r>
            <a:endParaRPr lang="en-US" sz="1250" dirty="0"/>
          </a:p>
          <a:p>
            <a:pPr indent="0" marL="0">
              <a:lnSpc>
                <a:spcPct val="135000"/>
              </a:lnSpc>
              <a:buNone/>
            </a:pPr>
            <a:endParaRPr lang="en-US" sz="1250" dirty="0"/>
          </a:p>
          <a:p>
            <a:pPr indent="0" marL="0">
              <a:lnSpc>
                <a:spcPct val="135000"/>
              </a:lnSpc>
              <a:buNone/>
            </a:pPr>
            <a:r>
              <a:rPr lang="en-US" sz="1250" dirty="0">
                <a:solidFill>
                  <a:srgbClr val="FFFFFF"/>
                </a:solidFill>
                <a:latin typeface="Courier New" pitchFamily="34" charset="0"/>
                <a:ea typeface="Courier New" pitchFamily="34" charset="-122"/>
                <a:cs typeface="Courier New" pitchFamily="34" charset="-120"/>
              </a:rPr>
              <a:t>  depositar(double monto);</a:t>
            </a:r>
            <a:endParaRPr lang="en-US" sz="1250" dirty="0"/>
          </a:p>
          <a:p>
            <a:pPr indent="0" marL="0">
              <a:lnSpc>
                <a:spcPct val="135000"/>
              </a:lnSpc>
              <a:buNone/>
            </a:pPr>
            <a:r>
              <a:rPr lang="en-US" sz="1250" dirty="0">
                <a:solidFill>
                  <a:srgbClr val="FFFFFF"/>
                </a:solidFill>
                <a:latin typeface="Courier New" pitchFamily="34" charset="0"/>
                <a:ea typeface="Courier New" pitchFamily="34" charset="-122"/>
                <a:cs typeface="Courier New" pitchFamily="34" charset="-120"/>
              </a:rPr>
              <a:t>  ____________(double monto);</a:t>
            </a:r>
            <a:endParaRPr lang="en-US" sz="1250" dirty="0"/>
          </a:p>
          <a:p>
            <a:pPr indent="0" marL="0">
              <a:lnSpc>
                <a:spcPct val="135000"/>
              </a:lnSpc>
              <a:buNone/>
            </a:pPr>
            <a:r>
              <a:rPr lang="en-US" sz="1250" dirty="0">
                <a:solidFill>
                  <a:srgbClr val="FFFFFF"/>
                </a:solidFill>
                <a:latin typeface="Courier New" pitchFamily="34" charset="0"/>
                <a:ea typeface="Courier New" pitchFamily="34" charset="-122"/>
                <a:cs typeface="Courier New" pitchFamily="34" charset="-120"/>
              </a:rPr>
              <a:t>  double ____________();</a:t>
            </a:r>
            <a:endParaRPr lang="en-US" sz="1250" dirty="0"/>
          </a:p>
        </p:txBody>
      </p:sp>
      <p:sp>
        <p:nvSpPr>
          <p:cNvPr id="13" name="Text 10"/>
          <p:cNvSpPr/>
          <p:nvPr/>
        </p:nvSpPr>
        <p:spPr>
          <a:xfrm>
            <a:off x="6080760" y="5074920"/>
            <a:ext cx="5212080" cy="365760"/>
          </a:xfrm>
          <a:prstGeom prst="rect">
            <a:avLst/>
          </a:prstGeom>
          <a:noFill/>
          <a:ln/>
        </p:spPr>
        <p:txBody>
          <a:bodyPr wrap="square" rtlCol="0" anchor="ctr"/>
          <a:lstStyle/>
          <a:p>
            <a:pPr indent="0" marL="0">
              <a:buNone/>
            </a:pPr>
            <a:r>
              <a:rPr lang="en-US" sz="1300" dirty="0">
                <a:solidFill>
                  <a:srgbClr val="F2A541"/>
                </a:solidFill>
                <a:latin typeface="Courier New" pitchFamily="34" charset="0"/>
                <a:ea typeface="Courier New" pitchFamily="34" charset="-122"/>
                <a:cs typeface="Courier New" pitchFamily="34" charset="-120"/>
              </a:rPr>
              <a:t>}</a:t>
            </a:r>
            <a:endParaRPr lang="en-US" sz="1300" dirty="0"/>
          </a:p>
        </p:txBody>
      </p:sp>
      <p:sp>
        <p:nvSpPr>
          <p:cNvPr id="15" name="Text 11"/>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Paradigma Orientado a Objetos  ·  Clase 1</a:t>
            </a:r>
            <a:endParaRPr lang="en-US" sz="900" dirty="0"/>
          </a:p>
        </p:txBody>
      </p:sp>
      <p:sp>
        <p:nvSpPr>
          <p:cNvPr id="16" name="Text 12"/>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89336" y="192024"/>
            <a:ext cx="1216152" cy="757123"/>
          </a:xfrm>
          <a:prstGeom prst="roundRect">
            <a:avLst>
              <a:gd name="adj" fmla="val 7246"/>
            </a:avLst>
          </a:prstGeom>
          <a:solidFill>
            <a:srgbClr val="FFFFFF"/>
          </a:solidFill>
          <a:ln/>
        </p:spPr>
      </p:sp>
      <p:pic>
        <p:nvPicPr>
          <p:cNvPr id="3" name="Image 0" descr="/home/claude/uade_logo_transparent.png">    </p:cNvPr>
          <p:cNvPicPr>
            <a:picLocks noChangeAspect="1"/>
          </p:cNvPicPr>
          <p:nvPr/>
        </p:nvPicPr>
        <p:blipFill>
          <a:blip r:embed="rId1"/>
          <a:stretch>
            <a:fillRect/>
          </a:stretch>
        </p:blipFill>
        <p:spPr>
          <a:xfrm>
            <a:off x="10817352" y="320040"/>
            <a:ext cx="960120" cy="501091"/>
          </a:xfrm>
          <a:prstGeom prst="rect">
            <a:avLst/>
          </a:prstGeom>
        </p:spPr>
      </p:pic>
      <p:sp>
        <p:nvSpPr>
          <p:cNvPr id="4" name="Shape 1"/>
          <p:cNvSpPr/>
          <p:nvPr/>
        </p:nvSpPr>
        <p:spPr>
          <a:xfrm>
            <a:off x="-1371600" y="-1371600"/>
            <a:ext cx="4572000" cy="4572000"/>
          </a:xfrm>
          <a:prstGeom prst="ellipse">
            <a:avLst/>
          </a:prstGeom>
          <a:solidFill>
            <a:srgbClr val="141B47"/>
          </a:solidFill>
          <a:ln/>
        </p:spPr>
      </p:sp>
      <p:sp>
        <p:nvSpPr>
          <p:cNvPr id="5" name="Shape 2"/>
          <p:cNvSpPr/>
          <p:nvPr/>
        </p:nvSpPr>
        <p:spPr>
          <a:xfrm>
            <a:off x="9875520" y="4114800"/>
            <a:ext cx="3657600" cy="3657600"/>
          </a:xfrm>
          <a:prstGeom prst="ellipse">
            <a:avLst/>
          </a:prstGeom>
          <a:solidFill>
            <a:srgbClr val="141B47"/>
          </a:solidFill>
          <a:ln/>
        </p:spPr>
      </p:sp>
      <p:sp>
        <p:nvSpPr>
          <p:cNvPr id="6" name="Text 3"/>
          <p:cNvSpPr/>
          <p:nvPr/>
        </p:nvSpPr>
        <p:spPr>
          <a:xfrm>
            <a:off x="822960" y="2286000"/>
            <a:ext cx="7315200" cy="365760"/>
          </a:xfrm>
          <a:prstGeom prst="rect">
            <a:avLst/>
          </a:prstGeom>
          <a:noFill/>
          <a:ln/>
        </p:spPr>
        <p:txBody>
          <a:bodyPr wrap="square"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PRÓXIMA CLASE</a:t>
            </a:r>
            <a:endParaRPr lang="en-US" sz="1300" dirty="0"/>
          </a:p>
        </p:txBody>
      </p:sp>
      <p:sp>
        <p:nvSpPr>
          <p:cNvPr id="7" name="Text 4"/>
          <p:cNvSpPr/>
          <p:nvPr/>
        </p:nvSpPr>
        <p:spPr>
          <a:xfrm>
            <a:off x="777240" y="2697480"/>
            <a:ext cx="9144000" cy="14630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Introducción a Java y a la</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Máquina Virtual</a:t>
            </a:r>
            <a:endParaRPr lang="en-US" sz="3400" dirty="0"/>
          </a:p>
        </p:txBody>
      </p:sp>
      <p:sp>
        <p:nvSpPr>
          <p:cNvPr id="8" name="Shape 5"/>
          <p:cNvSpPr/>
          <p:nvPr/>
        </p:nvSpPr>
        <p:spPr>
          <a:xfrm>
            <a:off x="822960" y="4114800"/>
            <a:ext cx="1463040" cy="0"/>
          </a:xfrm>
          <a:prstGeom prst="line">
            <a:avLst/>
          </a:prstGeom>
          <a:noFill/>
          <a:ln w="25400">
            <a:solidFill>
              <a:srgbClr val="F2A541"/>
            </a:solidFill>
            <a:prstDash val="solid"/>
          </a:ln>
        </p:spPr>
      </p:sp>
      <p:sp>
        <p:nvSpPr>
          <p:cNvPr id="9" name="Text 6"/>
          <p:cNvSpPr/>
          <p:nvPr/>
        </p:nvSpPr>
        <p:spPr>
          <a:xfrm>
            <a:off x="822960" y="4389120"/>
            <a:ext cx="73152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Consultas: mcoedo@uade.edu.ar</a:t>
            </a:r>
            <a:endParaRPr lang="en-US" sz="1300" dirty="0"/>
          </a:p>
        </p:txBody>
      </p:sp>
      <p:sp>
        <p:nvSpPr>
          <p:cNvPr id="10" name="Text 7"/>
          <p:cNvSpPr/>
          <p:nvPr/>
        </p:nvSpPr>
        <p:spPr>
          <a:xfrm>
            <a:off x="822960" y="4754880"/>
            <a:ext cx="91440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Material y TPs: github.com/coedomaximiliano/UADE-POO-2026-2</a:t>
            </a:r>
            <a:endParaRPr lang="en-US" sz="1300" dirty="0"/>
          </a:p>
        </p:txBody>
      </p:sp>
      <p:sp>
        <p:nvSpPr>
          <p:cNvPr id="11" name="Text 8"/>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891B0"/>
                </a:solidFill>
                <a:latin typeface="Calibri" pitchFamily="34" charset="0"/>
                <a:ea typeface="Calibri" pitchFamily="34" charset="-122"/>
                <a:cs typeface="Calibri" pitchFamily="34" charset="-120"/>
              </a:rPr>
              <a:t>Paradigma Orientado a Objetos  ·  Clase 1</a:t>
            </a:r>
            <a:endParaRPr lang="en-US" sz="900" dirty="0"/>
          </a:p>
        </p:txBody>
      </p:sp>
      <p:sp>
        <p:nvSpPr>
          <p:cNvPr id="12" name="Text 9"/>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8891B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2026-08-07T19:10:34Z</dcterms:created>
  <dcterms:modified xsi:type="dcterms:W3CDTF">2026-08-07T19:10:34Z</dcterms:modified>
</cp:coreProperties>
</file>