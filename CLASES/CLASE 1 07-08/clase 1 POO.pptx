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96" r:id="rId1"/>
  </p:sldMasterIdLst>
  <p:notesMasterIdLst>
    <p:notesMasterId r:id="rId38"/>
  </p:notesMasterIdLst>
  <p:sldIdLst>
    <p:sldId id="256" r:id="rId2"/>
    <p:sldId id="258" r:id="rId3"/>
    <p:sldId id="261" r:id="rId4"/>
    <p:sldId id="265" r:id="rId5"/>
    <p:sldId id="266" r:id="rId6"/>
    <p:sldId id="263" r:id="rId7"/>
    <p:sldId id="264" r:id="rId8"/>
    <p:sldId id="259" r:id="rId9"/>
    <p:sldId id="295" r:id="rId10"/>
    <p:sldId id="257" r:id="rId11"/>
    <p:sldId id="273" r:id="rId12"/>
    <p:sldId id="271" r:id="rId13"/>
    <p:sldId id="276" r:id="rId14"/>
    <p:sldId id="267" r:id="rId15"/>
    <p:sldId id="270" r:id="rId16"/>
    <p:sldId id="272" r:id="rId17"/>
    <p:sldId id="278" r:id="rId18"/>
    <p:sldId id="294" r:id="rId19"/>
    <p:sldId id="268" r:id="rId20"/>
    <p:sldId id="277" r:id="rId21"/>
    <p:sldId id="280" r:id="rId22"/>
    <p:sldId id="281" r:id="rId23"/>
    <p:sldId id="282" r:id="rId24"/>
    <p:sldId id="283" r:id="rId25"/>
    <p:sldId id="284" r:id="rId26"/>
    <p:sldId id="285" r:id="rId27"/>
    <p:sldId id="286" r:id="rId28"/>
    <p:sldId id="287" r:id="rId29"/>
    <p:sldId id="262" r:id="rId30"/>
    <p:sldId id="288" r:id="rId31"/>
    <p:sldId id="289" r:id="rId32"/>
    <p:sldId id="290" r:id="rId33"/>
    <p:sldId id="292" r:id="rId34"/>
    <p:sldId id="291" r:id="rId35"/>
    <p:sldId id="260" r:id="rId36"/>
    <p:sldId id="293" r:id="rId37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Estilo medio 2 - Énfasis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5923" autoAdjust="0"/>
  </p:normalViewPr>
  <p:slideViewPr>
    <p:cSldViewPr snapToGrid="0">
      <p:cViewPr varScale="1">
        <p:scale>
          <a:sx n="107" d="100"/>
          <a:sy n="107" d="100"/>
        </p:scale>
        <p:origin x="714" y="1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presProps" Target="presProps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tableStyles" Target="tableStyle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encabezad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s-AR"/>
          </a:p>
        </p:txBody>
      </p:sp>
      <p:sp>
        <p:nvSpPr>
          <p:cNvPr id="3" name="Marcador de fech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0F4B06C-CC8E-4D7C-B96D-EC7A919F13C4}" type="datetimeFigureOut">
              <a:rPr lang="es-AR" smtClean="0"/>
              <a:t>7/8/2026</a:t>
            </a:fld>
            <a:endParaRPr lang="es-AR"/>
          </a:p>
        </p:txBody>
      </p:sp>
      <p:sp>
        <p:nvSpPr>
          <p:cNvPr id="4" name="Marcador de imagen de diapositiva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s-AR"/>
          </a:p>
        </p:txBody>
      </p:sp>
      <p:sp>
        <p:nvSpPr>
          <p:cNvPr id="5" name="Marcador de nota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AR"/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s-AR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9C31C20-CFF6-4D02-9F93-8A584230D82D}" type="slidenum">
              <a:rPr lang="es-AR" smtClean="0"/>
              <a:t>‹Nº›</a:t>
            </a:fld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241211685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AR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9C31C20-CFF6-4D02-9F93-8A584230D82D}" type="slidenum">
              <a:rPr lang="es-AR" smtClean="0"/>
              <a:t>2</a:t>
            </a:fld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4133116066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7E47D49-DFFB-B520-A55E-56771254599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>
            <a:extLst>
              <a:ext uri="{FF2B5EF4-FFF2-40B4-BE49-F238E27FC236}">
                <a16:creationId xmlns:a16="http://schemas.microsoft.com/office/drawing/2014/main" id="{60C6716B-D683-ACC5-7092-E111DA08109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>
            <a:extLst>
              <a:ext uri="{FF2B5EF4-FFF2-40B4-BE49-F238E27FC236}">
                <a16:creationId xmlns:a16="http://schemas.microsoft.com/office/drawing/2014/main" id="{CC498FA0-808C-0ADD-BE7B-6AE4452C79A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AR" dirty="0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B251BAF2-214E-FAE9-B79C-63C87D2C723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9C31C20-CFF6-4D02-9F93-8A584230D82D}" type="slidenum">
              <a:rPr lang="es-AR" smtClean="0"/>
              <a:t>3</a:t>
            </a:fld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2817400656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27EEB1A-0484-3694-9CBB-B86E73F6199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>
            <a:extLst>
              <a:ext uri="{FF2B5EF4-FFF2-40B4-BE49-F238E27FC236}">
                <a16:creationId xmlns:a16="http://schemas.microsoft.com/office/drawing/2014/main" id="{ED0C08AE-3E55-18A7-F000-A5E664164EA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>
            <a:extLst>
              <a:ext uri="{FF2B5EF4-FFF2-40B4-BE49-F238E27FC236}">
                <a16:creationId xmlns:a16="http://schemas.microsoft.com/office/drawing/2014/main" id="{3E23B1EA-48C9-AA2F-718F-C81DA0ED659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AR" dirty="0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F33215C7-04F4-F42A-B777-EF8FFB85EA9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9C31C20-CFF6-4D02-9F93-8A584230D82D}" type="slidenum">
              <a:rPr lang="es-AR" smtClean="0"/>
              <a:t>4</a:t>
            </a:fld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3392636543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DAD664E-F192-69CF-A5DA-59DDA2A7242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>
            <a:extLst>
              <a:ext uri="{FF2B5EF4-FFF2-40B4-BE49-F238E27FC236}">
                <a16:creationId xmlns:a16="http://schemas.microsoft.com/office/drawing/2014/main" id="{7A7B0571-5737-F08E-8303-9F07C8A7D6F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>
            <a:extLst>
              <a:ext uri="{FF2B5EF4-FFF2-40B4-BE49-F238E27FC236}">
                <a16:creationId xmlns:a16="http://schemas.microsoft.com/office/drawing/2014/main" id="{E8608C9F-7157-320E-3874-E88648F0DF1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AR" dirty="0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31D6C20F-992D-2A39-4590-B37677B475D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9C31C20-CFF6-4D02-9F93-8A584230D82D}" type="slidenum">
              <a:rPr lang="es-AR" smtClean="0"/>
              <a:t>5</a:t>
            </a:fld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2717464086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DFA1B7A-72E0-664D-BD2C-46E17258BFF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>
            <a:extLst>
              <a:ext uri="{FF2B5EF4-FFF2-40B4-BE49-F238E27FC236}">
                <a16:creationId xmlns:a16="http://schemas.microsoft.com/office/drawing/2014/main" id="{7BC69094-149A-59FF-1DCA-D07DEB1C05A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>
            <a:extLst>
              <a:ext uri="{FF2B5EF4-FFF2-40B4-BE49-F238E27FC236}">
                <a16:creationId xmlns:a16="http://schemas.microsoft.com/office/drawing/2014/main" id="{2F826D62-BD19-8C2A-7241-726120969C7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AR" dirty="0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A6B2363B-5E03-6DD3-1C1A-6EB2DA92EBA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9C31C20-CFF6-4D02-9F93-8A584230D82D}" type="slidenum">
              <a:rPr lang="es-AR" smtClean="0"/>
              <a:t>6</a:t>
            </a:fld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1850067716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A22AB8B-CA41-2C21-8FC7-4FC578A09F5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>
            <a:extLst>
              <a:ext uri="{FF2B5EF4-FFF2-40B4-BE49-F238E27FC236}">
                <a16:creationId xmlns:a16="http://schemas.microsoft.com/office/drawing/2014/main" id="{7B9778B4-E3EC-1F4D-EF18-37C3E847FB5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>
            <a:extLst>
              <a:ext uri="{FF2B5EF4-FFF2-40B4-BE49-F238E27FC236}">
                <a16:creationId xmlns:a16="http://schemas.microsoft.com/office/drawing/2014/main" id="{416D2979-D401-64F9-4154-04EAA58A556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AR" dirty="0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374C73AE-41CE-DFE3-2125-71B01AFE4A4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9C31C20-CFF6-4D02-9F93-8A584230D82D}" type="slidenum">
              <a:rPr lang="es-AR" smtClean="0"/>
              <a:t>7</a:t>
            </a:fld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3701374140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203F54B-42F2-C679-A8BA-CCBD318FEAF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>
            <a:extLst>
              <a:ext uri="{FF2B5EF4-FFF2-40B4-BE49-F238E27FC236}">
                <a16:creationId xmlns:a16="http://schemas.microsoft.com/office/drawing/2014/main" id="{298729E9-27B1-3ED7-54BD-163C3CBDA3A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>
            <a:extLst>
              <a:ext uri="{FF2B5EF4-FFF2-40B4-BE49-F238E27FC236}">
                <a16:creationId xmlns:a16="http://schemas.microsoft.com/office/drawing/2014/main" id="{CE7C8EB6-2E1E-F752-392C-F3871C8EC29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AR" dirty="0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006F7192-E964-D324-2DF3-63135AF5204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9C31C20-CFF6-4D02-9F93-8A584230D82D}" type="slidenum">
              <a:rPr lang="es-AR" smtClean="0"/>
              <a:t>8</a:t>
            </a:fld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4077289279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6192007-B50D-BACB-5B3E-E5B38CF82FB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>
            <a:extLst>
              <a:ext uri="{FF2B5EF4-FFF2-40B4-BE49-F238E27FC236}">
                <a16:creationId xmlns:a16="http://schemas.microsoft.com/office/drawing/2014/main" id="{7F08981F-03D0-B508-7772-1E8B955F2AB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>
            <a:extLst>
              <a:ext uri="{FF2B5EF4-FFF2-40B4-BE49-F238E27FC236}">
                <a16:creationId xmlns:a16="http://schemas.microsoft.com/office/drawing/2014/main" id="{E34E8988-A1F1-7AA4-4940-6F47C6F3E46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AR" dirty="0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4C8EF2BC-D16B-FC13-CE7C-97F8B2CB0A1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9C31C20-CFF6-4D02-9F93-8A584230D82D}" type="slidenum">
              <a:rPr lang="es-AR" smtClean="0"/>
              <a:t>9</a:t>
            </a:fld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515328444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AR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9C31C20-CFF6-4D02-9F93-8A584230D82D}" type="slidenum">
              <a:rPr lang="es-AR" smtClean="0"/>
              <a:t>10</a:t>
            </a:fld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225541045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E5D13B4-FEBE-81F6-5391-30AFAEA6627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>
            <a:extLst>
              <a:ext uri="{FF2B5EF4-FFF2-40B4-BE49-F238E27FC236}">
                <a16:creationId xmlns:a16="http://schemas.microsoft.com/office/drawing/2014/main" id="{F57F626D-0270-D004-5470-9CA0BD127E7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>
            <a:extLst>
              <a:ext uri="{FF2B5EF4-FFF2-40B4-BE49-F238E27FC236}">
                <a16:creationId xmlns:a16="http://schemas.microsoft.com/office/drawing/2014/main" id="{1AF306E3-7B4B-1367-1BDC-28CB891E97F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AR" dirty="0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D1726295-A201-9015-32F4-C7BAAA209EE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9C31C20-CFF6-4D02-9F93-8A584230D82D}" type="slidenum">
              <a:rPr lang="es-AR" smtClean="0"/>
              <a:t>11</a:t>
            </a:fld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1742865073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14A3C7F-C20F-1369-B4B2-54C8A5EF770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>
            <a:extLst>
              <a:ext uri="{FF2B5EF4-FFF2-40B4-BE49-F238E27FC236}">
                <a16:creationId xmlns:a16="http://schemas.microsoft.com/office/drawing/2014/main" id="{233BFAEC-1396-15C3-1887-6F0DB7B9FC5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>
            <a:extLst>
              <a:ext uri="{FF2B5EF4-FFF2-40B4-BE49-F238E27FC236}">
                <a16:creationId xmlns:a16="http://schemas.microsoft.com/office/drawing/2014/main" id="{57F11311-2771-384E-679C-40DCBFB1CAD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s-AR" dirty="0"/>
              <a:t>Si tienen 10 segundo para decir que vieron en un zoológico tratando de generalizar la respuesta.</a:t>
            </a:r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13E2BB72-B953-BFAE-27B4-F3EFE7EB23F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9C31C20-CFF6-4D02-9F93-8A584230D82D}" type="slidenum">
              <a:rPr lang="es-AR" smtClean="0"/>
              <a:t>12</a:t>
            </a:fld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4265886708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1AC8CE4-ED32-AC81-45F4-EA5FB57EF46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>
            <a:extLst>
              <a:ext uri="{FF2B5EF4-FFF2-40B4-BE49-F238E27FC236}">
                <a16:creationId xmlns:a16="http://schemas.microsoft.com/office/drawing/2014/main" id="{79776DFF-E209-E808-D920-83E26C3676D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>
            <a:extLst>
              <a:ext uri="{FF2B5EF4-FFF2-40B4-BE49-F238E27FC236}">
                <a16:creationId xmlns:a16="http://schemas.microsoft.com/office/drawing/2014/main" id="{156724EE-FC73-E586-24A8-7DB199C282E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AR" dirty="0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414DD286-7185-CE9E-EF8D-6061F2A7D76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9C31C20-CFF6-4D02-9F93-8A584230D82D}" type="slidenum">
              <a:rPr lang="es-AR" smtClean="0"/>
              <a:t>13</a:t>
            </a:fld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2296579368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9329968-6E7B-D241-5335-D7D1B6B4750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>
            <a:extLst>
              <a:ext uri="{FF2B5EF4-FFF2-40B4-BE49-F238E27FC236}">
                <a16:creationId xmlns:a16="http://schemas.microsoft.com/office/drawing/2014/main" id="{C8323C04-FB66-88AB-6864-097A80C95F4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>
            <a:extLst>
              <a:ext uri="{FF2B5EF4-FFF2-40B4-BE49-F238E27FC236}">
                <a16:creationId xmlns:a16="http://schemas.microsoft.com/office/drawing/2014/main" id="{453D2037-D293-FF6F-B079-6FD1BC6BC37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AR" dirty="0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D884A39B-5005-58FA-51EB-1213E97F488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9C31C20-CFF6-4D02-9F93-8A584230D82D}" type="slidenum">
              <a:rPr lang="es-AR" smtClean="0"/>
              <a:t>19</a:t>
            </a:fld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1436070702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728CAFE-0492-075E-8C01-C05F2E144CB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>
            <a:extLst>
              <a:ext uri="{FF2B5EF4-FFF2-40B4-BE49-F238E27FC236}">
                <a16:creationId xmlns:a16="http://schemas.microsoft.com/office/drawing/2014/main" id="{A698299E-ECE0-360E-5051-1315448CB39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>
            <a:extLst>
              <a:ext uri="{FF2B5EF4-FFF2-40B4-BE49-F238E27FC236}">
                <a16:creationId xmlns:a16="http://schemas.microsoft.com/office/drawing/2014/main" id="{0DE6CBCE-814F-F345-F426-0E908D120E5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AR" dirty="0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916374B7-383E-FEA4-B123-7F3098DBDA6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9C31C20-CFF6-4D02-9F93-8A584230D82D}" type="slidenum">
              <a:rPr lang="es-AR" smtClean="0"/>
              <a:t>28</a:t>
            </a:fld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1506385666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AR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9C31C20-CFF6-4D02-9F93-8A584230D82D}" type="slidenum">
              <a:rPr lang="es-AR" smtClean="0"/>
              <a:t>29</a:t>
            </a:fld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1484908652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2C18AAD-F8CB-0A08-F3AF-31B2448D773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>
            <a:extLst>
              <a:ext uri="{FF2B5EF4-FFF2-40B4-BE49-F238E27FC236}">
                <a16:creationId xmlns:a16="http://schemas.microsoft.com/office/drawing/2014/main" id="{0944A2D4-3F23-9EBF-199B-346F98378CE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>
            <a:extLst>
              <a:ext uri="{FF2B5EF4-FFF2-40B4-BE49-F238E27FC236}">
                <a16:creationId xmlns:a16="http://schemas.microsoft.com/office/drawing/2014/main" id="{4BD49207-4300-A3E4-2CD8-E0B88998EB3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AR" dirty="0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C1452C84-9DB5-ED8B-8317-B660BE7F4ED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9C31C20-CFF6-4D02-9F93-8A584230D82D}" type="slidenum">
              <a:rPr lang="es-AR" smtClean="0"/>
              <a:t>30</a:t>
            </a:fld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1356651696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9B0C100-D6D6-62AD-B0FE-82E8D70DC36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>
            <a:extLst>
              <a:ext uri="{FF2B5EF4-FFF2-40B4-BE49-F238E27FC236}">
                <a16:creationId xmlns:a16="http://schemas.microsoft.com/office/drawing/2014/main" id="{4A56E5B5-483F-F3A8-16AA-5C90E1A9D11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>
            <a:extLst>
              <a:ext uri="{FF2B5EF4-FFF2-40B4-BE49-F238E27FC236}">
                <a16:creationId xmlns:a16="http://schemas.microsoft.com/office/drawing/2014/main" id="{DCDB6B4B-5441-E117-2F23-486B3BD1C4C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AR" dirty="0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025A6DD2-34EA-4C3F-6F90-7FC1F74E88C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9C31C20-CFF6-4D02-9F93-8A584230D82D}" type="slidenum">
              <a:rPr lang="es-AR" smtClean="0"/>
              <a:t>31</a:t>
            </a:fld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2807110289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6473D35-1202-A5AE-2DA7-D7B148B43CA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>
            <a:extLst>
              <a:ext uri="{FF2B5EF4-FFF2-40B4-BE49-F238E27FC236}">
                <a16:creationId xmlns:a16="http://schemas.microsoft.com/office/drawing/2014/main" id="{EAE5C99A-C302-2167-4B64-09CFE3BFF96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>
            <a:extLst>
              <a:ext uri="{FF2B5EF4-FFF2-40B4-BE49-F238E27FC236}">
                <a16:creationId xmlns:a16="http://schemas.microsoft.com/office/drawing/2014/main" id="{108F0CDE-4748-E9DB-1ECF-696C21BDFD2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AR" dirty="0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FFB09D14-7D5A-9FDB-1307-2D3581131B5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9C31C20-CFF6-4D02-9F93-8A584230D82D}" type="slidenum">
              <a:rPr lang="es-AR" smtClean="0"/>
              <a:t>32</a:t>
            </a:fld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162248727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47BD846-5501-5D60-EEEB-BDEB2DD325B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>
            <a:extLst>
              <a:ext uri="{FF2B5EF4-FFF2-40B4-BE49-F238E27FC236}">
                <a16:creationId xmlns:a16="http://schemas.microsoft.com/office/drawing/2014/main" id="{01BEACE5-8E28-2E90-E561-92B4E5D4DFA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>
            <a:extLst>
              <a:ext uri="{FF2B5EF4-FFF2-40B4-BE49-F238E27FC236}">
                <a16:creationId xmlns:a16="http://schemas.microsoft.com/office/drawing/2014/main" id="{DA87575B-397A-233F-E480-7480D1E55A3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AR" dirty="0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B2E90E48-7765-FDF7-4ADC-7FC5938BCF7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9C31C20-CFF6-4D02-9F93-8A584230D82D}" type="slidenum">
              <a:rPr lang="es-AR" smtClean="0"/>
              <a:t>33</a:t>
            </a:fld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396937325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AD1B357-92D6-DCE6-B239-B285BFA3956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>
            <a:extLst>
              <a:ext uri="{FF2B5EF4-FFF2-40B4-BE49-F238E27FC236}">
                <a16:creationId xmlns:a16="http://schemas.microsoft.com/office/drawing/2014/main" id="{F61C135E-AE52-CF00-FD34-E823A5AC91E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>
            <a:extLst>
              <a:ext uri="{FF2B5EF4-FFF2-40B4-BE49-F238E27FC236}">
                <a16:creationId xmlns:a16="http://schemas.microsoft.com/office/drawing/2014/main" id="{F8B3EDD1-D25E-BB8C-C9C2-5A362F6C421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AR" dirty="0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A8084534-C41C-89FF-D048-1EAF82D20B7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9C31C20-CFF6-4D02-9F93-8A584230D82D}" type="slidenum">
              <a:rPr lang="es-AR" smtClean="0"/>
              <a:t>34</a:t>
            </a:fld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1707330524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24A3293-B971-489C-C0AD-A7A84D6C19D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>
            <a:extLst>
              <a:ext uri="{FF2B5EF4-FFF2-40B4-BE49-F238E27FC236}">
                <a16:creationId xmlns:a16="http://schemas.microsoft.com/office/drawing/2014/main" id="{09C0493D-37E6-B4FD-FCBD-78FF6E9E2BD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>
            <a:extLst>
              <a:ext uri="{FF2B5EF4-FFF2-40B4-BE49-F238E27FC236}">
                <a16:creationId xmlns:a16="http://schemas.microsoft.com/office/drawing/2014/main" id="{634C58A0-1526-FDA1-6AEC-85DF8972E9C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AR" dirty="0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2E90CFA7-EB69-3AD1-36CF-954439E0105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9C31C20-CFF6-4D02-9F93-8A584230D82D}" type="slidenum">
              <a:rPr lang="es-AR" smtClean="0"/>
              <a:t>35</a:t>
            </a:fld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2612927327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25DBACF-1A5B-8F45-D7CC-7924EE2530D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>
            <a:extLst>
              <a:ext uri="{FF2B5EF4-FFF2-40B4-BE49-F238E27FC236}">
                <a16:creationId xmlns:a16="http://schemas.microsoft.com/office/drawing/2014/main" id="{F08D38DA-C01F-AD97-96A0-53147239DCF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>
            <a:extLst>
              <a:ext uri="{FF2B5EF4-FFF2-40B4-BE49-F238E27FC236}">
                <a16:creationId xmlns:a16="http://schemas.microsoft.com/office/drawing/2014/main" id="{2A993A90-1B49-A58B-B19E-919912D9C41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AR" dirty="0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6BC4FD2C-3FC5-E565-479C-D5238BA0694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9C31C20-CFF6-4D02-9F93-8A584230D82D}" type="slidenum">
              <a:rPr lang="es-AR" smtClean="0"/>
              <a:t>36</a:t>
            </a:fld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106349055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1" y="6400800"/>
            <a:ext cx="12192000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s-AR"/>
          </a:p>
        </p:txBody>
      </p:sp>
      <p:sp>
        <p:nvSpPr>
          <p:cNvPr id="8" name="Rectangle 7"/>
          <p:cNvSpPr/>
          <p:nvPr/>
        </p:nvSpPr>
        <p:spPr>
          <a:xfrm>
            <a:off x="1" y="6334316"/>
            <a:ext cx="12192000" cy="66484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s-AR"/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097280" y="758952"/>
            <a:ext cx="10058400" cy="3566160"/>
          </a:xfrm>
        </p:spPr>
        <p:txBody>
          <a:bodyPr anchor="b">
            <a:normAutofit/>
          </a:bodyPr>
          <a:lstStyle>
            <a:lvl1pPr algn="l">
              <a:lnSpc>
                <a:spcPct val="85000"/>
              </a:lnSpc>
              <a:defRPr sz="8000" spc="-50" baseline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00051" y="4455621"/>
            <a:ext cx="10058400" cy="1143000"/>
          </a:xfrm>
        </p:spPr>
        <p:txBody>
          <a:bodyPr lIns="91440" rIns="91440">
            <a:normAutofit/>
          </a:bodyPr>
          <a:lstStyle>
            <a:lvl1pPr marL="0" indent="0" algn="l">
              <a:buNone/>
              <a:defRPr sz="2400" cap="all" spc="200" baseline="0">
                <a:solidFill>
                  <a:schemeClr val="tx2"/>
                </a:solidFill>
                <a:latin typeface="+mj-lt"/>
              </a:defRPr>
            </a:lvl1pPr>
            <a:lvl2pPr marL="457200" indent="0" algn="ctr">
              <a:buNone/>
              <a:defRPr sz="2400"/>
            </a:lvl2pPr>
            <a:lvl3pPr marL="914400" indent="0" algn="ctr">
              <a:buNone/>
              <a:defRPr sz="2400"/>
            </a:lvl3pPr>
            <a:lvl4pPr marL="1371600" indent="0" algn="ctr">
              <a:buNone/>
              <a:defRPr sz="2000"/>
            </a:lvl4pPr>
            <a:lvl5pPr marL="1828800" indent="0" algn="ctr">
              <a:buNone/>
              <a:defRPr sz="2000"/>
            </a:lvl5pPr>
            <a:lvl6pPr marL="2286000" indent="0" algn="ctr">
              <a:buNone/>
              <a:defRPr sz="2000"/>
            </a:lvl6pPr>
            <a:lvl7pPr marL="2743200" indent="0" algn="ctr">
              <a:buNone/>
              <a:defRPr sz="2000"/>
            </a:lvl7pPr>
            <a:lvl8pPr marL="3200400" indent="0" algn="ctr">
              <a:buNone/>
              <a:defRPr sz="2000"/>
            </a:lvl8pPr>
            <a:lvl9pPr marL="3657600" indent="0" algn="ctr">
              <a:buNone/>
              <a:defRPr sz="2000"/>
            </a:lvl9pPr>
          </a:lstStyle>
          <a:p>
            <a:r>
              <a:rPr lang="es-ES"/>
              <a:t>Haga clic para modificar el estilo de subtítulo del patrón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8B0E31-E166-4429-8D93-59E0EEE29F09}" type="datetime1">
              <a:rPr lang="es-AR" smtClean="0"/>
              <a:t>7/8/2026</a:t>
            </a:fld>
            <a:endParaRPr lang="es-A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A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8ECD1B-3F01-46F8-A46F-31A31EFC5ABF}" type="slidenum">
              <a:rPr lang="es-AR" smtClean="0"/>
              <a:t>‹Nº›</a:t>
            </a:fld>
            <a:endParaRPr lang="es-AR"/>
          </a:p>
        </p:txBody>
      </p:sp>
      <p:cxnSp>
        <p:nvCxnSpPr>
          <p:cNvPr id="9" name="Straight Connector 8"/>
          <p:cNvCxnSpPr/>
          <p:nvPr/>
        </p:nvCxnSpPr>
        <p:spPr>
          <a:xfrm>
            <a:off x="1207658" y="4343400"/>
            <a:ext cx="987552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24769409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2F0DB7-33C9-42EC-8ADD-109566451DAF}" type="datetime1">
              <a:rPr lang="es-AR" smtClean="0"/>
              <a:t>7/8/2026</a:t>
            </a:fld>
            <a:endParaRPr lang="es-A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A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8ECD1B-3F01-46F8-A46F-31A31EFC5ABF}" type="slidenum">
              <a:rPr lang="es-AR" smtClean="0"/>
              <a:t>‹Nº›</a:t>
            </a:fld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12856202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Encabezado de sección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80" y="758952"/>
            <a:ext cx="10058400" cy="3566160"/>
          </a:xfrm>
        </p:spPr>
        <p:txBody>
          <a:bodyPr anchor="b" anchorCtr="0">
            <a:normAutofit/>
          </a:bodyPr>
          <a:lstStyle>
            <a:lvl1pPr>
              <a:lnSpc>
                <a:spcPct val="85000"/>
              </a:lnSpc>
              <a:defRPr sz="8000" b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4453128"/>
            <a:ext cx="10058400" cy="1143000"/>
          </a:xfrm>
        </p:spPr>
        <p:txBody>
          <a:bodyPr lIns="91440" rIns="91440" anchor="t" anchorCtr="0">
            <a:normAutofit/>
          </a:bodyPr>
          <a:lstStyle>
            <a:lvl1pPr marL="0" indent="0">
              <a:buNone/>
              <a:defRPr sz="2400" cap="all" spc="200" baseline="0">
                <a:solidFill>
                  <a:schemeClr val="tx2"/>
                </a:solidFill>
                <a:latin typeface="+mj-lt"/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C7C9E8-4407-43C8-A0A3-C92CF745C5E1}" type="datetime1">
              <a:rPr lang="es-AR" smtClean="0"/>
              <a:t>7/8/2026</a:t>
            </a:fld>
            <a:endParaRPr lang="es-A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A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8ECD1B-3F01-46F8-A46F-31A31EFC5ABF}" type="slidenum">
              <a:rPr lang="es-AR" smtClean="0"/>
              <a:t>‹Nº›</a:t>
            </a:fld>
            <a:endParaRPr lang="es-AR"/>
          </a:p>
        </p:txBody>
      </p:sp>
      <p:cxnSp>
        <p:nvCxnSpPr>
          <p:cNvPr id="9" name="Straight Connector 8"/>
          <p:cNvCxnSpPr/>
          <p:nvPr/>
        </p:nvCxnSpPr>
        <p:spPr>
          <a:xfrm>
            <a:off x="1207658" y="4343400"/>
            <a:ext cx="987552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7981630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097280" y="1845734"/>
            <a:ext cx="4937760" cy="4023359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17920" y="1845735"/>
            <a:ext cx="4937760" cy="4023360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1F62BB-1419-4B23-9372-BAECA7682902}" type="datetime1">
              <a:rPr lang="es-AR" smtClean="0"/>
              <a:t>7/8/2026</a:t>
            </a:fld>
            <a:endParaRPr lang="es-A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A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8ECD1B-3F01-46F8-A46F-31A31EFC5ABF}" type="slidenum">
              <a:rPr lang="es-AR" smtClean="0"/>
              <a:t>‹Nº›</a:t>
            </a:fld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115527467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1846052"/>
            <a:ext cx="4937760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097280" y="2582335"/>
            <a:ext cx="4937760" cy="3286760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217920" y="1846052"/>
            <a:ext cx="4937760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217920" y="2582334"/>
            <a:ext cx="4937760" cy="3286760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A023DE-62F8-4ABA-9542-EFCF60082CDE}" type="datetime1">
              <a:rPr lang="es-AR" smtClean="0"/>
              <a:t>7/8/2026</a:t>
            </a:fld>
            <a:endParaRPr lang="es-AR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AR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8ECD1B-3F01-46F8-A46F-31A31EFC5ABF}" type="slidenum">
              <a:rPr lang="es-AR" smtClean="0"/>
              <a:t>‹Nº›</a:t>
            </a:fld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166243774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147E75-8D9D-4E77-946F-E91CF384C506}" type="datetime1">
              <a:rPr lang="es-AR" smtClean="0"/>
              <a:t>7/8/2026</a:t>
            </a:fld>
            <a:endParaRPr lang="es-AR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AR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8ECD1B-3F01-46F8-A46F-31A31EFC5ABF}" type="slidenum">
              <a:rPr lang="es-AR" smtClean="0"/>
              <a:t>‹Nº›</a:t>
            </a:fld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198060914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6" name="Rectangle 5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DD0582-0E59-4C86-A105-E652692CA503}" type="datetime1">
              <a:rPr lang="es-AR" smtClean="0"/>
              <a:t>7/8/2026</a:t>
            </a:fld>
            <a:endParaRPr lang="es-AR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endParaRPr lang="es-AR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8ECD1B-3F01-46F8-A46F-31A31EFC5ABF}" type="slidenum">
              <a:rPr lang="es-AR" smtClean="0"/>
              <a:t>‹Nº›</a:t>
            </a:fld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355480090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16" y="0"/>
            <a:ext cx="4050791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4040071" y="0"/>
            <a:ext cx="64008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594359"/>
            <a:ext cx="3200400" cy="2286000"/>
          </a:xfrm>
        </p:spPr>
        <p:txBody>
          <a:bodyPr anchor="b">
            <a:normAutofit/>
          </a:bodyPr>
          <a:lstStyle>
            <a:lvl1pPr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800600" y="731520"/>
            <a:ext cx="6492240" cy="5257800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2926080"/>
            <a:ext cx="3200400" cy="3379124"/>
          </a:xfrm>
        </p:spPr>
        <p:txBody>
          <a:bodyPr lIns="91440" rIns="91440">
            <a:normAutofit/>
          </a:bodyPr>
          <a:lstStyle>
            <a:lvl1pPr marL="0" indent="0"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465512" y="6459785"/>
            <a:ext cx="2618510" cy="365125"/>
          </a:xfrm>
        </p:spPr>
        <p:txBody>
          <a:bodyPr/>
          <a:lstStyle>
            <a:lvl1pPr algn="l">
              <a:defRPr/>
            </a:lvl1pPr>
          </a:lstStyle>
          <a:p>
            <a:fld id="{97121831-2A2E-4197-A959-861469F3C2FE}" type="datetime1">
              <a:rPr lang="es-AR" smtClean="0"/>
              <a:t>7/8/2026</a:t>
            </a:fld>
            <a:endParaRPr lang="es-A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4800600" y="6459785"/>
            <a:ext cx="4648200" cy="365125"/>
          </a:xfrm>
        </p:spPr>
        <p:txBody>
          <a:bodyPr/>
          <a:lstStyle>
            <a:lvl1pPr algn="l">
              <a:defRPr>
                <a:solidFill>
                  <a:schemeClr val="tx2"/>
                </a:solidFill>
              </a:defRPr>
            </a:lvl1pPr>
          </a:lstStyle>
          <a:p>
            <a:endParaRPr lang="es-A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6C8ECD1B-3F01-46F8-A46F-31A31EFC5ABF}" type="slidenum">
              <a:rPr lang="es-AR" smtClean="0"/>
              <a:t>‹Nº›</a:t>
            </a:fld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38618388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0" y="4953000"/>
            <a:ext cx="12188825" cy="1905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15" y="491507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80" y="5074920"/>
            <a:ext cx="10113645" cy="822960"/>
          </a:xfrm>
        </p:spPr>
        <p:txBody>
          <a:bodyPr tIns="0" bIns="0" anchor="b">
            <a:noAutofit/>
          </a:bodyPr>
          <a:lstStyle>
            <a:lvl1pPr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5" y="0"/>
            <a:ext cx="12191985" cy="4915076"/>
          </a:xfrm>
          <a:solidFill>
            <a:schemeClr val="bg2">
              <a:lumMod val="90000"/>
            </a:schemeClr>
          </a:solidFill>
        </p:spPr>
        <p:txBody>
          <a:bodyPr lIns="457200" tIns="457200"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s-ES"/>
              <a:t>Haga clic en el icono para agregar una imagen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97280" y="5907024"/>
            <a:ext cx="10113264" cy="594360"/>
          </a:xfrm>
        </p:spPr>
        <p:txBody>
          <a:bodyPr lIns="91440" tIns="0" rIns="91440" bIns="0">
            <a:normAutofit/>
          </a:bodyPr>
          <a:lstStyle>
            <a:lvl1pPr marL="0" indent="0">
              <a:spcBef>
                <a:spcPts val="0"/>
              </a:spcBef>
              <a:spcAft>
                <a:spcPts val="600"/>
              </a:spcAft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318435-648D-4F03-BCE6-73CF2325A227}" type="datetime1">
              <a:rPr lang="es-AR" smtClean="0"/>
              <a:t>7/8/2026</a:t>
            </a:fld>
            <a:endParaRPr lang="es-A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A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8ECD1B-3F01-46F8-A46F-31A31EFC5ABF}" type="slidenum">
              <a:rPr lang="es-AR" smtClean="0"/>
              <a:t>‹Nº›</a:t>
            </a:fld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61536480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lIns="45720" tIns="0" rIns="45720" bIns="0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F9C3651-DCEB-4800-AC7F-34EF633FC578}" type="datetime1">
              <a:rPr lang="es-AR" smtClean="0"/>
              <a:t>7/8/2026</a:t>
            </a:fld>
            <a:endParaRPr lang="es-A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A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8ECD1B-3F01-46F8-A46F-31A31EFC5ABF}" type="slidenum">
              <a:rPr lang="es-AR" smtClean="0"/>
              <a:t>‹Nº›</a:t>
            </a:fld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211391816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412302"/>
            <a:ext cx="2628900" cy="5759898"/>
          </a:xfrm>
        </p:spPr>
        <p:txBody>
          <a:bodyPr vert="eaVert"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412302"/>
            <a:ext cx="7734300" cy="5759898"/>
          </a:xfrm>
        </p:spPr>
        <p:txBody>
          <a:bodyPr vert="eaVert" lIns="45720" tIns="0" rIns="45720" bIns="0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BF54F7-4526-4ACE-92EA-B121D77744F9}" type="datetime1">
              <a:rPr lang="es-AR" smtClean="0"/>
              <a:t>7/8/2026</a:t>
            </a:fld>
            <a:endParaRPr lang="es-A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A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8ECD1B-3F01-46F8-A46F-31A31EFC5ABF}" type="slidenum">
              <a:rPr lang="es-AR" smtClean="0"/>
              <a:t>‹Nº›</a:t>
            </a:fld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163578966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s-AR"/>
          </a:p>
        </p:txBody>
      </p:sp>
      <p:sp>
        <p:nvSpPr>
          <p:cNvPr id="9" name="Rectangle 8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s-AR"/>
          </a:p>
        </p:txBody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1845734"/>
            <a:ext cx="10058400" cy="4023360"/>
          </a:xfrm>
          <a:prstGeom prst="rect">
            <a:avLst/>
          </a:prstGeom>
        </p:spPr>
        <p:txBody>
          <a:bodyPr vert="horz" lIns="0" tIns="45720" rIns="0" bIns="45720" rtlCol="0">
            <a:normAutofit/>
          </a:bodyPr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097280" y="6459785"/>
            <a:ext cx="2472271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rgbClr val="FFFFFF"/>
                </a:solidFill>
              </a:defRPr>
            </a:lvl1pPr>
          </a:lstStyle>
          <a:p>
            <a:fld id="{7E5E7404-478C-4606-9AD3-7AD6EC75AF62}" type="datetime1">
              <a:rPr lang="es-AR" smtClean="0"/>
              <a:t>7/8/2026</a:t>
            </a:fld>
            <a:endParaRPr lang="es-A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686185" y="6459785"/>
            <a:ext cx="482280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 cap="all" baseline="0">
                <a:solidFill>
                  <a:srgbClr val="FFFFFF"/>
                </a:solidFill>
              </a:defRPr>
            </a:lvl1pPr>
          </a:lstStyle>
          <a:p>
            <a:endParaRPr lang="es-A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9900458" y="6459785"/>
            <a:ext cx="131202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rgbClr val="FFFFFF"/>
                </a:solidFill>
              </a:defRPr>
            </a:lvl1pPr>
          </a:lstStyle>
          <a:p>
            <a:fld id="{6C8ECD1B-3F01-46F8-A46F-31A31EFC5ABF}" type="slidenum">
              <a:rPr lang="es-AR" smtClean="0"/>
              <a:t>‹Nº›</a:t>
            </a:fld>
            <a:endParaRPr lang="es-AR"/>
          </a:p>
        </p:txBody>
      </p:sp>
      <p:cxnSp>
        <p:nvCxnSpPr>
          <p:cNvPr id="10" name="Straight Connector 9"/>
          <p:cNvCxnSpPr/>
          <p:nvPr/>
        </p:nvCxnSpPr>
        <p:spPr>
          <a:xfrm>
            <a:off x="1193532" y="1737845"/>
            <a:ext cx="996696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71468369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97" r:id="rId1"/>
    <p:sldLayoutId id="2147483698" r:id="rId2"/>
    <p:sldLayoutId id="2147483699" r:id="rId3"/>
    <p:sldLayoutId id="2147483700" r:id="rId4"/>
    <p:sldLayoutId id="2147483701" r:id="rId5"/>
    <p:sldLayoutId id="2147483702" r:id="rId6"/>
    <p:sldLayoutId id="2147483703" r:id="rId7"/>
    <p:sldLayoutId id="2147483704" r:id="rId8"/>
    <p:sldLayoutId id="2147483705" r:id="rId9"/>
    <p:sldLayoutId id="2147483706" r:id="rId10"/>
    <p:sldLayoutId id="2147483707" r:id="rId11"/>
  </p:sldLayoutIdLst>
  <p:hf hdr="0" ftr="0" dt="0"/>
  <p:txStyles>
    <p:titleStyle>
      <a:lvl1pPr algn="l" defTabSz="914400" rtl="0" eaLnBrk="1" latinLnBrk="0" hangingPunct="1">
        <a:lnSpc>
          <a:spcPct val="85000"/>
        </a:lnSpc>
        <a:spcBef>
          <a:spcPct val="0"/>
        </a:spcBef>
        <a:buNone/>
        <a:defRPr sz="4800" kern="1200" spc="-50" baseline="0">
          <a:solidFill>
            <a:schemeClr val="tx1">
              <a:lumMod val="75000"/>
              <a:lumOff val="25000"/>
            </a:schemeClr>
          </a:solidFill>
          <a:latin typeface="+mj-lt"/>
          <a:ea typeface="+mj-ea"/>
          <a:cs typeface="+mj-cs"/>
        </a:defRPr>
      </a:lvl1pPr>
    </p:titleStyle>
    <p:bodyStyle>
      <a:lvl1pPr marL="91440" indent="-91440" algn="l" defTabSz="914400" rtl="0" eaLnBrk="1" latinLnBrk="0" hangingPunct="1">
        <a:lnSpc>
          <a:spcPct val="90000"/>
        </a:lnSpc>
        <a:spcBef>
          <a:spcPts val="1200"/>
        </a:spcBef>
        <a:spcAft>
          <a:spcPts val="200"/>
        </a:spcAft>
        <a:buClr>
          <a:schemeClr val="accent1"/>
        </a:buClr>
        <a:buSzPct val="100000"/>
        <a:buFont typeface="Calibri" panose="020F0502020204030204" pitchFamily="34" charset="0"/>
        <a:buChar char=" "/>
        <a:defRPr sz="20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38404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56692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74980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93268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11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13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15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17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4.png"/><Relationship Id="rId4" Type="http://schemas.openxmlformats.org/officeDocument/2006/relationships/image" Target="../media/image1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7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8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9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1.jpeg"/><Relationship Id="rId4" Type="http://schemas.openxmlformats.org/officeDocument/2006/relationships/image" Target="../media/image10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2.jpe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6.png"/><Relationship Id="rId4" Type="http://schemas.openxmlformats.org/officeDocument/2006/relationships/image" Target="../media/image15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jpe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jpe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6.png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7.png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6.png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6.png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8.png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9.png"/><Relationship Id="rId4" Type="http://schemas.openxmlformats.org/officeDocument/2006/relationships/image" Target="../media/image26.png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0.png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0FB78ED-15BE-C64C-6F6A-3F9A1780B36B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 anchor="t">
            <a:normAutofit/>
          </a:bodyPr>
          <a:lstStyle/>
          <a:p>
            <a:br>
              <a:rPr lang="es-AR" sz="5400" dirty="0"/>
            </a:br>
            <a:r>
              <a:rPr lang="es-AR" sz="4800" dirty="0"/>
              <a:t>PARADIGMA ORIENTADO A OBJETOS</a:t>
            </a:r>
            <a:br>
              <a:rPr lang="es-AR" sz="5400" dirty="0"/>
            </a:br>
            <a:br>
              <a:rPr lang="es-AR" sz="6000" dirty="0"/>
            </a:br>
            <a:r>
              <a:rPr lang="es-AR" sz="4800" dirty="0"/>
              <a:t>Clase 1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4CE69D2D-49C9-764A-9382-72122873E520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s-AR" dirty="0"/>
              <a:t>Ing. Maximiliano Coedo</a:t>
            </a:r>
          </a:p>
          <a:p>
            <a:r>
              <a:rPr lang="es-AR" dirty="0"/>
              <a:t>Email: mcoedo@uade.edu.ar</a:t>
            </a:r>
          </a:p>
        </p:txBody>
      </p:sp>
      <p:pic>
        <p:nvPicPr>
          <p:cNvPr id="5" name="Imagen 4">
            <a:extLst>
              <a:ext uri="{FF2B5EF4-FFF2-40B4-BE49-F238E27FC236}">
                <a16:creationId xmlns:a16="http://schemas.microsoft.com/office/drawing/2014/main" id="{5D1DAC32-DB33-3B3B-60B6-FD52556E458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184257" y="757082"/>
            <a:ext cx="971423" cy="50229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6419632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73EFB14-CA4A-ECCC-0BA5-42AE32B3513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1291CD0-AA5B-9491-3C0D-41D00636F80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/>
              <a:t>PARADIGMA ORIENTADO A OBJETOS</a:t>
            </a:r>
            <a:r>
              <a:rPr lang="es-AR" dirty="0"/>
              <a:t>.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0768CF56-BB27-4C30-E2A3-5D7B9AE0CB5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97280" y="1845734"/>
            <a:ext cx="10058400" cy="4351866"/>
          </a:xfrm>
        </p:spPr>
        <p:txBody>
          <a:bodyPr>
            <a:normAutofit/>
          </a:bodyPr>
          <a:lstStyle/>
          <a:p>
            <a:endParaRPr lang="es-AR" dirty="0"/>
          </a:p>
          <a:p>
            <a:r>
              <a:rPr lang="es-AR" dirty="0"/>
              <a:t>Aula B004 - Belgrano</a:t>
            </a:r>
            <a:r>
              <a:rPr lang="es-ES" dirty="0"/>
              <a:t>.</a:t>
            </a:r>
          </a:p>
          <a:p>
            <a:r>
              <a:rPr lang="es-AR" dirty="0"/>
              <a:t>Clases: 17 presenciales y 1 virtual</a:t>
            </a:r>
          </a:p>
          <a:p>
            <a:r>
              <a:rPr lang="es-AR" dirty="0"/>
              <a:t>Horario presencial: viernes de 18:30hs. -22:00hs. (break de 20:10hs. a 2030hs.) </a:t>
            </a:r>
          </a:p>
          <a:p>
            <a:r>
              <a:rPr lang="es-AR" dirty="0"/>
              <a:t>Horario virtual: Sábado 26/09 de 09:00hs. a 13:00hs.-</a:t>
            </a:r>
          </a:p>
          <a:p>
            <a:r>
              <a:rPr lang="es-AR" dirty="0"/>
              <a:t>Trabajo Final: 3 entregas </a:t>
            </a:r>
          </a:p>
          <a:p>
            <a:r>
              <a:rPr lang="es-AR" dirty="0"/>
              <a:t>Exámenes: 2 Parciales 18/09 y 13/11,  1 Recuperatorio / final adelantado y 1 Final.</a:t>
            </a:r>
          </a:p>
        </p:txBody>
      </p:sp>
      <p:pic>
        <p:nvPicPr>
          <p:cNvPr id="4" name="Imagen 3">
            <a:extLst>
              <a:ext uri="{FF2B5EF4-FFF2-40B4-BE49-F238E27FC236}">
                <a16:creationId xmlns:a16="http://schemas.microsoft.com/office/drawing/2014/main" id="{7A97C8F1-A031-0F76-C3AF-32DF9DDEC64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184257" y="757082"/>
            <a:ext cx="971423" cy="502297"/>
          </a:xfrm>
          <a:prstGeom prst="rect">
            <a:avLst/>
          </a:prstGeom>
        </p:spPr>
      </p:pic>
      <p:sp>
        <p:nvSpPr>
          <p:cNvPr id="5" name="Marcador de número de diapositiva 4">
            <a:extLst>
              <a:ext uri="{FF2B5EF4-FFF2-40B4-BE49-F238E27FC236}">
                <a16:creationId xmlns:a16="http://schemas.microsoft.com/office/drawing/2014/main" id="{F72E16D4-0B3A-B066-0D72-80A6FA2B781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8ECD1B-3F01-46F8-A46F-31A31EFC5ABF}" type="slidenum">
              <a:rPr lang="es-AR" smtClean="0"/>
              <a:t>2</a:t>
            </a:fld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236162879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A1E65DD-C48A-B691-D9CC-E49723EE415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83C6C58-DD88-5C7B-EDCC-02E4C5B9026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AR" dirty="0"/>
              <a:t>Programa.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847F1342-320E-71C3-9293-4821B912B87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endParaRPr lang="es-AR" dirty="0"/>
          </a:p>
        </p:txBody>
      </p:sp>
      <p:pic>
        <p:nvPicPr>
          <p:cNvPr id="4" name="Imagen 3">
            <a:extLst>
              <a:ext uri="{FF2B5EF4-FFF2-40B4-BE49-F238E27FC236}">
                <a16:creationId xmlns:a16="http://schemas.microsoft.com/office/drawing/2014/main" id="{9E67A276-B0D5-EBD5-F20A-3765B0B8D93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184257" y="757082"/>
            <a:ext cx="971423" cy="502297"/>
          </a:xfrm>
          <a:prstGeom prst="rect">
            <a:avLst/>
          </a:prstGeom>
        </p:spPr>
      </p:pic>
      <p:sp>
        <p:nvSpPr>
          <p:cNvPr id="5" name="Marcador de número de diapositiva 4">
            <a:extLst>
              <a:ext uri="{FF2B5EF4-FFF2-40B4-BE49-F238E27FC236}">
                <a16:creationId xmlns:a16="http://schemas.microsoft.com/office/drawing/2014/main" id="{55C16C8E-2F50-C0BF-0AB5-6C8C47273C7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8ECD1B-3F01-46F8-A46F-31A31EFC5ABF}" type="slidenum">
              <a:rPr lang="es-AR" smtClean="0"/>
              <a:t>3</a:t>
            </a:fld>
            <a:endParaRPr lang="es-AR"/>
          </a:p>
        </p:txBody>
      </p:sp>
      <p:pic>
        <p:nvPicPr>
          <p:cNvPr id="6" name="Marcador de contenido 6">
            <a:extLst>
              <a:ext uri="{FF2B5EF4-FFF2-40B4-BE49-F238E27FC236}">
                <a16:creationId xmlns:a16="http://schemas.microsoft.com/office/drawing/2014/main" id="{4D10EFCD-5031-B042-C845-D35A25F516C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702050" y="2443163"/>
            <a:ext cx="4848225" cy="28289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3119130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53057E9-A1A7-E1CC-62D7-25650DFA9C0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B5B7A68-403E-F8D3-A93F-39CE5DC51A8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AR" dirty="0"/>
              <a:t>Programa.</a:t>
            </a:r>
          </a:p>
        </p:txBody>
      </p:sp>
      <p:pic>
        <p:nvPicPr>
          <p:cNvPr id="7" name="Marcador de contenido 6">
            <a:extLst>
              <a:ext uri="{FF2B5EF4-FFF2-40B4-BE49-F238E27FC236}">
                <a16:creationId xmlns:a16="http://schemas.microsoft.com/office/drawing/2014/main" id="{1D56E07F-8BC0-8EBB-1767-8B68A08899B7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2243360" y="1766544"/>
            <a:ext cx="7705280" cy="1929766"/>
          </a:xfrm>
          <a:prstGeom prst="rect">
            <a:avLst/>
          </a:prstGeom>
        </p:spPr>
      </p:pic>
      <p:pic>
        <p:nvPicPr>
          <p:cNvPr id="4" name="Imagen 3">
            <a:extLst>
              <a:ext uri="{FF2B5EF4-FFF2-40B4-BE49-F238E27FC236}">
                <a16:creationId xmlns:a16="http://schemas.microsoft.com/office/drawing/2014/main" id="{D0C5C699-6CD9-1335-9B18-2A1D9C65036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184257" y="757082"/>
            <a:ext cx="971423" cy="502297"/>
          </a:xfrm>
          <a:prstGeom prst="rect">
            <a:avLst/>
          </a:prstGeom>
        </p:spPr>
      </p:pic>
      <p:sp>
        <p:nvSpPr>
          <p:cNvPr id="5" name="Marcador de número de diapositiva 4">
            <a:extLst>
              <a:ext uri="{FF2B5EF4-FFF2-40B4-BE49-F238E27FC236}">
                <a16:creationId xmlns:a16="http://schemas.microsoft.com/office/drawing/2014/main" id="{910BDDB9-7855-D527-E49E-243E5506D69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8ECD1B-3F01-46F8-A46F-31A31EFC5ABF}" type="slidenum">
              <a:rPr lang="es-AR" smtClean="0"/>
              <a:t>4</a:t>
            </a:fld>
            <a:endParaRPr lang="es-AR"/>
          </a:p>
        </p:txBody>
      </p:sp>
      <p:pic>
        <p:nvPicPr>
          <p:cNvPr id="9" name="Imagen 8">
            <a:extLst>
              <a:ext uri="{FF2B5EF4-FFF2-40B4-BE49-F238E27FC236}">
                <a16:creationId xmlns:a16="http://schemas.microsoft.com/office/drawing/2014/main" id="{E1DFC14A-F551-1ABD-BB6B-4983254D751F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243361" y="4318884"/>
            <a:ext cx="7657098" cy="137609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9402562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5A2F346-AF05-8378-749C-A1C30CD4D3C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AE978F0-9BCE-2033-3637-29E34F1807C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AR" dirty="0"/>
              <a:t>Programa.</a:t>
            </a:r>
          </a:p>
        </p:txBody>
      </p:sp>
      <p:pic>
        <p:nvPicPr>
          <p:cNvPr id="4" name="Imagen 3">
            <a:extLst>
              <a:ext uri="{FF2B5EF4-FFF2-40B4-BE49-F238E27FC236}">
                <a16:creationId xmlns:a16="http://schemas.microsoft.com/office/drawing/2014/main" id="{7CB369CF-D525-18A2-E02B-9AD3C022494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184257" y="757082"/>
            <a:ext cx="971423" cy="502297"/>
          </a:xfrm>
          <a:prstGeom prst="rect">
            <a:avLst/>
          </a:prstGeom>
        </p:spPr>
      </p:pic>
      <p:sp>
        <p:nvSpPr>
          <p:cNvPr id="5" name="Marcador de número de diapositiva 4">
            <a:extLst>
              <a:ext uri="{FF2B5EF4-FFF2-40B4-BE49-F238E27FC236}">
                <a16:creationId xmlns:a16="http://schemas.microsoft.com/office/drawing/2014/main" id="{347E1252-7F8F-334F-1697-D8A9519A2BC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8ECD1B-3F01-46F8-A46F-31A31EFC5ABF}" type="slidenum">
              <a:rPr lang="es-AR" smtClean="0"/>
              <a:t>5</a:t>
            </a:fld>
            <a:endParaRPr lang="es-AR"/>
          </a:p>
        </p:txBody>
      </p:sp>
      <p:pic>
        <p:nvPicPr>
          <p:cNvPr id="9" name="Marcador de contenido 8">
            <a:extLst>
              <a:ext uri="{FF2B5EF4-FFF2-40B4-BE49-F238E27FC236}">
                <a16:creationId xmlns:a16="http://schemas.microsoft.com/office/drawing/2014/main" id="{C10A5D4E-E0FC-2932-5723-F2FE3E7F7308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4"/>
          <a:stretch>
            <a:fillRect/>
          </a:stretch>
        </p:blipFill>
        <p:spPr>
          <a:xfrm>
            <a:off x="3722049" y="1747088"/>
            <a:ext cx="5169032" cy="455873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0368284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3CA0F26-5DD1-C0A8-FD3D-1CE654D3DA1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1216F25-3673-5DD3-BE18-47B64E12C74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AR" dirty="0"/>
              <a:t>Programa.</a:t>
            </a:r>
          </a:p>
        </p:txBody>
      </p:sp>
      <p:pic>
        <p:nvPicPr>
          <p:cNvPr id="4" name="Imagen 3">
            <a:extLst>
              <a:ext uri="{FF2B5EF4-FFF2-40B4-BE49-F238E27FC236}">
                <a16:creationId xmlns:a16="http://schemas.microsoft.com/office/drawing/2014/main" id="{DC4F15E6-F046-B87C-93EA-D2F293A57E9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184257" y="757082"/>
            <a:ext cx="971423" cy="502297"/>
          </a:xfrm>
          <a:prstGeom prst="rect">
            <a:avLst/>
          </a:prstGeom>
        </p:spPr>
      </p:pic>
      <p:sp>
        <p:nvSpPr>
          <p:cNvPr id="5" name="Marcador de número de diapositiva 4">
            <a:extLst>
              <a:ext uri="{FF2B5EF4-FFF2-40B4-BE49-F238E27FC236}">
                <a16:creationId xmlns:a16="http://schemas.microsoft.com/office/drawing/2014/main" id="{FF7CDEC5-33ED-D6C9-2002-2BA89D1083F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8ECD1B-3F01-46F8-A46F-31A31EFC5ABF}" type="slidenum">
              <a:rPr lang="es-AR" smtClean="0"/>
              <a:t>6</a:t>
            </a:fld>
            <a:endParaRPr lang="es-AR"/>
          </a:p>
        </p:txBody>
      </p:sp>
      <p:pic>
        <p:nvPicPr>
          <p:cNvPr id="15" name="Marcador de contenido 14">
            <a:extLst>
              <a:ext uri="{FF2B5EF4-FFF2-40B4-BE49-F238E27FC236}">
                <a16:creationId xmlns:a16="http://schemas.microsoft.com/office/drawing/2014/main" id="{68EA57D4-F9BB-A34C-39C5-315E75DFD576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4"/>
          <a:stretch>
            <a:fillRect/>
          </a:stretch>
        </p:blipFill>
        <p:spPr>
          <a:xfrm>
            <a:off x="2704289" y="1927494"/>
            <a:ext cx="7196169" cy="405904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0435262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343BF9D-53F9-8C93-EB2B-CF7D72578DC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8A0EA4B-0730-F51E-A07E-46C6B28B933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AR" dirty="0"/>
              <a:t>Programa.</a:t>
            </a:r>
          </a:p>
        </p:txBody>
      </p:sp>
      <p:pic>
        <p:nvPicPr>
          <p:cNvPr id="4" name="Imagen 3">
            <a:extLst>
              <a:ext uri="{FF2B5EF4-FFF2-40B4-BE49-F238E27FC236}">
                <a16:creationId xmlns:a16="http://schemas.microsoft.com/office/drawing/2014/main" id="{E5E85C71-2F98-8C65-CDE3-5806A20A88F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184257" y="757082"/>
            <a:ext cx="971423" cy="502297"/>
          </a:xfrm>
          <a:prstGeom prst="rect">
            <a:avLst/>
          </a:prstGeom>
        </p:spPr>
      </p:pic>
      <p:sp>
        <p:nvSpPr>
          <p:cNvPr id="5" name="Marcador de número de diapositiva 4">
            <a:extLst>
              <a:ext uri="{FF2B5EF4-FFF2-40B4-BE49-F238E27FC236}">
                <a16:creationId xmlns:a16="http://schemas.microsoft.com/office/drawing/2014/main" id="{D1356A90-B4D6-5EA4-FBCB-52F3D99A1F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8ECD1B-3F01-46F8-A46F-31A31EFC5ABF}" type="slidenum">
              <a:rPr lang="es-AR" smtClean="0"/>
              <a:t>7</a:t>
            </a:fld>
            <a:endParaRPr lang="es-AR"/>
          </a:p>
        </p:txBody>
      </p:sp>
      <p:pic>
        <p:nvPicPr>
          <p:cNvPr id="11" name="Marcador de contenido 10">
            <a:extLst>
              <a:ext uri="{FF2B5EF4-FFF2-40B4-BE49-F238E27FC236}">
                <a16:creationId xmlns:a16="http://schemas.microsoft.com/office/drawing/2014/main" id="{EE366FD3-F95E-0E77-A985-4ABD8534BC88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4"/>
          <a:stretch>
            <a:fillRect/>
          </a:stretch>
        </p:blipFill>
        <p:spPr>
          <a:xfrm>
            <a:off x="1356792" y="2480552"/>
            <a:ext cx="10039895" cy="289884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6017117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903C3BA-4FE8-4205-671B-AB022A09CB0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F6F032A-F39F-27DC-FBA5-7AB36DE857C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AR" dirty="0"/>
              <a:t>Cronograma.</a:t>
            </a:r>
          </a:p>
        </p:txBody>
      </p:sp>
      <p:pic>
        <p:nvPicPr>
          <p:cNvPr id="4" name="Imagen 3">
            <a:extLst>
              <a:ext uri="{FF2B5EF4-FFF2-40B4-BE49-F238E27FC236}">
                <a16:creationId xmlns:a16="http://schemas.microsoft.com/office/drawing/2014/main" id="{A71C8E0E-77D0-D67C-9E4A-1000E59BB76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184257" y="757082"/>
            <a:ext cx="971423" cy="502297"/>
          </a:xfrm>
          <a:prstGeom prst="rect">
            <a:avLst/>
          </a:prstGeom>
        </p:spPr>
      </p:pic>
      <p:sp>
        <p:nvSpPr>
          <p:cNvPr id="5" name="Marcador de número de diapositiva 4">
            <a:extLst>
              <a:ext uri="{FF2B5EF4-FFF2-40B4-BE49-F238E27FC236}">
                <a16:creationId xmlns:a16="http://schemas.microsoft.com/office/drawing/2014/main" id="{F8A4BF27-3D36-13B2-9218-8BCDFFD2BC1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8ECD1B-3F01-46F8-A46F-31A31EFC5ABF}" type="slidenum">
              <a:rPr lang="es-AR" smtClean="0"/>
              <a:t>8</a:t>
            </a:fld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328602628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A6CEECC-B0AC-B555-A474-0DCBEA0E96D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n 3">
            <a:extLst>
              <a:ext uri="{FF2B5EF4-FFF2-40B4-BE49-F238E27FC236}">
                <a16:creationId xmlns:a16="http://schemas.microsoft.com/office/drawing/2014/main" id="{84F2F7CB-0D61-BA7D-0737-A1B2BC36D27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184257" y="757082"/>
            <a:ext cx="971423" cy="502297"/>
          </a:xfrm>
          <a:prstGeom prst="rect">
            <a:avLst/>
          </a:prstGeom>
        </p:spPr>
      </p:pic>
      <p:sp>
        <p:nvSpPr>
          <p:cNvPr id="5" name="Marcador de número de diapositiva 4">
            <a:extLst>
              <a:ext uri="{FF2B5EF4-FFF2-40B4-BE49-F238E27FC236}">
                <a16:creationId xmlns:a16="http://schemas.microsoft.com/office/drawing/2014/main" id="{1621F52A-35FA-408C-AC99-FA6CFE0B8A1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8ECD1B-3F01-46F8-A46F-31A31EFC5ABF}" type="slidenum">
              <a:rPr lang="es-AR" smtClean="0"/>
              <a:t>9</a:t>
            </a:fld>
            <a:endParaRPr lang="es-AR"/>
          </a:p>
        </p:txBody>
      </p:sp>
      <p:sp>
        <p:nvSpPr>
          <p:cNvPr id="6" name="Título 1">
            <a:extLst>
              <a:ext uri="{FF2B5EF4-FFF2-40B4-BE49-F238E27FC236}">
                <a16:creationId xmlns:a16="http://schemas.microsoft.com/office/drawing/2014/main" id="{F67B0B1C-2CDE-B475-C341-0038825010CF}"/>
              </a:ext>
            </a:extLst>
          </p:cNvPr>
          <p:cNvSpPr txBox="1">
            <a:spLocks/>
          </p:cNvSpPr>
          <p:nvPr/>
        </p:nvSpPr>
        <p:spPr>
          <a:xfrm>
            <a:off x="1249680" y="439003"/>
            <a:ext cx="10058400" cy="1450757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l" defTabSz="914400" rtl="0" eaLnBrk="1" latinLnBrk="0" hangingPunct="1">
              <a:lnSpc>
                <a:spcPct val="85000"/>
              </a:lnSpc>
              <a:spcBef>
                <a:spcPct val="0"/>
              </a:spcBef>
              <a:buNone/>
              <a:defRPr sz="4800" kern="1200" spc="-50" baseline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s-ES" dirty="0"/>
              <a:t>Trabajos prácticos</a:t>
            </a:r>
            <a:endParaRPr lang="es-AR" dirty="0"/>
          </a:p>
        </p:txBody>
      </p:sp>
      <p:sp>
        <p:nvSpPr>
          <p:cNvPr id="12" name="Marcador de contenido 2">
            <a:extLst>
              <a:ext uri="{FF2B5EF4-FFF2-40B4-BE49-F238E27FC236}">
                <a16:creationId xmlns:a16="http://schemas.microsoft.com/office/drawing/2014/main" id="{0ACF7B3C-0E36-8E68-328F-6BB0395BF557}"/>
              </a:ext>
            </a:extLst>
          </p:cNvPr>
          <p:cNvSpPr txBox="1">
            <a:spLocks/>
          </p:cNvSpPr>
          <p:nvPr/>
        </p:nvSpPr>
        <p:spPr>
          <a:xfrm>
            <a:off x="1097281" y="1889760"/>
            <a:ext cx="6262744" cy="4023360"/>
          </a:xfrm>
          <a:prstGeom prst="rect">
            <a:avLst/>
          </a:prstGeom>
        </p:spPr>
        <p:txBody>
          <a:bodyPr vert="horz" lIns="0" tIns="45720" rIns="0" bIns="45720" rtlCol="0">
            <a:normAutofit/>
          </a:bodyPr>
          <a:lstStyle>
            <a:lvl1pPr marL="91440" indent="-91440" algn="l" defTabSz="914400" rtl="0" eaLnBrk="1" latinLnBrk="0" hangingPunct="1">
              <a:lnSpc>
                <a:spcPct val="90000"/>
              </a:lnSpc>
              <a:spcBef>
                <a:spcPts val="1200"/>
              </a:spcBef>
              <a:spcAft>
                <a:spcPts val="200"/>
              </a:spcAft>
              <a:buClr>
                <a:schemeClr val="accent1"/>
              </a:buClr>
              <a:buSzPct val="100000"/>
              <a:buFont typeface="Calibri" panose="020F0502020204030204" pitchFamily="34" charset="0"/>
              <a:buChar char=" "/>
              <a:defRPr sz="20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38404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8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56692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74980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93268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1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13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15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17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s-AR" dirty="0"/>
          </a:p>
          <a:p>
            <a:endParaRPr lang="es-AR" dirty="0"/>
          </a:p>
          <a:p>
            <a:endParaRPr lang="es-AR" dirty="0"/>
          </a:p>
          <a:p>
            <a:r>
              <a:rPr lang="es-AR" dirty="0"/>
              <a:t>https://github.com/coedomaximiliano/UADE-POO-2026-2</a:t>
            </a:r>
          </a:p>
          <a:p>
            <a:pPr marL="0" indent="0">
              <a:buFont typeface="Calibri" panose="020F0502020204030204" pitchFamily="34" charset="0"/>
              <a:buNone/>
            </a:pPr>
            <a:endParaRPr lang="es-AR" dirty="0"/>
          </a:p>
          <a:p>
            <a:pPr marL="0" indent="0">
              <a:buFont typeface="Calibri" panose="020F0502020204030204" pitchFamily="34" charset="0"/>
              <a:buNone/>
            </a:pPr>
            <a:endParaRPr lang="es-AR" dirty="0"/>
          </a:p>
        </p:txBody>
      </p:sp>
      <p:pic>
        <p:nvPicPr>
          <p:cNvPr id="8" name="Imagen 7">
            <a:extLst>
              <a:ext uri="{FF2B5EF4-FFF2-40B4-BE49-F238E27FC236}">
                <a16:creationId xmlns:a16="http://schemas.microsoft.com/office/drawing/2014/main" id="{8EF92A58-488A-95A7-3838-D83AC727E50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382596" y="1823912"/>
            <a:ext cx="3806414" cy="434872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430625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n 3">
            <a:extLst>
              <a:ext uri="{FF2B5EF4-FFF2-40B4-BE49-F238E27FC236}">
                <a16:creationId xmlns:a16="http://schemas.microsoft.com/office/drawing/2014/main" id="{D1654074-BFA5-0824-1101-1D544D52443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184257" y="757082"/>
            <a:ext cx="971423" cy="502297"/>
          </a:xfrm>
          <a:prstGeom prst="rect">
            <a:avLst/>
          </a:prstGeom>
        </p:spPr>
      </p:pic>
      <p:sp>
        <p:nvSpPr>
          <p:cNvPr id="5" name="Marcador de número de diapositiva 4">
            <a:extLst>
              <a:ext uri="{FF2B5EF4-FFF2-40B4-BE49-F238E27FC236}">
                <a16:creationId xmlns:a16="http://schemas.microsoft.com/office/drawing/2014/main" id="{8D7E52AA-425A-C91D-D5B2-BAC74DD73A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8ECD1B-3F01-46F8-A46F-31A31EFC5ABF}" type="slidenum">
              <a:rPr lang="es-AR" smtClean="0"/>
              <a:t>10</a:t>
            </a:fld>
            <a:endParaRPr lang="es-AR"/>
          </a:p>
        </p:txBody>
      </p:sp>
      <p:sp>
        <p:nvSpPr>
          <p:cNvPr id="6" name="Título 1">
            <a:extLst>
              <a:ext uri="{FF2B5EF4-FFF2-40B4-BE49-F238E27FC236}">
                <a16:creationId xmlns:a16="http://schemas.microsoft.com/office/drawing/2014/main" id="{2B76BCFD-E5A2-1510-26BC-F9751F991C80}"/>
              </a:ext>
            </a:extLst>
          </p:cNvPr>
          <p:cNvSpPr txBox="1">
            <a:spLocks/>
          </p:cNvSpPr>
          <p:nvPr/>
        </p:nvSpPr>
        <p:spPr>
          <a:xfrm>
            <a:off x="1249680" y="439003"/>
            <a:ext cx="10058400" cy="1450757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l" defTabSz="914400" rtl="0" eaLnBrk="1" latinLnBrk="0" hangingPunct="1">
              <a:lnSpc>
                <a:spcPct val="85000"/>
              </a:lnSpc>
              <a:spcBef>
                <a:spcPct val="0"/>
              </a:spcBef>
              <a:buNone/>
              <a:defRPr sz="4800" kern="1200" spc="-50" baseline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s-ES" dirty="0"/>
              <a:t>Introducción a la orientación a objetos.</a:t>
            </a:r>
            <a:endParaRPr lang="es-AR" dirty="0"/>
          </a:p>
        </p:txBody>
      </p:sp>
      <p:pic>
        <p:nvPicPr>
          <p:cNvPr id="11" name="Marcador de contenido 10">
            <a:extLst>
              <a:ext uri="{FF2B5EF4-FFF2-40B4-BE49-F238E27FC236}">
                <a16:creationId xmlns:a16="http://schemas.microsoft.com/office/drawing/2014/main" id="{F97797E7-C78B-2E96-11CB-112CA45CA391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4"/>
          <a:stretch>
            <a:fillRect/>
          </a:stretch>
        </p:blipFill>
        <p:spPr>
          <a:xfrm>
            <a:off x="8545830" y="1889760"/>
            <a:ext cx="2609850" cy="3800475"/>
          </a:xfrm>
          <a:prstGeom prst="rect">
            <a:avLst/>
          </a:prstGeom>
        </p:spPr>
      </p:pic>
      <p:sp>
        <p:nvSpPr>
          <p:cNvPr id="12" name="Marcador de contenido 2">
            <a:extLst>
              <a:ext uri="{FF2B5EF4-FFF2-40B4-BE49-F238E27FC236}">
                <a16:creationId xmlns:a16="http://schemas.microsoft.com/office/drawing/2014/main" id="{32B357EB-94D8-B85D-8E63-CB7DFAD5BACD}"/>
              </a:ext>
            </a:extLst>
          </p:cNvPr>
          <p:cNvSpPr txBox="1">
            <a:spLocks/>
          </p:cNvSpPr>
          <p:nvPr/>
        </p:nvSpPr>
        <p:spPr>
          <a:xfrm>
            <a:off x="1097280" y="1889760"/>
            <a:ext cx="10058400" cy="4023360"/>
          </a:xfrm>
          <a:prstGeom prst="rect">
            <a:avLst/>
          </a:prstGeom>
        </p:spPr>
        <p:txBody>
          <a:bodyPr vert="horz" lIns="0" tIns="45720" rIns="0" bIns="45720" rtlCol="0">
            <a:normAutofit/>
          </a:bodyPr>
          <a:lstStyle>
            <a:lvl1pPr marL="91440" indent="-91440" algn="l" defTabSz="914400" rtl="0" eaLnBrk="1" latinLnBrk="0" hangingPunct="1">
              <a:lnSpc>
                <a:spcPct val="90000"/>
              </a:lnSpc>
              <a:spcBef>
                <a:spcPts val="1200"/>
              </a:spcBef>
              <a:spcAft>
                <a:spcPts val="200"/>
              </a:spcAft>
              <a:buClr>
                <a:schemeClr val="accent1"/>
              </a:buClr>
              <a:buSzPct val="100000"/>
              <a:buFont typeface="Calibri" panose="020F0502020204030204" pitchFamily="34" charset="0"/>
              <a:buChar char=" "/>
              <a:defRPr sz="20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38404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8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56692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74980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93268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1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13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15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17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s-AR" dirty="0"/>
          </a:p>
          <a:p>
            <a:endParaRPr lang="es-AR" dirty="0"/>
          </a:p>
          <a:p>
            <a:endParaRPr lang="es-AR" dirty="0"/>
          </a:p>
          <a:p>
            <a:r>
              <a:rPr lang="es-AR" sz="4400" dirty="0"/>
              <a:t>¿Que es un objeto?</a:t>
            </a:r>
          </a:p>
          <a:p>
            <a:endParaRPr lang="es-AR" dirty="0"/>
          </a:p>
          <a:p>
            <a:pPr marL="0" indent="0">
              <a:buFont typeface="Calibri" panose="020F0502020204030204" pitchFamily="34" charset="0"/>
              <a:buNone/>
            </a:pPr>
            <a:endParaRPr lang="es-AR" dirty="0"/>
          </a:p>
          <a:p>
            <a:pPr marL="0" indent="0">
              <a:buFont typeface="Calibri" panose="020F0502020204030204" pitchFamily="34" charset="0"/>
              <a:buNone/>
            </a:pPr>
            <a:endParaRPr lang="es-AR" dirty="0"/>
          </a:p>
        </p:txBody>
      </p:sp>
    </p:spTree>
    <p:extLst>
      <p:ext uri="{BB962C8B-B14F-4D97-AF65-F5344CB8AC3E}">
        <p14:creationId xmlns:p14="http://schemas.microsoft.com/office/powerpoint/2010/main" val="416276555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D045DBA-FF25-742F-C13C-95D41FC0A49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1C80B55-F194-7606-BF51-05F19BBDEF6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AR" dirty="0"/>
              <a:t> 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76BA7C80-6144-3636-B66A-3ECBEDD3BE6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endParaRPr lang="es-AR" dirty="0"/>
          </a:p>
          <a:p>
            <a:pPr marL="0" indent="0">
              <a:buNone/>
            </a:pPr>
            <a:endParaRPr lang="es-AR" dirty="0"/>
          </a:p>
        </p:txBody>
      </p:sp>
      <p:pic>
        <p:nvPicPr>
          <p:cNvPr id="4" name="Imagen 3">
            <a:extLst>
              <a:ext uri="{FF2B5EF4-FFF2-40B4-BE49-F238E27FC236}">
                <a16:creationId xmlns:a16="http://schemas.microsoft.com/office/drawing/2014/main" id="{74BCDAD1-DD5C-CFD4-481D-D5FAD076279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184257" y="757082"/>
            <a:ext cx="971423" cy="502297"/>
          </a:xfrm>
          <a:prstGeom prst="rect">
            <a:avLst/>
          </a:prstGeom>
        </p:spPr>
      </p:pic>
      <p:sp>
        <p:nvSpPr>
          <p:cNvPr id="5" name="Marcador de número de diapositiva 4">
            <a:extLst>
              <a:ext uri="{FF2B5EF4-FFF2-40B4-BE49-F238E27FC236}">
                <a16:creationId xmlns:a16="http://schemas.microsoft.com/office/drawing/2014/main" id="{CAE4A790-4A52-C4BA-0099-7F16E5DFC10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8ECD1B-3F01-46F8-A46F-31A31EFC5ABF}" type="slidenum">
              <a:rPr lang="es-AR" smtClean="0"/>
              <a:t>11</a:t>
            </a:fld>
            <a:endParaRPr lang="es-AR"/>
          </a:p>
        </p:txBody>
      </p:sp>
      <p:sp>
        <p:nvSpPr>
          <p:cNvPr id="6" name="Título 1">
            <a:extLst>
              <a:ext uri="{FF2B5EF4-FFF2-40B4-BE49-F238E27FC236}">
                <a16:creationId xmlns:a16="http://schemas.microsoft.com/office/drawing/2014/main" id="{E53F5038-07FE-0CF2-C945-53D924D4F5EF}"/>
              </a:ext>
            </a:extLst>
          </p:cNvPr>
          <p:cNvSpPr txBox="1">
            <a:spLocks/>
          </p:cNvSpPr>
          <p:nvPr/>
        </p:nvSpPr>
        <p:spPr>
          <a:xfrm>
            <a:off x="1249680" y="439003"/>
            <a:ext cx="10058400" cy="1450757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l" defTabSz="914400" rtl="0" eaLnBrk="1" latinLnBrk="0" hangingPunct="1">
              <a:lnSpc>
                <a:spcPct val="85000"/>
              </a:lnSpc>
              <a:spcBef>
                <a:spcPct val="0"/>
              </a:spcBef>
              <a:buNone/>
              <a:defRPr sz="4800" kern="1200" spc="-50" baseline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s-ES" dirty="0"/>
              <a:t>Introducción a la orientación a objetos.</a:t>
            </a:r>
            <a:endParaRPr lang="es-AR" dirty="0"/>
          </a:p>
        </p:txBody>
      </p:sp>
      <p:sp>
        <p:nvSpPr>
          <p:cNvPr id="7" name="Marcador de contenido 2">
            <a:extLst>
              <a:ext uri="{FF2B5EF4-FFF2-40B4-BE49-F238E27FC236}">
                <a16:creationId xmlns:a16="http://schemas.microsoft.com/office/drawing/2014/main" id="{459C365C-E245-2AC1-1D84-E4474E13A1EB}"/>
              </a:ext>
            </a:extLst>
          </p:cNvPr>
          <p:cNvSpPr txBox="1">
            <a:spLocks/>
          </p:cNvSpPr>
          <p:nvPr/>
        </p:nvSpPr>
        <p:spPr>
          <a:xfrm>
            <a:off x="1097280" y="1889760"/>
            <a:ext cx="10058400" cy="4023360"/>
          </a:xfrm>
          <a:prstGeom prst="rect">
            <a:avLst/>
          </a:prstGeom>
        </p:spPr>
        <p:txBody>
          <a:bodyPr vert="horz" lIns="0" tIns="45720" rIns="0" bIns="45720" rtlCol="0">
            <a:normAutofit/>
          </a:bodyPr>
          <a:lstStyle>
            <a:lvl1pPr marL="91440" indent="-91440" algn="l" defTabSz="914400" rtl="0" eaLnBrk="1" latinLnBrk="0" hangingPunct="1">
              <a:lnSpc>
                <a:spcPct val="90000"/>
              </a:lnSpc>
              <a:spcBef>
                <a:spcPts val="1200"/>
              </a:spcBef>
              <a:spcAft>
                <a:spcPts val="200"/>
              </a:spcAft>
              <a:buClr>
                <a:schemeClr val="accent1"/>
              </a:buClr>
              <a:buSzPct val="100000"/>
              <a:buFont typeface="Calibri" panose="020F0502020204030204" pitchFamily="34" charset="0"/>
              <a:buChar char=" "/>
              <a:defRPr sz="20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38404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8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56692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74980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93268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1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13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15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17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s-AR" dirty="0"/>
              <a:t>¿Que es un objeto?</a:t>
            </a:r>
          </a:p>
          <a:p>
            <a:pPr algn="ctr"/>
            <a:r>
              <a:rPr lang="es-AR" dirty="0"/>
              <a:t>Una de las definiciones de la Real academia española un objeto es una cosa, algo.</a:t>
            </a:r>
          </a:p>
          <a:p>
            <a:pPr algn="ctr"/>
            <a:r>
              <a:rPr lang="es-AR" dirty="0"/>
              <a:t>¿Que es una cosa?</a:t>
            </a:r>
          </a:p>
          <a:p>
            <a:pPr algn="ctr"/>
            <a:r>
              <a:rPr lang="es-ES" dirty="0"/>
              <a:t>“</a:t>
            </a:r>
            <a:r>
              <a:rPr lang="es-AR" dirty="0"/>
              <a:t>Lo que tiene entidad, ya sea corporal o espiritual, natural o artificial, concreta, abstracta o virtual.</a:t>
            </a:r>
            <a:r>
              <a:rPr lang="es-ES" dirty="0"/>
              <a:t>”</a:t>
            </a:r>
            <a:endParaRPr lang="es-AR" dirty="0"/>
          </a:p>
          <a:p>
            <a:endParaRPr lang="es-AR" dirty="0"/>
          </a:p>
          <a:p>
            <a:pPr marL="0" indent="0">
              <a:buFont typeface="Calibri" panose="020F0502020204030204" pitchFamily="34" charset="0"/>
              <a:buNone/>
            </a:pPr>
            <a:endParaRPr lang="es-AR" dirty="0"/>
          </a:p>
          <a:p>
            <a:pPr marL="0" indent="0">
              <a:buFont typeface="Calibri" panose="020F0502020204030204" pitchFamily="34" charset="0"/>
              <a:buNone/>
            </a:pPr>
            <a:endParaRPr lang="es-AR" dirty="0"/>
          </a:p>
        </p:txBody>
      </p:sp>
      <p:sp>
        <p:nvSpPr>
          <p:cNvPr id="10" name="AutoShape 2" descr="Conjunto de dibujos animados de objetos escolares. Vector colección  colorida de artículos de papelería y artículos para el estudio | Vector  Premium">
            <a:extLst>
              <a:ext uri="{FF2B5EF4-FFF2-40B4-BE49-F238E27FC236}">
                <a16:creationId xmlns:a16="http://schemas.microsoft.com/office/drawing/2014/main" id="{B3D99B73-4A91-3314-22B8-0BF5C0B9C26E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943600" y="32766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s-AR"/>
          </a:p>
        </p:txBody>
      </p:sp>
      <p:pic>
        <p:nvPicPr>
          <p:cNvPr id="12" name="Imagen 11">
            <a:extLst>
              <a:ext uri="{FF2B5EF4-FFF2-40B4-BE49-F238E27FC236}">
                <a16:creationId xmlns:a16="http://schemas.microsoft.com/office/drawing/2014/main" id="{947AE021-BD57-7A60-E7EC-62F08B566D2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752600" y="3615268"/>
            <a:ext cx="2362200" cy="2362200"/>
          </a:xfrm>
          <a:prstGeom prst="rect">
            <a:avLst/>
          </a:prstGeom>
        </p:spPr>
      </p:pic>
      <p:pic>
        <p:nvPicPr>
          <p:cNvPr id="4100" name="Picture 4" descr="Conjunto de dibujos animados de objetos escolares. Vector colección  colorida de artículos de papelería y artículos para el estudio | Vector  Premium">
            <a:extLst>
              <a:ext uri="{FF2B5EF4-FFF2-40B4-BE49-F238E27FC236}">
                <a16:creationId xmlns:a16="http://schemas.microsoft.com/office/drawing/2014/main" id="{47D92ADD-F3E4-9A78-BF0A-A89AC6C8BC2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924799" y="3820055"/>
            <a:ext cx="2981325" cy="19526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33382623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A8E86E7-914B-D365-53AD-91A89C39F34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FFD0ECC-AECD-D8AC-F8BC-E1C16C44FE7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AR" dirty="0"/>
              <a:t> 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1B5F3C0E-775B-3B6B-CCB7-1EB49E3AE40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 marL="0" indent="0" algn="ctr">
              <a:buNone/>
            </a:pPr>
            <a:r>
              <a:rPr lang="es-AR"/>
              <a:t>15 </a:t>
            </a:r>
            <a:r>
              <a:rPr lang="es-AR" dirty="0"/>
              <a:t>segundo para decir que vieron en un zoológico tratando de generalizar la respuesta.</a:t>
            </a:r>
          </a:p>
          <a:p>
            <a:pPr marL="0" indent="0" algn="ctr">
              <a:buNone/>
            </a:pPr>
            <a:endParaRPr lang="es-AR" dirty="0"/>
          </a:p>
          <a:p>
            <a:pPr marL="0" indent="0" algn="ctr">
              <a:buNone/>
            </a:pPr>
            <a:endParaRPr lang="es-AR" dirty="0"/>
          </a:p>
          <a:p>
            <a:pPr marL="0" indent="0" algn="ctr">
              <a:buNone/>
            </a:pPr>
            <a:endParaRPr lang="es-AR" dirty="0"/>
          </a:p>
          <a:p>
            <a:pPr marL="0" indent="0" algn="ctr">
              <a:buNone/>
            </a:pPr>
            <a:endParaRPr lang="es-AR" dirty="0"/>
          </a:p>
          <a:p>
            <a:pPr marL="0" indent="0" algn="ctr">
              <a:buNone/>
            </a:pPr>
            <a:endParaRPr lang="es-AR" dirty="0"/>
          </a:p>
          <a:p>
            <a:pPr marL="0" indent="0" algn="ctr">
              <a:buNone/>
            </a:pPr>
            <a:endParaRPr lang="es-AR" dirty="0"/>
          </a:p>
          <a:p>
            <a:pPr marL="0" indent="0" algn="ctr">
              <a:buNone/>
            </a:pPr>
            <a:endParaRPr lang="es-AR" dirty="0"/>
          </a:p>
          <a:p>
            <a:pPr marL="0" indent="0" algn="ctr">
              <a:buNone/>
            </a:pPr>
            <a:r>
              <a:rPr lang="es-AR" dirty="0"/>
              <a:t>Usamos estas características y acciones para modela el mundo que vivimos y llevarlo a un formato para manipularlo y poder usarlo. </a:t>
            </a:r>
          </a:p>
          <a:p>
            <a:pPr marL="0" indent="0" algn="ctr">
              <a:buNone/>
            </a:pPr>
            <a:endParaRPr lang="es-AR" dirty="0"/>
          </a:p>
          <a:p>
            <a:pPr marL="0" indent="0">
              <a:buNone/>
            </a:pPr>
            <a:endParaRPr lang="es-AR" dirty="0"/>
          </a:p>
        </p:txBody>
      </p:sp>
      <p:pic>
        <p:nvPicPr>
          <p:cNvPr id="4" name="Imagen 3">
            <a:extLst>
              <a:ext uri="{FF2B5EF4-FFF2-40B4-BE49-F238E27FC236}">
                <a16:creationId xmlns:a16="http://schemas.microsoft.com/office/drawing/2014/main" id="{4CC84E1A-EA2A-1A60-DFD5-930718E7D35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184257" y="757082"/>
            <a:ext cx="971423" cy="502297"/>
          </a:xfrm>
          <a:prstGeom prst="rect">
            <a:avLst/>
          </a:prstGeom>
        </p:spPr>
      </p:pic>
      <p:sp>
        <p:nvSpPr>
          <p:cNvPr id="5" name="Marcador de número de diapositiva 4">
            <a:extLst>
              <a:ext uri="{FF2B5EF4-FFF2-40B4-BE49-F238E27FC236}">
                <a16:creationId xmlns:a16="http://schemas.microsoft.com/office/drawing/2014/main" id="{5209858C-8574-DBA4-5AAF-595359F592D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8ECD1B-3F01-46F8-A46F-31A31EFC5ABF}" type="slidenum">
              <a:rPr lang="es-AR" smtClean="0"/>
              <a:t>12</a:t>
            </a:fld>
            <a:endParaRPr lang="es-AR"/>
          </a:p>
        </p:txBody>
      </p:sp>
      <p:sp>
        <p:nvSpPr>
          <p:cNvPr id="6" name="Título 1">
            <a:extLst>
              <a:ext uri="{FF2B5EF4-FFF2-40B4-BE49-F238E27FC236}">
                <a16:creationId xmlns:a16="http://schemas.microsoft.com/office/drawing/2014/main" id="{D1670721-888B-7707-6CB4-50A0DAFBD7C1}"/>
              </a:ext>
            </a:extLst>
          </p:cNvPr>
          <p:cNvSpPr txBox="1">
            <a:spLocks/>
          </p:cNvSpPr>
          <p:nvPr/>
        </p:nvSpPr>
        <p:spPr>
          <a:xfrm>
            <a:off x="1249680" y="439003"/>
            <a:ext cx="10058400" cy="1450757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l" defTabSz="914400" rtl="0" eaLnBrk="1" latinLnBrk="0" hangingPunct="1">
              <a:lnSpc>
                <a:spcPct val="85000"/>
              </a:lnSpc>
              <a:spcBef>
                <a:spcPct val="0"/>
              </a:spcBef>
              <a:buNone/>
              <a:defRPr sz="4800" kern="1200" spc="-50" baseline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s-ES" dirty="0"/>
              <a:t>Introducción a la orientación a objetos.</a:t>
            </a:r>
            <a:endParaRPr lang="es-AR" dirty="0"/>
          </a:p>
        </p:txBody>
      </p:sp>
      <p:sp>
        <p:nvSpPr>
          <p:cNvPr id="7" name="Marcador de contenido 2">
            <a:extLst>
              <a:ext uri="{FF2B5EF4-FFF2-40B4-BE49-F238E27FC236}">
                <a16:creationId xmlns:a16="http://schemas.microsoft.com/office/drawing/2014/main" id="{102BBB20-5389-4E94-FBE5-0ED2C5B3C279}"/>
              </a:ext>
            </a:extLst>
          </p:cNvPr>
          <p:cNvSpPr txBox="1">
            <a:spLocks/>
          </p:cNvSpPr>
          <p:nvPr/>
        </p:nvSpPr>
        <p:spPr>
          <a:xfrm>
            <a:off x="1097280" y="1889760"/>
            <a:ext cx="10058400" cy="4023360"/>
          </a:xfrm>
          <a:prstGeom prst="rect">
            <a:avLst/>
          </a:prstGeom>
        </p:spPr>
        <p:txBody>
          <a:bodyPr vert="horz" lIns="0" tIns="45720" rIns="0" bIns="45720" rtlCol="0">
            <a:normAutofit/>
          </a:bodyPr>
          <a:lstStyle>
            <a:lvl1pPr marL="91440" indent="-91440" algn="l" defTabSz="914400" rtl="0" eaLnBrk="1" latinLnBrk="0" hangingPunct="1">
              <a:lnSpc>
                <a:spcPct val="90000"/>
              </a:lnSpc>
              <a:spcBef>
                <a:spcPts val="1200"/>
              </a:spcBef>
              <a:spcAft>
                <a:spcPts val="200"/>
              </a:spcAft>
              <a:buClr>
                <a:schemeClr val="accent1"/>
              </a:buClr>
              <a:buSzPct val="100000"/>
              <a:buFont typeface="Calibri" panose="020F0502020204030204" pitchFamily="34" charset="0"/>
              <a:buChar char=" "/>
              <a:defRPr sz="20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38404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8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56692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74980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93268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1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13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15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17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s-AR" dirty="0"/>
          </a:p>
          <a:p>
            <a:endParaRPr lang="es-AR" dirty="0"/>
          </a:p>
          <a:p>
            <a:pPr marL="0" indent="0">
              <a:buFont typeface="Calibri" panose="020F0502020204030204" pitchFamily="34" charset="0"/>
              <a:buNone/>
            </a:pPr>
            <a:endParaRPr lang="es-AR" dirty="0"/>
          </a:p>
          <a:p>
            <a:pPr marL="0" indent="0">
              <a:buFont typeface="Calibri" panose="020F0502020204030204" pitchFamily="34" charset="0"/>
              <a:buNone/>
            </a:pPr>
            <a:endParaRPr lang="es-AR" dirty="0"/>
          </a:p>
        </p:txBody>
      </p:sp>
      <p:pic>
        <p:nvPicPr>
          <p:cNvPr id="5122" name="Picture 2" descr="Qué es la Programación Orientada a Objetos POO? - ITSoftware">
            <a:extLst>
              <a:ext uri="{FF2B5EF4-FFF2-40B4-BE49-F238E27FC236}">
                <a16:creationId xmlns:a16="http://schemas.microsoft.com/office/drawing/2014/main" id="{9DE44F6F-87D0-9D58-D8C1-D8CC1CABA8F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679706" y="2366080"/>
            <a:ext cx="4893548" cy="276591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72610226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B089DFF-D1DC-E14F-EB04-CA38338CC04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n 3">
            <a:extLst>
              <a:ext uri="{FF2B5EF4-FFF2-40B4-BE49-F238E27FC236}">
                <a16:creationId xmlns:a16="http://schemas.microsoft.com/office/drawing/2014/main" id="{39F98C32-81BF-5B6A-6DBF-F95FDB5DDD1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184257" y="757082"/>
            <a:ext cx="971423" cy="502297"/>
          </a:xfrm>
          <a:prstGeom prst="rect">
            <a:avLst/>
          </a:prstGeom>
        </p:spPr>
      </p:pic>
      <p:sp>
        <p:nvSpPr>
          <p:cNvPr id="5" name="Marcador de número de diapositiva 4">
            <a:extLst>
              <a:ext uri="{FF2B5EF4-FFF2-40B4-BE49-F238E27FC236}">
                <a16:creationId xmlns:a16="http://schemas.microsoft.com/office/drawing/2014/main" id="{2711D15D-644E-B1D6-24AA-FA45FFB24F7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8ECD1B-3F01-46F8-A46F-31A31EFC5ABF}" type="slidenum">
              <a:rPr lang="es-AR" smtClean="0"/>
              <a:t>13</a:t>
            </a:fld>
            <a:endParaRPr lang="es-AR"/>
          </a:p>
        </p:txBody>
      </p:sp>
      <p:sp>
        <p:nvSpPr>
          <p:cNvPr id="6" name="Título 1">
            <a:extLst>
              <a:ext uri="{FF2B5EF4-FFF2-40B4-BE49-F238E27FC236}">
                <a16:creationId xmlns:a16="http://schemas.microsoft.com/office/drawing/2014/main" id="{69D0CCFD-F2D3-D3F1-304C-CF0FEA93E4A9}"/>
              </a:ext>
            </a:extLst>
          </p:cNvPr>
          <p:cNvSpPr txBox="1">
            <a:spLocks/>
          </p:cNvSpPr>
          <p:nvPr/>
        </p:nvSpPr>
        <p:spPr>
          <a:xfrm>
            <a:off x="1249680" y="439003"/>
            <a:ext cx="10058400" cy="1450757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l" defTabSz="914400" rtl="0" eaLnBrk="1" latinLnBrk="0" hangingPunct="1">
              <a:lnSpc>
                <a:spcPct val="85000"/>
              </a:lnSpc>
              <a:spcBef>
                <a:spcPct val="0"/>
              </a:spcBef>
              <a:buNone/>
              <a:defRPr sz="4800" kern="1200" spc="-50" baseline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endParaRPr lang="es-AR" dirty="0"/>
          </a:p>
        </p:txBody>
      </p:sp>
      <p:sp>
        <p:nvSpPr>
          <p:cNvPr id="12" name="Marcador de contenido 2">
            <a:extLst>
              <a:ext uri="{FF2B5EF4-FFF2-40B4-BE49-F238E27FC236}">
                <a16:creationId xmlns:a16="http://schemas.microsoft.com/office/drawing/2014/main" id="{83BB8A2E-142F-0616-3A19-55821A9452EF}"/>
              </a:ext>
            </a:extLst>
          </p:cNvPr>
          <p:cNvSpPr txBox="1">
            <a:spLocks/>
          </p:cNvSpPr>
          <p:nvPr/>
        </p:nvSpPr>
        <p:spPr>
          <a:xfrm>
            <a:off x="1097280" y="1889760"/>
            <a:ext cx="10058400" cy="4023360"/>
          </a:xfrm>
          <a:prstGeom prst="rect">
            <a:avLst/>
          </a:prstGeom>
        </p:spPr>
        <p:txBody>
          <a:bodyPr vert="horz" lIns="0" tIns="45720" rIns="0" bIns="45720" rtlCol="0">
            <a:normAutofit/>
          </a:bodyPr>
          <a:lstStyle>
            <a:lvl1pPr marL="91440" indent="-91440" algn="l" defTabSz="914400" rtl="0" eaLnBrk="1" latinLnBrk="0" hangingPunct="1">
              <a:lnSpc>
                <a:spcPct val="90000"/>
              </a:lnSpc>
              <a:spcBef>
                <a:spcPts val="1200"/>
              </a:spcBef>
              <a:spcAft>
                <a:spcPts val="200"/>
              </a:spcAft>
              <a:buClr>
                <a:schemeClr val="accent1"/>
              </a:buClr>
              <a:buSzPct val="100000"/>
              <a:buFont typeface="Calibri" panose="020F0502020204030204" pitchFamily="34" charset="0"/>
              <a:buChar char=" "/>
              <a:defRPr sz="20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38404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8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56692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74980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93268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1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13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15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17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s-AR" dirty="0"/>
          </a:p>
          <a:p>
            <a:endParaRPr lang="es-AR" dirty="0"/>
          </a:p>
          <a:p>
            <a:pPr algn="ctr"/>
            <a:endParaRPr lang="es-AR" dirty="0"/>
          </a:p>
          <a:p>
            <a:pPr algn="ctr"/>
            <a:r>
              <a:rPr lang="es-ES" sz="4400" dirty="0"/>
              <a:t>Conceptos generales de OO: clases, objetos, atributos, métodos</a:t>
            </a:r>
            <a:endParaRPr lang="es-AR" dirty="0"/>
          </a:p>
          <a:p>
            <a:pPr marL="0" indent="0">
              <a:buFont typeface="Calibri" panose="020F0502020204030204" pitchFamily="34" charset="0"/>
              <a:buNone/>
            </a:pPr>
            <a:endParaRPr lang="es-AR" dirty="0"/>
          </a:p>
          <a:p>
            <a:pPr marL="0" indent="0">
              <a:buFont typeface="Calibri" panose="020F0502020204030204" pitchFamily="34" charset="0"/>
              <a:buNone/>
            </a:pPr>
            <a:endParaRPr lang="es-AR" dirty="0"/>
          </a:p>
        </p:txBody>
      </p:sp>
    </p:spTree>
    <p:extLst>
      <p:ext uri="{BB962C8B-B14F-4D97-AF65-F5344CB8AC3E}">
        <p14:creationId xmlns:p14="http://schemas.microsoft.com/office/powerpoint/2010/main" val="3468566857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39288AE-755B-A275-EEC3-3F1FF7B6C47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0C5BFF7-0C96-9FD8-1777-36414D53025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AR" dirty="0"/>
              <a:t> 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1FC9CA55-426A-B3EE-1C46-F7CAF28D081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s-AR" dirty="0"/>
          </a:p>
          <a:p>
            <a:pPr marL="0" indent="0">
              <a:buNone/>
            </a:pPr>
            <a:endParaRPr lang="es-AR" dirty="0"/>
          </a:p>
          <a:p>
            <a:pPr marL="0" indent="0">
              <a:buNone/>
            </a:pPr>
            <a:endParaRPr lang="es-AR" dirty="0"/>
          </a:p>
        </p:txBody>
      </p:sp>
      <p:pic>
        <p:nvPicPr>
          <p:cNvPr id="4" name="Imagen 3">
            <a:extLst>
              <a:ext uri="{FF2B5EF4-FFF2-40B4-BE49-F238E27FC236}">
                <a16:creationId xmlns:a16="http://schemas.microsoft.com/office/drawing/2014/main" id="{EA0FB829-5DA9-4A5C-859F-66FA9CE70BA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184257" y="757082"/>
            <a:ext cx="971423" cy="502297"/>
          </a:xfrm>
          <a:prstGeom prst="rect">
            <a:avLst/>
          </a:prstGeom>
        </p:spPr>
      </p:pic>
      <p:sp>
        <p:nvSpPr>
          <p:cNvPr id="5" name="Marcador de número de diapositiva 4">
            <a:extLst>
              <a:ext uri="{FF2B5EF4-FFF2-40B4-BE49-F238E27FC236}">
                <a16:creationId xmlns:a16="http://schemas.microsoft.com/office/drawing/2014/main" id="{5FCCEC60-1954-C903-03E0-B5895AD7345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8ECD1B-3F01-46F8-A46F-31A31EFC5ABF}" type="slidenum">
              <a:rPr lang="es-AR" smtClean="0"/>
              <a:t>14</a:t>
            </a:fld>
            <a:endParaRPr lang="es-AR"/>
          </a:p>
        </p:txBody>
      </p:sp>
      <p:sp>
        <p:nvSpPr>
          <p:cNvPr id="6" name="Título 1">
            <a:extLst>
              <a:ext uri="{FF2B5EF4-FFF2-40B4-BE49-F238E27FC236}">
                <a16:creationId xmlns:a16="http://schemas.microsoft.com/office/drawing/2014/main" id="{7E9895BE-5D5C-090C-B501-BDBA1E1A125F}"/>
              </a:ext>
            </a:extLst>
          </p:cNvPr>
          <p:cNvSpPr txBox="1">
            <a:spLocks/>
          </p:cNvSpPr>
          <p:nvPr/>
        </p:nvSpPr>
        <p:spPr>
          <a:xfrm>
            <a:off x="1249680" y="439003"/>
            <a:ext cx="10058400" cy="1450757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l" defTabSz="914400" rtl="0" eaLnBrk="1" latinLnBrk="0" hangingPunct="1">
              <a:lnSpc>
                <a:spcPct val="85000"/>
              </a:lnSpc>
              <a:spcBef>
                <a:spcPct val="0"/>
              </a:spcBef>
              <a:buNone/>
              <a:defRPr sz="4800" kern="1200" spc="-50" baseline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s-ES" dirty="0"/>
              <a:t>Conceptos generales de OO: clases, objetos, atributos, métodos.</a:t>
            </a:r>
            <a:endParaRPr lang="es-AR" dirty="0"/>
          </a:p>
        </p:txBody>
      </p:sp>
      <p:sp>
        <p:nvSpPr>
          <p:cNvPr id="7" name="Marcador de contenido 2">
            <a:extLst>
              <a:ext uri="{FF2B5EF4-FFF2-40B4-BE49-F238E27FC236}">
                <a16:creationId xmlns:a16="http://schemas.microsoft.com/office/drawing/2014/main" id="{22A730A2-1ACA-ACB6-E95B-D08332755E61}"/>
              </a:ext>
            </a:extLst>
          </p:cNvPr>
          <p:cNvSpPr txBox="1">
            <a:spLocks/>
          </p:cNvSpPr>
          <p:nvPr/>
        </p:nvSpPr>
        <p:spPr>
          <a:xfrm>
            <a:off x="1097280" y="1889760"/>
            <a:ext cx="10058400" cy="4023360"/>
          </a:xfrm>
          <a:prstGeom prst="rect">
            <a:avLst/>
          </a:prstGeom>
        </p:spPr>
        <p:txBody>
          <a:bodyPr vert="horz" lIns="0" tIns="45720" rIns="0" bIns="45720" rtlCol="0">
            <a:normAutofit fontScale="92500" lnSpcReduction="20000"/>
          </a:bodyPr>
          <a:lstStyle>
            <a:lvl1pPr marL="91440" indent="-91440" algn="l" defTabSz="914400" rtl="0" eaLnBrk="1" latinLnBrk="0" hangingPunct="1">
              <a:lnSpc>
                <a:spcPct val="90000"/>
              </a:lnSpc>
              <a:spcBef>
                <a:spcPts val="1200"/>
              </a:spcBef>
              <a:spcAft>
                <a:spcPts val="200"/>
              </a:spcAft>
              <a:buClr>
                <a:schemeClr val="accent1"/>
              </a:buClr>
              <a:buSzPct val="100000"/>
              <a:buFont typeface="Calibri" panose="020F0502020204030204" pitchFamily="34" charset="0"/>
              <a:buChar char=" "/>
              <a:defRPr sz="20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38404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8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56692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74980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93268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1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13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15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17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s-ES" dirty="0"/>
              <a:t>La POO intenta reflejar el mundo lo más fielmente posible. El mundo consta de cosas obtenidas a partir de modelos, y éstas cambian continuamente junto con el mundo. </a:t>
            </a:r>
          </a:p>
          <a:p>
            <a:endParaRPr lang="es-ES" dirty="0"/>
          </a:p>
          <a:p>
            <a:r>
              <a:rPr lang="es-ES" dirty="0"/>
              <a:t>La POO habla de “clases”. Las clases son los “modelos”. El modelo más genérico, el de mayor orden, es la clase </a:t>
            </a:r>
            <a:r>
              <a:rPr lang="es-ES" dirty="0" err="1"/>
              <a:t>Object</a:t>
            </a:r>
            <a:r>
              <a:rPr lang="es-ES" dirty="0"/>
              <a:t>. </a:t>
            </a:r>
          </a:p>
          <a:p>
            <a:endParaRPr lang="es-ES" dirty="0"/>
          </a:p>
          <a:p>
            <a:r>
              <a:rPr lang="es-ES" dirty="0"/>
              <a:t>La POO habla de “objetos” que se obtienen a partir de las “clases”. ¿Y qué tienen en común todos los objetos? ¡Que son todos objetos, son cosas!</a:t>
            </a:r>
          </a:p>
          <a:p>
            <a:endParaRPr lang="es-ES" dirty="0"/>
          </a:p>
          <a:p>
            <a:r>
              <a:rPr lang="es-ES" dirty="0"/>
              <a:t>Las clases funcionan de manera jerárquica. Y todos “heredan” cosas en común de su modelo supremo, “el Objeto” (</a:t>
            </a:r>
            <a:r>
              <a:rPr lang="es-ES" dirty="0" err="1"/>
              <a:t>Object</a:t>
            </a:r>
            <a:r>
              <a:rPr lang="es-ES" dirty="0"/>
              <a:t>)</a:t>
            </a:r>
          </a:p>
          <a:p>
            <a:r>
              <a:rPr lang="es-ES" dirty="0"/>
              <a:t>El cambio: operaciones para cambiar el estado en el que se encuentran los objetos y el mundo</a:t>
            </a:r>
            <a:endParaRPr lang="es-AR" dirty="0"/>
          </a:p>
          <a:p>
            <a:endParaRPr lang="es-AR" dirty="0"/>
          </a:p>
          <a:p>
            <a:endParaRPr lang="es-AR" dirty="0"/>
          </a:p>
          <a:p>
            <a:endParaRPr lang="es-AR" dirty="0"/>
          </a:p>
          <a:p>
            <a:pPr marL="0" indent="0">
              <a:buFont typeface="Calibri" panose="020F0502020204030204" pitchFamily="34" charset="0"/>
              <a:buNone/>
            </a:pPr>
            <a:endParaRPr lang="es-AR" dirty="0"/>
          </a:p>
          <a:p>
            <a:pPr marL="0" indent="0">
              <a:buFont typeface="Calibri" panose="020F0502020204030204" pitchFamily="34" charset="0"/>
              <a:buNone/>
            </a:pPr>
            <a:endParaRPr lang="es-AR" dirty="0"/>
          </a:p>
        </p:txBody>
      </p:sp>
    </p:spTree>
    <p:extLst>
      <p:ext uri="{BB962C8B-B14F-4D97-AF65-F5344CB8AC3E}">
        <p14:creationId xmlns:p14="http://schemas.microsoft.com/office/powerpoint/2010/main" val="2631853108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3BBE58A-04E9-F911-7338-663012AFD6B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4409B83-D77A-F899-FF2C-4F0D5912FE2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AR" dirty="0"/>
              <a:t> 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6E7785E7-372F-80FD-3EE0-E77E6FC9670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783330" y="2501324"/>
            <a:ext cx="5453539" cy="2117852"/>
          </a:xfrm>
        </p:spPr>
        <p:txBody>
          <a:bodyPr/>
          <a:lstStyle/>
          <a:p>
            <a:endParaRPr lang="es-AR" dirty="0"/>
          </a:p>
          <a:p>
            <a:pPr marL="0" indent="0">
              <a:buNone/>
            </a:pPr>
            <a:endParaRPr lang="es-AR" dirty="0"/>
          </a:p>
          <a:p>
            <a:pPr marL="0" indent="0">
              <a:buNone/>
            </a:pPr>
            <a:endParaRPr lang="es-AR" dirty="0"/>
          </a:p>
        </p:txBody>
      </p:sp>
      <p:pic>
        <p:nvPicPr>
          <p:cNvPr id="4" name="Imagen 3">
            <a:extLst>
              <a:ext uri="{FF2B5EF4-FFF2-40B4-BE49-F238E27FC236}">
                <a16:creationId xmlns:a16="http://schemas.microsoft.com/office/drawing/2014/main" id="{FD655E2F-ABF2-9AA7-0EEB-6EBCE177782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184257" y="757082"/>
            <a:ext cx="971423" cy="502297"/>
          </a:xfrm>
          <a:prstGeom prst="rect">
            <a:avLst/>
          </a:prstGeom>
        </p:spPr>
      </p:pic>
      <p:sp>
        <p:nvSpPr>
          <p:cNvPr id="5" name="Marcador de número de diapositiva 4">
            <a:extLst>
              <a:ext uri="{FF2B5EF4-FFF2-40B4-BE49-F238E27FC236}">
                <a16:creationId xmlns:a16="http://schemas.microsoft.com/office/drawing/2014/main" id="{C62A92E6-A41A-95A7-6A6F-EE438AA7F33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8ECD1B-3F01-46F8-A46F-31A31EFC5ABF}" type="slidenum">
              <a:rPr lang="es-AR" smtClean="0"/>
              <a:t>15</a:t>
            </a:fld>
            <a:endParaRPr lang="es-AR"/>
          </a:p>
        </p:txBody>
      </p:sp>
      <p:sp>
        <p:nvSpPr>
          <p:cNvPr id="6" name="Título 1">
            <a:extLst>
              <a:ext uri="{FF2B5EF4-FFF2-40B4-BE49-F238E27FC236}">
                <a16:creationId xmlns:a16="http://schemas.microsoft.com/office/drawing/2014/main" id="{A626EAF6-5D0B-EBF7-5C8D-5D8CC3DACF79}"/>
              </a:ext>
            </a:extLst>
          </p:cNvPr>
          <p:cNvSpPr txBox="1">
            <a:spLocks/>
          </p:cNvSpPr>
          <p:nvPr/>
        </p:nvSpPr>
        <p:spPr>
          <a:xfrm>
            <a:off x="1249680" y="439003"/>
            <a:ext cx="10058400" cy="1450757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l" defTabSz="914400" rtl="0" eaLnBrk="1" latinLnBrk="0" hangingPunct="1">
              <a:lnSpc>
                <a:spcPct val="85000"/>
              </a:lnSpc>
              <a:spcBef>
                <a:spcPct val="0"/>
              </a:spcBef>
              <a:buNone/>
              <a:defRPr sz="4800" kern="1200" spc="-50" baseline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s-ES" dirty="0"/>
              <a:t>Conceptos generales de OO: clases, objetos, atributos, métodos.</a:t>
            </a:r>
            <a:endParaRPr lang="es-AR" dirty="0"/>
          </a:p>
        </p:txBody>
      </p:sp>
      <p:sp>
        <p:nvSpPr>
          <p:cNvPr id="7" name="Marcador de contenido 2">
            <a:extLst>
              <a:ext uri="{FF2B5EF4-FFF2-40B4-BE49-F238E27FC236}">
                <a16:creationId xmlns:a16="http://schemas.microsoft.com/office/drawing/2014/main" id="{27C18B26-23BA-554B-A9FF-8F79F598585E}"/>
              </a:ext>
            </a:extLst>
          </p:cNvPr>
          <p:cNvSpPr txBox="1">
            <a:spLocks/>
          </p:cNvSpPr>
          <p:nvPr/>
        </p:nvSpPr>
        <p:spPr>
          <a:xfrm>
            <a:off x="1097280" y="1889760"/>
            <a:ext cx="10058400" cy="4023360"/>
          </a:xfrm>
          <a:prstGeom prst="rect">
            <a:avLst/>
          </a:prstGeom>
        </p:spPr>
        <p:txBody>
          <a:bodyPr vert="horz" lIns="0" tIns="45720" rIns="0" bIns="45720" rtlCol="0">
            <a:normAutofit/>
          </a:bodyPr>
          <a:lstStyle>
            <a:lvl1pPr marL="91440" indent="-91440" algn="l" defTabSz="914400" rtl="0" eaLnBrk="1" latinLnBrk="0" hangingPunct="1">
              <a:lnSpc>
                <a:spcPct val="90000"/>
              </a:lnSpc>
              <a:spcBef>
                <a:spcPts val="1200"/>
              </a:spcBef>
              <a:spcAft>
                <a:spcPts val="200"/>
              </a:spcAft>
              <a:buClr>
                <a:schemeClr val="accent1"/>
              </a:buClr>
              <a:buSzPct val="100000"/>
              <a:buFont typeface="Calibri" panose="020F0502020204030204" pitchFamily="34" charset="0"/>
              <a:buChar char=" "/>
              <a:defRPr sz="20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38404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8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56692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74980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93268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1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13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15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17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s-AR" dirty="0"/>
          </a:p>
          <a:p>
            <a:endParaRPr lang="es-AR" dirty="0"/>
          </a:p>
          <a:p>
            <a:endParaRPr lang="es-AR" dirty="0"/>
          </a:p>
          <a:p>
            <a:pPr marL="0" indent="0">
              <a:buFont typeface="Calibri" panose="020F0502020204030204" pitchFamily="34" charset="0"/>
              <a:buNone/>
            </a:pPr>
            <a:endParaRPr lang="es-AR" dirty="0"/>
          </a:p>
          <a:p>
            <a:pPr marL="0" indent="0">
              <a:buFont typeface="Calibri" panose="020F0502020204030204" pitchFamily="34" charset="0"/>
              <a:buNone/>
            </a:pPr>
            <a:endParaRPr lang="es-AR" dirty="0"/>
          </a:p>
        </p:txBody>
      </p:sp>
      <p:pic>
        <p:nvPicPr>
          <p:cNvPr id="1026" name="Picture 2" descr="JVM Memory Management: Part 2. Java heavily relies on objects. As a… | by  Mrinal Gupta | Nerd For Tech | Medium">
            <a:extLst>
              <a:ext uri="{FF2B5EF4-FFF2-40B4-BE49-F238E27FC236}">
                <a16:creationId xmlns:a16="http://schemas.microsoft.com/office/drawing/2014/main" id="{DB5DDDFF-BD3C-C340-8BE9-6F542269552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686050" y="1889760"/>
            <a:ext cx="6610350" cy="371832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129983513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494A042-CAFF-974C-5029-3236DE60324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8DA73CF-F0A9-A667-3EC0-507F212FFCB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AR" dirty="0"/>
              <a:t> 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551339FD-F680-05EB-5AF3-7793212F42C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783330" y="2501324"/>
            <a:ext cx="5453539" cy="2117852"/>
          </a:xfrm>
        </p:spPr>
        <p:txBody>
          <a:bodyPr/>
          <a:lstStyle/>
          <a:p>
            <a:endParaRPr lang="es-AR" dirty="0"/>
          </a:p>
          <a:p>
            <a:pPr marL="0" indent="0">
              <a:buNone/>
            </a:pPr>
            <a:endParaRPr lang="es-AR" dirty="0"/>
          </a:p>
          <a:p>
            <a:pPr marL="0" indent="0">
              <a:buNone/>
            </a:pPr>
            <a:endParaRPr lang="es-AR" dirty="0"/>
          </a:p>
        </p:txBody>
      </p:sp>
      <p:pic>
        <p:nvPicPr>
          <p:cNvPr id="4" name="Imagen 3">
            <a:extLst>
              <a:ext uri="{FF2B5EF4-FFF2-40B4-BE49-F238E27FC236}">
                <a16:creationId xmlns:a16="http://schemas.microsoft.com/office/drawing/2014/main" id="{EB0C45FD-1BE7-ABFE-B429-016F1C5E62B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184257" y="757082"/>
            <a:ext cx="971423" cy="502297"/>
          </a:xfrm>
          <a:prstGeom prst="rect">
            <a:avLst/>
          </a:prstGeom>
        </p:spPr>
      </p:pic>
      <p:sp>
        <p:nvSpPr>
          <p:cNvPr id="5" name="Marcador de número de diapositiva 4">
            <a:extLst>
              <a:ext uri="{FF2B5EF4-FFF2-40B4-BE49-F238E27FC236}">
                <a16:creationId xmlns:a16="http://schemas.microsoft.com/office/drawing/2014/main" id="{4AA7D958-AF8C-ECC5-E197-9D9D5F78378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8ECD1B-3F01-46F8-A46F-31A31EFC5ABF}" type="slidenum">
              <a:rPr lang="es-AR" smtClean="0"/>
              <a:t>16</a:t>
            </a:fld>
            <a:endParaRPr lang="es-AR"/>
          </a:p>
        </p:txBody>
      </p:sp>
      <p:sp>
        <p:nvSpPr>
          <p:cNvPr id="6" name="Título 1">
            <a:extLst>
              <a:ext uri="{FF2B5EF4-FFF2-40B4-BE49-F238E27FC236}">
                <a16:creationId xmlns:a16="http://schemas.microsoft.com/office/drawing/2014/main" id="{8DAD257A-1E81-6908-FA91-1A4BFE2B4AF5}"/>
              </a:ext>
            </a:extLst>
          </p:cNvPr>
          <p:cNvSpPr txBox="1">
            <a:spLocks/>
          </p:cNvSpPr>
          <p:nvPr/>
        </p:nvSpPr>
        <p:spPr>
          <a:xfrm>
            <a:off x="1249680" y="439003"/>
            <a:ext cx="10058400" cy="1450757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l" defTabSz="914400" rtl="0" eaLnBrk="1" latinLnBrk="0" hangingPunct="1">
              <a:lnSpc>
                <a:spcPct val="85000"/>
              </a:lnSpc>
              <a:spcBef>
                <a:spcPct val="0"/>
              </a:spcBef>
              <a:buNone/>
              <a:defRPr sz="4800" kern="1200" spc="-50" baseline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s-ES" dirty="0"/>
              <a:t>Conceptos generales de OO: clases, objetos, atributos, métodos.</a:t>
            </a:r>
            <a:endParaRPr lang="es-AR" dirty="0"/>
          </a:p>
        </p:txBody>
      </p:sp>
      <p:sp>
        <p:nvSpPr>
          <p:cNvPr id="7" name="Marcador de contenido 2">
            <a:extLst>
              <a:ext uri="{FF2B5EF4-FFF2-40B4-BE49-F238E27FC236}">
                <a16:creationId xmlns:a16="http://schemas.microsoft.com/office/drawing/2014/main" id="{8409F126-CAD3-4E8D-31D5-CD519AF3C820}"/>
              </a:ext>
            </a:extLst>
          </p:cNvPr>
          <p:cNvSpPr txBox="1">
            <a:spLocks/>
          </p:cNvSpPr>
          <p:nvPr/>
        </p:nvSpPr>
        <p:spPr>
          <a:xfrm>
            <a:off x="1097280" y="1889760"/>
            <a:ext cx="10058400" cy="4023360"/>
          </a:xfrm>
          <a:prstGeom prst="rect">
            <a:avLst/>
          </a:prstGeom>
        </p:spPr>
        <p:txBody>
          <a:bodyPr vert="horz" lIns="0" tIns="45720" rIns="0" bIns="45720" rtlCol="0">
            <a:normAutofit/>
          </a:bodyPr>
          <a:lstStyle>
            <a:lvl1pPr marL="91440" indent="-91440" algn="l" defTabSz="914400" rtl="0" eaLnBrk="1" latinLnBrk="0" hangingPunct="1">
              <a:lnSpc>
                <a:spcPct val="90000"/>
              </a:lnSpc>
              <a:spcBef>
                <a:spcPts val="1200"/>
              </a:spcBef>
              <a:spcAft>
                <a:spcPts val="200"/>
              </a:spcAft>
              <a:buClr>
                <a:schemeClr val="accent1"/>
              </a:buClr>
              <a:buSzPct val="100000"/>
              <a:buFont typeface="Calibri" panose="020F0502020204030204" pitchFamily="34" charset="0"/>
              <a:buChar char=" "/>
              <a:defRPr sz="20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38404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8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56692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74980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93268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1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13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15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17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s-AR" dirty="0"/>
          </a:p>
          <a:p>
            <a:endParaRPr lang="es-AR" dirty="0"/>
          </a:p>
          <a:p>
            <a:endParaRPr lang="es-AR" dirty="0"/>
          </a:p>
          <a:p>
            <a:pPr marL="0" indent="0">
              <a:buFont typeface="Calibri" panose="020F0502020204030204" pitchFamily="34" charset="0"/>
              <a:buNone/>
            </a:pPr>
            <a:endParaRPr lang="es-AR" dirty="0"/>
          </a:p>
          <a:p>
            <a:pPr marL="0" indent="0">
              <a:buFont typeface="Calibri" panose="020F0502020204030204" pitchFamily="34" charset="0"/>
              <a:buNone/>
            </a:pPr>
            <a:endParaRPr lang="es-AR" dirty="0"/>
          </a:p>
        </p:txBody>
      </p:sp>
      <p:pic>
        <p:nvPicPr>
          <p:cNvPr id="9" name="Imagen 8">
            <a:extLst>
              <a:ext uri="{FF2B5EF4-FFF2-40B4-BE49-F238E27FC236}">
                <a16:creationId xmlns:a16="http://schemas.microsoft.com/office/drawing/2014/main" id="{B715AB14-79A9-6CB2-6F85-95E39AB2642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49679" y="3052706"/>
            <a:ext cx="3007043" cy="3012814"/>
          </a:xfrm>
          <a:prstGeom prst="rect">
            <a:avLst/>
          </a:prstGeom>
        </p:spPr>
      </p:pic>
      <p:pic>
        <p:nvPicPr>
          <p:cNvPr id="11" name="Imagen 10">
            <a:extLst>
              <a:ext uri="{FF2B5EF4-FFF2-40B4-BE49-F238E27FC236}">
                <a16:creationId xmlns:a16="http://schemas.microsoft.com/office/drawing/2014/main" id="{ED06B368-1354-DB7B-6669-E75836CE58D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776174" y="3090810"/>
            <a:ext cx="3007043" cy="2974709"/>
          </a:xfrm>
          <a:prstGeom prst="rect">
            <a:avLst/>
          </a:prstGeom>
        </p:spPr>
      </p:pic>
      <p:pic>
        <p:nvPicPr>
          <p:cNvPr id="13" name="Imagen 12">
            <a:extLst>
              <a:ext uri="{FF2B5EF4-FFF2-40B4-BE49-F238E27FC236}">
                <a16:creationId xmlns:a16="http://schemas.microsoft.com/office/drawing/2014/main" id="{6F9A0DD4-D464-A63B-4548-706C06661665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441260" y="3090810"/>
            <a:ext cx="2918395" cy="2918395"/>
          </a:xfrm>
          <a:prstGeom prst="rect">
            <a:avLst/>
          </a:prstGeom>
        </p:spPr>
      </p:pic>
      <p:sp>
        <p:nvSpPr>
          <p:cNvPr id="14" name="Marcador de contenido 2">
            <a:extLst>
              <a:ext uri="{FF2B5EF4-FFF2-40B4-BE49-F238E27FC236}">
                <a16:creationId xmlns:a16="http://schemas.microsoft.com/office/drawing/2014/main" id="{FE5C18E9-1D19-C17F-DA58-EFDAC5963DE7}"/>
              </a:ext>
            </a:extLst>
          </p:cNvPr>
          <p:cNvSpPr txBox="1">
            <a:spLocks/>
          </p:cNvSpPr>
          <p:nvPr/>
        </p:nvSpPr>
        <p:spPr>
          <a:xfrm>
            <a:off x="1249680" y="2042160"/>
            <a:ext cx="10058400" cy="4023360"/>
          </a:xfrm>
          <a:prstGeom prst="rect">
            <a:avLst/>
          </a:prstGeom>
        </p:spPr>
        <p:txBody>
          <a:bodyPr vert="horz" lIns="0" tIns="45720" rIns="0" bIns="45720" rtlCol="0">
            <a:normAutofit/>
          </a:bodyPr>
          <a:lstStyle>
            <a:lvl1pPr marL="91440" indent="-91440" algn="l" defTabSz="914400" rtl="0" eaLnBrk="1" latinLnBrk="0" hangingPunct="1">
              <a:lnSpc>
                <a:spcPct val="90000"/>
              </a:lnSpc>
              <a:spcBef>
                <a:spcPts val="1200"/>
              </a:spcBef>
              <a:spcAft>
                <a:spcPts val="200"/>
              </a:spcAft>
              <a:buClr>
                <a:schemeClr val="accent1"/>
              </a:buClr>
              <a:buSzPct val="100000"/>
              <a:buFont typeface="Calibri" panose="020F0502020204030204" pitchFamily="34" charset="0"/>
              <a:buChar char=" "/>
              <a:defRPr sz="20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38404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8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56692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74980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93268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1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13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15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17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s-AR" dirty="0"/>
              <a:t>Un objeto				Una clase		Un objeto concreto</a:t>
            </a:r>
          </a:p>
          <a:p>
            <a:endParaRPr lang="es-AR" dirty="0"/>
          </a:p>
          <a:p>
            <a:pPr marL="0" indent="0">
              <a:buFont typeface="Calibri" panose="020F0502020204030204" pitchFamily="34" charset="0"/>
              <a:buNone/>
            </a:pPr>
            <a:endParaRPr lang="es-AR" dirty="0"/>
          </a:p>
          <a:p>
            <a:pPr marL="0" indent="0">
              <a:buFont typeface="Calibri" panose="020F0502020204030204" pitchFamily="34" charset="0"/>
              <a:buNone/>
            </a:pPr>
            <a:endParaRPr lang="es-AR" dirty="0"/>
          </a:p>
        </p:txBody>
      </p:sp>
    </p:spTree>
    <p:extLst>
      <p:ext uri="{BB962C8B-B14F-4D97-AF65-F5344CB8AC3E}">
        <p14:creationId xmlns:p14="http://schemas.microsoft.com/office/powerpoint/2010/main" val="3292162683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9EB313F-DEED-971F-007A-9D55B8101AF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C80203A-F577-3D21-31D8-994967F4BC1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AR" dirty="0"/>
              <a:t> 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07862D07-629E-1C5B-708F-49AA8B43756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783330" y="2501324"/>
            <a:ext cx="5453539" cy="2117852"/>
          </a:xfrm>
        </p:spPr>
        <p:txBody>
          <a:bodyPr/>
          <a:lstStyle/>
          <a:p>
            <a:endParaRPr lang="es-AR" dirty="0"/>
          </a:p>
          <a:p>
            <a:pPr marL="0" indent="0">
              <a:buNone/>
            </a:pPr>
            <a:endParaRPr lang="es-AR" dirty="0"/>
          </a:p>
          <a:p>
            <a:pPr marL="0" indent="0">
              <a:buNone/>
            </a:pPr>
            <a:endParaRPr lang="es-AR" dirty="0"/>
          </a:p>
        </p:txBody>
      </p:sp>
      <p:pic>
        <p:nvPicPr>
          <p:cNvPr id="4" name="Imagen 3">
            <a:extLst>
              <a:ext uri="{FF2B5EF4-FFF2-40B4-BE49-F238E27FC236}">
                <a16:creationId xmlns:a16="http://schemas.microsoft.com/office/drawing/2014/main" id="{87695DB4-4299-C50A-F6CE-BB09F857E55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184257" y="757082"/>
            <a:ext cx="971423" cy="502297"/>
          </a:xfrm>
          <a:prstGeom prst="rect">
            <a:avLst/>
          </a:prstGeom>
        </p:spPr>
      </p:pic>
      <p:sp>
        <p:nvSpPr>
          <p:cNvPr id="5" name="Marcador de número de diapositiva 4">
            <a:extLst>
              <a:ext uri="{FF2B5EF4-FFF2-40B4-BE49-F238E27FC236}">
                <a16:creationId xmlns:a16="http://schemas.microsoft.com/office/drawing/2014/main" id="{1DF6A1B8-17A7-8E5D-FB84-8E226B25FD9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8ECD1B-3F01-46F8-A46F-31A31EFC5ABF}" type="slidenum">
              <a:rPr lang="es-AR" smtClean="0"/>
              <a:t>17</a:t>
            </a:fld>
            <a:endParaRPr lang="es-AR"/>
          </a:p>
        </p:txBody>
      </p:sp>
      <p:sp>
        <p:nvSpPr>
          <p:cNvPr id="6" name="Título 1">
            <a:extLst>
              <a:ext uri="{FF2B5EF4-FFF2-40B4-BE49-F238E27FC236}">
                <a16:creationId xmlns:a16="http://schemas.microsoft.com/office/drawing/2014/main" id="{C72F9454-A9FD-2418-5C4D-51747DA1C468}"/>
              </a:ext>
            </a:extLst>
          </p:cNvPr>
          <p:cNvSpPr txBox="1">
            <a:spLocks/>
          </p:cNvSpPr>
          <p:nvPr/>
        </p:nvSpPr>
        <p:spPr>
          <a:xfrm>
            <a:off x="1249680" y="439003"/>
            <a:ext cx="10058400" cy="1450757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l" defTabSz="914400" rtl="0" eaLnBrk="1" latinLnBrk="0" hangingPunct="1">
              <a:lnSpc>
                <a:spcPct val="85000"/>
              </a:lnSpc>
              <a:spcBef>
                <a:spcPct val="0"/>
              </a:spcBef>
              <a:buNone/>
              <a:defRPr sz="4800" kern="1200" spc="-50" baseline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s-ES" dirty="0"/>
              <a:t>Conceptos generales de OO: clases, objetos, atributos, métodos.</a:t>
            </a:r>
            <a:endParaRPr lang="es-AR" dirty="0"/>
          </a:p>
        </p:txBody>
      </p:sp>
      <p:sp>
        <p:nvSpPr>
          <p:cNvPr id="7" name="Marcador de contenido 2">
            <a:extLst>
              <a:ext uri="{FF2B5EF4-FFF2-40B4-BE49-F238E27FC236}">
                <a16:creationId xmlns:a16="http://schemas.microsoft.com/office/drawing/2014/main" id="{34EFD3F9-848B-3851-0D2F-15C5347B6A47}"/>
              </a:ext>
            </a:extLst>
          </p:cNvPr>
          <p:cNvSpPr txBox="1">
            <a:spLocks/>
          </p:cNvSpPr>
          <p:nvPr/>
        </p:nvSpPr>
        <p:spPr>
          <a:xfrm>
            <a:off x="1097280" y="1889760"/>
            <a:ext cx="10058400" cy="4023360"/>
          </a:xfrm>
          <a:prstGeom prst="rect">
            <a:avLst/>
          </a:prstGeom>
        </p:spPr>
        <p:txBody>
          <a:bodyPr vert="horz" lIns="0" tIns="45720" rIns="0" bIns="45720" rtlCol="0">
            <a:normAutofit/>
          </a:bodyPr>
          <a:lstStyle>
            <a:lvl1pPr marL="91440" indent="-91440" algn="l" defTabSz="914400" rtl="0" eaLnBrk="1" latinLnBrk="0" hangingPunct="1">
              <a:lnSpc>
                <a:spcPct val="90000"/>
              </a:lnSpc>
              <a:spcBef>
                <a:spcPts val="1200"/>
              </a:spcBef>
              <a:spcAft>
                <a:spcPts val="200"/>
              </a:spcAft>
              <a:buClr>
                <a:schemeClr val="accent1"/>
              </a:buClr>
              <a:buSzPct val="100000"/>
              <a:buFont typeface="Calibri" panose="020F0502020204030204" pitchFamily="34" charset="0"/>
              <a:buChar char=" "/>
              <a:defRPr sz="20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38404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8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56692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74980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93268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1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13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15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17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s-AR" dirty="0"/>
          </a:p>
          <a:p>
            <a:endParaRPr lang="es-AR" dirty="0"/>
          </a:p>
          <a:p>
            <a:endParaRPr lang="es-AR" dirty="0"/>
          </a:p>
          <a:p>
            <a:pPr marL="0" indent="0">
              <a:buFont typeface="Calibri" panose="020F0502020204030204" pitchFamily="34" charset="0"/>
              <a:buNone/>
            </a:pPr>
            <a:endParaRPr lang="es-AR" dirty="0"/>
          </a:p>
          <a:p>
            <a:pPr marL="0" indent="0">
              <a:buFont typeface="Calibri" panose="020F0502020204030204" pitchFamily="34" charset="0"/>
              <a:buNone/>
            </a:pPr>
            <a:endParaRPr lang="es-AR" dirty="0"/>
          </a:p>
        </p:txBody>
      </p:sp>
      <p:sp>
        <p:nvSpPr>
          <p:cNvPr id="14" name="Marcador de contenido 2">
            <a:extLst>
              <a:ext uri="{FF2B5EF4-FFF2-40B4-BE49-F238E27FC236}">
                <a16:creationId xmlns:a16="http://schemas.microsoft.com/office/drawing/2014/main" id="{8754C815-3B7B-A5D7-C12F-EC9FAEB76775}"/>
              </a:ext>
            </a:extLst>
          </p:cNvPr>
          <p:cNvSpPr txBox="1">
            <a:spLocks/>
          </p:cNvSpPr>
          <p:nvPr/>
        </p:nvSpPr>
        <p:spPr>
          <a:xfrm>
            <a:off x="1249680" y="2042160"/>
            <a:ext cx="10058400" cy="4023360"/>
          </a:xfrm>
          <a:prstGeom prst="rect">
            <a:avLst/>
          </a:prstGeom>
        </p:spPr>
        <p:txBody>
          <a:bodyPr vert="horz" lIns="0" tIns="45720" rIns="0" bIns="45720" rtlCol="0">
            <a:normAutofit/>
          </a:bodyPr>
          <a:lstStyle>
            <a:lvl1pPr marL="91440" indent="-91440" algn="l" defTabSz="914400" rtl="0" eaLnBrk="1" latinLnBrk="0" hangingPunct="1">
              <a:lnSpc>
                <a:spcPct val="90000"/>
              </a:lnSpc>
              <a:spcBef>
                <a:spcPts val="1200"/>
              </a:spcBef>
              <a:spcAft>
                <a:spcPts val="200"/>
              </a:spcAft>
              <a:buClr>
                <a:schemeClr val="accent1"/>
              </a:buClr>
              <a:buSzPct val="100000"/>
              <a:buFont typeface="Calibri" panose="020F0502020204030204" pitchFamily="34" charset="0"/>
              <a:buChar char=" "/>
              <a:defRPr sz="20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38404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8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56692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74980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93268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1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13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15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17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s-AR" dirty="0"/>
              <a:t>Como modelamos el mundo que nos rodea para llevarlo al formato maquina y manejarlo</a:t>
            </a:r>
          </a:p>
          <a:p>
            <a:endParaRPr lang="es-AR" dirty="0"/>
          </a:p>
          <a:p>
            <a:pPr marL="0" indent="0">
              <a:buFont typeface="Calibri" panose="020F0502020204030204" pitchFamily="34" charset="0"/>
              <a:buNone/>
            </a:pPr>
            <a:endParaRPr lang="es-AR" dirty="0"/>
          </a:p>
          <a:p>
            <a:pPr marL="0" indent="0">
              <a:buFont typeface="Calibri" panose="020F0502020204030204" pitchFamily="34" charset="0"/>
              <a:buNone/>
            </a:pPr>
            <a:endParaRPr lang="es-AR" dirty="0"/>
          </a:p>
        </p:txBody>
      </p:sp>
      <p:pic>
        <p:nvPicPr>
          <p:cNvPr id="10" name="Imagen 9">
            <a:extLst>
              <a:ext uri="{FF2B5EF4-FFF2-40B4-BE49-F238E27FC236}">
                <a16:creationId xmlns:a16="http://schemas.microsoft.com/office/drawing/2014/main" id="{2603FA45-9BC3-FED6-F7D8-9BB50128D51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66875" y="2417445"/>
            <a:ext cx="8858250" cy="34956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20246577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918C8AF-44A1-6E2B-A075-4CE001400DE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87EB183-1F06-A1DE-9A43-40E2BA6DD47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AR" dirty="0"/>
              <a:t> 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FB6C636B-D00B-9965-37F9-880956CB323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783330" y="2501324"/>
            <a:ext cx="5453539" cy="2117852"/>
          </a:xfrm>
        </p:spPr>
        <p:txBody>
          <a:bodyPr/>
          <a:lstStyle/>
          <a:p>
            <a:endParaRPr lang="es-AR" dirty="0"/>
          </a:p>
          <a:p>
            <a:pPr marL="0" indent="0">
              <a:buNone/>
            </a:pPr>
            <a:endParaRPr lang="es-AR" dirty="0"/>
          </a:p>
          <a:p>
            <a:pPr marL="0" indent="0">
              <a:buNone/>
            </a:pPr>
            <a:endParaRPr lang="es-AR" dirty="0"/>
          </a:p>
        </p:txBody>
      </p:sp>
      <p:pic>
        <p:nvPicPr>
          <p:cNvPr id="4" name="Imagen 3">
            <a:extLst>
              <a:ext uri="{FF2B5EF4-FFF2-40B4-BE49-F238E27FC236}">
                <a16:creationId xmlns:a16="http://schemas.microsoft.com/office/drawing/2014/main" id="{FEDF0AAC-755A-06A3-F9F8-B5181F51BC1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184257" y="757082"/>
            <a:ext cx="971423" cy="502297"/>
          </a:xfrm>
          <a:prstGeom prst="rect">
            <a:avLst/>
          </a:prstGeom>
        </p:spPr>
      </p:pic>
      <p:sp>
        <p:nvSpPr>
          <p:cNvPr id="5" name="Marcador de número de diapositiva 4">
            <a:extLst>
              <a:ext uri="{FF2B5EF4-FFF2-40B4-BE49-F238E27FC236}">
                <a16:creationId xmlns:a16="http://schemas.microsoft.com/office/drawing/2014/main" id="{C7BE4C4F-D258-5708-486D-A98409A2BB7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8ECD1B-3F01-46F8-A46F-31A31EFC5ABF}" type="slidenum">
              <a:rPr lang="es-AR" smtClean="0"/>
              <a:t>18</a:t>
            </a:fld>
            <a:endParaRPr lang="es-AR"/>
          </a:p>
        </p:txBody>
      </p:sp>
      <p:sp>
        <p:nvSpPr>
          <p:cNvPr id="6" name="Título 1">
            <a:extLst>
              <a:ext uri="{FF2B5EF4-FFF2-40B4-BE49-F238E27FC236}">
                <a16:creationId xmlns:a16="http://schemas.microsoft.com/office/drawing/2014/main" id="{DA1F644A-204D-95DD-A854-7AF9DD8FE6A9}"/>
              </a:ext>
            </a:extLst>
          </p:cNvPr>
          <p:cNvSpPr txBox="1">
            <a:spLocks/>
          </p:cNvSpPr>
          <p:nvPr/>
        </p:nvSpPr>
        <p:spPr>
          <a:xfrm>
            <a:off x="1249680" y="439003"/>
            <a:ext cx="10058400" cy="1450757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l" defTabSz="914400" rtl="0" eaLnBrk="1" latinLnBrk="0" hangingPunct="1">
              <a:lnSpc>
                <a:spcPct val="85000"/>
              </a:lnSpc>
              <a:spcBef>
                <a:spcPct val="0"/>
              </a:spcBef>
              <a:buNone/>
              <a:defRPr sz="4800" kern="1200" spc="-50" baseline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s-AR" dirty="0"/>
              <a:t>Beneficios de POO</a:t>
            </a:r>
            <a:r>
              <a:rPr lang="es-ES" dirty="0"/>
              <a:t>.</a:t>
            </a:r>
            <a:endParaRPr lang="es-AR" dirty="0"/>
          </a:p>
        </p:txBody>
      </p:sp>
      <p:sp>
        <p:nvSpPr>
          <p:cNvPr id="7" name="Marcador de contenido 2">
            <a:extLst>
              <a:ext uri="{FF2B5EF4-FFF2-40B4-BE49-F238E27FC236}">
                <a16:creationId xmlns:a16="http://schemas.microsoft.com/office/drawing/2014/main" id="{A0883EFB-0AA5-244F-553F-FC60A5923F2C}"/>
              </a:ext>
            </a:extLst>
          </p:cNvPr>
          <p:cNvSpPr txBox="1">
            <a:spLocks/>
          </p:cNvSpPr>
          <p:nvPr/>
        </p:nvSpPr>
        <p:spPr>
          <a:xfrm>
            <a:off x="1097280" y="1889760"/>
            <a:ext cx="10058400" cy="4023360"/>
          </a:xfrm>
          <a:prstGeom prst="rect">
            <a:avLst/>
          </a:prstGeom>
        </p:spPr>
        <p:txBody>
          <a:bodyPr vert="horz" lIns="0" tIns="45720" rIns="0" bIns="45720" rtlCol="0">
            <a:normAutofit/>
          </a:bodyPr>
          <a:lstStyle>
            <a:lvl1pPr marL="91440" indent="-91440" algn="l" defTabSz="914400" rtl="0" eaLnBrk="1" latinLnBrk="0" hangingPunct="1">
              <a:lnSpc>
                <a:spcPct val="90000"/>
              </a:lnSpc>
              <a:spcBef>
                <a:spcPts val="1200"/>
              </a:spcBef>
              <a:spcAft>
                <a:spcPts val="200"/>
              </a:spcAft>
              <a:buClr>
                <a:schemeClr val="accent1"/>
              </a:buClr>
              <a:buSzPct val="100000"/>
              <a:buFont typeface="Calibri" panose="020F0502020204030204" pitchFamily="34" charset="0"/>
              <a:buChar char=" "/>
              <a:defRPr sz="20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38404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8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56692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74980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93268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1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13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15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17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s-AR" dirty="0"/>
          </a:p>
          <a:p>
            <a:endParaRPr lang="es-AR" dirty="0"/>
          </a:p>
          <a:p>
            <a:endParaRPr lang="es-AR" dirty="0"/>
          </a:p>
          <a:p>
            <a:pPr marL="0" indent="0">
              <a:buFont typeface="Calibri" panose="020F0502020204030204" pitchFamily="34" charset="0"/>
              <a:buNone/>
            </a:pPr>
            <a:endParaRPr lang="es-AR" dirty="0"/>
          </a:p>
          <a:p>
            <a:pPr marL="0" indent="0">
              <a:buFont typeface="Calibri" panose="020F0502020204030204" pitchFamily="34" charset="0"/>
              <a:buNone/>
            </a:pPr>
            <a:endParaRPr lang="es-AR" dirty="0"/>
          </a:p>
        </p:txBody>
      </p:sp>
      <p:sp>
        <p:nvSpPr>
          <p:cNvPr id="14" name="Marcador de contenido 2">
            <a:extLst>
              <a:ext uri="{FF2B5EF4-FFF2-40B4-BE49-F238E27FC236}">
                <a16:creationId xmlns:a16="http://schemas.microsoft.com/office/drawing/2014/main" id="{ADE85BC1-5761-F927-CC01-6D8F424D0295}"/>
              </a:ext>
            </a:extLst>
          </p:cNvPr>
          <p:cNvSpPr txBox="1">
            <a:spLocks/>
          </p:cNvSpPr>
          <p:nvPr/>
        </p:nvSpPr>
        <p:spPr>
          <a:xfrm>
            <a:off x="1249680" y="2042160"/>
            <a:ext cx="10058400" cy="4023360"/>
          </a:xfrm>
          <a:prstGeom prst="rect">
            <a:avLst/>
          </a:prstGeom>
        </p:spPr>
        <p:txBody>
          <a:bodyPr vert="horz" lIns="0" tIns="45720" rIns="0" bIns="45720" rtlCol="0">
            <a:normAutofit fontScale="77500" lnSpcReduction="20000"/>
          </a:bodyPr>
          <a:lstStyle>
            <a:lvl1pPr marL="91440" indent="-91440" algn="l" defTabSz="914400" rtl="0" eaLnBrk="1" latinLnBrk="0" hangingPunct="1">
              <a:lnSpc>
                <a:spcPct val="90000"/>
              </a:lnSpc>
              <a:spcBef>
                <a:spcPts val="1200"/>
              </a:spcBef>
              <a:spcAft>
                <a:spcPts val="200"/>
              </a:spcAft>
              <a:buClr>
                <a:schemeClr val="accent1"/>
              </a:buClr>
              <a:buSzPct val="100000"/>
              <a:buFont typeface="Calibri" panose="020F0502020204030204" pitchFamily="34" charset="0"/>
              <a:buChar char=" "/>
              <a:defRPr sz="20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38404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8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56692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74980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93268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1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13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15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17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s-ES" dirty="0"/>
              <a:t>Reutilización de código: </a:t>
            </a:r>
          </a:p>
          <a:p>
            <a:pPr lvl="1"/>
            <a:r>
              <a:rPr lang="es-ES" dirty="0"/>
              <a:t> Las clases y objetos pueden reutilizarse en diferentes partes del programa o incluso en otros proyectos. </a:t>
            </a:r>
          </a:p>
          <a:p>
            <a:pPr lvl="1"/>
            <a:r>
              <a:rPr lang="es-ES" dirty="0"/>
              <a:t>La herencia y otras características facilitan la creación de nuevo código a partir de elementos existentes. </a:t>
            </a:r>
          </a:p>
          <a:p>
            <a:r>
              <a:rPr lang="es-ES" dirty="0"/>
              <a:t>Mantenibilidad:</a:t>
            </a:r>
          </a:p>
          <a:p>
            <a:pPr lvl="1"/>
            <a:r>
              <a:rPr lang="es-ES" dirty="0"/>
              <a:t>El código orientado a objetos es más fácil de entender y modificar, ya que está organizado en módulos lógicos. </a:t>
            </a:r>
          </a:p>
          <a:p>
            <a:pPr lvl="1"/>
            <a:r>
              <a:rPr lang="es-ES" dirty="0"/>
              <a:t>Permite adaptar y expandir sistemas de forma más sencilla, sin afectar el código existente. </a:t>
            </a:r>
          </a:p>
          <a:p>
            <a:pPr lvl="1"/>
            <a:r>
              <a:rPr lang="es-ES" dirty="0"/>
              <a:t>La POO ayuda a organizar el código en módulos y clases, facilitando su comprensión y mantenimiento. </a:t>
            </a:r>
          </a:p>
          <a:p>
            <a:r>
              <a:rPr lang="es-ES" dirty="0"/>
              <a:t>Modularidad:</a:t>
            </a:r>
          </a:p>
          <a:p>
            <a:pPr lvl="1"/>
            <a:r>
              <a:rPr lang="es-ES" dirty="0"/>
              <a:t>Permite dividir un programa complejo en partes más pequeñas y manejables, facilitando el desarrollo y la colaboración entre equipos. </a:t>
            </a:r>
          </a:p>
          <a:p>
            <a:r>
              <a:rPr lang="es-ES" dirty="0"/>
              <a:t>Flexibilidad:</a:t>
            </a:r>
          </a:p>
          <a:p>
            <a:pPr lvl="1"/>
            <a:r>
              <a:rPr lang="es-ES" dirty="0"/>
              <a:t>El polimorfismo permite que el código se adapte a cambios y nuevas funcionalidades sin necesidad de modificar la estructura original. </a:t>
            </a:r>
          </a:p>
          <a:p>
            <a:pPr lvl="1"/>
            <a:r>
              <a:rPr lang="es-ES" dirty="0"/>
              <a:t>La POO facilita el trabajo en equipo, ya que cada objeto puede ser desarrollado y mantenido de forma independiente. </a:t>
            </a:r>
          </a:p>
          <a:p>
            <a:r>
              <a:rPr lang="es-ES" dirty="0"/>
              <a:t>Abstracción:</a:t>
            </a:r>
          </a:p>
          <a:p>
            <a:pPr lvl="1"/>
            <a:r>
              <a:rPr lang="es-ES" dirty="0"/>
              <a:t>La POO permite representar conceptos complejos del mundo real de forma simplificada a través de objetos y sus interacciones. </a:t>
            </a:r>
            <a:endParaRPr lang="es-AR" dirty="0"/>
          </a:p>
          <a:p>
            <a:pPr marL="0" indent="0">
              <a:buFont typeface="Calibri" panose="020F0502020204030204" pitchFamily="34" charset="0"/>
              <a:buNone/>
            </a:pPr>
            <a:endParaRPr lang="es-AR" dirty="0"/>
          </a:p>
          <a:p>
            <a:pPr marL="0" indent="0">
              <a:buFont typeface="Calibri" panose="020F0502020204030204" pitchFamily="34" charset="0"/>
              <a:buNone/>
            </a:pPr>
            <a:endParaRPr lang="es-AR" dirty="0"/>
          </a:p>
        </p:txBody>
      </p:sp>
    </p:spTree>
    <p:extLst>
      <p:ext uri="{BB962C8B-B14F-4D97-AF65-F5344CB8AC3E}">
        <p14:creationId xmlns:p14="http://schemas.microsoft.com/office/powerpoint/2010/main" val="4243100545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766CFE0-45BE-E24E-35A0-0FD0DDA29D0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866D463-5DA1-C028-0423-90D45A47E42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AR" dirty="0"/>
              <a:t> 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5117BC9E-8E5D-A9AA-467E-E41A827509F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endParaRPr lang="es-AR" dirty="0"/>
          </a:p>
          <a:p>
            <a:pPr marL="0" indent="0">
              <a:buNone/>
            </a:pPr>
            <a:endParaRPr lang="es-AR" dirty="0"/>
          </a:p>
        </p:txBody>
      </p:sp>
      <p:pic>
        <p:nvPicPr>
          <p:cNvPr id="4" name="Imagen 3">
            <a:extLst>
              <a:ext uri="{FF2B5EF4-FFF2-40B4-BE49-F238E27FC236}">
                <a16:creationId xmlns:a16="http://schemas.microsoft.com/office/drawing/2014/main" id="{6FBBF804-8FE6-6B12-470A-E77873CD9C8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184257" y="757082"/>
            <a:ext cx="971423" cy="502297"/>
          </a:xfrm>
          <a:prstGeom prst="rect">
            <a:avLst/>
          </a:prstGeom>
        </p:spPr>
      </p:pic>
      <p:sp>
        <p:nvSpPr>
          <p:cNvPr id="5" name="Marcador de número de diapositiva 4">
            <a:extLst>
              <a:ext uri="{FF2B5EF4-FFF2-40B4-BE49-F238E27FC236}">
                <a16:creationId xmlns:a16="http://schemas.microsoft.com/office/drawing/2014/main" id="{58194DA4-641E-9064-72C6-05F987776D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8ECD1B-3F01-46F8-A46F-31A31EFC5ABF}" type="slidenum">
              <a:rPr lang="es-AR" smtClean="0"/>
              <a:t>19</a:t>
            </a:fld>
            <a:endParaRPr lang="es-AR"/>
          </a:p>
        </p:txBody>
      </p:sp>
      <p:sp>
        <p:nvSpPr>
          <p:cNvPr id="7" name="Marcador de contenido 2">
            <a:extLst>
              <a:ext uri="{FF2B5EF4-FFF2-40B4-BE49-F238E27FC236}">
                <a16:creationId xmlns:a16="http://schemas.microsoft.com/office/drawing/2014/main" id="{8103E200-802A-013D-6F9B-8215A25B2F84}"/>
              </a:ext>
            </a:extLst>
          </p:cNvPr>
          <p:cNvSpPr txBox="1">
            <a:spLocks/>
          </p:cNvSpPr>
          <p:nvPr/>
        </p:nvSpPr>
        <p:spPr>
          <a:xfrm>
            <a:off x="1097280" y="1889760"/>
            <a:ext cx="10058400" cy="4023360"/>
          </a:xfrm>
          <a:prstGeom prst="rect">
            <a:avLst/>
          </a:prstGeom>
        </p:spPr>
        <p:txBody>
          <a:bodyPr vert="horz" lIns="0" tIns="45720" rIns="0" bIns="45720" rtlCol="0">
            <a:normAutofit/>
          </a:bodyPr>
          <a:lstStyle>
            <a:lvl1pPr marL="91440" indent="-91440" algn="l" defTabSz="914400" rtl="0" eaLnBrk="1" latinLnBrk="0" hangingPunct="1">
              <a:lnSpc>
                <a:spcPct val="90000"/>
              </a:lnSpc>
              <a:spcBef>
                <a:spcPts val="1200"/>
              </a:spcBef>
              <a:spcAft>
                <a:spcPts val="200"/>
              </a:spcAft>
              <a:buClr>
                <a:schemeClr val="accent1"/>
              </a:buClr>
              <a:buSzPct val="100000"/>
              <a:buFont typeface="Calibri" panose="020F0502020204030204" pitchFamily="34" charset="0"/>
              <a:buChar char=" "/>
              <a:defRPr sz="20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38404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8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56692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74980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93268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1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13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15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17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s-ES" dirty="0"/>
          </a:p>
          <a:p>
            <a:r>
              <a:rPr lang="es-ES" dirty="0"/>
              <a:t>La programación orientada a objetos (POO) se caracteriza por cuatro principios fundamentales: </a:t>
            </a:r>
          </a:p>
          <a:p>
            <a:pPr algn="ctr"/>
            <a:r>
              <a:rPr lang="es-ES" b="1" dirty="0"/>
              <a:t>Abstracción</a:t>
            </a:r>
          </a:p>
          <a:p>
            <a:pPr algn="ctr"/>
            <a:r>
              <a:rPr lang="es-ES" b="1" dirty="0"/>
              <a:t>Encapsulamiento</a:t>
            </a:r>
          </a:p>
          <a:p>
            <a:pPr algn="ctr"/>
            <a:r>
              <a:rPr lang="es-ES" b="1" dirty="0"/>
              <a:t>Herencia </a:t>
            </a:r>
          </a:p>
          <a:p>
            <a:pPr algn="ctr"/>
            <a:r>
              <a:rPr lang="es-ES" b="1" dirty="0"/>
              <a:t>Polimorfismo </a:t>
            </a:r>
          </a:p>
          <a:p>
            <a:r>
              <a:rPr lang="es-ES" dirty="0"/>
              <a:t>Estos principios permiten organizar el código en objetos que interactúan entre sí, facilitando la creación de sistemas complejos y modulares. </a:t>
            </a:r>
            <a:endParaRPr lang="es-AR" dirty="0"/>
          </a:p>
          <a:p>
            <a:pPr marL="0" indent="0">
              <a:buFont typeface="Calibri" panose="020F0502020204030204" pitchFamily="34" charset="0"/>
              <a:buNone/>
            </a:pPr>
            <a:endParaRPr lang="es-AR" dirty="0"/>
          </a:p>
          <a:p>
            <a:pPr marL="0" indent="0">
              <a:buFont typeface="Calibri" panose="020F0502020204030204" pitchFamily="34" charset="0"/>
              <a:buNone/>
            </a:pPr>
            <a:endParaRPr lang="es-AR" dirty="0"/>
          </a:p>
        </p:txBody>
      </p:sp>
      <p:sp>
        <p:nvSpPr>
          <p:cNvPr id="8" name="Título 1">
            <a:extLst>
              <a:ext uri="{FF2B5EF4-FFF2-40B4-BE49-F238E27FC236}">
                <a16:creationId xmlns:a16="http://schemas.microsoft.com/office/drawing/2014/main" id="{C54E3723-51CF-3342-0B23-AA143FBFE770}"/>
              </a:ext>
            </a:extLst>
          </p:cNvPr>
          <p:cNvSpPr txBox="1">
            <a:spLocks/>
          </p:cNvSpPr>
          <p:nvPr/>
        </p:nvSpPr>
        <p:spPr>
          <a:xfrm>
            <a:off x="1249680" y="439003"/>
            <a:ext cx="10058400" cy="1450757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l" defTabSz="914400" rtl="0" eaLnBrk="1" latinLnBrk="0" hangingPunct="1">
              <a:lnSpc>
                <a:spcPct val="85000"/>
              </a:lnSpc>
              <a:spcBef>
                <a:spcPct val="0"/>
              </a:spcBef>
              <a:buNone/>
              <a:defRPr sz="4800" kern="1200" spc="-50" baseline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s-ES" dirty="0"/>
              <a:t>Conceptos generales de OO: clases, objetos, atributos, métodos.</a:t>
            </a:r>
            <a:endParaRPr lang="es-AR" dirty="0"/>
          </a:p>
        </p:txBody>
      </p:sp>
    </p:spTree>
    <p:extLst>
      <p:ext uri="{BB962C8B-B14F-4D97-AF65-F5344CB8AC3E}">
        <p14:creationId xmlns:p14="http://schemas.microsoft.com/office/powerpoint/2010/main" val="387943480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BCBA645-8A48-5CE4-B18D-85BEC22EDC5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E6809ED-5817-ADA8-D3FA-5A5C9805416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AR" dirty="0"/>
              <a:t> </a:t>
            </a:r>
          </a:p>
        </p:txBody>
      </p:sp>
      <p:pic>
        <p:nvPicPr>
          <p:cNvPr id="4" name="Imagen 3">
            <a:extLst>
              <a:ext uri="{FF2B5EF4-FFF2-40B4-BE49-F238E27FC236}">
                <a16:creationId xmlns:a16="http://schemas.microsoft.com/office/drawing/2014/main" id="{57B9192C-0396-F088-9B7F-393A0B51E6C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184257" y="757082"/>
            <a:ext cx="971423" cy="502297"/>
          </a:xfrm>
          <a:prstGeom prst="rect">
            <a:avLst/>
          </a:prstGeom>
        </p:spPr>
      </p:pic>
      <p:sp>
        <p:nvSpPr>
          <p:cNvPr id="5" name="Marcador de número de diapositiva 4">
            <a:extLst>
              <a:ext uri="{FF2B5EF4-FFF2-40B4-BE49-F238E27FC236}">
                <a16:creationId xmlns:a16="http://schemas.microsoft.com/office/drawing/2014/main" id="{786DD5B6-6A13-1811-7204-D67B65E7B02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8ECD1B-3F01-46F8-A46F-31A31EFC5ABF}" type="slidenum">
              <a:rPr lang="es-AR" smtClean="0"/>
              <a:t>20</a:t>
            </a:fld>
            <a:endParaRPr lang="es-AR"/>
          </a:p>
        </p:txBody>
      </p:sp>
      <p:sp>
        <p:nvSpPr>
          <p:cNvPr id="6" name="Título 1">
            <a:extLst>
              <a:ext uri="{FF2B5EF4-FFF2-40B4-BE49-F238E27FC236}">
                <a16:creationId xmlns:a16="http://schemas.microsoft.com/office/drawing/2014/main" id="{413BFDFA-06EB-2E44-DEEC-5D5965C762D0}"/>
              </a:ext>
            </a:extLst>
          </p:cNvPr>
          <p:cNvSpPr txBox="1">
            <a:spLocks/>
          </p:cNvSpPr>
          <p:nvPr/>
        </p:nvSpPr>
        <p:spPr>
          <a:xfrm>
            <a:off x="1249680" y="439003"/>
            <a:ext cx="10058400" cy="1450757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l" defTabSz="914400" rtl="0" eaLnBrk="1" latinLnBrk="0" hangingPunct="1">
              <a:lnSpc>
                <a:spcPct val="85000"/>
              </a:lnSpc>
              <a:spcBef>
                <a:spcPct val="0"/>
              </a:spcBef>
              <a:buNone/>
              <a:defRPr sz="4800" kern="1200" spc="-50" baseline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s-ES" b="1" dirty="0"/>
              <a:t>Abstracción</a:t>
            </a:r>
            <a:endParaRPr lang="es-AR" dirty="0"/>
          </a:p>
        </p:txBody>
      </p:sp>
      <p:sp>
        <p:nvSpPr>
          <p:cNvPr id="7" name="Marcador de contenido 2">
            <a:extLst>
              <a:ext uri="{FF2B5EF4-FFF2-40B4-BE49-F238E27FC236}">
                <a16:creationId xmlns:a16="http://schemas.microsoft.com/office/drawing/2014/main" id="{F82EB64A-9235-BA78-767E-5E245D02EF0E}"/>
              </a:ext>
            </a:extLst>
          </p:cNvPr>
          <p:cNvSpPr txBox="1">
            <a:spLocks/>
          </p:cNvSpPr>
          <p:nvPr/>
        </p:nvSpPr>
        <p:spPr>
          <a:xfrm>
            <a:off x="1097280" y="1889760"/>
            <a:ext cx="10058400" cy="4023360"/>
          </a:xfrm>
          <a:prstGeom prst="rect">
            <a:avLst/>
          </a:prstGeom>
        </p:spPr>
        <p:txBody>
          <a:bodyPr vert="horz" lIns="0" tIns="45720" rIns="0" bIns="45720" rtlCol="0">
            <a:normAutofit/>
          </a:bodyPr>
          <a:lstStyle>
            <a:lvl1pPr marL="91440" indent="-91440" algn="l" defTabSz="914400" rtl="0" eaLnBrk="1" latinLnBrk="0" hangingPunct="1">
              <a:lnSpc>
                <a:spcPct val="90000"/>
              </a:lnSpc>
              <a:spcBef>
                <a:spcPts val="1200"/>
              </a:spcBef>
              <a:spcAft>
                <a:spcPts val="200"/>
              </a:spcAft>
              <a:buClr>
                <a:schemeClr val="accent1"/>
              </a:buClr>
              <a:buSzPct val="100000"/>
              <a:buFont typeface="Calibri" panose="020F0502020204030204" pitchFamily="34" charset="0"/>
              <a:buChar char=" "/>
              <a:defRPr sz="20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38404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8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56692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74980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93268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1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13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15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17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s-AR" dirty="0"/>
          </a:p>
          <a:p>
            <a:endParaRPr lang="es-AR" dirty="0"/>
          </a:p>
          <a:p>
            <a:endParaRPr lang="es-AR" dirty="0"/>
          </a:p>
          <a:p>
            <a:pPr marL="0" indent="0">
              <a:buFont typeface="Calibri" panose="020F0502020204030204" pitchFamily="34" charset="0"/>
              <a:buNone/>
            </a:pPr>
            <a:endParaRPr lang="es-AR" dirty="0"/>
          </a:p>
          <a:p>
            <a:pPr marL="0" indent="0">
              <a:buFont typeface="Calibri" panose="020F0502020204030204" pitchFamily="34" charset="0"/>
              <a:buNone/>
            </a:pPr>
            <a:endParaRPr lang="es-AR" dirty="0"/>
          </a:p>
        </p:txBody>
      </p:sp>
      <p:pic>
        <p:nvPicPr>
          <p:cNvPr id="11" name="Marcador de contenido 10">
            <a:extLst>
              <a:ext uri="{FF2B5EF4-FFF2-40B4-BE49-F238E27FC236}">
                <a16:creationId xmlns:a16="http://schemas.microsoft.com/office/drawing/2014/main" id="{5AA3D7B0-838F-C10F-B256-65B1A81784E1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3669275" y="3011130"/>
            <a:ext cx="5219210" cy="2901990"/>
          </a:xfrm>
          <a:prstGeom prst="rect">
            <a:avLst/>
          </a:prstGeom>
        </p:spPr>
      </p:pic>
      <p:sp>
        <p:nvSpPr>
          <p:cNvPr id="12" name="Marcador de contenido 2">
            <a:extLst>
              <a:ext uri="{FF2B5EF4-FFF2-40B4-BE49-F238E27FC236}">
                <a16:creationId xmlns:a16="http://schemas.microsoft.com/office/drawing/2014/main" id="{4BE9808A-88A6-1B0F-08BE-7AD0CBD86BFF}"/>
              </a:ext>
            </a:extLst>
          </p:cNvPr>
          <p:cNvSpPr txBox="1">
            <a:spLocks/>
          </p:cNvSpPr>
          <p:nvPr/>
        </p:nvSpPr>
        <p:spPr>
          <a:xfrm>
            <a:off x="1249680" y="1889760"/>
            <a:ext cx="10058400" cy="4023360"/>
          </a:xfrm>
          <a:prstGeom prst="rect">
            <a:avLst/>
          </a:prstGeom>
        </p:spPr>
        <p:txBody>
          <a:bodyPr vert="horz" lIns="0" tIns="45720" rIns="0" bIns="45720" rtlCol="0">
            <a:normAutofit/>
          </a:bodyPr>
          <a:lstStyle>
            <a:lvl1pPr marL="91440" indent="-91440" algn="l" defTabSz="914400" rtl="0" eaLnBrk="1" latinLnBrk="0" hangingPunct="1">
              <a:lnSpc>
                <a:spcPct val="90000"/>
              </a:lnSpc>
              <a:spcBef>
                <a:spcPts val="1200"/>
              </a:spcBef>
              <a:spcAft>
                <a:spcPts val="200"/>
              </a:spcAft>
              <a:buClr>
                <a:schemeClr val="accent1"/>
              </a:buClr>
              <a:buSzPct val="100000"/>
              <a:buFont typeface="Calibri" panose="020F0502020204030204" pitchFamily="34" charset="0"/>
              <a:buChar char=" "/>
              <a:defRPr sz="20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38404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8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56692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74980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93268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1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13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15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17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s-ES" b="1" dirty="0"/>
              <a:t>Abstracción</a:t>
            </a:r>
            <a:r>
              <a:rPr lang="es-ES" dirty="0"/>
              <a:t>: Permite representar entidades del mundo real como objetos, ocultando detalles innecesarios y mostrando solo la información relevante para el contexto. </a:t>
            </a:r>
          </a:p>
        </p:txBody>
      </p:sp>
    </p:spTree>
    <p:extLst>
      <p:ext uri="{BB962C8B-B14F-4D97-AF65-F5344CB8AC3E}">
        <p14:creationId xmlns:p14="http://schemas.microsoft.com/office/powerpoint/2010/main" val="155647446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CE3EB6C-82A1-4E14-8819-7FB2A67B57B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AF57106-5000-D588-7599-9CC3365477D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AR" dirty="0"/>
              <a:t> </a:t>
            </a:r>
          </a:p>
        </p:txBody>
      </p:sp>
      <p:pic>
        <p:nvPicPr>
          <p:cNvPr id="4" name="Imagen 3">
            <a:extLst>
              <a:ext uri="{FF2B5EF4-FFF2-40B4-BE49-F238E27FC236}">
                <a16:creationId xmlns:a16="http://schemas.microsoft.com/office/drawing/2014/main" id="{4D9F04E6-2D33-C438-A2E0-5BB5015506E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184257" y="757082"/>
            <a:ext cx="971423" cy="502297"/>
          </a:xfrm>
          <a:prstGeom prst="rect">
            <a:avLst/>
          </a:prstGeom>
        </p:spPr>
      </p:pic>
      <p:sp>
        <p:nvSpPr>
          <p:cNvPr id="5" name="Marcador de número de diapositiva 4">
            <a:extLst>
              <a:ext uri="{FF2B5EF4-FFF2-40B4-BE49-F238E27FC236}">
                <a16:creationId xmlns:a16="http://schemas.microsoft.com/office/drawing/2014/main" id="{D51B5662-7844-7CC6-2C6D-929AA66308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8ECD1B-3F01-46F8-A46F-31A31EFC5ABF}" type="slidenum">
              <a:rPr lang="es-AR" smtClean="0"/>
              <a:t>21</a:t>
            </a:fld>
            <a:endParaRPr lang="es-AR"/>
          </a:p>
        </p:txBody>
      </p:sp>
      <p:sp>
        <p:nvSpPr>
          <p:cNvPr id="6" name="Título 1">
            <a:extLst>
              <a:ext uri="{FF2B5EF4-FFF2-40B4-BE49-F238E27FC236}">
                <a16:creationId xmlns:a16="http://schemas.microsoft.com/office/drawing/2014/main" id="{ECA58E32-63A7-E734-1455-9463759831E6}"/>
              </a:ext>
            </a:extLst>
          </p:cNvPr>
          <p:cNvSpPr txBox="1">
            <a:spLocks/>
          </p:cNvSpPr>
          <p:nvPr/>
        </p:nvSpPr>
        <p:spPr>
          <a:xfrm>
            <a:off x="1249680" y="439003"/>
            <a:ext cx="10058400" cy="1450757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l" defTabSz="914400" rtl="0" eaLnBrk="1" latinLnBrk="0" hangingPunct="1">
              <a:lnSpc>
                <a:spcPct val="85000"/>
              </a:lnSpc>
              <a:spcBef>
                <a:spcPct val="0"/>
              </a:spcBef>
              <a:buNone/>
              <a:defRPr sz="4800" kern="1200" spc="-50" baseline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s-ES" b="1" dirty="0"/>
              <a:t>Encapsulamiento</a:t>
            </a:r>
            <a:endParaRPr lang="es-AR" dirty="0"/>
          </a:p>
        </p:txBody>
      </p:sp>
      <p:sp>
        <p:nvSpPr>
          <p:cNvPr id="7" name="Marcador de contenido 2">
            <a:extLst>
              <a:ext uri="{FF2B5EF4-FFF2-40B4-BE49-F238E27FC236}">
                <a16:creationId xmlns:a16="http://schemas.microsoft.com/office/drawing/2014/main" id="{01E2E3A0-3F61-9D45-3937-AB745128032F}"/>
              </a:ext>
            </a:extLst>
          </p:cNvPr>
          <p:cNvSpPr txBox="1">
            <a:spLocks/>
          </p:cNvSpPr>
          <p:nvPr/>
        </p:nvSpPr>
        <p:spPr>
          <a:xfrm>
            <a:off x="1097280" y="1889760"/>
            <a:ext cx="10058400" cy="4023360"/>
          </a:xfrm>
          <a:prstGeom prst="rect">
            <a:avLst/>
          </a:prstGeom>
        </p:spPr>
        <p:txBody>
          <a:bodyPr vert="horz" lIns="0" tIns="45720" rIns="0" bIns="45720" rtlCol="0">
            <a:normAutofit/>
          </a:bodyPr>
          <a:lstStyle>
            <a:lvl1pPr marL="91440" indent="-91440" algn="l" defTabSz="914400" rtl="0" eaLnBrk="1" latinLnBrk="0" hangingPunct="1">
              <a:lnSpc>
                <a:spcPct val="90000"/>
              </a:lnSpc>
              <a:spcBef>
                <a:spcPts val="1200"/>
              </a:spcBef>
              <a:spcAft>
                <a:spcPts val="200"/>
              </a:spcAft>
              <a:buClr>
                <a:schemeClr val="accent1"/>
              </a:buClr>
              <a:buSzPct val="100000"/>
              <a:buFont typeface="Calibri" panose="020F0502020204030204" pitchFamily="34" charset="0"/>
              <a:buChar char=" "/>
              <a:defRPr sz="20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38404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8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56692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74980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93268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1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13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15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17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s-AR" dirty="0"/>
          </a:p>
          <a:p>
            <a:endParaRPr lang="es-AR" dirty="0"/>
          </a:p>
          <a:p>
            <a:endParaRPr lang="es-AR" dirty="0"/>
          </a:p>
          <a:p>
            <a:pPr marL="0" indent="0">
              <a:buFont typeface="Calibri" panose="020F0502020204030204" pitchFamily="34" charset="0"/>
              <a:buNone/>
            </a:pPr>
            <a:endParaRPr lang="es-AR" dirty="0"/>
          </a:p>
          <a:p>
            <a:pPr marL="0" indent="0">
              <a:buFont typeface="Calibri" panose="020F0502020204030204" pitchFamily="34" charset="0"/>
              <a:buNone/>
            </a:pPr>
            <a:endParaRPr lang="es-AR" dirty="0"/>
          </a:p>
        </p:txBody>
      </p:sp>
      <p:sp>
        <p:nvSpPr>
          <p:cNvPr id="12" name="Marcador de contenido 2">
            <a:extLst>
              <a:ext uri="{FF2B5EF4-FFF2-40B4-BE49-F238E27FC236}">
                <a16:creationId xmlns:a16="http://schemas.microsoft.com/office/drawing/2014/main" id="{2BC8168F-1F63-0400-B7E7-2B7ED1727E47}"/>
              </a:ext>
            </a:extLst>
          </p:cNvPr>
          <p:cNvSpPr txBox="1">
            <a:spLocks/>
          </p:cNvSpPr>
          <p:nvPr/>
        </p:nvSpPr>
        <p:spPr>
          <a:xfrm>
            <a:off x="1249680" y="1889760"/>
            <a:ext cx="10058400" cy="4023360"/>
          </a:xfrm>
          <a:prstGeom prst="rect">
            <a:avLst/>
          </a:prstGeom>
        </p:spPr>
        <p:txBody>
          <a:bodyPr vert="horz" lIns="0" tIns="45720" rIns="0" bIns="45720" rtlCol="0">
            <a:normAutofit/>
          </a:bodyPr>
          <a:lstStyle>
            <a:lvl1pPr marL="91440" indent="-91440" algn="l" defTabSz="914400" rtl="0" eaLnBrk="1" latinLnBrk="0" hangingPunct="1">
              <a:lnSpc>
                <a:spcPct val="90000"/>
              </a:lnSpc>
              <a:spcBef>
                <a:spcPts val="1200"/>
              </a:spcBef>
              <a:spcAft>
                <a:spcPts val="200"/>
              </a:spcAft>
              <a:buClr>
                <a:schemeClr val="accent1"/>
              </a:buClr>
              <a:buSzPct val="100000"/>
              <a:buFont typeface="Calibri" panose="020F0502020204030204" pitchFamily="34" charset="0"/>
              <a:buChar char=" "/>
              <a:defRPr sz="20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38404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8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56692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74980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93268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1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13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15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17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s-ES" b="1" dirty="0"/>
              <a:t>Encapsulamiento</a:t>
            </a:r>
            <a:r>
              <a:rPr lang="es-ES" dirty="0"/>
              <a:t>: Agrupa datos (atributos) y métodos (funciones) que operan sobre esos datos dentro de un objeto, protegiendo la información interna y controlando el acceso a ella. Vinculado con el </a:t>
            </a:r>
            <a:r>
              <a:rPr lang="es-ES" b="1" dirty="0"/>
              <a:t>OCULTAMIENTO</a:t>
            </a:r>
            <a:r>
              <a:rPr lang="es-ES" dirty="0"/>
              <a:t> ya que provee de un mecanismo controlado para acceder a los atributos de las clases.</a:t>
            </a:r>
          </a:p>
        </p:txBody>
      </p:sp>
      <p:pic>
        <p:nvPicPr>
          <p:cNvPr id="9" name="Imagen 8">
            <a:extLst>
              <a:ext uri="{FF2B5EF4-FFF2-40B4-BE49-F238E27FC236}">
                <a16:creationId xmlns:a16="http://schemas.microsoft.com/office/drawing/2014/main" id="{4F9DDB5E-40C4-281B-BB65-F26F8DA1A3F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097530" y="3516783"/>
            <a:ext cx="6362700" cy="246015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73324196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78E9279-FDEF-5E1A-973F-B00D676EC24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8E6552E-A3B8-B3FD-0D8A-2916745511D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AR" dirty="0"/>
              <a:t> </a:t>
            </a:r>
          </a:p>
        </p:txBody>
      </p:sp>
      <p:pic>
        <p:nvPicPr>
          <p:cNvPr id="4" name="Imagen 3">
            <a:extLst>
              <a:ext uri="{FF2B5EF4-FFF2-40B4-BE49-F238E27FC236}">
                <a16:creationId xmlns:a16="http://schemas.microsoft.com/office/drawing/2014/main" id="{774DBC2D-C481-01B1-BF2E-7AA6C07C573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184257" y="757082"/>
            <a:ext cx="971423" cy="502297"/>
          </a:xfrm>
          <a:prstGeom prst="rect">
            <a:avLst/>
          </a:prstGeom>
        </p:spPr>
      </p:pic>
      <p:sp>
        <p:nvSpPr>
          <p:cNvPr id="5" name="Marcador de número de diapositiva 4">
            <a:extLst>
              <a:ext uri="{FF2B5EF4-FFF2-40B4-BE49-F238E27FC236}">
                <a16:creationId xmlns:a16="http://schemas.microsoft.com/office/drawing/2014/main" id="{9051C525-C07A-9369-F8FB-37D62D8EA49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8ECD1B-3F01-46F8-A46F-31A31EFC5ABF}" type="slidenum">
              <a:rPr lang="es-AR" smtClean="0"/>
              <a:t>22</a:t>
            </a:fld>
            <a:endParaRPr lang="es-AR"/>
          </a:p>
        </p:txBody>
      </p:sp>
      <p:sp>
        <p:nvSpPr>
          <p:cNvPr id="6" name="Título 1">
            <a:extLst>
              <a:ext uri="{FF2B5EF4-FFF2-40B4-BE49-F238E27FC236}">
                <a16:creationId xmlns:a16="http://schemas.microsoft.com/office/drawing/2014/main" id="{50F4ECF4-791C-ABF9-B020-70F2E9A5FF00}"/>
              </a:ext>
            </a:extLst>
          </p:cNvPr>
          <p:cNvSpPr txBox="1">
            <a:spLocks/>
          </p:cNvSpPr>
          <p:nvPr/>
        </p:nvSpPr>
        <p:spPr>
          <a:xfrm>
            <a:off x="1249680" y="439003"/>
            <a:ext cx="10058400" cy="1450757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l" defTabSz="914400" rtl="0" eaLnBrk="1" latinLnBrk="0" hangingPunct="1">
              <a:lnSpc>
                <a:spcPct val="85000"/>
              </a:lnSpc>
              <a:spcBef>
                <a:spcPct val="0"/>
              </a:spcBef>
              <a:buNone/>
              <a:defRPr sz="4800" kern="1200" spc="-50" baseline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s-ES" b="1" dirty="0"/>
              <a:t>Herencia</a:t>
            </a:r>
            <a:endParaRPr lang="es-AR" dirty="0"/>
          </a:p>
        </p:txBody>
      </p:sp>
      <p:sp>
        <p:nvSpPr>
          <p:cNvPr id="7" name="Marcador de contenido 2">
            <a:extLst>
              <a:ext uri="{FF2B5EF4-FFF2-40B4-BE49-F238E27FC236}">
                <a16:creationId xmlns:a16="http://schemas.microsoft.com/office/drawing/2014/main" id="{47AB1053-B4ED-4CD5-E563-3A166916168E}"/>
              </a:ext>
            </a:extLst>
          </p:cNvPr>
          <p:cNvSpPr txBox="1">
            <a:spLocks/>
          </p:cNvSpPr>
          <p:nvPr/>
        </p:nvSpPr>
        <p:spPr>
          <a:xfrm>
            <a:off x="1097280" y="1889760"/>
            <a:ext cx="10058400" cy="4023360"/>
          </a:xfrm>
          <a:prstGeom prst="rect">
            <a:avLst/>
          </a:prstGeom>
        </p:spPr>
        <p:txBody>
          <a:bodyPr vert="horz" lIns="0" tIns="45720" rIns="0" bIns="45720" rtlCol="0">
            <a:normAutofit/>
          </a:bodyPr>
          <a:lstStyle>
            <a:lvl1pPr marL="91440" indent="-91440" algn="l" defTabSz="914400" rtl="0" eaLnBrk="1" latinLnBrk="0" hangingPunct="1">
              <a:lnSpc>
                <a:spcPct val="90000"/>
              </a:lnSpc>
              <a:spcBef>
                <a:spcPts val="1200"/>
              </a:spcBef>
              <a:spcAft>
                <a:spcPts val="200"/>
              </a:spcAft>
              <a:buClr>
                <a:schemeClr val="accent1"/>
              </a:buClr>
              <a:buSzPct val="100000"/>
              <a:buFont typeface="Calibri" panose="020F0502020204030204" pitchFamily="34" charset="0"/>
              <a:buChar char=" "/>
              <a:defRPr sz="20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38404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8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56692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74980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93268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1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13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15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17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s-AR" dirty="0"/>
          </a:p>
          <a:p>
            <a:endParaRPr lang="es-AR" dirty="0"/>
          </a:p>
          <a:p>
            <a:endParaRPr lang="es-AR" dirty="0"/>
          </a:p>
          <a:p>
            <a:pPr marL="0" indent="0">
              <a:buFont typeface="Calibri" panose="020F0502020204030204" pitchFamily="34" charset="0"/>
              <a:buNone/>
            </a:pPr>
            <a:endParaRPr lang="es-AR" dirty="0"/>
          </a:p>
          <a:p>
            <a:pPr marL="0" indent="0">
              <a:buFont typeface="Calibri" panose="020F0502020204030204" pitchFamily="34" charset="0"/>
              <a:buNone/>
            </a:pPr>
            <a:endParaRPr lang="es-AR" dirty="0"/>
          </a:p>
        </p:txBody>
      </p:sp>
      <p:sp>
        <p:nvSpPr>
          <p:cNvPr id="12" name="Marcador de contenido 2">
            <a:extLst>
              <a:ext uri="{FF2B5EF4-FFF2-40B4-BE49-F238E27FC236}">
                <a16:creationId xmlns:a16="http://schemas.microsoft.com/office/drawing/2014/main" id="{1B8AA80B-6206-5AE4-D205-8F7A2BC55C74}"/>
              </a:ext>
            </a:extLst>
          </p:cNvPr>
          <p:cNvSpPr txBox="1">
            <a:spLocks/>
          </p:cNvSpPr>
          <p:nvPr/>
        </p:nvSpPr>
        <p:spPr>
          <a:xfrm>
            <a:off x="1249680" y="1889760"/>
            <a:ext cx="10058400" cy="4023360"/>
          </a:xfrm>
          <a:prstGeom prst="rect">
            <a:avLst/>
          </a:prstGeom>
        </p:spPr>
        <p:txBody>
          <a:bodyPr vert="horz" lIns="0" tIns="45720" rIns="0" bIns="45720" rtlCol="0">
            <a:normAutofit/>
          </a:bodyPr>
          <a:lstStyle>
            <a:lvl1pPr marL="91440" indent="-91440" algn="l" defTabSz="914400" rtl="0" eaLnBrk="1" latinLnBrk="0" hangingPunct="1">
              <a:lnSpc>
                <a:spcPct val="90000"/>
              </a:lnSpc>
              <a:spcBef>
                <a:spcPts val="1200"/>
              </a:spcBef>
              <a:spcAft>
                <a:spcPts val="200"/>
              </a:spcAft>
              <a:buClr>
                <a:schemeClr val="accent1"/>
              </a:buClr>
              <a:buSzPct val="100000"/>
              <a:buFont typeface="Calibri" panose="020F0502020204030204" pitchFamily="34" charset="0"/>
              <a:buChar char=" "/>
              <a:defRPr sz="20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38404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8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56692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74980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93268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1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13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15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17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s-ES" b="1" dirty="0"/>
              <a:t>Herencia</a:t>
            </a:r>
            <a:r>
              <a:rPr lang="es-ES" dirty="0"/>
              <a:t>: Permite que una clase (clase hija) herede atributos y métodos de otra clase (clase padre), evitando la duplicación de código y promoviendo la reutilización. </a:t>
            </a:r>
          </a:p>
        </p:txBody>
      </p:sp>
      <p:pic>
        <p:nvPicPr>
          <p:cNvPr id="14" name="Imagen 13">
            <a:extLst>
              <a:ext uri="{FF2B5EF4-FFF2-40B4-BE49-F238E27FC236}">
                <a16:creationId xmlns:a16="http://schemas.microsoft.com/office/drawing/2014/main" id="{E51AAD5E-5B0F-AE97-7831-E9F16BF4CC0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936206" y="2627068"/>
            <a:ext cx="4319587" cy="343845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82411326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17254AC-5C5B-47B5-F57C-4F0848E24B3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A51D943-3D75-AE49-563E-2E7EADAF4B2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AR" dirty="0"/>
              <a:t> </a:t>
            </a:r>
          </a:p>
        </p:txBody>
      </p:sp>
      <p:pic>
        <p:nvPicPr>
          <p:cNvPr id="4" name="Imagen 3">
            <a:extLst>
              <a:ext uri="{FF2B5EF4-FFF2-40B4-BE49-F238E27FC236}">
                <a16:creationId xmlns:a16="http://schemas.microsoft.com/office/drawing/2014/main" id="{3FE6ED28-1BA9-084F-9747-3C57D15691B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184257" y="757082"/>
            <a:ext cx="971423" cy="502297"/>
          </a:xfrm>
          <a:prstGeom prst="rect">
            <a:avLst/>
          </a:prstGeom>
        </p:spPr>
      </p:pic>
      <p:sp>
        <p:nvSpPr>
          <p:cNvPr id="5" name="Marcador de número de diapositiva 4">
            <a:extLst>
              <a:ext uri="{FF2B5EF4-FFF2-40B4-BE49-F238E27FC236}">
                <a16:creationId xmlns:a16="http://schemas.microsoft.com/office/drawing/2014/main" id="{737FDE78-F7AD-E7DF-4C75-69B264A581E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8ECD1B-3F01-46F8-A46F-31A31EFC5ABF}" type="slidenum">
              <a:rPr lang="es-AR" smtClean="0"/>
              <a:t>23</a:t>
            </a:fld>
            <a:endParaRPr lang="es-AR"/>
          </a:p>
        </p:txBody>
      </p:sp>
      <p:sp>
        <p:nvSpPr>
          <p:cNvPr id="6" name="Título 1">
            <a:extLst>
              <a:ext uri="{FF2B5EF4-FFF2-40B4-BE49-F238E27FC236}">
                <a16:creationId xmlns:a16="http://schemas.microsoft.com/office/drawing/2014/main" id="{6C10FDB0-4569-C83B-73FD-EEEA9A767B5E}"/>
              </a:ext>
            </a:extLst>
          </p:cNvPr>
          <p:cNvSpPr txBox="1">
            <a:spLocks/>
          </p:cNvSpPr>
          <p:nvPr/>
        </p:nvSpPr>
        <p:spPr>
          <a:xfrm>
            <a:off x="1249680" y="439003"/>
            <a:ext cx="10058400" cy="1450757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l" defTabSz="914400" rtl="0" eaLnBrk="1" latinLnBrk="0" hangingPunct="1">
              <a:lnSpc>
                <a:spcPct val="85000"/>
              </a:lnSpc>
              <a:spcBef>
                <a:spcPct val="0"/>
              </a:spcBef>
              <a:buNone/>
              <a:defRPr sz="4800" kern="1200" spc="-50" baseline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s-ES" b="1" dirty="0"/>
              <a:t>Polimorfismo</a:t>
            </a:r>
            <a:endParaRPr lang="es-AR" dirty="0"/>
          </a:p>
        </p:txBody>
      </p:sp>
      <p:sp>
        <p:nvSpPr>
          <p:cNvPr id="7" name="Marcador de contenido 2">
            <a:extLst>
              <a:ext uri="{FF2B5EF4-FFF2-40B4-BE49-F238E27FC236}">
                <a16:creationId xmlns:a16="http://schemas.microsoft.com/office/drawing/2014/main" id="{13296B01-E7B7-A515-4B40-53E4303D72AB}"/>
              </a:ext>
            </a:extLst>
          </p:cNvPr>
          <p:cNvSpPr txBox="1">
            <a:spLocks/>
          </p:cNvSpPr>
          <p:nvPr/>
        </p:nvSpPr>
        <p:spPr>
          <a:xfrm>
            <a:off x="1097280" y="1889760"/>
            <a:ext cx="10058400" cy="4023360"/>
          </a:xfrm>
          <a:prstGeom prst="rect">
            <a:avLst/>
          </a:prstGeom>
        </p:spPr>
        <p:txBody>
          <a:bodyPr vert="horz" lIns="0" tIns="45720" rIns="0" bIns="45720" rtlCol="0">
            <a:normAutofit/>
          </a:bodyPr>
          <a:lstStyle>
            <a:lvl1pPr marL="91440" indent="-91440" algn="l" defTabSz="914400" rtl="0" eaLnBrk="1" latinLnBrk="0" hangingPunct="1">
              <a:lnSpc>
                <a:spcPct val="90000"/>
              </a:lnSpc>
              <a:spcBef>
                <a:spcPts val="1200"/>
              </a:spcBef>
              <a:spcAft>
                <a:spcPts val="200"/>
              </a:spcAft>
              <a:buClr>
                <a:schemeClr val="accent1"/>
              </a:buClr>
              <a:buSzPct val="100000"/>
              <a:buFont typeface="Calibri" panose="020F0502020204030204" pitchFamily="34" charset="0"/>
              <a:buChar char=" "/>
              <a:defRPr sz="20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38404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8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56692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74980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93268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1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13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15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17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s-AR" dirty="0"/>
          </a:p>
          <a:p>
            <a:endParaRPr lang="es-AR" dirty="0"/>
          </a:p>
          <a:p>
            <a:endParaRPr lang="es-AR" dirty="0"/>
          </a:p>
          <a:p>
            <a:pPr marL="0" indent="0">
              <a:buFont typeface="Calibri" panose="020F0502020204030204" pitchFamily="34" charset="0"/>
              <a:buNone/>
            </a:pPr>
            <a:endParaRPr lang="es-AR" dirty="0"/>
          </a:p>
          <a:p>
            <a:pPr marL="0" indent="0">
              <a:buFont typeface="Calibri" panose="020F0502020204030204" pitchFamily="34" charset="0"/>
              <a:buNone/>
            </a:pPr>
            <a:endParaRPr lang="es-AR" dirty="0"/>
          </a:p>
        </p:txBody>
      </p:sp>
      <p:sp>
        <p:nvSpPr>
          <p:cNvPr id="12" name="Marcador de contenido 2">
            <a:extLst>
              <a:ext uri="{FF2B5EF4-FFF2-40B4-BE49-F238E27FC236}">
                <a16:creationId xmlns:a16="http://schemas.microsoft.com/office/drawing/2014/main" id="{5FD1A3D6-B6C4-A9C5-7C53-C4A974C54C01}"/>
              </a:ext>
            </a:extLst>
          </p:cNvPr>
          <p:cNvSpPr txBox="1">
            <a:spLocks/>
          </p:cNvSpPr>
          <p:nvPr/>
        </p:nvSpPr>
        <p:spPr>
          <a:xfrm>
            <a:off x="1249680" y="1889760"/>
            <a:ext cx="10058400" cy="4023360"/>
          </a:xfrm>
          <a:prstGeom prst="rect">
            <a:avLst/>
          </a:prstGeom>
        </p:spPr>
        <p:txBody>
          <a:bodyPr vert="horz" lIns="0" tIns="45720" rIns="0" bIns="45720" rtlCol="0">
            <a:normAutofit/>
          </a:bodyPr>
          <a:lstStyle>
            <a:lvl1pPr marL="91440" indent="-91440" algn="l" defTabSz="914400" rtl="0" eaLnBrk="1" latinLnBrk="0" hangingPunct="1">
              <a:lnSpc>
                <a:spcPct val="90000"/>
              </a:lnSpc>
              <a:spcBef>
                <a:spcPts val="1200"/>
              </a:spcBef>
              <a:spcAft>
                <a:spcPts val="200"/>
              </a:spcAft>
              <a:buClr>
                <a:schemeClr val="accent1"/>
              </a:buClr>
              <a:buSzPct val="100000"/>
              <a:buFont typeface="Calibri" panose="020F0502020204030204" pitchFamily="34" charset="0"/>
              <a:buChar char=" "/>
              <a:defRPr sz="20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38404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8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56692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74980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93268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1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13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15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17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s-ES" b="1" dirty="0"/>
              <a:t>Polimorfismo</a:t>
            </a:r>
            <a:r>
              <a:rPr lang="es-ES" dirty="0"/>
              <a:t>: Permite que objetos de diferentes clases respondan a la misma llamada de método de manera diferente, adaptando su comportamiento a la clase específica.</a:t>
            </a:r>
          </a:p>
        </p:txBody>
      </p:sp>
      <p:pic>
        <p:nvPicPr>
          <p:cNvPr id="9" name="Picture 4" descr="Programación Orientada a Objetos en Java - #4: Polimorfismo y Clases  abstractas - YouTube">
            <a:extLst>
              <a:ext uri="{FF2B5EF4-FFF2-40B4-BE49-F238E27FC236}">
                <a16:creationId xmlns:a16="http://schemas.microsoft.com/office/drawing/2014/main" id="{1569D895-9000-191E-C5B1-E42E4AC1EA8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97956" y="2559581"/>
            <a:ext cx="5961847" cy="335353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652672235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1D72A2E-A4F6-463E-A0D0-9D9A83867B7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n 3">
            <a:extLst>
              <a:ext uri="{FF2B5EF4-FFF2-40B4-BE49-F238E27FC236}">
                <a16:creationId xmlns:a16="http://schemas.microsoft.com/office/drawing/2014/main" id="{219CBCF8-866E-5000-5422-189BA54F193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184257" y="757082"/>
            <a:ext cx="971423" cy="502297"/>
          </a:xfrm>
          <a:prstGeom prst="rect">
            <a:avLst/>
          </a:prstGeom>
        </p:spPr>
      </p:pic>
      <p:sp>
        <p:nvSpPr>
          <p:cNvPr id="5" name="Marcador de número de diapositiva 4">
            <a:extLst>
              <a:ext uri="{FF2B5EF4-FFF2-40B4-BE49-F238E27FC236}">
                <a16:creationId xmlns:a16="http://schemas.microsoft.com/office/drawing/2014/main" id="{361BD090-ED3B-3194-62AD-38F26F561A4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8ECD1B-3F01-46F8-A46F-31A31EFC5ABF}" type="slidenum">
              <a:rPr lang="es-AR" smtClean="0"/>
              <a:t>24</a:t>
            </a:fld>
            <a:endParaRPr lang="es-AR"/>
          </a:p>
        </p:txBody>
      </p:sp>
      <p:sp>
        <p:nvSpPr>
          <p:cNvPr id="6" name="Título 1">
            <a:extLst>
              <a:ext uri="{FF2B5EF4-FFF2-40B4-BE49-F238E27FC236}">
                <a16:creationId xmlns:a16="http://schemas.microsoft.com/office/drawing/2014/main" id="{267BB9A7-326C-DB01-5DB1-57A10B2E04BB}"/>
              </a:ext>
            </a:extLst>
          </p:cNvPr>
          <p:cNvSpPr txBox="1">
            <a:spLocks/>
          </p:cNvSpPr>
          <p:nvPr/>
        </p:nvSpPr>
        <p:spPr>
          <a:xfrm>
            <a:off x="1249680" y="439003"/>
            <a:ext cx="10058400" cy="1450757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l" defTabSz="914400" rtl="0" eaLnBrk="1" latinLnBrk="0" hangingPunct="1">
              <a:lnSpc>
                <a:spcPct val="85000"/>
              </a:lnSpc>
              <a:spcBef>
                <a:spcPct val="0"/>
              </a:spcBef>
              <a:buNone/>
              <a:defRPr sz="4800" kern="1200" spc="-50" baseline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s-ES" b="1" dirty="0"/>
              <a:t>Cohesión y acoplamiento</a:t>
            </a:r>
            <a:endParaRPr lang="es-AR" dirty="0"/>
          </a:p>
        </p:txBody>
      </p:sp>
      <p:sp>
        <p:nvSpPr>
          <p:cNvPr id="7" name="Marcador de contenido 2">
            <a:extLst>
              <a:ext uri="{FF2B5EF4-FFF2-40B4-BE49-F238E27FC236}">
                <a16:creationId xmlns:a16="http://schemas.microsoft.com/office/drawing/2014/main" id="{A4F43E70-F0D4-67E5-F790-6108C0E8D408}"/>
              </a:ext>
            </a:extLst>
          </p:cNvPr>
          <p:cNvSpPr txBox="1">
            <a:spLocks/>
          </p:cNvSpPr>
          <p:nvPr/>
        </p:nvSpPr>
        <p:spPr>
          <a:xfrm>
            <a:off x="1097280" y="1889760"/>
            <a:ext cx="10058400" cy="4023360"/>
          </a:xfrm>
          <a:prstGeom prst="rect">
            <a:avLst/>
          </a:prstGeom>
        </p:spPr>
        <p:txBody>
          <a:bodyPr vert="horz" lIns="0" tIns="45720" rIns="0" bIns="45720" rtlCol="0">
            <a:normAutofit/>
          </a:bodyPr>
          <a:lstStyle>
            <a:lvl1pPr marL="91440" indent="-91440" algn="l" defTabSz="914400" rtl="0" eaLnBrk="1" latinLnBrk="0" hangingPunct="1">
              <a:lnSpc>
                <a:spcPct val="90000"/>
              </a:lnSpc>
              <a:spcBef>
                <a:spcPts val="1200"/>
              </a:spcBef>
              <a:spcAft>
                <a:spcPts val="200"/>
              </a:spcAft>
              <a:buClr>
                <a:schemeClr val="accent1"/>
              </a:buClr>
              <a:buSzPct val="100000"/>
              <a:buFont typeface="Calibri" panose="020F0502020204030204" pitchFamily="34" charset="0"/>
              <a:buChar char=" "/>
              <a:defRPr sz="20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38404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8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56692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74980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93268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1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13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15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17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s-AR" dirty="0"/>
          </a:p>
          <a:p>
            <a:endParaRPr lang="es-AR" dirty="0"/>
          </a:p>
          <a:p>
            <a:endParaRPr lang="es-AR" dirty="0"/>
          </a:p>
          <a:p>
            <a:pPr marL="0" indent="0">
              <a:buFont typeface="Calibri" panose="020F0502020204030204" pitchFamily="34" charset="0"/>
              <a:buNone/>
            </a:pPr>
            <a:endParaRPr lang="es-AR" dirty="0"/>
          </a:p>
          <a:p>
            <a:pPr marL="0" indent="0">
              <a:buFont typeface="Calibri" panose="020F0502020204030204" pitchFamily="34" charset="0"/>
              <a:buNone/>
            </a:pPr>
            <a:endParaRPr lang="es-AR" dirty="0"/>
          </a:p>
        </p:txBody>
      </p:sp>
      <p:sp>
        <p:nvSpPr>
          <p:cNvPr id="12" name="Marcador de contenido 2">
            <a:extLst>
              <a:ext uri="{FF2B5EF4-FFF2-40B4-BE49-F238E27FC236}">
                <a16:creationId xmlns:a16="http://schemas.microsoft.com/office/drawing/2014/main" id="{3182989D-B97A-3E17-B44B-235E8F1AF027}"/>
              </a:ext>
            </a:extLst>
          </p:cNvPr>
          <p:cNvSpPr txBox="1">
            <a:spLocks/>
          </p:cNvSpPr>
          <p:nvPr/>
        </p:nvSpPr>
        <p:spPr>
          <a:xfrm>
            <a:off x="1249680" y="1889760"/>
            <a:ext cx="10058400" cy="4023360"/>
          </a:xfrm>
          <a:prstGeom prst="rect">
            <a:avLst/>
          </a:prstGeom>
        </p:spPr>
        <p:txBody>
          <a:bodyPr vert="horz" lIns="0" tIns="45720" rIns="0" bIns="45720" rtlCol="0">
            <a:normAutofit/>
          </a:bodyPr>
          <a:lstStyle>
            <a:lvl1pPr marL="91440" indent="-91440" algn="l" defTabSz="914400" rtl="0" eaLnBrk="1" latinLnBrk="0" hangingPunct="1">
              <a:lnSpc>
                <a:spcPct val="90000"/>
              </a:lnSpc>
              <a:spcBef>
                <a:spcPts val="1200"/>
              </a:spcBef>
              <a:spcAft>
                <a:spcPts val="200"/>
              </a:spcAft>
              <a:buClr>
                <a:schemeClr val="accent1"/>
              </a:buClr>
              <a:buSzPct val="100000"/>
              <a:buFont typeface="Calibri" panose="020F0502020204030204" pitchFamily="34" charset="0"/>
              <a:buChar char=" "/>
              <a:defRPr sz="20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38404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8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56692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74980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93268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1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13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15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17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s-ES" b="1" dirty="0"/>
              <a:t>Cohesión: </a:t>
            </a:r>
            <a:r>
              <a:rPr lang="es-ES" dirty="0"/>
              <a:t>que cada modulo haga una sola cosa simple.</a:t>
            </a:r>
          </a:p>
          <a:p>
            <a:r>
              <a:rPr lang="es-ES" b="1" dirty="0"/>
              <a:t>Acoplamiento: </a:t>
            </a:r>
            <a:r>
              <a:rPr lang="es-ES" dirty="0"/>
              <a:t>Independencia de los módulos.</a:t>
            </a:r>
          </a:p>
          <a:p>
            <a:endParaRPr lang="es-ES" dirty="0"/>
          </a:p>
          <a:p>
            <a:endParaRPr lang="es-ES" dirty="0"/>
          </a:p>
          <a:p>
            <a:endParaRPr lang="es-ES" dirty="0"/>
          </a:p>
          <a:p>
            <a:endParaRPr lang="es-ES" dirty="0"/>
          </a:p>
          <a:p>
            <a:endParaRPr lang="es-ES" dirty="0"/>
          </a:p>
          <a:p>
            <a:endParaRPr lang="es-ES" dirty="0"/>
          </a:p>
          <a:p>
            <a:r>
              <a:rPr lang="es-ES" dirty="0"/>
              <a:t>Los patrones de diseño ayudan a mantener alta cohesión y bajo acoplamiento. </a:t>
            </a:r>
          </a:p>
          <a:p>
            <a:endParaRPr lang="es-ES" dirty="0"/>
          </a:p>
        </p:txBody>
      </p:sp>
      <p:pic>
        <p:nvPicPr>
          <p:cNvPr id="8" name="Imagen 7">
            <a:extLst>
              <a:ext uri="{FF2B5EF4-FFF2-40B4-BE49-F238E27FC236}">
                <a16:creationId xmlns:a16="http://schemas.microsoft.com/office/drawing/2014/main" id="{92099623-AF32-EC1C-59C4-267087D8D8A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00524" y="2610578"/>
            <a:ext cx="4126849" cy="292344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8829506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91AC963-550C-23CB-F6A9-000040573DB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n 3">
            <a:extLst>
              <a:ext uri="{FF2B5EF4-FFF2-40B4-BE49-F238E27FC236}">
                <a16:creationId xmlns:a16="http://schemas.microsoft.com/office/drawing/2014/main" id="{4119DE3A-4ECC-0C04-3FFB-31B83E9BCF9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184257" y="757082"/>
            <a:ext cx="971423" cy="502297"/>
          </a:xfrm>
          <a:prstGeom prst="rect">
            <a:avLst/>
          </a:prstGeom>
        </p:spPr>
      </p:pic>
      <p:sp>
        <p:nvSpPr>
          <p:cNvPr id="5" name="Marcador de número de diapositiva 4">
            <a:extLst>
              <a:ext uri="{FF2B5EF4-FFF2-40B4-BE49-F238E27FC236}">
                <a16:creationId xmlns:a16="http://schemas.microsoft.com/office/drawing/2014/main" id="{74AA35A8-5C4F-1700-E1B6-E153E4F9EB9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8ECD1B-3F01-46F8-A46F-31A31EFC5ABF}" type="slidenum">
              <a:rPr lang="es-AR" smtClean="0"/>
              <a:t>25</a:t>
            </a:fld>
            <a:endParaRPr lang="es-AR"/>
          </a:p>
        </p:txBody>
      </p:sp>
      <p:sp>
        <p:nvSpPr>
          <p:cNvPr id="6" name="Título 1">
            <a:extLst>
              <a:ext uri="{FF2B5EF4-FFF2-40B4-BE49-F238E27FC236}">
                <a16:creationId xmlns:a16="http://schemas.microsoft.com/office/drawing/2014/main" id="{48BEF283-2C4D-CD0B-6042-7BD1D476DCF9}"/>
              </a:ext>
            </a:extLst>
          </p:cNvPr>
          <p:cNvSpPr txBox="1">
            <a:spLocks/>
          </p:cNvSpPr>
          <p:nvPr/>
        </p:nvSpPr>
        <p:spPr>
          <a:xfrm>
            <a:off x="1249680" y="439003"/>
            <a:ext cx="10058400" cy="1450757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l" defTabSz="914400" rtl="0" eaLnBrk="1" latinLnBrk="0" hangingPunct="1">
              <a:lnSpc>
                <a:spcPct val="85000"/>
              </a:lnSpc>
              <a:spcBef>
                <a:spcPct val="0"/>
              </a:spcBef>
              <a:buNone/>
              <a:defRPr sz="4800" kern="1200" spc="-50" baseline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s-ES" b="1" dirty="0"/>
              <a:t>Cohesión</a:t>
            </a:r>
            <a:endParaRPr lang="es-AR" dirty="0"/>
          </a:p>
        </p:txBody>
      </p:sp>
      <p:sp>
        <p:nvSpPr>
          <p:cNvPr id="7" name="Marcador de contenido 2">
            <a:extLst>
              <a:ext uri="{FF2B5EF4-FFF2-40B4-BE49-F238E27FC236}">
                <a16:creationId xmlns:a16="http://schemas.microsoft.com/office/drawing/2014/main" id="{27919175-671C-29B7-DA13-946DA3F08B13}"/>
              </a:ext>
            </a:extLst>
          </p:cNvPr>
          <p:cNvSpPr txBox="1">
            <a:spLocks/>
          </p:cNvSpPr>
          <p:nvPr/>
        </p:nvSpPr>
        <p:spPr>
          <a:xfrm>
            <a:off x="1097280" y="1889760"/>
            <a:ext cx="10058400" cy="4023360"/>
          </a:xfrm>
          <a:prstGeom prst="rect">
            <a:avLst/>
          </a:prstGeom>
        </p:spPr>
        <p:txBody>
          <a:bodyPr vert="horz" lIns="0" tIns="45720" rIns="0" bIns="45720" rtlCol="0">
            <a:normAutofit/>
          </a:bodyPr>
          <a:lstStyle>
            <a:lvl1pPr marL="91440" indent="-91440" algn="l" defTabSz="914400" rtl="0" eaLnBrk="1" latinLnBrk="0" hangingPunct="1">
              <a:lnSpc>
                <a:spcPct val="90000"/>
              </a:lnSpc>
              <a:spcBef>
                <a:spcPts val="1200"/>
              </a:spcBef>
              <a:spcAft>
                <a:spcPts val="200"/>
              </a:spcAft>
              <a:buClr>
                <a:schemeClr val="accent1"/>
              </a:buClr>
              <a:buSzPct val="100000"/>
              <a:buFont typeface="Calibri" panose="020F0502020204030204" pitchFamily="34" charset="0"/>
              <a:buChar char=" "/>
              <a:defRPr sz="20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38404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8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56692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74980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93268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1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13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15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17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s-AR" dirty="0"/>
          </a:p>
          <a:p>
            <a:endParaRPr lang="es-AR" dirty="0"/>
          </a:p>
          <a:p>
            <a:endParaRPr lang="es-AR" dirty="0"/>
          </a:p>
          <a:p>
            <a:pPr marL="0" indent="0">
              <a:buFont typeface="Calibri" panose="020F0502020204030204" pitchFamily="34" charset="0"/>
              <a:buNone/>
            </a:pPr>
            <a:endParaRPr lang="es-AR" dirty="0"/>
          </a:p>
          <a:p>
            <a:pPr marL="0" indent="0">
              <a:buFont typeface="Calibri" panose="020F0502020204030204" pitchFamily="34" charset="0"/>
              <a:buNone/>
            </a:pPr>
            <a:endParaRPr lang="es-AR" dirty="0"/>
          </a:p>
        </p:txBody>
      </p:sp>
      <p:sp>
        <p:nvSpPr>
          <p:cNvPr id="12" name="Marcador de contenido 2">
            <a:extLst>
              <a:ext uri="{FF2B5EF4-FFF2-40B4-BE49-F238E27FC236}">
                <a16:creationId xmlns:a16="http://schemas.microsoft.com/office/drawing/2014/main" id="{D274616C-F17A-B66B-7985-4FB27CD9BC5D}"/>
              </a:ext>
            </a:extLst>
          </p:cNvPr>
          <p:cNvSpPr txBox="1">
            <a:spLocks/>
          </p:cNvSpPr>
          <p:nvPr/>
        </p:nvSpPr>
        <p:spPr>
          <a:xfrm>
            <a:off x="1249680" y="1889760"/>
            <a:ext cx="10058400" cy="4023360"/>
          </a:xfrm>
          <a:prstGeom prst="rect">
            <a:avLst/>
          </a:prstGeom>
        </p:spPr>
        <p:txBody>
          <a:bodyPr vert="horz" lIns="0" tIns="45720" rIns="0" bIns="45720" rtlCol="0">
            <a:normAutofit/>
          </a:bodyPr>
          <a:lstStyle>
            <a:lvl1pPr marL="91440" indent="-91440" algn="l" defTabSz="914400" rtl="0" eaLnBrk="1" latinLnBrk="0" hangingPunct="1">
              <a:lnSpc>
                <a:spcPct val="90000"/>
              </a:lnSpc>
              <a:spcBef>
                <a:spcPts val="1200"/>
              </a:spcBef>
              <a:spcAft>
                <a:spcPts val="200"/>
              </a:spcAft>
              <a:buClr>
                <a:schemeClr val="accent1"/>
              </a:buClr>
              <a:buSzPct val="100000"/>
              <a:buFont typeface="Calibri" panose="020F0502020204030204" pitchFamily="34" charset="0"/>
              <a:buChar char=" "/>
              <a:defRPr sz="20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38404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8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56692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74980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93268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1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13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15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17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s-ES" b="1" dirty="0"/>
              <a:t>Cohesión: </a:t>
            </a:r>
            <a:r>
              <a:rPr lang="es-ES" dirty="0"/>
              <a:t>que cada modulo haga una sola cosa simple.</a:t>
            </a:r>
          </a:p>
        </p:txBody>
      </p:sp>
      <p:pic>
        <p:nvPicPr>
          <p:cNvPr id="14338" name="Picture 2" descr="Acoplamiento y cohesión - YouTube">
            <a:extLst>
              <a:ext uri="{FF2B5EF4-FFF2-40B4-BE49-F238E27FC236}">
                <a16:creationId xmlns:a16="http://schemas.microsoft.com/office/drawing/2014/main" id="{7199C5F4-DD81-090F-1A66-D33163676D0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056552" y="2458333"/>
            <a:ext cx="6139855" cy="345478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947026190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696ECF8-A197-1774-56AB-C68F05E3A7D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n 3">
            <a:extLst>
              <a:ext uri="{FF2B5EF4-FFF2-40B4-BE49-F238E27FC236}">
                <a16:creationId xmlns:a16="http://schemas.microsoft.com/office/drawing/2014/main" id="{DAB79B6F-57B3-CDE4-7A50-370B836A777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184257" y="757082"/>
            <a:ext cx="971423" cy="502297"/>
          </a:xfrm>
          <a:prstGeom prst="rect">
            <a:avLst/>
          </a:prstGeom>
        </p:spPr>
      </p:pic>
      <p:sp>
        <p:nvSpPr>
          <p:cNvPr id="5" name="Marcador de número de diapositiva 4">
            <a:extLst>
              <a:ext uri="{FF2B5EF4-FFF2-40B4-BE49-F238E27FC236}">
                <a16:creationId xmlns:a16="http://schemas.microsoft.com/office/drawing/2014/main" id="{71697B81-5072-A9BD-BDD4-4775750B711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8ECD1B-3F01-46F8-A46F-31A31EFC5ABF}" type="slidenum">
              <a:rPr lang="es-AR" smtClean="0"/>
              <a:t>26</a:t>
            </a:fld>
            <a:endParaRPr lang="es-AR"/>
          </a:p>
        </p:txBody>
      </p:sp>
      <p:sp>
        <p:nvSpPr>
          <p:cNvPr id="6" name="Título 1">
            <a:extLst>
              <a:ext uri="{FF2B5EF4-FFF2-40B4-BE49-F238E27FC236}">
                <a16:creationId xmlns:a16="http://schemas.microsoft.com/office/drawing/2014/main" id="{C0057172-2878-B2EF-26D4-58AD5E17922D}"/>
              </a:ext>
            </a:extLst>
          </p:cNvPr>
          <p:cNvSpPr txBox="1">
            <a:spLocks/>
          </p:cNvSpPr>
          <p:nvPr/>
        </p:nvSpPr>
        <p:spPr>
          <a:xfrm>
            <a:off x="1249680" y="439003"/>
            <a:ext cx="10058400" cy="1450757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l" defTabSz="914400" rtl="0" eaLnBrk="1" latinLnBrk="0" hangingPunct="1">
              <a:lnSpc>
                <a:spcPct val="85000"/>
              </a:lnSpc>
              <a:spcBef>
                <a:spcPct val="0"/>
              </a:spcBef>
              <a:buNone/>
              <a:defRPr sz="4800" kern="1200" spc="-50" baseline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s-ES" b="1" dirty="0"/>
              <a:t>Acoplamiento</a:t>
            </a:r>
            <a:endParaRPr lang="es-AR" dirty="0"/>
          </a:p>
        </p:txBody>
      </p:sp>
      <p:sp>
        <p:nvSpPr>
          <p:cNvPr id="7" name="Marcador de contenido 2">
            <a:extLst>
              <a:ext uri="{FF2B5EF4-FFF2-40B4-BE49-F238E27FC236}">
                <a16:creationId xmlns:a16="http://schemas.microsoft.com/office/drawing/2014/main" id="{84C41D8B-F82E-B78A-B479-F30524BB7B35}"/>
              </a:ext>
            </a:extLst>
          </p:cNvPr>
          <p:cNvSpPr txBox="1">
            <a:spLocks/>
          </p:cNvSpPr>
          <p:nvPr/>
        </p:nvSpPr>
        <p:spPr>
          <a:xfrm>
            <a:off x="1097280" y="1889760"/>
            <a:ext cx="10058400" cy="4023360"/>
          </a:xfrm>
          <a:prstGeom prst="rect">
            <a:avLst/>
          </a:prstGeom>
        </p:spPr>
        <p:txBody>
          <a:bodyPr vert="horz" lIns="0" tIns="45720" rIns="0" bIns="45720" rtlCol="0">
            <a:normAutofit/>
          </a:bodyPr>
          <a:lstStyle>
            <a:lvl1pPr marL="91440" indent="-91440" algn="l" defTabSz="914400" rtl="0" eaLnBrk="1" latinLnBrk="0" hangingPunct="1">
              <a:lnSpc>
                <a:spcPct val="90000"/>
              </a:lnSpc>
              <a:spcBef>
                <a:spcPts val="1200"/>
              </a:spcBef>
              <a:spcAft>
                <a:spcPts val="200"/>
              </a:spcAft>
              <a:buClr>
                <a:schemeClr val="accent1"/>
              </a:buClr>
              <a:buSzPct val="100000"/>
              <a:buFont typeface="Calibri" panose="020F0502020204030204" pitchFamily="34" charset="0"/>
              <a:buChar char=" "/>
              <a:defRPr sz="20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38404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8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56692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74980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93268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1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13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15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17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s-AR" dirty="0"/>
          </a:p>
          <a:p>
            <a:endParaRPr lang="es-AR" dirty="0"/>
          </a:p>
          <a:p>
            <a:endParaRPr lang="es-AR" dirty="0"/>
          </a:p>
          <a:p>
            <a:pPr marL="0" indent="0">
              <a:buFont typeface="Calibri" panose="020F0502020204030204" pitchFamily="34" charset="0"/>
              <a:buNone/>
            </a:pPr>
            <a:endParaRPr lang="es-AR" dirty="0"/>
          </a:p>
          <a:p>
            <a:pPr marL="0" indent="0">
              <a:buFont typeface="Calibri" panose="020F0502020204030204" pitchFamily="34" charset="0"/>
              <a:buNone/>
            </a:pPr>
            <a:endParaRPr lang="es-AR" dirty="0"/>
          </a:p>
        </p:txBody>
      </p:sp>
      <p:sp>
        <p:nvSpPr>
          <p:cNvPr id="12" name="Marcador de contenido 2">
            <a:extLst>
              <a:ext uri="{FF2B5EF4-FFF2-40B4-BE49-F238E27FC236}">
                <a16:creationId xmlns:a16="http://schemas.microsoft.com/office/drawing/2014/main" id="{4160E9D8-4FD2-BBB2-1AFC-37554BE9F55C}"/>
              </a:ext>
            </a:extLst>
          </p:cNvPr>
          <p:cNvSpPr txBox="1">
            <a:spLocks/>
          </p:cNvSpPr>
          <p:nvPr/>
        </p:nvSpPr>
        <p:spPr>
          <a:xfrm>
            <a:off x="1249680" y="1889760"/>
            <a:ext cx="10058400" cy="4023360"/>
          </a:xfrm>
          <a:prstGeom prst="rect">
            <a:avLst/>
          </a:prstGeom>
        </p:spPr>
        <p:txBody>
          <a:bodyPr vert="horz" lIns="0" tIns="45720" rIns="0" bIns="45720" rtlCol="0">
            <a:normAutofit/>
          </a:bodyPr>
          <a:lstStyle>
            <a:lvl1pPr marL="91440" indent="-91440" algn="l" defTabSz="914400" rtl="0" eaLnBrk="1" latinLnBrk="0" hangingPunct="1">
              <a:lnSpc>
                <a:spcPct val="90000"/>
              </a:lnSpc>
              <a:spcBef>
                <a:spcPts val="1200"/>
              </a:spcBef>
              <a:spcAft>
                <a:spcPts val="200"/>
              </a:spcAft>
              <a:buClr>
                <a:schemeClr val="accent1"/>
              </a:buClr>
              <a:buSzPct val="100000"/>
              <a:buFont typeface="Calibri" panose="020F0502020204030204" pitchFamily="34" charset="0"/>
              <a:buChar char=" "/>
              <a:defRPr sz="20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38404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8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56692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74980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93268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1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13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15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17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s-ES" b="1" dirty="0"/>
              <a:t>Acoplamiento: </a:t>
            </a:r>
            <a:r>
              <a:rPr lang="es-ES" dirty="0"/>
              <a:t>Independencia de los módulos.</a:t>
            </a:r>
          </a:p>
          <a:p>
            <a:endParaRPr lang="es-ES" dirty="0"/>
          </a:p>
          <a:p>
            <a:endParaRPr lang="es-ES" dirty="0"/>
          </a:p>
          <a:p>
            <a:endParaRPr lang="es-ES" dirty="0"/>
          </a:p>
          <a:p>
            <a:endParaRPr lang="es-ES" dirty="0"/>
          </a:p>
          <a:p>
            <a:endParaRPr lang="es-ES" dirty="0"/>
          </a:p>
          <a:p>
            <a:endParaRPr lang="es-ES" dirty="0"/>
          </a:p>
          <a:p>
            <a:endParaRPr lang="es-ES" dirty="0"/>
          </a:p>
          <a:p>
            <a:r>
              <a:rPr lang="es-ES" dirty="0"/>
              <a:t>Los patrones de diseño ayudan a mantener alta cohesión y bajo acoplamiento. </a:t>
            </a:r>
          </a:p>
          <a:p>
            <a:endParaRPr lang="es-ES" dirty="0"/>
          </a:p>
          <a:p>
            <a:endParaRPr lang="es-ES" dirty="0"/>
          </a:p>
        </p:txBody>
      </p:sp>
      <p:pic>
        <p:nvPicPr>
          <p:cNvPr id="3" name="Imagen 2">
            <a:extLst>
              <a:ext uri="{FF2B5EF4-FFF2-40B4-BE49-F238E27FC236}">
                <a16:creationId xmlns:a16="http://schemas.microsoft.com/office/drawing/2014/main" id="{E57F3729-1153-9285-AA71-15F3726FE7D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45609" y="2377266"/>
            <a:ext cx="4900782" cy="306644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22946349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EC5D229-F4B0-7BFB-C021-B9F9B1B6C1A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n 3">
            <a:extLst>
              <a:ext uri="{FF2B5EF4-FFF2-40B4-BE49-F238E27FC236}">
                <a16:creationId xmlns:a16="http://schemas.microsoft.com/office/drawing/2014/main" id="{38383461-D7E6-0E1B-A6E2-AACE575DE5A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184257" y="757082"/>
            <a:ext cx="971423" cy="502297"/>
          </a:xfrm>
          <a:prstGeom prst="rect">
            <a:avLst/>
          </a:prstGeom>
        </p:spPr>
      </p:pic>
      <p:sp>
        <p:nvSpPr>
          <p:cNvPr id="5" name="Marcador de número de diapositiva 4">
            <a:extLst>
              <a:ext uri="{FF2B5EF4-FFF2-40B4-BE49-F238E27FC236}">
                <a16:creationId xmlns:a16="http://schemas.microsoft.com/office/drawing/2014/main" id="{D9462953-DB70-25C2-3791-600DA5350C2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8ECD1B-3F01-46F8-A46F-31A31EFC5ABF}" type="slidenum">
              <a:rPr lang="es-AR" smtClean="0"/>
              <a:t>27</a:t>
            </a:fld>
            <a:endParaRPr lang="es-AR"/>
          </a:p>
        </p:txBody>
      </p:sp>
      <p:sp>
        <p:nvSpPr>
          <p:cNvPr id="6" name="Título 1">
            <a:extLst>
              <a:ext uri="{FF2B5EF4-FFF2-40B4-BE49-F238E27FC236}">
                <a16:creationId xmlns:a16="http://schemas.microsoft.com/office/drawing/2014/main" id="{A59B1A76-62D6-2822-F321-6871A32409BC}"/>
              </a:ext>
            </a:extLst>
          </p:cNvPr>
          <p:cNvSpPr txBox="1">
            <a:spLocks/>
          </p:cNvSpPr>
          <p:nvPr/>
        </p:nvSpPr>
        <p:spPr>
          <a:xfrm>
            <a:off x="1249680" y="439003"/>
            <a:ext cx="10058400" cy="1450757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l" defTabSz="914400" rtl="0" eaLnBrk="1" latinLnBrk="0" hangingPunct="1">
              <a:lnSpc>
                <a:spcPct val="85000"/>
              </a:lnSpc>
              <a:spcBef>
                <a:spcPct val="0"/>
              </a:spcBef>
              <a:buNone/>
              <a:defRPr sz="4800" kern="1200" spc="-50" baseline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s-ES" b="1" dirty="0"/>
              <a:t>Historia de POO </a:t>
            </a:r>
            <a:endParaRPr lang="es-AR" dirty="0"/>
          </a:p>
        </p:txBody>
      </p:sp>
      <p:sp>
        <p:nvSpPr>
          <p:cNvPr id="7" name="Marcador de contenido 2">
            <a:extLst>
              <a:ext uri="{FF2B5EF4-FFF2-40B4-BE49-F238E27FC236}">
                <a16:creationId xmlns:a16="http://schemas.microsoft.com/office/drawing/2014/main" id="{474CEFDE-5125-522D-8C4E-1BDA037B2BDE}"/>
              </a:ext>
            </a:extLst>
          </p:cNvPr>
          <p:cNvSpPr txBox="1">
            <a:spLocks/>
          </p:cNvSpPr>
          <p:nvPr/>
        </p:nvSpPr>
        <p:spPr>
          <a:xfrm>
            <a:off x="1097280" y="1889760"/>
            <a:ext cx="10058400" cy="4023360"/>
          </a:xfrm>
          <a:prstGeom prst="rect">
            <a:avLst/>
          </a:prstGeom>
        </p:spPr>
        <p:txBody>
          <a:bodyPr vert="horz" lIns="0" tIns="45720" rIns="0" bIns="45720" rtlCol="0">
            <a:normAutofit/>
          </a:bodyPr>
          <a:lstStyle>
            <a:lvl1pPr marL="91440" indent="-91440" algn="l" defTabSz="914400" rtl="0" eaLnBrk="1" latinLnBrk="0" hangingPunct="1">
              <a:lnSpc>
                <a:spcPct val="90000"/>
              </a:lnSpc>
              <a:spcBef>
                <a:spcPts val="1200"/>
              </a:spcBef>
              <a:spcAft>
                <a:spcPts val="200"/>
              </a:spcAft>
              <a:buClr>
                <a:schemeClr val="accent1"/>
              </a:buClr>
              <a:buSzPct val="100000"/>
              <a:buFont typeface="Calibri" panose="020F0502020204030204" pitchFamily="34" charset="0"/>
              <a:buChar char=" "/>
              <a:defRPr sz="20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38404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8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56692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74980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93268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1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13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15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17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s-AR" dirty="0"/>
          </a:p>
          <a:p>
            <a:endParaRPr lang="es-AR" dirty="0"/>
          </a:p>
          <a:p>
            <a:endParaRPr lang="es-AR" dirty="0"/>
          </a:p>
          <a:p>
            <a:pPr marL="0" indent="0">
              <a:buFont typeface="Calibri" panose="020F0502020204030204" pitchFamily="34" charset="0"/>
              <a:buNone/>
            </a:pPr>
            <a:endParaRPr lang="es-AR" dirty="0"/>
          </a:p>
          <a:p>
            <a:pPr marL="0" indent="0">
              <a:buFont typeface="Calibri" panose="020F0502020204030204" pitchFamily="34" charset="0"/>
              <a:buNone/>
            </a:pPr>
            <a:endParaRPr lang="es-AR" dirty="0"/>
          </a:p>
        </p:txBody>
      </p:sp>
      <p:sp>
        <p:nvSpPr>
          <p:cNvPr id="12" name="Marcador de contenido 2">
            <a:extLst>
              <a:ext uri="{FF2B5EF4-FFF2-40B4-BE49-F238E27FC236}">
                <a16:creationId xmlns:a16="http://schemas.microsoft.com/office/drawing/2014/main" id="{99C59C5E-CB96-A6D5-DF1F-9900F424858B}"/>
              </a:ext>
            </a:extLst>
          </p:cNvPr>
          <p:cNvSpPr txBox="1">
            <a:spLocks/>
          </p:cNvSpPr>
          <p:nvPr/>
        </p:nvSpPr>
        <p:spPr>
          <a:xfrm>
            <a:off x="1249680" y="1889760"/>
            <a:ext cx="10058400" cy="4023360"/>
          </a:xfrm>
          <a:prstGeom prst="rect">
            <a:avLst/>
          </a:prstGeom>
        </p:spPr>
        <p:txBody>
          <a:bodyPr vert="horz" lIns="0" tIns="45720" rIns="0" bIns="45720" rtlCol="0">
            <a:normAutofit/>
          </a:bodyPr>
          <a:lstStyle>
            <a:lvl1pPr marL="91440" indent="-91440" algn="l" defTabSz="914400" rtl="0" eaLnBrk="1" latinLnBrk="0" hangingPunct="1">
              <a:lnSpc>
                <a:spcPct val="90000"/>
              </a:lnSpc>
              <a:spcBef>
                <a:spcPts val="1200"/>
              </a:spcBef>
              <a:spcAft>
                <a:spcPts val="200"/>
              </a:spcAft>
              <a:buClr>
                <a:schemeClr val="accent1"/>
              </a:buClr>
              <a:buSzPct val="100000"/>
              <a:buFont typeface="Calibri" panose="020F0502020204030204" pitchFamily="34" charset="0"/>
              <a:buChar char=" "/>
              <a:defRPr sz="20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38404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8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56692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74980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93268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1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13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15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17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s-ES" dirty="0"/>
              <a:t> </a:t>
            </a:r>
          </a:p>
          <a:p>
            <a:endParaRPr lang="es-ES" dirty="0"/>
          </a:p>
          <a:p>
            <a:endParaRPr lang="es-ES" dirty="0"/>
          </a:p>
        </p:txBody>
      </p:sp>
      <p:pic>
        <p:nvPicPr>
          <p:cNvPr id="11" name="Imagen 10">
            <a:extLst>
              <a:ext uri="{FF2B5EF4-FFF2-40B4-BE49-F238E27FC236}">
                <a16:creationId xmlns:a16="http://schemas.microsoft.com/office/drawing/2014/main" id="{1842CF79-DC83-4F02-FCAD-C938AB03A89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59330" y="1969809"/>
            <a:ext cx="7673340" cy="421664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34836928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0EF76E0-98C7-406D-20F7-E3718AD2D2C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A99DA90-01CB-101A-0089-5C8A2C11D41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AR" dirty="0"/>
              <a:t>Ejercicio 1 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A3B205D2-F791-AF6B-4C4C-7B5D7803221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ctr"/>
            <a:r>
              <a:rPr lang="es-AR" dirty="0"/>
              <a:t>Consigna: A los objetos “</a:t>
            </a:r>
            <a:r>
              <a:rPr lang="es-ES" dirty="0"/>
              <a:t>barco” , </a:t>
            </a:r>
            <a:r>
              <a:rPr lang="es-AR" dirty="0"/>
              <a:t>“auto” y “moto”, asignarle </a:t>
            </a:r>
            <a:r>
              <a:rPr lang="es-ES" dirty="0"/>
              <a:t>3 o mas características/atributos que consideres importantes y descriptivas del objeto.</a:t>
            </a:r>
          </a:p>
          <a:p>
            <a:endParaRPr lang="es-ES" dirty="0"/>
          </a:p>
          <a:p>
            <a:r>
              <a:rPr lang="es-AR" dirty="0"/>
              <a:t> </a:t>
            </a:r>
          </a:p>
          <a:p>
            <a:endParaRPr lang="es-AR" dirty="0"/>
          </a:p>
          <a:p>
            <a:endParaRPr lang="es-AR" dirty="0"/>
          </a:p>
          <a:p>
            <a:endParaRPr lang="es-AR" dirty="0"/>
          </a:p>
          <a:p>
            <a:pPr marL="0" indent="0">
              <a:buNone/>
            </a:pPr>
            <a:endParaRPr lang="es-AR" dirty="0"/>
          </a:p>
          <a:p>
            <a:pPr marL="0" indent="0">
              <a:buNone/>
            </a:pPr>
            <a:endParaRPr lang="es-AR" dirty="0"/>
          </a:p>
        </p:txBody>
      </p:sp>
      <p:pic>
        <p:nvPicPr>
          <p:cNvPr id="4" name="Imagen 3">
            <a:extLst>
              <a:ext uri="{FF2B5EF4-FFF2-40B4-BE49-F238E27FC236}">
                <a16:creationId xmlns:a16="http://schemas.microsoft.com/office/drawing/2014/main" id="{1BD2DC44-522F-9D78-D7DE-C6D5A8D2541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184257" y="757082"/>
            <a:ext cx="971423" cy="502297"/>
          </a:xfrm>
          <a:prstGeom prst="rect">
            <a:avLst/>
          </a:prstGeom>
        </p:spPr>
      </p:pic>
      <p:sp>
        <p:nvSpPr>
          <p:cNvPr id="5" name="Marcador de número de diapositiva 4">
            <a:extLst>
              <a:ext uri="{FF2B5EF4-FFF2-40B4-BE49-F238E27FC236}">
                <a16:creationId xmlns:a16="http://schemas.microsoft.com/office/drawing/2014/main" id="{57C0B193-8B6D-0140-DC98-6B6B05D089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8ECD1B-3F01-46F8-A46F-31A31EFC5ABF}" type="slidenum">
              <a:rPr lang="es-AR" smtClean="0"/>
              <a:t>28</a:t>
            </a:fld>
            <a:endParaRPr lang="es-AR"/>
          </a:p>
        </p:txBody>
      </p:sp>
      <p:pic>
        <p:nvPicPr>
          <p:cNvPr id="9" name="Imagen 8">
            <a:extLst>
              <a:ext uri="{FF2B5EF4-FFF2-40B4-BE49-F238E27FC236}">
                <a16:creationId xmlns:a16="http://schemas.microsoft.com/office/drawing/2014/main" id="{F56B0C56-133D-7097-3907-E3DCC5B5F81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421380" y="3429000"/>
            <a:ext cx="5410200" cy="14287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81665916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081F8C4-E1FF-710C-D51E-A6E4E64FB8F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136C263-E6E5-4F2A-DBC0-B459E0AC9A0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AR" dirty="0"/>
              <a:t>Ejercicio 1 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B8A1C536-B2D6-1787-180E-AD944044C4B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s-AR" dirty="0"/>
              <a:t>Posible respuesta: </a:t>
            </a:r>
          </a:p>
          <a:p>
            <a:endParaRPr lang="es-AR" dirty="0"/>
          </a:p>
          <a:p>
            <a:endParaRPr lang="es-AR" dirty="0"/>
          </a:p>
          <a:p>
            <a:endParaRPr lang="es-AR" dirty="0"/>
          </a:p>
          <a:p>
            <a:pPr marL="0" indent="0">
              <a:buNone/>
            </a:pPr>
            <a:endParaRPr lang="es-AR" dirty="0"/>
          </a:p>
          <a:p>
            <a:pPr marL="0" indent="0">
              <a:buNone/>
            </a:pPr>
            <a:endParaRPr lang="es-AR" dirty="0"/>
          </a:p>
        </p:txBody>
      </p:sp>
      <p:pic>
        <p:nvPicPr>
          <p:cNvPr id="4" name="Imagen 3">
            <a:extLst>
              <a:ext uri="{FF2B5EF4-FFF2-40B4-BE49-F238E27FC236}">
                <a16:creationId xmlns:a16="http://schemas.microsoft.com/office/drawing/2014/main" id="{6F4EBE3C-FA2B-297A-B5F3-7488E711694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184257" y="757082"/>
            <a:ext cx="971423" cy="502297"/>
          </a:xfrm>
          <a:prstGeom prst="rect">
            <a:avLst/>
          </a:prstGeom>
        </p:spPr>
      </p:pic>
      <p:sp>
        <p:nvSpPr>
          <p:cNvPr id="5" name="Marcador de número de diapositiva 4">
            <a:extLst>
              <a:ext uri="{FF2B5EF4-FFF2-40B4-BE49-F238E27FC236}">
                <a16:creationId xmlns:a16="http://schemas.microsoft.com/office/drawing/2014/main" id="{27408C8F-3D10-15AF-0C15-C3D283C48F8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8ECD1B-3F01-46F8-A46F-31A31EFC5ABF}" type="slidenum">
              <a:rPr lang="es-AR" smtClean="0"/>
              <a:t>29</a:t>
            </a:fld>
            <a:endParaRPr lang="es-AR"/>
          </a:p>
        </p:txBody>
      </p:sp>
      <p:pic>
        <p:nvPicPr>
          <p:cNvPr id="10" name="Imagen 9">
            <a:extLst>
              <a:ext uri="{FF2B5EF4-FFF2-40B4-BE49-F238E27FC236}">
                <a16:creationId xmlns:a16="http://schemas.microsoft.com/office/drawing/2014/main" id="{A1EF9F41-1765-9D34-228D-74F93A1281A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273742" y="2602019"/>
            <a:ext cx="5705475" cy="29527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38206924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56DFB76-1E1F-5DE1-EB04-8EE6DBBB5B3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797C84D-BD89-C20D-F7E5-9B987DDBCDD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AR" dirty="0"/>
              <a:t>Ejercicio 2 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49B21ECD-4958-5B71-E0DE-3D22E4103E9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ctr"/>
            <a:r>
              <a:rPr lang="es-AR" dirty="0"/>
              <a:t>Consigna: A los objetos “</a:t>
            </a:r>
            <a:r>
              <a:rPr lang="es-ES" dirty="0"/>
              <a:t>barco” , </a:t>
            </a:r>
            <a:r>
              <a:rPr lang="es-AR" dirty="0"/>
              <a:t>“auto” y “moto”, asignarle </a:t>
            </a:r>
            <a:r>
              <a:rPr lang="es-ES" dirty="0"/>
              <a:t>3 o mas “acciones” que consideres importantes y descriptivas del objeto.</a:t>
            </a:r>
          </a:p>
          <a:p>
            <a:endParaRPr lang="es-ES" dirty="0"/>
          </a:p>
          <a:p>
            <a:r>
              <a:rPr lang="es-AR" dirty="0"/>
              <a:t> </a:t>
            </a:r>
          </a:p>
          <a:p>
            <a:endParaRPr lang="es-AR" dirty="0"/>
          </a:p>
          <a:p>
            <a:endParaRPr lang="es-AR" dirty="0"/>
          </a:p>
          <a:p>
            <a:endParaRPr lang="es-AR" dirty="0"/>
          </a:p>
          <a:p>
            <a:pPr marL="0" indent="0">
              <a:buNone/>
            </a:pPr>
            <a:endParaRPr lang="es-AR" dirty="0"/>
          </a:p>
          <a:p>
            <a:pPr marL="0" indent="0">
              <a:buNone/>
            </a:pPr>
            <a:endParaRPr lang="es-AR" dirty="0"/>
          </a:p>
        </p:txBody>
      </p:sp>
      <p:pic>
        <p:nvPicPr>
          <p:cNvPr id="4" name="Imagen 3">
            <a:extLst>
              <a:ext uri="{FF2B5EF4-FFF2-40B4-BE49-F238E27FC236}">
                <a16:creationId xmlns:a16="http://schemas.microsoft.com/office/drawing/2014/main" id="{1CF2DC84-D2A0-F923-8FA1-47B9D53F896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184257" y="757082"/>
            <a:ext cx="971423" cy="502297"/>
          </a:xfrm>
          <a:prstGeom prst="rect">
            <a:avLst/>
          </a:prstGeom>
        </p:spPr>
      </p:pic>
      <p:sp>
        <p:nvSpPr>
          <p:cNvPr id="5" name="Marcador de número de diapositiva 4">
            <a:extLst>
              <a:ext uri="{FF2B5EF4-FFF2-40B4-BE49-F238E27FC236}">
                <a16:creationId xmlns:a16="http://schemas.microsoft.com/office/drawing/2014/main" id="{4A6754AA-4874-3CD0-1C0E-60BAC3A2CEE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8ECD1B-3F01-46F8-A46F-31A31EFC5ABF}" type="slidenum">
              <a:rPr lang="es-AR" smtClean="0"/>
              <a:t>30</a:t>
            </a:fld>
            <a:endParaRPr lang="es-AR"/>
          </a:p>
        </p:txBody>
      </p:sp>
      <p:pic>
        <p:nvPicPr>
          <p:cNvPr id="9" name="Imagen 8">
            <a:extLst>
              <a:ext uri="{FF2B5EF4-FFF2-40B4-BE49-F238E27FC236}">
                <a16:creationId xmlns:a16="http://schemas.microsoft.com/office/drawing/2014/main" id="{FBF803F9-4158-54ED-EEA7-99B2E07D6A0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421380" y="3429000"/>
            <a:ext cx="5410200" cy="14287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79619794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D4F67AB-78EC-C4A6-3516-9B3D2F7077C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913FFFD-CFC0-3E42-B229-DB6F7F22513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AR" dirty="0"/>
              <a:t>Ejercicio 2 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C2E3DD3A-179C-5950-DBA5-71BEBAAFC6B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ctr"/>
            <a:r>
              <a:rPr lang="es-AR" dirty="0"/>
              <a:t>Consigna: A los objetos “</a:t>
            </a:r>
            <a:r>
              <a:rPr lang="es-ES" dirty="0"/>
              <a:t>barco” , </a:t>
            </a:r>
            <a:r>
              <a:rPr lang="es-AR" dirty="0"/>
              <a:t>“auto” y “moto”, asignarle </a:t>
            </a:r>
            <a:r>
              <a:rPr lang="es-ES" dirty="0"/>
              <a:t>3 o mas “acciones” que consideres importantes y descriptivas del objeto.</a:t>
            </a:r>
          </a:p>
          <a:p>
            <a:endParaRPr lang="es-ES" dirty="0"/>
          </a:p>
          <a:p>
            <a:r>
              <a:rPr lang="es-AR" dirty="0"/>
              <a:t> </a:t>
            </a:r>
          </a:p>
          <a:p>
            <a:endParaRPr lang="es-AR" dirty="0"/>
          </a:p>
          <a:p>
            <a:endParaRPr lang="es-AR" dirty="0"/>
          </a:p>
          <a:p>
            <a:endParaRPr lang="es-AR" dirty="0"/>
          </a:p>
          <a:p>
            <a:pPr marL="0" indent="0">
              <a:buNone/>
            </a:pPr>
            <a:endParaRPr lang="es-AR" dirty="0"/>
          </a:p>
          <a:p>
            <a:pPr marL="0" indent="0">
              <a:buNone/>
            </a:pPr>
            <a:endParaRPr lang="es-AR" dirty="0"/>
          </a:p>
        </p:txBody>
      </p:sp>
      <p:pic>
        <p:nvPicPr>
          <p:cNvPr id="4" name="Imagen 3">
            <a:extLst>
              <a:ext uri="{FF2B5EF4-FFF2-40B4-BE49-F238E27FC236}">
                <a16:creationId xmlns:a16="http://schemas.microsoft.com/office/drawing/2014/main" id="{A6118450-31C4-46FE-D0FB-5F98E0B1B65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184257" y="757082"/>
            <a:ext cx="971423" cy="502297"/>
          </a:xfrm>
          <a:prstGeom prst="rect">
            <a:avLst/>
          </a:prstGeom>
        </p:spPr>
      </p:pic>
      <p:sp>
        <p:nvSpPr>
          <p:cNvPr id="5" name="Marcador de número de diapositiva 4">
            <a:extLst>
              <a:ext uri="{FF2B5EF4-FFF2-40B4-BE49-F238E27FC236}">
                <a16:creationId xmlns:a16="http://schemas.microsoft.com/office/drawing/2014/main" id="{F3CC6CC6-AAB1-F1A0-C44C-AB2AFB6EC41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8ECD1B-3F01-46F8-A46F-31A31EFC5ABF}" type="slidenum">
              <a:rPr lang="es-AR" smtClean="0"/>
              <a:t>31</a:t>
            </a:fld>
            <a:endParaRPr lang="es-AR"/>
          </a:p>
        </p:txBody>
      </p:sp>
      <p:pic>
        <p:nvPicPr>
          <p:cNvPr id="9" name="Imagen 8">
            <a:extLst>
              <a:ext uri="{FF2B5EF4-FFF2-40B4-BE49-F238E27FC236}">
                <a16:creationId xmlns:a16="http://schemas.microsoft.com/office/drawing/2014/main" id="{B6174BEF-2069-D2E4-EEAC-D3B862D8328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421380" y="3429000"/>
            <a:ext cx="5410200" cy="14287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87777879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B67C8FE-F1DD-9EE4-0991-1663C649D93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F3750FB-9A10-907C-7C42-D44D39D6917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AR" dirty="0"/>
              <a:t>Ejercicio 2 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2FC29BC6-E28A-8880-74F2-96232775AAB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s-AR" dirty="0"/>
              <a:t>Posible respuesta: </a:t>
            </a:r>
          </a:p>
          <a:p>
            <a:endParaRPr lang="es-AR" dirty="0"/>
          </a:p>
          <a:p>
            <a:endParaRPr lang="es-AR" dirty="0"/>
          </a:p>
          <a:p>
            <a:endParaRPr lang="es-AR" dirty="0"/>
          </a:p>
          <a:p>
            <a:pPr marL="0" indent="0">
              <a:buNone/>
            </a:pPr>
            <a:endParaRPr lang="es-AR" dirty="0"/>
          </a:p>
          <a:p>
            <a:pPr marL="0" indent="0">
              <a:buNone/>
            </a:pPr>
            <a:endParaRPr lang="es-AR" dirty="0"/>
          </a:p>
        </p:txBody>
      </p:sp>
      <p:pic>
        <p:nvPicPr>
          <p:cNvPr id="4" name="Imagen 3">
            <a:extLst>
              <a:ext uri="{FF2B5EF4-FFF2-40B4-BE49-F238E27FC236}">
                <a16:creationId xmlns:a16="http://schemas.microsoft.com/office/drawing/2014/main" id="{792F265F-781B-4A7E-BE7E-527E33FFB10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184257" y="757082"/>
            <a:ext cx="971423" cy="502297"/>
          </a:xfrm>
          <a:prstGeom prst="rect">
            <a:avLst/>
          </a:prstGeom>
        </p:spPr>
      </p:pic>
      <p:sp>
        <p:nvSpPr>
          <p:cNvPr id="5" name="Marcador de número de diapositiva 4">
            <a:extLst>
              <a:ext uri="{FF2B5EF4-FFF2-40B4-BE49-F238E27FC236}">
                <a16:creationId xmlns:a16="http://schemas.microsoft.com/office/drawing/2014/main" id="{2C519B46-F6A1-9D29-B904-871EAF4C36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8ECD1B-3F01-46F8-A46F-31A31EFC5ABF}" type="slidenum">
              <a:rPr lang="es-AR" smtClean="0"/>
              <a:t>32</a:t>
            </a:fld>
            <a:endParaRPr lang="es-AR"/>
          </a:p>
        </p:txBody>
      </p:sp>
      <p:pic>
        <p:nvPicPr>
          <p:cNvPr id="17410" name="Picture 2">
            <a:extLst>
              <a:ext uri="{FF2B5EF4-FFF2-40B4-BE49-F238E27FC236}">
                <a16:creationId xmlns:a16="http://schemas.microsoft.com/office/drawing/2014/main" id="{89D6361D-A063-3ACF-22DF-FFD4B50B40E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68980" y="2486025"/>
            <a:ext cx="5715000" cy="29908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486493679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49FABD1-043E-8F8C-1689-ED95DBB5013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3F2B33F-1B66-30D6-FB03-617A309C11E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AR" dirty="0"/>
              <a:t>Ejercicio 3 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BA5A3AE0-38FC-8939-67E2-2EF33871A0B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ctr"/>
            <a:r>
              <a:rPr lang="es-AR" dirty="0"/>
              <a:t>Consigna: A los objetos “</a:t>
            </a:r>
            <a:r>
              <a:rPr lang="es-ES" dirty="0"/>
              <a:t>barco” , </a:t>
            </a:r>
            <a:r>
              <a:rPr lang="es-AR" dirty="0"/>
              <a:t>“auto” y “moto”, agrupar características compartidas para crear un objeto nuevo que cumpla con las características agrupadas</a:t>
            </a:r>
            <a:r>
              <a:rPr lang="es-ES" dirty="0"/>
              <a:t>.</a:t>
            </a:r>
          </a:p>
          <a:p>
            <a:endParaRPr lang="es-ES" dirty="0"/>
          </a:p>
          <a:p>
            <a:r>
              <a:rPr lang="es-AR" dirty="0"/>
              <a:t> </a:t>
            </a:r>
          </a:p>
          <a:p>
            <a:endParaRPr lang="es-AR" dirty="0"/>
          </a:p>
          <a:p>
            <a:endParaRPr lang="es-AR" dirty="0"/>
          </a:p>
          <a:p>
            <a:endParaRPr lang="es-AR" dirty="0"/>
          </a:p>
          <a:p>
            <a:pPr marL="0" indent="0">
              <a:buNone/>
            </a:pPr>
            <a:endParaRPr lang="es-AR" dirty="0"/>
          </a:p>
          <a:p>
            <a:pPr marL="0" indent="0">
              <a:buNone/>
            </a:pPr>
            <a:endParaRPr lang="es-AR" dirty="0"/>
          </a:p>
        </p:txBody>
      </p:sp>
      <p:pic>
        <p:nvPicPr>
          <p:cNvPr id="4" name="Imagen 3">
            <a:extLst>
              <a:ext uri="{FF2B5EF4-FFF2-40B4-BE49-F238E27FC236}">
                <a16:creationId xmlns:a16="http://schemas.microsoft.com/office/drawing/2014/main" id="{00EFE8FF-1638-5EC6-8295-217612E01FE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184257" y="757082"/>
            <a:ext cx="971423" cy="502297"/>
          </a:xfrm>
          <a:prstGeom prst="rect">
            <a:avLst/>
          </a:prstGeom>
        </p:spPr>
      </p:pic>
      <p:sp>
        <p:nvSpPr>
          <p:cNvPr id="5" name="Marcador de número de diapositiva 4">
            <a:extLst>
              <a:ext uri="{FF2B5EF4-FFF2-40B4-BE49-F238E27FC236}">
                <a16:creationId xmlns:a16="http://schemas.microsoft.com/office/drawing/2014/main" id="{4CD6C133-DC78-F73C-36F7-745E2BE3122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8ECD1B-3F01-46F8-A46F-31A31EFC5ABF}" type="slidenum">
              <a:rPr lang="es-AR" smtClean="0"/>
              <a:t>33</a:t>
            </a:fld>
            <a:endParaRPr lang="es-AR"/>
          </a:p>
        </p:txBody>
      </p:sp>
      <p:pic>
        <p:nvPicPr>
          <p:cNvPr id="9" name="Imagen 8">
            <a:extLst>
              <a:ext uri="{FF2B5EF4-FFF2-40B4-BE49-F238E27FC236}">
                <a16:creationId xmlns:a16="http://schemas.microsoft.com/office/drawing/2014/main" id="{D21E00BB-2EA7-A230-E730-E5AF528671E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421380" y="4276725"/>
            <a:ext cx="5410200" cy="1428750"/>
          </a:xfrm>
          <a:prstGeom prst="rect">
            <a:avLst/>
          </a:prstGeom>
        </p:spPr>
      </p:pic>
      <p:pic>
        <p:nvPicPr>
          <p:cNvPr id="8" name="Imagen 7">
            <a:extLst>
              <a:ext uri="{FF2B5EF4-FFF2-40B4-BE49-F238E27FC236}">
                <a16:creationId xmlns:a16="http://schemas.microsoft.com/office/drawing/2014/main" id="{62D5425C-F4AF-A65E-ABB3-CCE385B7B680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538311" y="2509697"/>
            <a:ext cx="1176337" cy="1176337"/>
          </a:xfrm>
          <a:prstGeom prst="rect">
            <a:avLst/>
          </a:prstGeom>
        </p:spPr>
      </p:pic>
      <p:cxnSp>
        <p:nvCxnSpPr>
          <p:cNvPr id="11" name="Conector recto de flecha 10">
            <a:extLst>
              <a:ext uri="{FF2B5EF4-FFF2-40B4-BE49-F238E27FC236}">
                <a16:creationId xmlns:a16="http://schemas.microsoft.com/office/drawing/2014/main" id="{0F6F5634-66E1-5619-E5D7-0F7D379E4F72}"/>
              </a:ext>
            </a:extLst>
          </p:cNvPr>
          <p:cNvCxnSpPr>
            <a:cxnSpLocks/>
          </p:cNvCxnSpPr>
          <p:nvPr/>
        </p:nvCxnSpPr>
        <p:spPr>
          <a:xfrm flipH="1">
            <a:off x="4352925" y="3686034"/>
            <a:ext cx="1773554" cy="870515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Conector recto de flecha 14">
            <a:extLst>
              <a:ext uri="{FF2B5EF4-FFF2-40B4-BE49-F238E27FC236}">
                <a16:creationId xmlns:a16="http://schemas.microsoft.com/office/drawing/2014/main" id="{0D6AB822-A536-F2CD-A023-5B7C05D23EEB}"/>
              </a:ext>
            </a:extLst>
          </p:cNvPr>
          <p:cNvCxnSpPr/>
          <p:nvPr/>
        </p:nvCxnSpPr>
        <p:spPr>
          <a:xfrm>
            <a:off x="6126479" y="3686034"/>
            <a:ext cx="0" cy="76214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Conector recto de flecha 16">
            <a:extLst>
              <a:ext uri="{FF2B5EF4-FFF2-40B4-BE49-F238E27FC236}">
                <a16:creationId xmlns:a16="http://schemas.microsoft.com/office/drawing/2014/main" id="{25EE8E8A-6B5A-79BB-0306-2C3C5A105BA2}"/>
              </a:ext>
            </a:extLst>
          </p:cNvPr>
          <p:cNvCxnSpPr>
            <a:stCxn id="8" idx="2"/>
          </p:cNvCxnSpPr>
          <p:nvPr/>
        </p:nvCxnSpPr>
        <p:spPr>
          <a:xfrm>
            <a:off x="6126480" y="3686034"/>
            <a:ext cx="1503045" cy="63831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337680481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DE258A8-32D8-EF74-6C98-0568DFEAC52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2F3519E-3C64-61D7-4CF9-DD4D42E9901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AR" dirty="0"/>
              <a:t>Ejercicio 3 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47756C6E-79F8-9486-A87C-C85E531DC04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s-AR" dirty="0"/>
              <a:t>Posible respuesta:</a:t>
            </a:r>
            <a:endParaRPr lang="es-ES" dirty="0"/>
          </a:p>
          <a:p>
            <a:endParaRPr lang="es-ES" dirty="0"/>
          </a:p>
          <a:p>
            <a:r>
              <a:rPr lang="es-AR" dirty="0"/>
              <a:t> </a:t>
            </a:r>
          </a:p>
          <a:p>
            <a:endParaRPr lang="es-AR" dirty="0"/>
          </a:p>
          <a:p>
            <a:endParaRPr lang="es-AR" dirty="0"/>
          </a:p>
          <a:p>
            <a:endParaRPr lang="es-AR" dirty="0"/>
          </a:p>
          <a:p>
            <a:pPr marL="0" indent="0">
              <a:buNone/>
            </a:pPr>
            <a:endParaRPr lang="es-AR" dirty="0"/>
          </a:p>
          <a:p>
            <a:pPr marL="0" indent="0">
              <a:buNone/>
            </a:pPr>
            <a:endParaRPr lang="es-AR" dirty="0"/>
          </a:p>
        </p:txBody>
      </p:sp>
      <p:pic>
        <p:nvPicPr>
          <p:cNvPr id="4" name="Imagen 3">
            <a:extLst>
              <a:ext uri="{FF2B5EF4-FFF2-40B4-BE49-F238E27FC236}">
                <a16:creationId xmlns:a16="http://schemas.microsoft.com/office/drawing/2014/main" id="{674CC554-052C-EA63-8A90-A47AA1C3A4A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184257" y="757082"/>
            <a:ext cx="971423" cy="502297"/>
          </a:xfrm>
          <a:prstGeom prst="rect">
            <a:avLst/>
          </a:prstGeom>
        </p:spPr>
      </p:pic>
      <p:sp>
        <p:nvSpPr>
          <p:cNvPr id="5" name="Marcador de número de diapositiva 4">
            <a:extLst>
              <a:ext uri="{FF2B5EF4-FFF2-40B4-BE49-F238E27FC236}">
                <a16:creationId xmlns:a16="http://schemas.microsoft.com/office/drawing/2014/main" id="{F01FC743-D699-E055-7381-C120E1FA275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8ECD1B-3F01-46F8-A46F-31A31EFC5ABF}" type="slidenum">
              <a:rPr lang="es-AR" smtClean="0"/>
              <a:t>34</a:t>
            </a:fld>
            <a:endParaRPr lang="es-AR"/>
          </a:p>
        </p:txBody>
      </p:sp>
      <p:pic>
        <p:nvPicPr>
          <p:cNvPr id="7" name="Imagen 6">
            <a:extLst>
              <a:ext uri="{FF2B5EF4-FFF2-40B4-BE49-F238E27FC236}">
                <a16:creationId xmlns:a16="http://schemas.microsoft.com/office/drawing/2014/main" id="{FE415F04-A3FD-52A8-65DC-1FC0A4E088B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143250" y="2676525"/>
            <a:ext cx="5091112" cy="260117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16288518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C32D239-7A29-ECA2-64F5-165736662E8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4DEE5E5-461E-BB12-9253-54CFC0FC1DF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AR" dirty="0"/>
              <a:t>Resumen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6905AE44-231E-055A-CCC9-34809AE9E9C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97280" y="1845734"/>
            <a:ext cx="10058400" cy="2650066"/>
          </a:xfrm>
        </p:spPr>
        <p:txBody>
          <a:bodyPr>
            <a:normAutofit lnSpcReduction="10000"/>
          </a:bodyPr>
          <a:lstStyle/>
          <a:p>
            <a:pPr marL="0" indent="0">
              <a:buNone/>
            </a:pPr>
            <a:endParaRPr lang="es-ES" dirty="0"/>
          </a:p>
          <a:p>
            <a:pPr marL="0" indent="0">
              <a:buNone/>
            </a:pPr>
            <a:endParaRPr lang="es-ES" dirty="0"/>
          </a:p>
          <a:p>
            <a:pPr marL="0" indent="0">
              <a:buNone/>
            </a:pPr>
            <a:r>
              <a:rPr lang="es-ES" dirty="0"/>
              <a:t>Recorrimos el programa</a:t>
            </a:r>
          </a:p>
          <a:p>
            <a:pPr marL="0" indent="0">
              <a:buNone/>
            </a:pPr>
            <a:r>
              <a:rPr lang="es-ES" dirty="0"/>
              <a:t>Introducción a la orientación a objetos</a:t>
            </a:r>
          </a:p>
          <a:p>
            <a:pPr marL="0" indent="0">
              <a:buNone/>
            </a:pPr>
            <a:r>
              <a:rPr lang="es-ES" dirty="0"/>
              <a:t>Conceptos generales de OO: clases, objetos, atributos, métodos .</a:t>
            </a:r>
          </a:p>
          <a:p>
            <a:pPr marL="0" indent="0">
              <a:buNone/>
            </a:pPr>
            <a:r>
              <a:rPr lang="es-AR" dirty="0"/>
              <a:t>Ejercicios sobre modelado de objetos</a:t>
            </a:r>
          </a:p>
          <a:p>
            <a:pPr marL="0" indent="0">
              <a:buNone/>
            </a:pPr>
            <a:endParaRPr lang="es-AR" dirty="0"/>
          </a:p>
        </p:txBody>
      </p:sp>
      <p:pic>
        <p:nvPicPr>
          <p:cNvPr id="4" name="Imagen 3">
            <a:extLst>
              <a:ext uri="{FF2B5EF4-FFF2-40B4-BE49-F238E27FC236}">
                <a16:creationId xmlns:a16="http://schemas.microsoft.com/office/drawing/2014/main" id="{CBB3633A-3E5F-E03F-4EFF-00436ACFCE0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184257" y="757082"/>
            <a:ext cx="971423" cy="502297"/>
          </a:xfrm>
          <a:prstGeom prst="rect">
            <a:avLst/>
          </a:prstGeom>
        </p:spPr>
      </p:pic>
      <p:sp>
        <p:nvSpPr>
          <p:cNvPr id="5" name="Marcador de número de diapositiva 4">
            <a:extLst>
              <a:ext uri="{FF2B5EF4-FFF2-40B4-BE49-F238E27FC236}">
                <a16:creationId xmlns:a16="http://schemas.microsoft.com/office/drawing/2014/main" id="{9FDD226C-3FFD-4F54-9051-230244DD995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8ECD1B-3F01-46F8-A46F-31A31EFC5ABF}" type="slidenum">
              <a:rPr lang="es-AR" smtClean="0"/>
              <a:t>35</a:t>
            </a:fld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1518294229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0A7FCE0-CCE3-F6DD-B8AD-2F5B6067CDE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0ECC372-2006-2553-CDDC-E0D2B163A4B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AR" dirty="0"/>
              <a:t>Para la próxima clase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BE152C94-495A-6211-0B3B-72D72F3D18F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97280" y="1845734"/>
            <a:ext cx="10058400" cy="2650066"/>
          </a:xfrm>
        </p:spPr>
        <p:txBody>
          <a:bodyPr>
            <a:normAutofit/>
          </a:bodyPr>
          <a:lstStyle/>
          <a:p>
            <a:pPr marL="0" indent="0">
              <a:buNone/>
            </a:pPr>
            <a:endParaRPr lang="es-ES" dirty="0"/>
          </a:p>
          <a:p>
            <a:pPr marL="0" indent="0">
              <a:buNone/>
            </a:pPr>
            <a:endParaRPr lang="es-ES" dirty="0"/>
          </a:p>
          <a:p>
            <a:pPr marL="0" indent="0">
              <a:buNone/>
            </a:pPr>
            <a:r>
              <a:rPr lang="es-ES" dirty="0"/>
              <a:t>Introducción al lenguaje Java. </a:t>
            </a:r>
          </a:p>
          <a:p>
            <a:pPr marL="0" indent="0">
              <a:buNone/>
            </a:pPr>
            <a:r>
              <a:rPr lang="es-ES" dirty="0"/>
              <a:t>Funcionamiento de la maquina virtual.</a:t>
            </a:r>
          </a:p>
          <a:p>
            <a:pPr marL="0" indent="0">
              <a:buNone/>
            </a:pPr>
            <a:endParaRPr lang="es-AR" dirty="0"/>
          </a:p>
        </p:txBody>
      </p:sp>
      <p:pic>
        <p:nvPicPr>
          <p:cNvPr id="4" name="Imagen 3">
            <a:extLst>
              <a:ext uri="{FF2B5EF4-FFF2-40B4-BE49-F238E27FC236}">
                <a16:creationId xmlns:a16="http://schemas.microsoft.com/office/drawing/2014/main" id="{5813E87F-4E93-77D9-0789-74A6A9C3BA5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184257" y="757082"/>
            <a:ext cx="971423" cy="502297"/>
          </a:xfrm>
          <a:prstGeom prst="rect">
            <a:avLst/>
          </a:prstGeom>
        </p:spPr>
      </p:pic>
      <p:sp>
        <p:nvSpPr>
          <p:cNvPr id="5" name="Marcador de número de diapositiva 4">
            <a:extLst>
              <a:ext uri="{FF2B5EF4-FFF2-40B4-BE49-F238E27FC236}">
                <a16:creationId xmlns:a16="http://schemas.microsoft.com/office/drawing/2014/main" id="{A6C462E4-F1E4-2735-B5C0-96FBF7195C6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8ECD1B-3F01-46F8-A46F-31A31EFC5ABF}" type="slidenum">
              <a:rPr lang="es-AR" smtClean="0"/>
              <a:t>36</a:t>
            </a:fld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2344339842"/>
      </p:ext>
    </p:extLst>
  </p:cSld>
  <p:clrMapOvr>
    <a:masterClrMapping/>
  </p:clrMapOvr>
</p:sld>
</file>

<file path=ppt/theme/theme1.xml><?xml version="1.0" encoding="utf-8"?>
<a:theme xmlns:a="http://schemas.openxmlformats.org/drawingml/2006/main" name="Retrospección">
  <a:themeElements>
    <a:clrScheme name="Azul cálido">
      <a:dk1>
        <a:sysClr val="windowText" lastClr="000000"/>
      </a:dk1>
      <a:lt1>
        <a:sysClr val="window" lastClr="FFFFFF"/>
      </a:lt1>
      <a:dk2>
        <a:srgbClr val="242852"/>
      </a:dk2>
      <a:lt2>
        <a:srgbClr val="ACCBF9"/>
      </a:lt2>
      <a:accent1>
        <a:srgbClr val="4A66AC"/>
      </a:accent1>
      <a:accent2>
        <a:srgbClr val="629DD1"/>
      </a:accent2>
      <a:accent3>
        <a:srgbClr val="297FD5"/>
      </a:accent3>
      <a:accent4>
        <a:srgbClr val="7F8FA9"/>
      </a:accent4>
      <a:accent5>
        <a:srgbClr val="5AA2AE"/>
      </a:accent5>
      <a:accent6>
        <a:srgbClr val="9D90A0"/>
      </a:accent6>
      <a:hlink>
        <a:srgbClr val="9454C3"/>
      </a:hlink>
      <a:folHlink>
        <a:srgbClr val="3EBBF0"/>
      </a:folHlink>
    </a:clrScheme>
    <a:fontScheme name="Retrospección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Retrospección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shade val="92000"/>
                <a:satMod val="130000"/>
              </a:schemeClr>
            </a:gs>
            <a:gs pos="45000">
              <a:schemeClr val="phClr">
                <a:tint val="60000"/>
                <a:shade val="99000"/>
                <a:satMod val="120000"/>
              </a:schemeClr>
            </a:gs>
            <a:gs pos="100000">
              <a:schemeClr val="phClr">
                <a:tint val="55000"/>
                <a:satMod val="140000"/>
              </a:schemeClr>
            </a:gs>
          </a:gsLst>
          <a:path path="circle">
            <a:fillToRect l="100000" t="100000" r="100000" b="100000"/>
          </a:path>
        </a:gradFill>
        <a:gradFill rotWithShape="1">
          <a:gsLst>
            <a:gs pos="0">
              <a:schemeClr val="phClr">
                <a:shade val="85000"/>
                <a:satMod val="130000"/>
              </a:schemeClr>
            </a:gs>
            <a:gs pos="34000">
              <a:schemeClr val="phClr">
                <a:shade val="87000"/>
                <a:satMod val="125000"/>
              </a:schemeClr>
            </a:gs>
            <a:gs pos="70000">
              <a:schemeClr val="phClr">
                <a:tint val="100000"/>
                <a:shade val="90000"/>
                <a:satMod val="130000"/>
              </a:schemeClr>
            </a:gs>
            <a:gs pos="100000">
              <a:schemeClr val="phClr">
                <a:tint val="100000"/>
                <a:shade val="100000"/>
                <a:satMod val="110000"/>
              </a:schemeClr>
            </a:gs>
          </a:gsLst>
          <a:path path="circle">
            <a:fillToRect l="100000" t="100000" r="100000" b="100000"/>
          </a:path>
        </a:gradFill>
      </a:fillStyleLst>
      <a:lnStyleLst>
        <a:ln w="12700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2700000" algn="br" rotWithShape="0">
              <a:srgbClr val="000000">
                <a:alpha val="60000"/>
              </a:srgbClr>
            </a:outerShdw>
          </a:effectLst>
        </a:effectStyle>
        <a:effectStyle>
          <a:effectLst>
            <a:outerShdw blurRad="44450" dist="25400" dir="2700000" algn="br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9800000"/>
            </a:lightRig>
          </a:scene3d>
          <a:sp3d prstMaterial="flat">
            <a:bevelT w="25400" h="31750"/>
          </a:sp3d>
        </a:effectStyle>
      </a:effectStyleLst>
      <a:bgFillStyleLst>
        <a:solidFill>
          <a:schemeClr val="phClr"/>
        </a:solidFill>
        <a:solidFill>
          <a:schemeClr val="phClr">
            <a:tint val="90000"/>
            <a:shade val="97000"/>
            <a:satMod val="130000"/>
          </a:schemeClr>
        </a:solidFill>
        <a:gradFill rotWithShape="1">
          <a:gsLst>
            <a:gs pos="0">
              <a:schemeClr val="phClr">
                <a:tint val="96000"/>
                <a:shade val="99000"/>
                <a:satMod val="140000"/>
              </a:schemeClr>
            </a:gs>
            <a:gs pos="65000">
              <a:schemeClr val="phClr">
                <a:tint val="100000"/>
                <a:shade val="80000"/>
                <a:satMod val="130000"/>
              </a:schemeClr>
            </a:gs>
            <a:gs pos="100000">
              <a:schemeClr val="phClr">
                <a:tint val="100000"/>
                <a:shade val="48000"/>
                <a:satMod val="120000"/>
              </a:schemeClr>
            </a:gs>
          </a:gsLst>
          <a:lin ang="162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Retrospect" id="{5F128B03-DCCA-4EEB-AB3B-CF2899314A46}" vid="{9CC26709-368C-4D72-9060-94E5B3FF3CD6}"/>
    </a:ext>
  </a:extLst>
</a:theme>
</file>

<file path=ppt/theme/theme2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Retrospect</Template>
  <TotalTime>5472</TotalTime>
  <Words>1195</Words>
  <Application>Microsoft Office PowerPoint</Application>
  <PresentationFormat>Panorámica</PresentationFormat>
  <Paragraphs>292</Paragraphs>
  <Slides>36</Slides>
  <Notes>22</Notes>
  <HiddenSlides>0</HiddenSlides>
  <MMClips>0</MMClips>
  <ScaleCrop>false</ScaleCrop>
  <HeadingPairs>
    <vt:vector size="6" baseType="variant">
      <vt:variant>
        <vt:lpstr>Fuentes usadas</vt:lpstr>
      </vt:variant>
      <vt:variant>
        <vt:i4>2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36</vt:i4>
      </vt:variant>
    </vt:vector>
  </HeadingPairs>
  <TitlesOfParts>
    <vt:vector size="39" baseType="lpstr">
      <vt:lpstr>Calibri</vt:lpstr>
      <vt:lpstr>Calibri Light</vt:lpstr>
      <vt:lpstr>Retrospección</vt:lpstr>
      <vt:lpstr> PARADIGMA ORIENTADO A OBJETOS  Clase 1</vt:lpstr>
      <vt:lpstr>PARADIGMA ORIENTADO A OBJETOS.</vt:lpstr>
      <vt:lpstr>Programa.</vt:lpstr>
      <vt:lpstr>Programa.</vt:lpstr>
      <vt:lpstr>Programa.</vt:lpstr>
      <vt:lpstr>Programa.</vt:lpstr>
      <vt:lpstr>Programa.</vt:lpstr>
      <vt:lpstr>Cronograma.</vt:lpstr>
      <vt:lpstr>Presentación de PowerPoint</vt:lpstr>
      <vt:lpstr>Presentación de PowerPoint</vt:lpstr>
      <vt:lpstr> </vt:lpstr>
      <vt:lpstr> </vt:lpstr>
      <vt:lpstr>Presentación de PowerPoint</vt:lpstr>
      <vt:lpstr> </vt:lpstr>
      <vt:lpstr> </vt:lpstr>
      <vt:lpstr> </vt:lpstr>
      <vt:lpstr> </vt:lpstr>
      <vt:lpstr> </vt:lpstr>
      <vt:lpstr> </vt:lpstr>
      <vt:lpstr> </vt:lpstr>
      <vt:lpstr> </vt:lpstr>
      <vt:lpstr> </vt:lpstr>
      <vt:lpstr> </vt:lpstr>
      <vt:lpstr>Presentación de PowerPoint</vt:lpstr>
      <vt:lpstr>Presentación de PowerPoint</vt:lpstr>
      <vt:lpstr>Presentación de PowerPoint</vt:lpstr>
      <vt:lpstr>Presentación de PowerPoint</vt:lpstr>
      <vt:lpstr>Ejercicio 1 </vt:lpstr>
      <vt:lpstr>Ejercicio 1 </vt:lpstr>
      <vt:lpstr>Ejercicio 2 </vt:lpstr>
      <vt:lpstr>Ejercicio 2 </vt:lpstr>
      <vt:lpstr>Ejercicio 2 </vt:lpstr>
      <vt:lpstr>Ejercicio 3 </vt:lpstr>
      <vt:lpstr>Ejercicio 3 </vt:lpstr>
      <vt:lpstr>Resumen</vt:lpstr>
      <vt:lpstr>Para la próxima clase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Maximiliano</dc:creator>
  <cp:lastModifiedBy>maximiliano coedo</cp:lastModifiedBy>
  <cp:revision>43</cp:revision>
  <dcterms:created xsi:type="dcterms:W3CDTF">2025-03-04T22:20:11Z</dcterms:created>
  <dcterms:modified xsi:type="dcterms:W3CDTF">2026-08-07T18:28:04Z</dcterms:modified>
</cp:coreProperties>
</file>