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6" r:id="rId1"/>
  </p:sldMasterIdLst>
  <p:notesMasterIdLst>
    <p:notesMasterId r:id="rId28"/>
  </p:notesMasterIdLst>
  <p:sldIdLst>
    <p:sldId id="256" r:id="rId2"/>
    <p:sldId id="259" r:id="rId3"/>
    <p:sldId id="258" r:id="rId4"/>
    <p:sldId id="315" r:id="rId5"/>
    <p:sldId id="316" r:id="rId6"/>
    <p:sldId id="317" r:id="rId7"/>
    <p:sldId id="318" r:id="rId8"/>
    <p:sldId id="319" r:id="rId9"/>
    <p:sldId id="323" r:id="rId10"/>
    <p:sldId id="322" r:id="rId11"/>
    <p:sldId id="320" r:id="rId12"/>
    <p:sldId id="321" r:id="rId13"/>
    <p:sldId id="325" r:id="rId14"/>
    <p:sldId id="324" r:id="rId15"/>
    <p:sldId id="326" r:id="rId16"/>
    <p:sldId id="327" r:id="rId17"/>
    <p:sldId id="328" r:id="rId18"/>
    <p:sldId id="314" r:id="rId19"/>
    <p:sldId id="312" r:id="rId20"/>
    <p:sldId id="313" r:id="rId21"/>
    <p:sldId id="261" r:id="rId22"/>
    <p:sldId id="264" r:id="rId23"/>
    <p:sldId id="262" r:id="rId24"/>
    <p:sldId id="263" r:id="rId25"/>
    <p:sldId id="265" r:id="rId26"/>
    <p:sldId id="329"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0730" autoAdjust="0"/>
  </p:normalViewPr>
  <p:slideViewPr>
    <p:cSldViewPr snapToGrid="0">
      <p:cViewPr varScale="1">
        <p:scale>
          <a:sx n="93" d="100"/>
          <a:sy n="93" d="100"/>
        </p:scale>
        <p:origin x="1236" y="3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F4B06C-CC8E-4D7C-B96D-EC7A919F13C4}" type="datetimeFigureOut">
              <a:rPr lang="es-AR" smtClean="0"/>
              <a:t>1/9/2025</a:t>
            </a:fld>
            <a:endParaRPr lang="es-AR"/>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AR"/>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C31C20-CFF6-4D02-9F93-8A584230D82D}" type="slidenum">
              <a:rPr lang="es-AR" smtClean="0"/>
              <a:t>‹Nº›</a:t>
            </a:fld>
            <a:endParaRPr lang="es-AR"/>
          </a:p>
        </p:txBody>
      </p:sp>
    </p:spTree>
    <p:extLst>
      <p:ext uri="{BB962C8B-B14F-4D97-AF65-F5344CB8AC3E}">
        <p14:creationId xmlns:p14="http://schemas.microsoft.com/office/powerpoint/2010/main" val="24121168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59C31C20-CFF6-4D02-9F93-8A584230D82D}" type="slidenum">
              <a:rPr lang="es-AR" smtClean="0"/>
              <a:t>3</a:t>
            </a:fld>
            <a:endParaRPr lang="es-AR"/>
          </a:p>
        </p:txBody>
      </p:sp>
    </p:spTree>
    <p:extLst>
      <p:ext uri="{BB962C8B-B14F-4D97-AF65-F5344CB8AC3E}">
        <p14:creationId xmlns:p14="http://schemas.microsoft.com/office/powerpoint/2010/main" val="41331160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97B9D-9B11-1A8C-2D4A-59E0A6D78B1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D8174FD-66AD-3976-187E-4A161509338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BCB7CD0-4DDB-0C8A-3E99-19DB8C1A329A}"/>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1E92839C-26EB-18CC-7657-2CFA9F3E4E49}"/>
              </a:ext>
            </a:extLst>
          </p:cNvPr>
          <p:cNvSpPr>
            <a:spLocks noGrp="1"/>
          </p:cNvSpPr>
          <p:nvPr>
            <p:ph type="sldNum" sz="quarter" idx="5"/>
          </p:nvPr>
        </p:nvSpPr>
        <p:spPr/>
        <p:txBody>
          <a:bodyPr/>
          <a:lstStyle/>
          <a:p>
            <a:fld id="{59C31C20-CFF6-4D02-9F93-8A584230D82D}" type="slidenum">
              <a:rPr lang="es-AR" smtClean="0"/>
              <a:t>4</a:t>
            </a:fld>
            <a:endParaRPr lang="es-AR"/>
          </a:p>
        </p:txBody>
      </p:sp>
    </p:spTree>
    <p:extLst>
      <p:ext uri="{BB962C8B-B14F-4D97-AF65-F5344CB8AC3E}">
        <p14:creationId xmlns:p14="http://schemas.microsoft.com/office/powerpoint/2010/main" val="9458414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9FA118-C910-94FA-2778-FF4E8611C3B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F747B4F-0234-D0E6-9F56-F32F73601D9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2712D68-8BA6-5F17-EB6C-8E1FB7C89FA2}"/>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1DBEDAF8-BF47-60DD-749F-B5FF60F0E6FA}"/>
              </a:ext>
            </a:extLst>
          </p:cNvPr>
          <p:cNvSpPr>
            <a:spLocks noGrp="1"/>
          </p:cNvSpPr>
          <p:nvPr>
            <p:ph type="sldNum" sz="quarter" idx="5"/>
          </p:nvPr>
        </p:nvSpPr>
        <p:spPr/>
        <p:txBody>
          <a:bodyPr/>
          <a:lstStyle/>
          <a:p>
            <a:fld id="{59C31C20-CFF6-4D02-9F93-8A584230D82D}" type="slidenum">
              <a:rPr lang="es-AR" smtClean="0"/>
              <a:t>5</a:t>
            </a:fld>
            <a:endParaRPr lang="es-AR"/>
          </a:p>
        </p:txBody>
      </p:sp>
    </p:spTree>
    <p:extLst>
      <p:ext uri="{BB962C8B-B14F-4D97-AF65-F5344CB8AC3E}">
        <p14:creationId xmlns:p14="http://schemas.microsoft.com/office/powerpoint/2010/main" val="26450061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0D490-9C80-E866-B69A-7B1E01403C1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18A6BBA-6E81-80F6-A4EF-3EA33E6DBC7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8C05BF9-98FC-590A-8238-DC8EF693E76B}"/>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4B507C37-4C39-9307-3094-7E39F9224538}"/>
              </a:ext>
            </a:extLst>
          </p:cNvPr>
          <p:cNvSpPr>
            <a:spLocks noGrp="1"/>
          </p:cNvSpPr>
          <p:nvPr>
            <p:ph type="sldNum" sz="quarter" idx="5"/>
          </p:nvPr>
        </p:nvSpPr>
        <p:spPr/>
        <p:txBody>
          <a:bodyPr/>
          <a:lstStyle/>
          <a:p>
            <a:fld id="{59C31C20-CFF6-4D02-9F93-8A584230D82D}" type="slidenum">
              <a:rPr lang="es-AR" smtClean="0"/>
              <a:t>6</a:t>
            </a:fld>
            <a:endParaRPr lang="es-AR"/>
          </a:p>
        </p:txBody>
      </p:sp>
    </p:spTree>
    <p:extLst>
      <p:ext uri="{BB962C8B-B14F-4D97-AF65-F5344CB8AC3E}">
        <p14:creationId xmlns:p14="http://schemas.microsoft.com/office/powerpoint/2010/main" val="6490446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E27F8-65C1-4554-3374-EDB1A595BA6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E915FAE-F013-AC96-A1A1-6AB61C7F8D7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8C25B2C-DE96-8414-D11A-BD06F0CF525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200" b="1" i="0" kern="1200" dirty="0">
                <a:solidFill>
                  <a:schemeClr val="tx1"/>
                </a:solidFill>
                <a:effectLst/>
                <a:latin typeface="+mn-lt"/>
                <a:ea typeface="+mn-ea"/>
                <a:cs typeface="+mn-cs"/>
              </a:rPr>
              <a:t>Diagrama de ESTRUCTURA: </a:t>
            </a:r>
            <a:r>
              <a:rPr lang="es-ES" sz="1200" b="0" i="0" kern="1200" dirty="0">
                <a:solidFill>
                  <a:schemeClr val="tx1"/>
                </a:solidFill>
                <a:effectLst/>
                <a:latin typeface="+mn-lt"/>
                <a:ea typeface="+mn-ea"/>
                <a:cs typeface="+mn-cs"/>
              </a:rPr>
              <a:t> Como su nombre lo indica, representan la estructura general de un sistema: sus objetos, atributos y relaciones entre las distintas entidades. Es decir, nos preocupamos más por lo que es el sistema y no por cómo se comporta.</a:t>
            </a:r>
            <a:br>
              <a:rPr lang="es-ES" sz="1200" b="0" i="0" kern="1200" dirty="0">
                <a:solidFill>
                  <a:schemeClr val="tx1"/>
                </a:solidFill>
                <a:effectLst/>
                <a:latin typeface="+mn-lt"/>
                <a:ea typeface="+mn-ea"/>
                <a:cs typeface="+mn-cs"/>
              </a:rPr>
            </a:br>
            <a:r>
              <a:rPr lang="es-ES" sz="1200" b="1" i="0" kern="1200" dirty="0">
                <a:solidFill>
                  <a:schemeClr val="tx1"/>
                </a:solidFill>
                <a:effectLst/>
                <a:latin typeface="+mn-lt"/>
                <a:ea typeface="+mn-ea"/>
                <a:cs typeface="+mn-cs"/>
              </a:rPr>
              <a:t>Diagrama de COMPORTAMIENTO: </a:t>
            </a:r>
            <a:r>
              <a:rPr lang="es-ES" sz="1200" b="0" i="0" kern="1200" dirty="0">
                <a:solidFill>
                  <a:schemeClr val="tx1"/>
                </a:solidFill>
                <a:effectLst/>
                <a:latin typeface="+mn-lt"/>
                <a:ea typeface="+mn-ea"/>
                <a:cs typeface="+mn-cs"/>
              </a:rPr>
              <a:t>Definen el comportamiento del sistema y la funcionalidad general de cada unidad. Además, algunos de estos diagramas representan también el flujo de información y control en el sistema.</a:t>
            </a:r>
            <a:br>
              <a:rPr lang="es-ES" sz="1200" b="0" i="0" kern="1200" dirty="0">
                <a:solidFill>
                  <a:schemeClr val="tx1"/>
                </a:solidFill>
                <a:effectLst/>
                <a:latin typeface="+mn-lt"/>
                <a:ea typeface="+mn-ea"/>
                <a:cs typeface="+mn-cs"/>
              </a:rPr>
            </a:br>
            <a:r>
              <a:rPr lang="es-ES" sz="1200" b="1" i="0" kern="1200" dirty="0">
                <a:solidFill>
                  <a:schemeClr val="tx1"/>
                </a:solidFill>
                <a:effectLst/>
                <a:latin typeface="+mn-lt"/>
                <a:ea typeface="+mn-ea"/>
                <a:cs typeface="+mn-cs"/>
              </a:rPr>
              <a:t>1. Diagrama de clases</a:t>
            </a:r>
            <a:endParaRPr lang="es-ES" sz="1200" b="0" i="0" kern="1200" dirty="0">
              <a:solidFill>
                <a:schemeClr val="tx1"/>
              </a:solidFill>
              <a:effectLst/>
              <a:latin typeface="+mn-lt"/>
              <a:ea typeface="+mn-ea"/>
              <a:cs typeface="+mn-cs"/>
            </a:endParaRPr>
          </a:p>
          <a:p>
            <a:r>
              <a:rPr lang="es-ES" sz="1200" b="0" i="0" kern="1200" dirty="0">
                <a:solidFill>
                  <a:schemeClr val="tx1"/>
                </a:solidFill>
                <a:effectLst/>
                <a:latin typeface="+mn-lt"/>
                <a:ea typeface="+mn-ea"/>
                <a:cs typeface="+mn-cs"/>
              </a:rPr>
              <a:t>Este diagrama UML básico representa la bifurcación de un sistema en clases individuales. Utilizamos estos tipos de diagramas UML para proporcionar la representación estática del programa. Una clase tiene tres elementos principales: su nombre, sus atributos y su comportamiento.</a:t>
            </a:r>
          </a:p>
          <a:p>
            <a:r>
              <a:rPr lang="es-ES" sz="1200" b="1" i="0" kern="1200" dirty="0">
                <a:solidFill>
                  <a:schemeClr val="tx1"/>
                </a:solidFill>
                <a:effectLst/>
                <a:latin typeface="+mn-lt"/>
                <a:ea typeface="+mn-ea"/>
                <a:cs typeface="+mn-cs"/>
              </a:rPr>
              <a:t>2. Diagrama de componentes</a:t>
            </a:r>
            <a:endParaRPr lang="es-ES" sz="1200" b="0" i="0" kern="1200" dirty="0">
              <a:solidFill>
                <a:schemeClr val="tx1"/>
              </a:solidFill>
              <a:effectLst/>
              <a:latin typeface="+mn-lt"/>
              <a:ea typeface="+mn-ea"/>
              <a:cs typeface="+mn-cs"/>
            </a:endParaRPr>
          </a:p>
          <a:p>
            <a:r>
              <a:rPr lang="es-ES" sz="1200" b="0" i="0" kern="1200" dirty="0">
                <a:solidFill>
                  <a:schemeClr val="tx1"/>
                </a:solidFill>
                <a:effectLst/>
                <a:latin typeface="+mn-lt"/>
                <a:ea typeface="+mn-ea"/>
                <a:cs typeface="+mn-cs"/>
              </a:rPr>
              <a:t>Los diagramas de componentes se crean sobre todo cuando un sistema es complejo y consta de demasiadas clases. Por lo tanto, desglosamos todo el sistema en diferentes componentes y mostramos cómo dependen unos de otros. Estos tipos de diagramas UML sólo constan de dos cosas, los componentes y las dependencias.</a:t>
            </a:r>
          </a:p>
          <a:p>
            <a:r>
              <a:rPr lang="es-ES" sz="1200" b="1" i="0" kern="1200" dirty="0">
                <a:solidFill>
                  <a:schemeClr val="tx1"/>
                </a:solidFill>
                <a:effectLst/>
                <a:latin typeface="+mn-lt"/>
                <a:ea typeface="+mn-ea"/>
                <a:cs typeface="+mn-cs"/>
              </a:rPr>
              <a:t>3. Diagrama de despliegue</a:t>
            </a:r>
            <a:endParaRPr lang="es-ES" sz="1200" b="0" i="0" kern="1200" dirty="0">
              <a:solidFill>
                <a:schemeClr val="tx1"/>
              </a:solidFill>
              <a:effectLst/>
              <a:latin typeface="+mn-lt"/>
              <a:ea typeface="+mn-ea"/>
              <a:cs typeface="+mn-cs"/>
            </a:endParaRPr>
          </a:p>
          <a:p>
            <a:r>
              <a:rPr lang="es-ES" sz="1200" b="0" i="0" kern="1200" dirty="0">
                <a:solidFill>
                  <a:schemeClr val="tx1"/>
                </a:solidFill>
                <a:effectLst/>
                <a:latin typeface="+mn-lt"/>
                <a:ea typeface="+mn-ea"/>
                <a:cs typeface="+mn-cs"/>
              </a:rPr>
              <a:t>Esto proporciona la representación real del hardware del sistema (con la inclusión del componente de software en él). Este diagrama UML sigue un enfoque más real sobre cómo se desplegaría el sistema. Consta de dos unidades principales: nodos y artefactos. Los nodos representan el servidor de la base de datos o la unidad de hardware, mientras que los artefactos representan los clientes o los esquemas.</a:t>
            </a:r>
          </a:p>
          <a:p>
            <a:r>
              <a:rPr lang="es-ES" sz="1200" b="1" i="0" kern="1200" dirty="0">
                <a:solidFill>
                  <a:schemeClr val="tx1"/>
                </a:solidFill>
                <a:effectLst/>
                <a:latin typeface="+mn-lt"/>
                <a:ea typeface="+mn-ea"/>
                <a:cs typeface="+mn-cs"/>
              </a:rPr>
              <a:t>4. Diagrama de objetos</a:t>
            </a:r>
            <a:endParaRPr lang="es-ES" sz="1200" b="0" i="0" kern="1200" dirty="0">
              <a:solidFill>
                <a:schemeClr val="tx1"/>
              </a:solidFill>
              <a:effectLst/>
              <a:latin typeface="+mn-lt"/>
              <a:ea typeface="+mn-ea"/>
              <a:cs typeface="+mn-cs"/>
            </a:endParaRPr>
          </a:p>
          <a:p>
            <a:r>
              <a:rPr lang="es-ES" sz="1200" b="0" i="0" kern="1200" dirty="0">
                <a:solidFill>
                  <a:schemeClr val="tx1"/>
                </a:solidFill>
                <a:effectLst/>
                <a:latin typeface="+mn-lt"/>
                <a:ea typeface="+mn-ea"/>
                <a:cs typeface="+mn-cs"/>
              </a:rPr>
              <a:t>Considera esto como un desglose de un diagrama de clases (ya que una clase es una colección de diferentes objetos). Sin embargo, estos tipos de diagramas UML se basan principalmente en entidades del mundo real. Presenta diferentes objetos con sus enlaces. Cada entidad tiene un nombre de objeto y su conjunto de atributos.</a:t>
            </a:r>
          </a:p>
          <a:p>
            <a:r>
              <a:rPr lang="es-ES" sz="1200" b="1" i="0" kern="1200" dirty="0">
                <a:solidFill>
                  <a:schemeClr val="tx1"/>
                </a:solidFill>
                <a:effectLst/>
                <a:latin typeface="+mn-lt"/>
                <a:ea typeface="+mn-ea"/>
                <a:cs typeface="+mn-cs"/>
              </a:rPr>
              <a:t>5. Diagrama de paquetes</a:t>
            </a:r>
            <a:endParaRPr lang="es-ES" sz="1200" b="0" i="0" kern="1200" dirty="0">
              <a:solidFill>
                <a:schemeClr val="tx1"/>
              </a:solidFill>
              <a:effectLst/>
              <a:latin typeface="+mn-lt"/>
              <a:ea typeface="+mn-ea"/>
              <a:cs typeface="+mn-cs"/>
            </a:endParaRPr>
          </a:p>
          <a:p>
            <a:r>
              <a:rPr lang="es-ES" sz="1200" b="0" i="0" kern="1200" dirty="0">
                <a:solidFill>
                  <a:schemeClr val="tx1"/>
                </a:solidFill>
                <a:effectLst/>
                <a:latin typeface="+mn-lt"/>
                <a:ea typeface="+mn-ea"/>
                <a:cs typeface="+mn-cs"/>
              </a:rPr>
              <a:t>Esto proporciona una representación de un sistema con sus módulos y subsistemas de más alto nivel. En un diagrama de paquetes, podemos incluir varias estructuras de diagrama de despliegue. Se puede desglosar fácilmente todo el sistema y vincular sus componentes. Un paquete está representado por un icono de carpeta con un nombre. Un paquete puede tener diferentes paquetes para representar un enfoque descendente.</a:t>
            </a:r>
          </a:p>
          <a:p>
            <a:r>
              <a:rPr lang="es-ES" sz="1200" b="1" i="0" kern="1200" dirty="0">
                <a:solidFill>
                  <a:schemeClr val="tx1"/>
                </a:solidFill>
                <a:effectLst/>
                <a:latin typeface="+mn-lt"/>
                <a:ea typeface="+mn-ea"/>
                <a:cs typeface="+mn-cs"/>
              </a:rPr>
              <a:t>6. Diagrama de perfil</a:t>
            </a:r>
            <a:endParaRPr lang="es-ES" sz="1200" b="0" i="0" kern="1200" dirty="0">
              <a:solidFill>
                <a:schemeClr val="tx1"/>
              </a:solidFill>
              <a:effectLst/>
              <a:latin typeface="+mn-lt"/>
              <a:ea typeface="+mn-ea"/>
              <a:cs typeface="+mn-cs"/>
            </a:endParaRPr>
          </a:p>
          <a:p>
            <a:r>
              <a:rPr lang="es-ES" sz="1200" b="0" i="0" kern="1200" dirty="0">
                <a:solidFill>
                  <a:schemeClr val="tx1"/>
                </a:solidFill>
                <a:effectLst/>
                <a:latin typeface="+mn-lt"/>
                <a:ea typeface="+mn-ea"/>
                <a:cs typeface="+mn-cs"/>
              </a:rPr>
              <a:t>Se trata de un nuevo tipo de diagrama UML que se introdujo en UML 2. Aunque estos tipos de diagramas UML no son tan populares, pueden utilizarse para representar la meta estructura del sistema. Es decir, cuáles son los perfiles principales, meta clases, y demás. Puede haber conexiones dentro de los elementos de un perfil y entre diferentes perfiles.</a:t>
            </a:r>
          </a:p>
          <a:p>
            <a:r>
              <a:rPr lang="es-ES" sz="1200" b="1" i="0" kern="1200" dirty="0">
                <a:solidFill>
                  <a:schemeClr val="tx1"/>
                </a:solidFill>
                <a:effectLst/>
                <a:latin typeface="+mn-lt"/>
                <a:ea typeface="+mn-ea"/>
                <a:cs typeface="+mn-cs"/>
              </a:rPr>
              <a:t>7. Diagrama de la estructura compuesta</a:t>
            </a:r>
            <a:endParaRPr lang="es-ES" sz="1200" b="0" i="0" kern="1200" dirty="0">
              <a:solidFill>
                <a:schemeClr val="tx1"/>
              </a:solidFill>
              <a:effectLst/>
              <a:latin typeface="+mn-lt"/>
              <a:ea typeface="+mn-ea"/>
              <a:cs typeface="+mn-cs"/>
            </a:endParaRPr>
          </a:p>
          <a:p>
            <a:r>
              <a:rPr lang="es-ES" sz="1200" b="0" i="0" kern="1200" dirty="0">
                <a:solidFill>
                  <a:schemeClr val="tx1"/>
                </a:solidFill>
                <a:effectLst/>
                <a:latin typeface="+mn-lt"/>
                <a:ea typeface="+mn-ea"/>
                <a:cs typeface="+mn-cs"/>
              </a:rPr>
              <a:t>Estos tipos de diagramas UML se utilizan para representar la estructura interna de una clase. Con ellos podemos saber cómo se relacionan las diferentes entidades de una clase entre sí y cómo se asocia la propia clase con la entidad o sistema exterior. Cada elemento tiene un "rol" asignado aquí.</a:t>
            </a:r>
          </a:p>
          <a:p>
            <a:r>
              <a:rPr lang="es-ES" sz="1200" b="1" i="0" kern="1200" dirty="0">
                <a:solidFill>
                  <a:schemeClr val="tx1"/>
                </a:solidFill>
                <a:effectLst/>
                <a:latin typeface="+mn-lt"/>
                <a:ea typeface="+mn-ea"/>
                <a:cs typeface="+mn-cs"/>
              </a:rPr>
              <a:t>8. Diagrama de máquina de estado</a:t>
            </a:r>
            <a:endParaRPr lang="es-ES" sz="1200" b="0" i="0" kern="1200" dirty="0">
              <a:solidFill>
                <a:schemeClr val="tx1"/>
              </a:solidFill>
              <a:effectLst/>
              <a:latin typeface="+mn-lt"/>
              <a:ea typeface="+mn-ea"/>
              <a:cs typeface="+mn-cs"/>
            </a:endParaRPr>
          </a:p>
          <a:p>
            <a:r>
              <a:rPr lang="es-ES" sz="1200" b="0" i="0" kern="1200" dirty="0">
                <a:solidFill>
                  <a:schemeClr val="tx1"/>
                </a:solidFill>
                <a:effectLst/>
                <a:latin typeface="+mn-lt"/>
                <a:ea typeface="+mn-ea"/>
                <a:cs typeface="+mn-cs"/>
              </a:rPr>
              <a:t>Se trata de un diagrama dinámico que describe los diferentes estados del sistema. Presenta todo tipo de acciones y cómo respondería una clase a ellas. En consecuencia, se establece un flujo centrado en el estado de las entidades centrales.</a:t>
            </a:r>
          </a:p>
          <a:p>
            <a:r>
              <a:rPr lang="es-ES" sz="1200" b="1" i="0" kern="1200" dirty="0">
                <a:solidFill>
                  <a:schemeClr val="tx1"/>
                </a:solidFill>
                <a:effectLst/>
                <a:latin typeface="+mn-lt"/>
                <a:ea typeface="+mn-ea"/>
                <a:cs typeface="+mn-cs"/>
              </a:rPr>
              <a:t>9. Diagrama de actividad</a:t>
            </a:r>
            <a:endParaRPr lang="es-ES" sz="1200" b="0" i="0" kern="1200" dirty="0">
              <a:solidFill>
                <a:schemeClr val="tx1"/>
              </a:solidFill>
              <a:effectLst/>
              <a:latin typeface="+mn-lt"/>
              <a:ea typeface="+mn-ea"/>
              <a:cs typeface="+mn-cs"/>
            </a:endParaRPr>
          </a:p>
          <a:p>
            <a:r>
              <a:rPr lang="es-ES" sz="1200" b="0" i="0" kern="1200" dirty="0">
                <a:solidFill>
                  <a:schemeClr val="tx1"/>
                </a:solidFill>
                <a:effectLst/>
                <a:latin typeface="+mn-lt"/>
                <a:ea typeface="+mn-ea"/>
                <a:cs typeface="+mn-cs"/>
              </a:rPr>
              <a:t>Estos tipos de diagramas UML se utilizan ampliamente, ya que representan el flujo global del sistema con respecto a numerosas actividades. Toma una instancia del sistema y registra cómo reacciona. Estos diagramas se centran más en la implementación del sistema en el mundo real que en su estructura.</a:t>
            </a:r>
          </a:p>
          <a:p>
            <a:r>
              <a:rPr lang="es-ES" sz="1200" b="1" i="0" kern="1200" dirty="0">
                <a:solidFill>
                  <a:schemeClr val="tx1"/>
                </a:solidFill>
                <a:effectLst/>
                <a:latin typeface="+mn-lt"/>
                <a:ea typeface="+mn-ea"/>
                <a:cs typeface="+mn-cs"/>
              </a:rPr>
              <a:t>10. Diagrama de casos de uso</a:t>
            </a:r>
            <a:endParaRPr lang="es-ES" sz="1200" b="0" i="0" kern="1200" dirty="0">
              <a:solidFill>
                <a:schemeClr val="tx1"/>
              </a:solidFill>
              <a:effectLst/>
              <a:latin typeface="+mn-lt"/>
              <a:ea typeface="+mn-ea"/>
              <a:cs typeface="+mn-cs"/>
            </a:endParaRPr>
          </a:p>
          <a:p>
            <a:r>
              <a:rPr lang="es-ES" sz="1200" b="0" i="0" kern="1200" dirty="0">
                <a:solidFill>
                  <a:schemeClr val="tx1"/>
                </a:solidFill>
                <a:effectLst/>
                <a:latin typeface="+mn-lt"/>
                <a:ea typeface="+mn-ea"/>
                <a:cs typeface="+mn-cs"/>
              </a:rPr>
              <a:t>Este es uno de los tipos más populares de diagramas UML que representan cómo el usuario final interactuaría con el sistema. Presenta diferentes actores clave (usuarios) y su interacción con componentes específicos del sistema. Aparte del desarrollo de software, también desempeña un papel fundamental en su despliegue.</a:t>
            </a:r>
          </a:p>
          <a:p>
            <a:r>
              <a:rPr lang="es-ES" sz="1200" b="1" i="0" kern="1200" dirty="0">
                <a:solidFill>
                  <a:schemeClr val="tx1"/>
                </a:solidFill>
                <a:effectLst/>
                <a:latin typeface="+mn-lt"/>
                <a:ea typeface="+mn-ea"/>
                <a:cs typeface="+mn-cs"/>
              </a:rPr>
              <a:t>DIAGRAMAS DE INTERACCIÓN</a:t>
            </a:r>
          </a:p>
          <a:p>
            <a:r>
              <a:rPr lang="es-ES" sz="1200" b="1" i="0" kern="1200" dirty="0">
                <a:solidFill>
                  <a:schemeClr val="tx1"/>
                </a:solidFill>
                <a:effectLst/>
                <a:latin typeface="+mn-lt"/>
                <a:ea typeface="+mn-ea"/>
                <a:cs typeface="+mn-cs"/>
              </a:rPr>
              <a:t>11. Diagrama de secuencia</a:t>
            </a:r>
            <a:endParaRPr lang="es-ES" sz="1200" b="0" i="0" kern="1200" dirty="0">
              <a:solidFill>
                <a:schemeClr val="tx1"/>
              </a:solidFill>
              <a:effectLst/>
              <a:latin typeface="+mn-lt"/>
              <a:ea typeface="+mn-ea"/>
              <a:cs typeface="+mn-cs"/>
            </a:endParaRPr>
          </a:p>
          <a:p>
            <a:r>
              <a:rPr lang="es-ES" sz="1200" b="0" i="0" kern="1200" dirty="0">
                <a:solidFill>
                  <a:schemeClr val="tx1"/>
                </a:solidFill>
                <a:effectLst/>
                <a:latin typeface="+mn-lt"/>
                <a:ea typeface="+mn-ea"/>
                <a:cs typeface="+mn-cs"/>
              </a:rPr>
              <a:t>Como su nombre lo indica, describe el flujo de un proceso entre varios componentes de manera secuencial. Se utiliza sobre todo en el desarrollo de la arquitectura y en la implementación del sistema en el mundo real. Presenta diferentes componentes y describe cómo el flujo pasa de un componente a otro.</a:t>
            </a:r>
          </a:p>
          <a:p>
            <a:r>
              <a:rPr lang="es-ES" sz="1200" b="1" i="0" kern="1200" dirty="0">
                <a:solidFill>
                  <a:schemeClr val="tx1"/>
                </a:solidFill>
                <a:effectLst/>
                <a:latin typeface="+mn-lt"/>
                <a:ea typeface="+mn-ea"/>
                <a:cs typeface="+mn-cs"/>
              </a:rPr>
              <a:t>12. Diagrama de comunicación</a:t>
            </a:r>
            <a:endParaRPr lang="es-ES" sz="1200" b="0" i="0" kern="1200" dirty="0">
              <a:solidFill>
                <a:schemeClr val="tx1"/>
              </a:solidFill>
              <a:effectLst/>
              <a:latin typeface="+mn-lt"/>
              <a:ea typeface="+mn-ea"/>
              <a:cs typeface="+mn-cs"/>
            </a:endParaRPr>
          </a:p>
          <a:p>
            <a:r>
              <a:rPr lang="es-ES" sz="1200" b="0" i="0" kern="1200" dirty="0">
                <a:solidFill>
                  <a:schemeClr val="tx1"/>
                </a:solidFill>
                <a:effectLst/>
                <a:latin typeface="+mn-lt"/>
                <a:ea typeface="+mn-ea"/>
                <a:cs typeface="+mn-cs"/>
              </a:rPr>
              <a:t>También conocido como diagrama de colaboración, representa de forma sencilla cómo se comunican entre sí las distintas entidades de un sistema. Aparte de los objetos, también presenta flechas y puntos numéricos para mostrar la comunicación global en el sistema.</a:t>
            </a:r>
            <a:br>
              <a:rPr lang="es-ES" dirty="0"/>
            </a:br>
            <a:r>
              <a:rPr lang="es-ES" sz="1200" b="1" i="0" kern="1200" dirty="0">
                <a:solidFill>
                  <a:schemeClr val="tx1"/>
                </a:solidFill>
                <a:effectLst/>
                <a:latin typeface="+mn-lt"/>
                <a:ea typeface="+mn-ea"/>
                <a:cs typeface="+mn-cs"/>
              </a:rPr>
              <a:t>13. Diagrama de tiempos</a:t>
            </a:r>
            <a:endParaRPr lang="es-ES" sz="1200" b="0" i="0" kern="1200" dirty="0">
              <a:solidFill>
                <a:schemeClr val="tx1"/>
              </a:solidFill>
              <a:effectLst/>
              <a:latin typeface="+mn-lt"/>
              <a:ea typeface="+mn-ea"/>
              <a:cs typeface="+mn-cs"/>
            </a:endParaRPr>
          </a:p>
          <a:p>
            <a:r>
              <a:rPr lang="es-ES" sz="1200" b="0" i="0" kern="1200" dirty="0">
                <a:solidFill>
                  <a:schemeClr val="tx1"/>
                </a:solidFill>
                <a:effectLst/>
                <a:latin typeface="+mn-lt"/>
                <a:ea typeface="+mn-ea"/>
                <a:cs typeface="+mn-cs"/>
              </a:rPr>
              <a:t>Aunque son similares a los diagramas de secuencia, representan el comportamiento de cualquier objeto a lo largo de una duración específica. Estos tipos de diagramas UML se añadieron a UML 2 y se centran en el tiempo como restricción.</a:t>
            </a:r>
            <a:br>
              <a:rPr lang="es-ES" sz="1200" b="1" i="0" kern="1200" dirty="0">
                <a:solidFill>
                  <a:schemeClr val="tx1"/>
                </a:solidFill>
                <a:effectLst/>
                <a:latin typeface="+mn-lt"/>
                <a:ea typeface="+mn-ea"/>
                <a:cs typeface="+mn-cs"/>
              </a:rPr>
            </a:br>
            <a:r>
              <a:rPr lang="es-ES" sz="1200" b="1" i="0" kern="1200" dirty="0">
                <a:solidFill>
                  <a:schemeClr val="tx1"/>
                </a:solidFill>
                <a:effectLst/>
                <a:latin typeface="+mn-lt"/>
                <a:ea typeface="+mn-ea"/>
                <a:cs typeface="+mn-cs"/>
              </a:rPr>
              <a:t>14. Diagrama general interactivo o de interacción</a:t>
            </a:r>
            <a:endParaRPr lang="es-ES" sz="1200" b="0" i="0" kern="1200" dirty="0">
              <a:solidFill>
                <a:schemeClr val="tx1"/>
              </a:solidFill>
              <a:effectLst/>
              <a:latin typeface="+mn-lt"/>
              <a:ea typeface="+mn-ea"/>
              <a:cs typeface="+mn-cs"/>
            </a:endParaRPr>
          </a:p>
          <a:p>
            <a:r>
              <a:rPr lang="es-ES" sz="1200" b="0" i="0" kern="1200" dirty="0">
                <a:solidFill>
                  <a:schemeClr val="tx1"/>
                </a:solidFill>
                <a:effectLst/>
                <a:latin typeface="+mn-lt"/>
                <a:ea typeface="+mn-ea"/>
                <a:cs typeface="+mn-cs"/>
              </a:rPr>
              <a:t>Al principio, estos tipos de diagramas UML pueden parecer similares a los diagramas de actividad. Sin embargo, en lugar de actividades, muestran el flujo de varias secuencias interactivas. Una actividad está representada por un marco que puede tener diferentes unidades en su interior.</a:t>
            </a:r>
            <a:endParaRPr lang="es-AR" dirty="0"/>
          </a:p>
        </p:txBody>
      </p:sp>
      <p:sp>
        <p:nvSpPr>
          <p:cNvPr id="4" name="Marcador de número de diapositiva 3">
            <a:extLst>
              <a:ext uri="{FF2B5EF4-FFF2-40B4-BE49-F238E27FC236}">
                <a16:creationId xmlns:a16="http://schemas.microsoft.com/office/drawing/2014/main" id="{48256199-B512-927B-734C-D3FEA6495D82}"/>
              </a:ext>
            </a:extLst>
          </p:cNvPr>
          <p:cNvSpPr>
            <a:spLocks noGrp="1"/>
          </p:cNvSpPr>
          <p:nvPr>
            <p:ph type="sldNum" sz="quarter" idx="5"/>
          </p:nvPr>
        </p:nvSpPr>
        <p:spPr/>
        <p:txBody>
          <a:bodyPr/>
          <a:lstStyle/>
          <a:p>
            <a:fld id="{59C31C20-CFF6-4D02-9F93-8A584230D82D}" type="slidenum">
              <a:rPr lang="es-AR" smtClean="0"/>
              <a:t>7</a:t>
            </a:fld>
            <a:endParaRPr lang="es-AR"/>
          </a:p>
        </p:txBody>
      </p:sp>
    </p:spTree>
    <p:extLst>
      <p:ext uri="{BB962C8B-B14F-4D97-AF65-F5344CB8AC3E}">
        <p14:creationId xmlns:p14="http://schemas.microsoft.com/office/powerpoint/2010/main" val="16458657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871867-DB47-51BF-E7A3-422D317F15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88F2C0B-746B-5FF1-7322-6383A6A22F7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D047F77-A2AB-743A-4F7F-850F7D5A10B0}"/>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550942FA-AC39-85A2-BB00-1E4D93B5549F}"/>
              </a:ext>
            </a:extLst>
          </p:cNvPr>
          <p:cNvSpPr>
            <a:spLocks noGrp="1"/>
          </p:cNvSpPr>
          <p:nvPr>
            <p:ph type="sldNum" sz="quarter" idx="5"/>
          </p:nvPr>
        </p:nvSpPr>
        <p:spPr/>
        <p:txBody>
          <a:bodyPr/>
          <a:lstStyle/>
          <a:p>
            <a:fld id="{59C31C20-CFF6-4D02-9F93-8A584230D82D}" type="slidenum">
              <a:rPr lang="es-AR" smtClean="0"/>
              <a:t>8</a:t>
            </a:fld>
            <a:endParaRPr lang="es-AR"/>
          </a:p>
        </p:txBody>
      </p:sp>
    </p:spTree>
    <p:extLst>
      <p:ext uri="{BB962C8B-B14F-4D97-AF65-F5344CB8AC3E}">
        <p14:creationId xmlns:p14="http://schemas.microsoft.com/office/powerpoint/2010/main" val="25942697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07C4FA-61C8-9156-E44A-62FAB8BB8CA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D54D12B-22F8-5316-D880-4C27B54B318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7D89579-AD08-39CD-3415-428540534539}"/>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2087AEC9-D185-72C1-AD18-AF8554B04D6A}"/>
              </a:ext>
            </a:extLst>
          </p:cNvPr>
          <p:cNvSpPr>
            <a:spLocks noGrp="1"/>
          </p:cNvSpPr>
          <p:nvPr>
            <p:ph type="sldNum" sz="quarter" idx="5"/>
          </p:nvPr>
        </p:nvSpPr>
        <p:spPr/>
        <p:txBody>
          <a:bodyPr/>
          <a:lstStyle/>
          <a:p>
            <a:fld id="{59C31C20-CFF6-4D02-9F93-8A584230D82D}" type="slidenum">
              <a:rPr lang="es-AR" smtClean="0"/>
              <a:t>9</a:t>
            </a:fld>
            <a:endParaRPr lang="es-AR"/>
          </a:p>
        </p:txBody>
      </p:sp>
    </p:spTree>
    <p:extLst>
      <p:ext uri="{BB962C8B-B14F-4D97-AF65-F5344CB8AC3E}">
        <p14:creationId xmlns:p14="http://schemas.microsoft.com/office/powerpoint/2010/main" val="28455683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B5D848-F7C0-B7F0-CF5D-52C978655CC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FE2CFBB-4252-5C76-6C9F-58700965C9A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9394520-9BFA-7005-9604-14835D815183}"/>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02F63DC1-D931-D14A-0054-7043215DD264}"/>
              </a:ext>
            </a:extLst>
          </p:cNvPr>
          <p:cNvSpPr>
            <a:spLocks noGrp="1"/>
          </p:cNvSpPr>
          <p:nvPr>
            <p:ph type="sldNum" sz="quarter" idx="5"/>
          </p:nvPr>
        </p:nvSpPr>
        <p:spPr/>
        <p:txBody>
          <a:bodyPr/>
          <a:lstStyle/>
          <a:p>
            <a:fld id="{59C31C20-CFF6-4D02-9F93-8A584230D82D}" type="slidenum">
              <a:rPr lang="es-AR" smtClean="0"/>
              <a:t>10</a:t>
            </a:fld>
            <a:endParaRPr lang="es-AR"/>
          </a:p>
        </p:txBody>
      </p:sp>
    </p:spTree>
    <p:extLst>
      <p:ext uri="{BB962C8B-B14F-4D97-AF65-F5344CB8AC3E}">
        <p14:creationId xmlns:p14="http://schemas.microsoft.com/office/powerpoint/2010/main" val="24712060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518A6-A36F-0D4E-8FF2-438E52C8D90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7D1AFA2-777F-51FE-E30F-4E549F5C94D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BE77EF5-A1B6-C823-BC54-2C3B408BCFB1}"/>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70353329-1CFD-C1C2-B62C-50674144E6AD}"/>
              </a:ext>
            </a:extLst>
          </p:cNvPr>
          <p:cNvSpPr>
            <a:spLocks noGrp="1"/>
          </p:cNvSpPr>
          <p:nvPr>
            <p:ph type="sldNum" sz="quarter" idx="5"/>
          </p:nvPr>
        </p:nvSpPr>
        <p:spPr/>
        <p:txBody>
          <a:bodyPr/>
          <a:lstStyle/>
          <a:p>
            <a:fld id="{59C31C20-CFF6-4D02-9F93-8A584230D82D}" type="slidenum">
              <a:rPr lang="es-AR" smtClean="0"/>
              <a:t>11</a:t>
            </a:fld>
            <a:endParaRPr lang="es-AR"/>
          </a:p>
        </p:txBody>
      </p:sp>
    </p:spTree>
    <p:extLst>
      <p:ext uri="{BB962C8B-B14F-4D97-AF65-F5344CB8AC3E}">
        <p14:creationId xmlns:p14="http://schemas.microsoft.com/office/powerpoint/2010/main" val="8146872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0A91F7-C8D8-2750-6450-C62CF5D88B4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DB81FF9-C5B8-9F5B-1A39-2BFF6BA87C5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7CD4439-D447-CD3F-8047-512D26F7E072}"/>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D15C816E-3D5E-DB41-BAD8-6959BE567344}"/>
              </a:ext>
            </a:extLst>
          </p:cNvPr>
          <p:cNvSpPr>
            <a:spLocks noGrp="1"/>
          </p:cNvSpPr>
          <p:nvPr>
            <p:ph type="sldNum" sz="quarter" idx="5"/>
          </p:nvPr>
        </p:nvSpPr>
        <p:spPr/>
        <p:txBody>
          <a:bodyPr/>
          <a:lstStyle/>
          <a:p>
            <a:fld id="{59C31C20-CFF6-4D02-9F93-8A584230D82D}" type="slidenum">
              <a:rPr lang="es-AR" smtClean="0"/>
              <a:t>12</a:t>
            </a:fld>
            <a:endParaRPr lang="es-AR"/>
          </a:p>
        </p:txBody>
      </p:sp>
    </p:spTree>
    <p:extLst>
      <p:ext uri="{BB962C8B-B14F-4D97-AF65-F5344CB8AC3E}">
        <p14:creationId xmlns:p14="http://schemas.microsoft.com/office/powerpoint/2010/main" val="40837781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36AB2-20DA-4A86-B6BD-7098AB4FC46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C27EE07-7AE1-13F7-49CB-6E5EBA48399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CCBD5D3-8F9B-0DC9-07D4-31A87406D283}"/>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2C98EF2E-5620-1461-4360-595C2C0C5698}"/>
              </a:ext>
            </a:extLst>
          </p:cNvPr>
          <p:cNvSpPr>
            <a:spLocks noGrp="1"/>
          </p:cNvSpPr>
          <p:nvPr>
            <p:ph type="sldNum" sz="quarter" idx="5"/>
          </p:nvPr>
        </p:nvSpPr>
        <p:spPr/>
        <p:txBody>
          <a:bodyPr/>
          <a:lstStyle/>
          <a:p>
            <a:fld id="{59C31C20-CFF6-4D02-9F93-8A584230D82D}" type="slidenum">
              <a:rPr lang="es-AR" smtClean="0"/>
              <a:t>13</a:t>
            </a:fld>
            <a:endParaRPr lang="es-AR"/>
          </a:p>
        </p:txBody>
      </p:sp>
    </p:spTree>
    <p:extLst>
      <p:ext uri="{BB962C8B-B14F-4D97-AF65-F5344CB8AC3E}">
        <p14:creationId xmlns:p14="http://schemas.microsoft.com/office/powerpoint/2010/main" val="29187901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28EEE5-8FB5-8017-D34A-E7F5F7E6E43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6A1D151-A6C0-3665-5EC0-95B0DE795B6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279228D-2EA6-1355-AE3B-AB1AD61FFA14}"/>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1BAEAC95-AC05-416E-EA54-ABC79230A551}"/>
              </a:ext>
            </a:extLst>
          </p:cNvPr>
          <p:cNvSpPr>
            <a:spLocks noGrp="1"/>
          </p:cNvSpPr>
          <p:nvPr>
            <p:ph type="sldNum" sz="quarter" idx="5"/>
          </p:nvPr>
        </p:nvSpPr>
        <p:spPr/>
        <p:txBody>
          <a:bodyPr/>
          <a:lstStyle/>
          <a:p>
            <a:fld id="{59C31C20-CFF6-4D02-9F93-8A584230D82D}" type="slidenum">
              <a:rPr lang="es-AR" smtClean="0"/>
              <a:t>14</a:t>
            </a:fld>
            <a:endParaRPr lang="es-AR"/>
          </a:p>
        </p:txBody>
      </p:sp>
    </p:spTree>
    <p:extLst>
      <p:ext uri="{BB962C8B-B14F-4D97-AF65-F5344CB8AC3E}">
        <p14:creationId xmlns:p14="http://schemas.microsoft.com/office/powerpoint/2010/main" val="21360469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379C3-2FF7-DEA6-D628-C24403E2AAC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C4204BE-F797-E31F-BEC1-99014EF18D2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A0D92C8-746F-BAF2-21A3-1AC09D1736C3}"/>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A858E8EC-2D26-265B-141C-B11CAB3C3F58}"/>
              </a:ext>
            </a:extLst>
          </p:cNvPr>
          <p:cNvSpPr>
            <a:spLocks noGrp="1"/>
          </p:cNvSpPr>
          <p:nvPr>
            <p:ph type="sldNum" sz="quarter" idx="5"/>
          </p:nvPr>
        </p:nvSpPr>
        <p:spPr/>
        <p:txBody>
          <a:bodyPr/>
          <a:lstStyle/>
          <a:p>
            <a:fld id="{59C31C20-CFF6-4D02-9F93-8A584230D82D}" type="slidenum">
              <a:rPr lang="es-AR" smtClean="0"/>
              <a:t>15</a:t>
            </a:fld>
            <a:endParaRPr lang="es-AR"/>
          </a:p>
        </p:txBody>
      </p:sp>
    </p:spTree>
    <p:extLst>
      <p:ext uri="{BB962C8B-B14F-4D97-AF65-F5344CB8AC3E}">
        <p14:creationId xmlns:p14="http://schemas.microsoft.com/office/powerpoint/2010/main" val="33705628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88A055-CF4F-7EE4-1862-390E8B23961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9568976-489E-F661-CE5C-3549358C766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9875771-AFAE-6800-1975-B3822C49E4C7}"/>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ED5D551F-10A0-A54B-1643-F209D4ED081B}"/>
              </a:ext>
            </a:extLst>
          </p:cNvPr>
          <p:cNvSpPr>
            <a:spLocks noGrp="1"/>
          </p:cNvSpPr>
          <p:nvPr>
            <p:ph type="sldNum" sz="quarter" idx="5"/>
          </p:nvPr>
        </p:nvSpPr>
        <p:spPr/>
        <p:txBody>
          <a:bodyPr/>
          <a:lstStyle/>
          <a:p>
            <a:fld id="{59C31C20-CFF6-4D02-9F93-8A584230D82D}" type="slidenum">
              <a:rPr lang="es-AR" smtClean="0"/>
              <a:t>16</a:t>
            </a:fld>
            <a:endParaRPr lang="es-AR"/>
          </a:p>
        </p:txBody>
      </p:sp>
    </p:spTree>
    <p:extLst>
      <p:ext uri="{BB962C8B-B14F-4D97-AF65-F5344CB8AC3E}">
        <p14:creationId xmlns:p14="http://schemas.microsoft.com/office/powerpoint/2010/main" val="7676256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C64C57-B336-654F-ADDD-6BC0B5C2CE5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57DF3E1-710C-2022-D282-DB8A3565B8C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6570F36-D55C-8A28-2A8C-D3A6EB91BDA7}"/>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DA927C22-4614-981A-7D5E-F673E736140E}"/>
              </a:ext>
            </a:extLst>
          </p:cNvPr>
          <p:cNvSpPr>
            <a:spLocks noGrp="1"/>
          </p:cNvSpPr>
          <p:nvPr>
            <p:ph type="sldNum" sz="quarter" idx="5"/>
          </p:nvPr>
        </p:nvSpPr>
        <p:spPr/>
        <p:txBody>
          <a:bodyPr/>
          <a:lstStyle/>
          <a:p>
            <a:fld id="{59C31C20-CFF6-4D02-9F93-8A584230D82D}" type="slidenum">
              <a:rPr lang="es-AR" smtClean="0"/>
              <a:t>17</a:t>
            </a:fld>
            <a:endParaRPr lang="es-AR"/>
          </a:p>
        </p:txBody>
      </p:sp>
    </p:spTree>
    <p:extLst>
      <p:ext uri="{BB962C8B-B14F-4D97-AF65-F5344CB8AC3E}">
        <p14:creationId xmlns:p14="http://schemas.microsoft.com/office/powerpoint/2010/main" val="40258313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0EA635-08F2-CC2E-70BD-0AC83F2DCB7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E5BB237-FB45-CF8A-DA31-153138547D4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A5203BC-876D-4DFB-FBB0-F39C572A5C40}"/>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C85C4246-BEA3-E2A5-5AF8-22FC699A5D6F}"/>
              </a:ext>
            </a:extLst>
          </p:cNvPr>
          <p:cNvSpPr>
            <a:spLocks noGrp="1"/>
          </p:cNvSpPr>
          <p:nvPr>
            <p:ph type="sldNum" sz="quarter" idx="5"/>
          </p:nvPr>
        </p:nvSpPr>
        <p:spPr/>
        <p:txBody>
          <a:bodyPr/>
          <a:lstStyle/>
          <a:p>
            <a:fld id="{59C31C20-CFF6-4D02-9F93-8A584230D82D}" type="slidenum">
              <a:rPr lang="es-AR" smtClean="0"/>
              <a:t>21</a:t>
            </a:fld>
            <a:endParaRPr lang="es-AR"/>
          </a:p>
        </p:txBody>
      </p:sp>
    </p:spTree>
    <p:extLst>
      <p:ext uri="{BB962C8B-B14F-4D97-AF65-F5344CB8AC3E}">
        <p14:creationId xmlns:p14="http://schemas.microsoft.com/office/powerpoint/2010/main" val="31390281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1A2162-5BB2-88E9-4905-14B493E46C9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BAB2BE0-79A0-3C9C-CAE8-D96664CEFCC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859F140-342A-A2E2-CBA3-15B4DF222B25}"/>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385CAC31-DEF5-18D9-32FD-77A003A10019}"/>
              </a:ext>
            </a:extLst>
          </p:cNvPr>
          <p:cNvSpPr>
            <a:spLocks noGrp="1"/>
          </p:cNvSpPr>
          <p:nvPr>
            <p:ph type="sldNum" sz="quarter" idx="5"/>
          </p:nvPr>
        </p:nvSpPr>
        <p:spPr/>
        <p:txBody>
          <a:bodyPr/>
          <a:lstStyle/>
          <a:p>
            <a:fld id="{59C31C20-CFF6-4D02-9F93-8A584230D82D}" type="slidenum">
              <a:rPr lang="es-AR" smtClean="0"/>
              <a:t>22</a:t>
            </a:fld>
            <a:endParaRPr lang="es-AR"/>
          </a:p>
        </p:txBody>
      </p:sp>
    </p:spTree>
    <p:extLst>
      <p:ext uri="{BB962C8B-B14F-4D97-AF65-F5344CB8AC3E}">
        <p14:creationId xmlns:p14="http://schemas.microsoft.com/office/powerpoint/2010/main" val="13592238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DBA06F-864C-4F38-3BD8-CF95E732A56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89DB902-ABCA-8A28-04A9-15BB38AFC41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BB975DC-2512-B547-D9D0-B12605870834}"/>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9E72256C-38A9-FE4B-6D66-885AD2C16E5D}"/>
              </a:ext>
            </a:extLst>
          </p:cNvPr>
          <p:cNvSpPr>
            <a:spLocks noGrp="1"/>
          </p:cNvSpPr>
          <p:nvPr>
            <p:ph type="sldNum" sz="quarter" idx="5"/>
          </p:nvPr>
        </p:nvSpPr>
        <p:spPr/>
        <p:txBody>
          <a:bodyPr/>
          <a:lstStyle/>
          <a:p>
            <a:fld id="{59C31C20-CFF6-4D02-9F93-8A584230D82D}" type="slidenum">
              <a:rPr lang="es-AR" smtClean="0"/>
              <a:t>23</a:t>
            </a:fld>
            <a:endParaRPr lang="es-AR"/>
          </a:p>
        </p:txBody>
      </p:sp>
    </p:spTree>
    <p:extLst>
      <p:ext uri="{BB962C8B-B14F-4D97-AF65-F5344CB8AC3E}">
        <p14:creationId xmlns:p14="http://schemas.microsoft.com/office/powerpoint/2010/main" val="2930267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1E4ECE-B144-6505-B803-78F3199AADB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12369E7-7443-368B-FA57-31C9A488AAA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B012058-DEC7-93AF-E417-4CB3F6E9FDC7}"/>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5E536437-FA96-82F1-A6E7-2CC8471EAE39}"/>
              </a:ext>
            </a:extLst>
          </p:cNvPr>
          <p:cNvSpPr>
            <a:spLocks noGrp="1"/>
          </p:cNvSpPr>
          <p:nvPr>
            <p:ph type="sldNum" sz="quarter" idx="5"/>
          </p:nvPr>
        </p:nvSpPr>
        <p:spPr/>
        <p:txBody>
          <a:bodyPr/>
          <a:lstStyle/>
          <a:p>
            <a:fld id="{59C31C20-CFF6-4D02-9F93-8A584230D82D}" type="slidenum">
              <a:rPr lang="es-AR" smtClean="0"/>
              <a:t>24</a:t>
            </a:fld>
            <a:endParaRPr lang="es-AR"/>
          </a:p>
        </p:txBody>
      </p:sp>
    </p:spTree>
    <p:extLst>
      <p:ext uri="{BB962C8B-B14F-4D97-AF65-F5344CB8AC3E}">
        <p14:creationId xmlns:p14="http://schemas.microsoft.com/office/powerpoint/2010/main" val="40294858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56616-1BA8-BA14-C996-5ED76FBB94F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27F42F3-1152-F90C-D03C-89D7FE5D583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22B6EF9-A9C0-52DE-B5EC-0FB4910550B5}"/>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79FE83C7-8B0A-1B6A-C156-E1A70BCA5B85}"/>
              </a:ext>
            </a:extLst>
          </p:cNvPr>
          <p:cNvSpPr>
            <a:spLocks noGrp="1"/>
          </p:cNvSpPr>
          <p:nvPr>
            <p:ph type="sldNum" sz="quarter" idx="5"/>
          </p:nvPr>
        </p:nvSpPr>
        <p:spPr/>
        <p:txBody>
          <a:bodyPr/>
          <a:lstStyle/>
          <a:p>
            <a:fld id="{59C31C20-CFF6-4D02-9F93-8A584230D82D}" type="slidenum">
              <a:rPr lang="es-AR" smtClean="0"/>
              <a:t>25</a:t>
            </a:fld>
            <a:endParaRPr lang="es-AR"/>
          </a:p>
        </p:txBody>
      </p:sp>
    </p:spTree>
    <p:extLst>
      <p:ext uri="{BB962C8B-B14F-4D97-AF65-F5344CB8AC3E}">
        <p14:creationId xmlns:p14="http://schemas.microsoft.com/office/powerpoint/2010/main" val="6819756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44091F-DCDB-295E-5BE1-36D9B8E105A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363DA27-73BE-F6FE-2D13-12905629903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77E1DF3-E717-42FD-0415-BB2AC590DAA1}"/>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241A8A89-D17D-74E8-A05B-D9609DE11124}"/>
              </a:ext>
            </a:extLst>
          </p:cNvPr>
          <p:cNvSpPr>
            <a:spLocks noGrp="1"/>
          </p:cNvSpPr>
          <p:nvPr>
            <p:ph type="sldNum" sz="quarter" idx="5"/>
          </p:nvPr>
        </p:nvSpPr>
        <p:spPr/>
        <p:txBody>
          <a:bodyPr/>
          <a:lstStyle/>
          <a:p>
            <a:fld id="{59C31C20-CFF6-4D02-9F93-8A584230D82D}" type="slidenum">
              <a:rPr lang="es-AR" smtClean="0"/>
              <a:t>26</a:t>
            </a:fld>
            <a:endParaRPr lang="es-AR"/>
          </a:p>
        </p:txBody>
      </p:sp>
    </p:spTree>
    <p:extLst>
      <p:ext uri="{BB962C8B-B14F-4D97-AF65-F5344CB8AC3E}">
        <p14:creationId xmlns:p14="http://schemas.microsoft.com/office/powerpoint/2010/main" val="42597102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A18B0E31-E166-4429-8D93-59E0EEE29F09}" type="datetime1">
              <a:rPr lang="es-AR" smtClean="0"/>
              <a:t>1/9/2025</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6C8ECD1B-3F01-46F8-A46F-31A31EFC5ABF}" type="slidenum">
              <a:rPr lang="es-AR" smtClean="0"/>
              <a:t>‹Nº›</a:t>
            </a:fld>
            <a:endParaRPr lang="es-AR"/>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476940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332F0DB7-33C9-42EC-8ADD-109566451DAF}" type="datetime1">
              <a:rPr lang="es-AR" smtClean="0"/>
              <a:t>1/9/2025</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6C8ECD1B-3F01-46F8-A46F-31A31EFC5ABF}" type="slidenum">
              <a:rPr lang="es-AR" smtClean="0"/>
              <a:t>‹Nº›</a:t>
            </a:fld>
            <a:endParaRPr lang="es-AR"/>
          </a:p>
        </p:txBody>
      </p:sp>
    </p:spTree>
    <p:extLst>
      <p:ext uri="{BB962C8B-B14F-4D97-AF65-F5344CB8AC3E}">
        <p14:creationId xmlns:p14="http://schemas.microsoft.com/office/powerpoint/2010/main" val="1285620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13C7C9E8-4407-43C8-A0A3-C92CF745C5E1}" type="datetime1">
              <a:rPr lang="es-AR" smtClean="0"/>
              <a:t>1/9/2025</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6C8ECD1B-3F01-46F8-A46F-31A31EFC5ABF}" type="slidenum">
              <a:rPr lang="es-AR" smtClean="0"/>
              <a:t>‹Nº›</a:t>
            </a:fld>
            <a:endParaRPr lang="es-AR"/>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8163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451F62BB-1419-4B23-9372-BAECA7682902}" type="datetime1">
              <a:rPr lang="es-AR" smtClean="0"/>
              <a:t>1/9/2025</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6C8ECD1B-3F01-46F8-A46F-31A31EFC5ABF}" type="slidenum">
              <a:rPr lang="es-AR" smtClean="0"/>
              <a:t>‹Nº›</a:t>
            </a:fld>
            <a:endParaRPr lang="es-AR"/>
          </a:p>
        </p:txBody>
      </p:sp>
    </p:spTree>
    <p:extLst>
      <p:ext uri="{BB962C8B-B14F-4D97-AF65-F5344CB8AC3E}">
        <p14:creationId xmlns:p14="http://schemas.microsoft.com/office/powerpoint/2010/main" val="11552746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097280" y="2582335"/>
            <a:ext cx="4937760" cy="328676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217920" y="2582334"/>
            <a:ext cx="4937760" cy="328676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78A023DE-62F8-4ABA-9542-EFCF60082CDE}" type="datetime1">
              <a:rPr lang="es-AR" smtClean="0"/>
              <a:t>1/9/2025</a:t>
            </a:fld>
            <a:endParaRPr lang="es-AR"/>
          </a:p>
        </p:txBody>
      </p:sp>
      <p:sp>
        <p:nvSpPr>
          <p:cNvPr id="8" name="Footer Placeholder 7"/>
          <p:cNvSpPr>
            <a:spLocks noGrp="1"/>
          </p:cNvSpPr>
          <p:nvPr>
            <p:ph type="ftr" sz="quarter" idx="11"/>
          </p:nvPr>
        </p:nvSpPr>
        <p:spPr/>
        <p:txBody>
          <a:bodyPr/>
          <a:lstStyle/>
          <a:p>
            <a:endParaRPr lang="es-AR"/>
          </a:p>
        </p:txBody>
      </p:sp>
      <p:sp>
        <p:nvSpPr>
          <p:cNvPr id="9" name="Slide Number Placeholder 8"/>
          <p:cNvSpPr>
            <a:spLocks noGrp="1"/>
          </p:cNvSpPr>
          <p:nvPr>
            <p:ph type="sldNum" sz="quarter" idx="12"/>
          </p:nvPr>
        </p:nvSpPr>
        <p:spPr/>
        <p:txBody>
          <a:bodyPr/>
          <a:lstStyle/>
          <a:p>
            <a:fld id="{6C8ECD1B-3F01-46F8-A46F-31A31EFC5ABF}" type="slidenum">
              <a:rPr lang="es-AR" smtClean="0"/>
              <a:t>‹Nº›</a:t>
            </a:fld>
            <a:endParaRPr lang="es-AR"/>
          </a:p>
        </p:txBody>
      </p:sp>
    </p:spTree>
    <p:extLst>
      <p:ext uri="{BB962C8B-B14F-4D97-AF65-F5344CB8AC3E}">
        <p14:creationId xmlns:p14="http://schemas.microsoft.com/office/powerpoint/2010/main" val="16624377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0F147E75-8D9D-4E77-946F-E91CF384C506}" type="datetime1">
              <a:rPr lang="es-AR" smtClean="0"/>
              <a:t>1/9/2025</a:t>
            </a:fld>
            <a:endParaRPr lang="es-AR"/>
          </a:p>
        </p:txBody>
      </p:sp>
      <p:sp>
        <p:nvSpPr>
          <p:cNvPr id="4" name="Footer Placeholder 3"/>
          <p:cNvSpPr>
            <a:spLocks noGrp="1"/>
          </p:cNvSpPr>
          <p:nvPr>
            <p:ph type="ftr" sz="quarter" idx="11"/>
          </p:nvPr>
        </p:nvSpPr>
        <p:spPr/>
        <p:txBody>
          <a:bodyPr/>
          <a:lstStyle/>
          <a:p>
            <a:endParaRPr lang="es-AR"/>
          </a:p>
        </p:txBody>
      </p:sp>
      <p:sp>
        <p:nvSpPr>
          <p:cNvPr id="5" name="Slide Number Placeholder 4"/>
          <p:cNvSpPr>
            <a:spLocks noGrp="1"/>
          </p:cNvSpPr>
          <p:nvPr>
            <p:ph type="sldNum" sz="quarter" idx="12"/>
          </p:nvPr>
        </p:nvSpPr>
        <p:spPr/>
        <p:txBody>
          <a:bodyPr/>
          <a:lstStyle/>
          <a:p>
            <a:fld id="{6C8ECD1B-3F01-46F8-A46F-31A31EFC5ABF}" type="slidenum">
              <a:rPr lang="es-AR" smtClean="0"/>
              <a:t>‹Nº›</a:t>
            </a:fld>
            <a:endParaRPr lang="es-AR"/>
          </a:p>
        </p:txBody>
      </p:sp>
    </p:spTree>
    <p:extLst>
      <p:ext uri="{BB962C8B-B14F-4D97-AF65-F5344CB8AC3E}">
        <p14:creationId xmlns:p14="http://schemas.microsoft.com/office/powerpoint/2010/main" val="19806091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30DD0582-0E59-4C86-A105-E652692CA503}" type="datetime1">
              <a:rPr lang="es-AR" smtClean="0"/>
              <a:t>1/9/2025</a:t>
            </a:fld>
            <a:endParaRPr lang="es-A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s-AR"/>
          </a:p>
        </p:txBody>
      </p:sp>
      <p:sp>
        <p:nvSpPr>
          <p:cNvPr id="9" name="Slide Number Placeholder 8"/>
          <p:cNvSpPr>
            <a:spLocks noGrp="1"/>
          </p:cNvSpPr>
          <p:nvPr>
            <p:ph type="sldNum" sz="quarter" idx="12"/>
          </p:nvPr>
        </p:nvSpPr>
        <p:spPr/>
        <p:txBody>
          <a:bodyPr/>
          <a:lstStyle/>
          <a:p>
            <a:fld id="{6C8ECD1B-3F01-46F8-A46F-31A31EFC5ABF}" type="slidenum">
              <a:rPr lang="es-AR" smtClean="0"/>
              <a:t>‹Nº›</a:t>
            </a:fld>
            <a:endParaRPr lang="es-AR"/>
          </a:p>
        </p:txBody>
      </p:sp>
    </p:spTree>
    <p:extLst>
      <p:ext uri="{BB962C8B-B14F-4D97-AF65-F5344CB8AC3E}">
        <p14:creationId xmlns:p14="http://schemas.microsoft.com/office/powerpoint/2010/main" val="35548009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97121831-2A2E-4197-A959-861469F3C2FE}" type="datetime1">
              <a:rPr lang="es-AR" smtClean="0"/>
              <a:t>1/9/2025</a:t>
            </a:fld>
            <a:endParaRPr lang="es-AR"/>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s-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6C8ECD1B-3F01-46F8-A46F-31A31EFC5ABF}" type="slidenum">
              <a:rPr lang="es-AR" smtClean="0"/>
              <a:t>‹Nº›</a:t>
            </a:fld>
            <a:endParaRPr lang="es-AR"/>
          </a:p>
        </p:txBody>
      </p:sp>
    </p:spTree>
    <p:extLst>
      <p:ext uri="{BB962C8B-B14F-4D97-AF65-F5344CB8AC3E}">
        <p14:creationId xmlns:p14="http://schemas.microsoft.com/office/powerpoint/2010/main" val="3861838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D2318435-648D-4F03-BCE6-73CF2325A227}" type="datetime1">
              <a:rPr lang="es-AR" smtClean="0"/>
              <a:t>1/9/2025</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6C8ECD1B-3F01-46F8-A46F-31A31EFC5ABF}" type="slidenum">
              <a:rPr lang="es-AR" smtClean="0"/>
              <a:t>‹Nº›</a:t>
            </a:fld>
            <a:endParaRPr lang="es-AR"/>
          </a:p>
        </p:txBody>
      </p:sp>
    </p:spTree>
    <p:extLst>
      <p:ext uri="{BB962C8B-B14F-4D97-AF65-F5344CB8AC3E}">
        <p14:creationId xmlns:p14="http://schemas.microsoft.com/office/powerpoint/2010/main" val="6153648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7F9C3651-DCEB-4800-AC7F-34EF633FC578}" type="datetime1">
              <a:rPr lang="es-AR" smtClean="0"/>
              <a:t>1/9/2025</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6C8ECD1B-3F01-46F8-A46F-31A31EFC5ABF}" type="slidenum">
              <a:rPr lang="es-AR" smtClean="0"/>
              <a:t>‹Nº›</a:t>
            </a:fld>
            <a:endParaRPr lang="es-AR"/>
          </a:p>
        </p:txBody>
      </p:sp>
    </p:spTree>
    <p:extLst>
      <p:ext uri="{BB962C8B-B14F-4D97-AF65-F5344CB8AC3E}">
        <p14:creationId xmlns:p14="http://schemas.microsoft.com/office/powerpoint/2010/main" val="21139181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EFBF54F7-4526-4ACE-92EA-B121D77744F9}" type="datetime1">
              <a:rPr lang="es-AR" smtClean="0"/>
              <a:t>1/9/2025</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6C8ECD1B-3F01-46F8-A46F-31A31EFC5ABF}" type="slidenum">
              <a:rPr lang="es-AR" smtClean="0"/>
              <a:t>‹Nº›</a:t>
            </a:fld>
            <a:endParaRPr lang="es-AR"/>
          </a:p>
        </p:txBody>
      </p:sp>
    </p:spTree>
    <p:extLst>
      <p:ext uri="{BB962C8B-B14F-4D97-AF65-F5344CB8AC3E}">
        <p14:creationId xmlns:p14="http://schemas.microsoft.com/office/powerpoint/2010/main" val="16357896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7E5E7404-478C-4606-9AD3-7AD6EC75AF62}" type="datetime1">
              <a:rPr lang="es-AR" smtClean="0"/>
              <a:t>1/9/2025</a:t>
            </a:fld>
            <a:endParaRPr lang="es-AR"/>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s-AR"/>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6C8ECD1B-3F01-46F8-A46F-31A31EFC5ABF}" type="slidenum">
              <a:rPr lang="es-AR" smtClean="0"/>
              <a:t>‹Nº›</a:t>
            </a:fld>
            <a:endParaRPr lang="es-AR"/>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4683697"/>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0FB78ED-15BE-C64C-6F6A-3F9A1780B36B}"/>
              </a:ext>
            </a:extLst>
          </p:cNvPr>
          <p:cNvSpPr>
            <a:spLocks noGrp="1"/>
          </p:cNvSpPr>
          <p:nvPr>
            <p:ph type="ctrTitle"/>
          </p:nvPr>
        </p:nvSpPr>
        <p:spPr/>
        <p:txBody>
          <a:bodyPr anchor="t">
            <a:normAutofit/>
          </a:bodyPr>
          <a:lstStyle/>
          <a:p>
            <a:br>
              <a:rPr lang="es-AR" sz="5400" dirty="0"/>
            </a:br>
            <a:r>
              <a:rPr lang="es-AR" sz="4800" dirty="0"/>
              <a:t>PARADIGMA ORIENTADO A OBJETOS</a:t>
            </a:r>
            <a:br>
              <a:rPr lang="es-AR" sz="5400" dirty="0"/>
            </a:br>
            <a:br>
              <a:rPr lang="es-AR" sz="6000" dirty="0"/>
            </a:br>
            <a:r>
              <a:rPr lang="es-AR" sz="4800" dirty="0"/>
              <a:t>Clase 3</a:t>
            </a:r>
          </a:p>
        </p:txBody>
      </p:sp>
      <p:sp>
        <p:nvSpPr>
          <p:cNvPr id="3" name="Subtítulo 2">
            <a:extLst>
              <a:ext uri="{FF2B5EF4-FFF2-40B4-BE49-F238E27FC236}">
                <a16:creationId xmlns:a16="http://schemas.microsoft.com/office/drawing/2014/main" id="{4CE69D2D-49C9-764A-9382-72122873E520}"/>
              </a:ext>
            </a:extLst>
          </p:cNvPr>
          <p:cNvSpPr>
            <a:spLocks noGrp="1"/>
          </p:cNvSpPr>
          <p:nvPr>
            <p:ph type="subTitle" idx="1"/>
          </p:nvPr>
        </p:nvSpPr>
        <p:spPr/>
        <p:txBody>
          <a:bodyPr>
            <a:normAutofit fontScale="85000" lnSpcReduction="20000"/>
          </a:bodyPr>
          <a:lstStyle/>
          <a:p>
            <a:endParaRPr lang="es-AR" dirty="0"/>
          </a:p>
          <a:p>
            <a:r>
              <a:rPr lang="es-AR" dirty="0"/>
              <a:t>Ing. Maximiliano Coedo</a:t>
            </a:r>
          </a:p>
          <a:p>
            <a:r>
              <a:rPr lang="es-AR" dirty="0"/>
              <a:t>E-mail: mcoedo@uade.edu.ar</a:t>
            </a:r>
          </a:p>
          <a:p>
            <a:endParaRPr lang="es-AR" dirty="0"/>
          </a:p>
        </p:txBody>
      </p:sp>
      <p:pic>
        <p:nvPicPr>
          <p:cNvPr id="5" name="Imagen 4">
            <a:extLst>
              <a:ext uri="{FF2B5EF4-FFF2-40B4-BE49-F238E27FC236}">
                <a16:creationId xmlns:a16="http://schemas.microsoft.com/office/drawing/2014/main" id="{5D1DAC32-DB33-3B3B-60B6-FD52556E458B}"/>
              </a:ext>
            </a:extLst>
          </p:cNvPr>
          <p:cNvPicPr>
            <a:picLocks noChangeAspect="1"/>
          </p:cNvPicPr>
          <p:nvPr/>
        </p:nvPicPr>
        <p:blipFill>
          <a:blip r:embed="rId2"/>
          <a:stretch>
            <a:fillRect/>
          </a:stretch>
        </p:blipFill>
        <p:spPr>
          <a:xfrm>
            <a:off x="10184257" y="757082"/>
            <a:ext cx="971423" cy="502297"/>
          </a:xfrm>
          <a:prstGeom prst="rect">
            <a:avLst/>
          </a:prstGeom>
        </p:spPr>
      </p:pic>
    </p:spTree>
    <p:extLst>
      <p:ext uri="{BB962C8B-B14F-4D97-AF65-F5344CB8AC3E}">
        <p14:creationId xmlns:p14="http://schemas.microsoft.com/office/powerpoint/2010/main" val="27641963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C4336F-5AC0-811A-82EF-889F5ADC2AB2}"/>
              </a:ext>
            </a:extLst>
          </p:cNvPr>
          <p:cNvSpPr>
            <a:spLocks noGrp="1"/>
          </p:cNvSpPr>
          <p:nvPr>
            <p:ph type="title"/>
          </p:nvPr>
        </p:nvSpPr>
        <p:spPr/>
        <p:txBody>
          <a:bodyPr/>
          <a:lstStyle/>
          <a:p>
            <a:r>
              <a:rPr lang="es-AR" dirty="0"/>
              <a:t>¿Qué vamos a ver hoy?</a:t>
            </a:r>
          </a:p>
        </p:txBody>
      </p:sp>
      <p:sp>
        <p:nvSpPr>
          <p:cNvPr id="3" name="Marcador de contenido 2">
            <a:extLst>
              <a:ext uri="{FF2B5EF4-FFF2-40B4-BE49-F238E27FC236}">
                <a16:creationId xmlns:a16="http://schemas.microsoft.com/office/drawing/2014/main" id="{603049D7-A436-B632-A882-0EB667660D33}"/>
              </a:ext>
            </a:extLst>
          </p:cNvPr>
          <p:cNvSpPr>
            <a:spLocks noGrp="1"/>
          </p:cNvSpPr>
          <p:nvPr>
            <p:ph idx="1"/>
          </p:nvPr>
        </p:nvSpPr>
        <p:spPr/>
        <p:txBody>
          <a:bodyPr>
            <a:normAutofit/>
          </a:bodyPr>
          <a:lstStyle/>
          <a:p>
            <a:endParaRPr lang="es-AR" dirty="0"/>
          </a:p>
          <a:p>
            <a:endParaRPr lang="es-AR" dirty="0"/>
          </a:p>
          <a:p>
            <a:r>
              <a:rPr lang="es-ES" b="1" dirty="0"/>
              <a:t>Conceptos de: métodos, abstracción, atributos, relaciones entre objetos. </a:t>
            </a:r>
          </a:p>
          <a:p>
            <a:r>
              <a:rPr lang="es-ES" b="1" dirty="0"/>
              <a:t>Tipos de datos primitivos y tipos de datos </a:t>
            </a:r>
            <a:r>
              <a:rPr lang="es-ES" b="1" dirty="0" err="1"/>
              <a:t>wrapper</a:t>
            </a:r>
            <a:r>
              <a:rPr lang="es-ES" b="1" dirty="0"/>
              <a:t>. </a:t>
            </a:r>
          </a:p>
          <a:p>
            <a:r>
              <a:rPr lang="es-ES" b="1" dirty="0"/>
              <a:t>Constructores y destructores</a:t>
            </a:r>
          </a:p>
          <a:p>
            <a:r>
              <a:rPr lang="es-AR" b="1" dirty="0"/>
              <a:t>Ejercicios</a:t>
            </a:r>
          </a:p>
          <a:p>
            <a:endParaRPr lang="es-AR" dirty="0"/>
          </a:p>
          <a:p>
            <a:endParaRPr lang="es-AR" dirty="0"/>
          </a:p>
          <a:p>
            <a:pPr marL="0" indent="0">
              <a:buNone/>
            </a:pPr>
            <a:endParaRPr lang="es-AR" dirty="0"/>
          </a:p>
          <a:p>
            <a:pPr marL="0" indent="0">
              <a:buNone/>
            </a:pPr>
            <a:endParaRPr lang="es-AR" dirty="0"/>
          </a:p>
        </p:txBody>
      </p:sp>
      <p:pic>
        <p:nvPicPr>
          <p:cNvPr id="4" name="Imagen 3">
            <a:extLst>
              <a:ext uri="{FF2B5EF4-FFF2-40B4-BE49-F238E27FC236}">
                <a16:creationId xmlns:a16="http://schemas.microsoft.com/office/drawing/2014/main" id="{D1654074-BFA5-0824-1101-1D544D52443D}"/>
              </a:ext>
            </a:extLst>
          </p:cNvPr>
          <p:cNvPicPr>
            <a:picLocks noChangeAspect="1"/>
          </p:cNvPicPr>
          <p:nvPr/>
        </p:nvPicPr>
        <p:blipFill>
          <a:blip r:embed="rId2"/>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8D7E52AA-425A-C91D-D5B2-BAC74DD73A6B}"/>
              </a:ext>
            </a:extLst>
          </p:cNvPr>
          <p:cNvSpPr>
            <a:spLocks noGrp="1"/>
          </p:cNvSpPr>
          <p:nvPr>
            <p:ph type="sldNum" sz="quarter" idx="12"/>
          </p:nvPr>
        </p:nvSpPr>
        <p:spPr/>
        <p:txBody>
          <a:bodyPr/>
          <a:lstStyle/>
          <a:p>
            <a:fld id="{6C8ECD1B-3F01-46F8-A46F-31A31EFC5ABF}" type="slidenum">
              <a:rPr lang="es-AR" smtClean="0"/>
              <a:t>2</a:t>
            </a:fld>
            <a:endParaRPr lang="es-AR"/>
          </a:p>
        </p:txBody>
      </p:sp>
    </p:spTree>
    <p:extLst>
      <p:ext uri="{BB962C8B-B14F-4D97-AF65-F5344CB8AC3E}">
        <p14:creationId xmlns:p14="http://schemas.microsoft.com/office/powerpoint/2010/main" val="37734702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3EFB14-CA4A-ECCC-0BA5-42AE32B3513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1291CD0-AA5B-9491-3C0D-41D00636F805}"/>
              </a:ext>
            </a:extLst>
          </p:cNvPr>
          <p:cNvSpPr>
            <a:spLocks noGrp="1"/>
          </p:cNvSpPr>
          <p:nvPr>
            <p:ph type="title"/>
          </p:nvPr>
        </p:nvSpPr>
        <p:spPr/>
        <p:txBody>
          <a:bodyPr/>
          <a:lstStyle/>
          <a:p>
            <a:pPr algn="ctr"/>
            <a:r>
              <a:rPr lang="es-AR" b="1" dirty="0"/>
              <a:t>UML</a:t>
            </a:r>
            <a:endParaRPr lang="es-AR" dirty="0"/>
          </a:p>
        </p:txBody>
      </p:sp>
      <p:sp>
        <p:nvSpPr>
          <p:cNvPr id="3" name="Marcador de contenido 2">
            <a:extLst>
              <a:ext uri="{FF2B5EF4-FFF2-40B4-BE49-F238E27FC236}">
                <a16:creationId xmlns:a16="http://schemas.microsoft.com/office/drawing/2014/main" id="{0768CF56-BB27-4C30-E2A3-5D7B9AE0CB56}"/>
              </a:ext>
            </a:extLst>
          </p:cNvPr>
          <p:cNvSpPr>
            <a:spLocks noGrp="1"/>
          </p:cNvSpPr>
          <p:nvPr>
            <p:ph idx="1"/>
          </p:nvPr>
        </p:nvSpPr>
        <p:spPr/>
        <p:txBody>
          <a:bodyPr>
            <a:normAutofit/>
          </a:bodyPr>
          <a:lstStyle/>
          <a:p>
            <a:pPr algn="just"/>
            <a:r>
              <a:rPr lang="es-ES" dirty="0"/>
              <a:t>Es un </a:t>
            </a:r>
            <a:r>
              <a:rPr lang="es-ES" b="1" dirty="0"/>
              <a:t>Lenguaje de Modelado Unificado</a:t>
            </a:r>
            <a:r>
              <a:rPr lang="es-ES" dirty="0"/>
              <a:t>, es una de las formas más populares de proporcionar una representación gráfica para el desarrollo y la ingeniería del software para representar la estructura general del software y el flujo de instrucciones. </a:t>
            </a:r>
          </a:p>
          <a:p>
            <a:pPr algn="just"/>
            <a:r>
              <a:rPr lang="es-ES" dirty="0"/>
              <a:t>UML es muy usado en lenguajes de programación orientados a objetos. </a:t>
            </a:r>
          </a:p>
          <a:p>
            <a:pPr algn="just"/>
            <a:r>
              <a:rPr lang="es-ES" dirty="0"/>
              <a:t>UML es una representación visual unificada y holística de un sistema, un programa, un software o incluso un proceso. En la mayoría de los casos, los desarrolladores crean un diagrama UML para que los usuarios finales o los desarrolladores empresariales conozcan el funcionamiento del sistema. Al estar inspirados en entidades y problemas del mundo real, también facilitan su comprensión a los usuarios. </a:t>
            </a:r>
          </a:p>
          <a:p>
            <a:pPr algn="just"/>
            <a:r>
              <a:rPr lang="es-ES" dirty="0"/>
              <a:t>Al observar el diagrama UML, podemos entender cómo funciona el sistema.</a:t>
            </a:r>
            <a:endParaRPr lang="es-AR" dirty="0"/>
          </a:p>
        </p:txBody>
      </p:sp>
      <p:pic>
        <p:nvPicPr>
          <p:cNvPr id="4" name="Imagen 3">
            <a:extLst>
              <a:ext uri="{FF2B5EF4-FFF2-40B4-BE49-F238E27FC236}">
                <a16:creationId xmlns:a16="http://schemas.microsoft.com/office/drawing/2014/main" id="{7A97C8F1-A031-0F76-C3AF-32DF9DDEC644}"/>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F72E16D4-0B3A-B066-0D72-80A6FA2B781E}"/>
              </a:ext>
            </a:extLst>
          </p:cNvPr>
          <p:cNvSpPr>
            <a:spLocks noGrp="1"/>
          </p:cNvSpPr>
          <p:nvPr>
            <p:ph type="sldNum" sz="quarter" idx="12"/>
          </p:nvPr>
        </p:nvSpPr>
        <p:spPr/>
        <p:txBody>
          <a:bodyPr/>
          <a:lstStyle/>
          <a:p>
            <a:fld id="{6C8ECD1B-3F01-46F8-A46F-31A31EFC5ABF}" type="slidenum">
              <a:rPr lang="es-AR" smtClean="0"/>
              <a:t>3</a:t>
            </a:fld>
            <a:endParaRPr lang="es-AR"/>
          </a:p>
        </p:txBody>
      </p:sp>
    </p:spTree>
    <p:extLst>
      <p:ext uri="{BB962C8B-B14F-4D97-AF65-F5344CB8AC3E}">
        <p14:creationId xmlns:p14="http://schemas.microsoft.com/office/powerpoint/2010/main" val="23616287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1AE6AF-E423-DEE5-353E-4A89069FE35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B81467A-6D25-C467-33E7-245380AAECAA}"/>
              </a:ext>
            </a:extLst>
          </p:cNvPr>
          <p:cNvSpPr>
            <a:spLocks noGrp="1"/>
          </p:cNvSpPr>
          <p:nvPr>
            <p:ph type="title"/>
          </p:nvPr>
        </p:nvSpPr>
        <p:spPr/>
        <p:txBody>
          <a:bodyPr/>
          <a:lstStyle/>
          <a:p>
            <a:pPr algn="ctr"/>
            <a:r>
              <a:rPr lang="es-AR" b="1" dirty="0"/>
              <a:t>UML</a:t>
            </a:r>
            <a:endParaRPr lang="es-AR" dirty="0"/>
          </a:p>
        </p:txBody>
      </p:sp>
      <p:sp>
        <p:nvSpPr>
          <p:cNvPr id="3" name="Marcador de contenido 2">
            <a:extLst>
              <a:ext uri="{FF2B5EF4-FFF2-40B4-BE49-F238E27FC236}">
                <a16:creationId xmlns:a16="http://schemas.microsoft.com/office/drawing/2014/main" id="{62EB41EF-E221-67C4-C9CC-3EC7A936060F}"/>
              </a:ext>
            </a:extLst>
          </p:cNvPr>
          <p:cNvSpPr>
            <a:spLocks noGrp="1"/>
          </p:cNvSpPr>
          <p:nvPr>
            <p:ph idx="1"/>
          </p:nvPr>
        </p:nvSpPr>
        <p:spPr/>
        <p:txBody>
          <a:bodyPr>
            <a:normAutofit/>
          </a:bodyPr>
          <a:lstStyle/>
          <a:p>
            <a:pPr algn="just"/>
            <a:r>
              <a:rPr lang="es-ES" dirty="0"/>
              <a:t>Se inició a finales de los años 80. Originalmente se basaba en el </a:t>
            </a:r>
            <a:r>
              <a:rPr lang="es-ES" b="1" dirty="0"/>
              <a:t>método Booch</a:t>
            </a:r>
            <a:r>
              <a:rPr lang="es-ES" dirty="0"/>
              <a:t>, introducido por </a:t>
            </a:r>
            <a:r>
              <a:rPr lang="es-ES" b="1" dirty="0"/>
              <a:t>Grady Booch</a:t>
            </a:r>
            <a:r>
              <a:rPr lang="es-ES" dirty="0"/>
              <a:t>. Fue en 1994 cuando James Rumbaugh, de General Electric, lo fusionó con la conocida </a:t>
            </a:r>
            <a:r>
              <a:rPr lang="es-ES" b="1" dirty="0"/>
              <a:t>técnica de modelado de objetos (OMT)</a:t>
            </a:r>
            <a:r>
              <a:rPr lang="es-ES" dirty="0"/>
              <a:t>. Además, se unieron a ella otras metodologías y principios introducidos por Ivar Jacobson, </a:t>
            </a:r>
            <a:r>
              <a:rPr lang="es-ES" b="1" dirty="0"/>
              <a:t>el método de Ingeniería de Software Orientado a Objetos (OOSE)</a:t>
            </a:r>
            <a:r>
              <a:rPr lang="es-ES" dirty="0"/>
              <a:t>.</a:t>
            </a:r>
          </a:p>
          <a:p>
            <a:pPr algn="just"/>
            <a:r>
              <a:rPr lang="es-ES" dirty="0"/>
              <a:t>En 1997 bajo, el liderazgo de</a:t>
            </a:r>
            <a:r>
              <a:rPr lang="es-ES" b="1" dirty="0"/>
              <a:t> Rumbaugh, Jacobson y Booch</a:t>
            </a:r>
            <a:r>
              <a:rPr lang="es-ES" dirty="0"/>
              <a:t>, se lanzó una metodología oficial de   UML 1. La cual tiene numerosos estándares para garantizar que se mantenga un sentido de coherencia en todos los diagramas.</a:t>
            </a:r>
          </a:p>
          <a:p>
            <a:pPr algn="just"/>
            <a:r>
              <a:rPr lang="es-ES" dirty="0"/>
              <a:t>Más tarde, se incluyó una regla de cardinalidad en el lenguaje y se creó un grupo de trabajo de revisión para perfeccionar el principio. Finalmente, en 2005 se publicó UML 2.0, que se basaba principalmente en el enfoque orientado a objetos. Para seguir las tendencias actuales, de vez en cuando se publica una versión perfeccionada basada en UML 2.x.</a:t>
            </a:r>
          </a:p>
          <a:p>
            <a:pPr algn="just"/>
            <a:endParaRPr lang="es-AR" dirty="0"/>
          </a:p>
        </p:txBody>
      </p:sp>
      <p:pic>
        <p:nvPicPr>
          <p:cNvPr id="4" name="Imagen 3">
            <a:extLst>
              <a:ext uri="{FF2B5EF4-FFF2-40B4-BE49-F238E27FC236}">
                <a16:creationId xmlns:a16="http://schemas.microsoft.com/office/drawing/2014/main" id="{1E613B06-3ADA-BDD1-B85A-614983255739}"/>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D7CC7269-C956-CAB5-E89C-9CB77AD08F62}"/>
              </a:ext>
            </a:extLst>
          </p:cNvPr>
          <p:cNvSpPr>
            <a:spLocks noGrp="1"/>
          </p:cNvSpPr>
          <p:nvPr>
            <p:ph type="sldNum" sz="quarter" idx="12"/>
          </p:nvPr>
        </p:nvSpPr>
        <p:spPr/>
        <p:txBody>
          <a:bodyPr/>
          <a:lstStyle/>
          <a:p>
            <a:fld id="{6C8ECD1B-3F01-46F8-A46F-31A31EFC5ABF}" type="slidenum">
              <a:rPr lang="es-AR" smtClean="0"/>
              <a:t>4</a:t>
            </a:fld>
            <a:endParaRPr lang="es-AR"/>
          </a:p>
        </p:txBody>
      </p:sp>
    </p:spTree>
    <p:extLst>
      <p:ext uri="{BB962C8B-B14F-4D97-AF65-F5344CB8AC3E}">
        <p14:creationId xmlns:p14="http://schemas.microsoft.com/office/powerpoint/2010/main" val="30539879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0D4C88-CE3E-D9DB-3127-558CFA79EA3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CEF8917-9284-360B-C3DE-58BE9E11B728}"/>
              </a:ext>
            </a:extLst>
          </p:cNvPr>
          <p:cNvSpPr>
            <a:spLocks noGrp="1"/>
          </p:cNvSpPr>
          <p:nvPr>
            <p:ph type="title"/>
          </p:nvPr>
        </p:nvSpPr>
        <p:spPr/>
        <p:txBody>
          <a:bodyPr/>
          <a:lstStyle/>
          <a:p>
            <a:pPr algn="ctr"/>
            <a:r>
              <a:rPr lang="es-AR" b="1" dirty="0"/>
              <a:t>UML</a:t>
            </a:r>
            <a:endParaRPr lang="es-AR" dirty="0"/>
          </a:p>
        </p:txBody>
      </p:sp>
      <p:pic>
        <p:nvPicPr>
          <p:cNvPr id="4" name="Imagen 3">
            <a:extLst>
              <a:ext uri="{FF2B5EF4-FFF2-40B4-BE49-F238E27FC236}">
                <a16:creationId xmlns:a16="http://schemas.microsoft.com/office/drawing/2014/main" id="{8FDE2A08-DD39-625D-1484-4B07C015DF6F}"/>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720D29BC-97AA-CCFA-945B-F9CB50DF2696}"/>
              </a:ext>
            </a:extLst>
          </p:cNvPr>
          <p:cNvSpPr>
            <a:spLocks noGrp="1"/>
          </p:cNvSpPr>
          <p:nvPr>
            <p:ph type="sldNum" sz="quarter" idx="12"/>
          </p:nvPr>
        </p:nvSpPr>
        <p:spPr/>
        <p:txBody>
          <a:bodyPr/>
          <a:lstStyle/>
          <a:p>
            <a:fld id="{6C8ECD1B-3F01-46F8-A46F-31A31EFC5ABF}" type="slidenum">
              <a:rPr lang="es-AR" smtClean="0"/>
              <a:t>5</a:t>
            </a:fld>
            <a:endParaRPr lang="es-AR"/>
          </a:p>
        </p:txBody>
      </p:sp>
      <p:pic>
        <p:nvPicPr>
          <p:cNvPr id="1026" name="Picture 2" descr="Línea de tiempo de la historia de UML">
            <a:extLst>
              <a:ext uri="{FF2B5EF4-FFF2-40B4-BE49-F238E27FC236}">
                <a16:creationId xmlns:a16="http://schemas.microsoft.com/office/drawing/2014/main" id="{FB8F3898-3474-1D41-635B-5ECEB21FF73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83042" y="1903060"/>
            <a:ext cx="9286875" cy="4391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90176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A911BC-B049-7E9C-4549-509DBEE1F1D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8D1DECD-7590-491C-8437-055C0C409301}"/>
              </a:ext>
            </a:extLst>
          </p:cNvPr>
          <p:cNvSpPr>
            <a:spLocks noGrp="1"/>
          </p:cNvSpPr>
          <p:nvPr>
            <p:ph type="title"/>
          </p:nvPr>
        </p:nvSpPr>
        <p:spPr/>
        <p:txBody>
          <a:bodyPr/>
          <a:lstStyle/>
          <a:p>
            <a:pPr algn="ctr"/>
            <a:r>
              <a:rPr lang="es-AR" b="1" dirty="0"/>
              <a:t>¿Por qué necesitamos UML?</a:t>
            </a:r>
            <a:endParaRPr lang="es-AR" dirty="0"/>
          </a:p>
        </p:txBody>
      </p:sp>
      <p:sp>
        <p:nvSpPr>
          <p:cNvPr id="3" name="Marcador de contenido 2">
            <a:extLst>
              <a:ext uri="{FF2B5EF4-FFF2-40B4-BE49-F238E27FC236}">
                <a16:creationId xmlns:a16="http://schemas.microsoft.com/office/drawing/2014/main" id="{567E8760-396B-4A56-58C8-AB826668C900}"/>
              </a:ext>
            </a:extLst>
          </p:cNvPr>
          <p:cNvSpPr>
            <a:spLocks noGrp="1"/>
          </p:cNvSpPr>
          <p:nvPr>
            <p:ph idx="1"/>
          </p:nvPr>
        </p:nvSpPr>
        <p:spPr/>
        <p:txBody>
          <a:bodyPr>
            <a:normAutofit/>
          </a:bodyPr>
          <a:lstStyle/>
          <a:p>
            <a:pPr algn="just">
              <a:buFont typeface="Arial" panose="020B0604020202020204" pitchFamily="34" charset="0"/>
              <a:buChar char="•"/>
            </a:pPr>
            <a:r>
              <a:rPr lang="es-ES" dirty="0"/>
              <a:t>Proporcionan una representación visual del problema o de todo el sistema. De este modo, incluso alguien que no sea desarrollador puede entender cómo funciona el sistema.</a:t>
            </a:r>
          </a:p>
          <a:p>
            <a:pPr algn="just">
              <a:buFont typeface="Arial" panose="020B0604020202020204" pitchFamily="34" charset="0"/>
              <a:buChar char="•"/>
            </a:pPr>
            <a:r>
              <a:rPr lang="es-ES" dirty="0"/>
              <a:t>Los diagramas UML también desempeñan un papel fundamental en la resolución de problemas. Podemos representar un problema del mundo real y encontrar gradualmente la forma de resolverlo.</a:t>
            </a:r>
          </a:p>
          <a:p>
            <a:pPr algn="just">
              <a:buFont typeface="Arial" panose="020B0604020202020204" pitchFamily="34" charset="0"/>
              <a:buChar char="•"/>
            </a:pPr>
            <a:r>
              <a:rPr lang="es-ES" dirty="0"/>
              <a:t>Como estos diagramas son sencillos de comprender, no es necesario tener conocimientos previos para saber cómo funciona una entidad o cómo fluye un proceso.</a:t>
            </a:r>
          </a:p>
          <a:p>
            <a:pPr algn="just">
              <a:buFont typeface="Arial" panose="020B0604020202020204" pitchFamily="34" charset="0"/>
              <a:buChar char="•"/>
            </a:pPr>
            <a:r>
              <a:rPr lang="es-ES" dirty="0"/>
              <a:t>Al utilizar un diagrama UML holístico, todo el equipo de desarrollo de software puede colaborar y trabajar en conjunto.</a:t>
            </a:r>
          </a:p>
          <a:p>
            <a:pPr algn="just">
              <a:buFont typeface="Arial" panose="020B0604020202020204" pitchFamily="34" charset="0"/>
              <a:buChar char="•"/>
            </a:pPr>
            <a:r>
              <a:rPr lang="es-ES" dirty="0"/>
              <a:t>Tienen muchas aplicaciones en la programación orientada a objetos, desarrollo web, desarrollo de prototipos, análisis de negocios, entre otros.</a:t>
            </a:r>
            <a:endParaRPr lang="es-AR" dirty="0"/>
          </a:p>
        </p:txBody>
      </p:sp>
      <p:pic>
        <p:nvPicPr>
          <p:cNvPr id="4" name="Imagen 3">
            <a:extLst>
              <a:ext uri="{FF2B5EF4-FFF2-40B4-BE49-F238E27FC236}">
                <a16:creationId xmlns:a16="http://schemas.microsoft.com/office/drawing/2014/main" id="{BA9DBD33-FC32-95D2-3CA3-923EC10D2CE7}"/>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2D40A73E-0AC7-F3A6-63BF-73A019215352}"/>
              </a:ext>
            </a:extLst>
          </p:cNvPr>
          <p:cNvSpPr>
            <a:spLocks noGrp="1"/>
          </p:cNvSpPr>
          <p:nvPr>
            <p:ph type="sldNum" sz="quarter" idx="12"/>
          </p:nvPr>
        </p:nvSpPr>
        <p:spPr/>
        <p:txBody>
          <a:bodyPr/>
          <a:lstStyle/>
          <a:p>
            <a:fld id="{6C8ECD1B-3F01-46F8-A46F-31A31EFC5ABF}" type="slidenum">
              <a:rPr lang="es-AR" smtClean="0"/>
              <a:t>6</a:t>
            </a:fld>
            <a:endParaRPr lang="es-AR"/>
          </a:p>
        </p:txBody>
      </p:sp>
    </p:spTree>
    <p:extLst>
      <p:ext uri="{BB962C8B-B14F-4D97-AF65-F5344CB8AC3E}">
        <p14:creationId xmlns:p14="http://schemas.microsoft.com/office/powerpoint/2010/main" val="1169341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684402-0906-64E6-B73B-E1BE19091D9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097DA55-28BE-0563-02F0-332641A494D4}"/>
              </a:ext>
            </a:extLst>
          </p:cNvPr>
          <p:cNvSpPr>
            <a:spLocks noGrp="1"/>
          </p:cNvSpPr>
          <p:nvPr>
            <p:ph type="title"/>
          </p:nvPr>
        </p:nvSpPr>
        <p:spPr/>
        <p:txBody>
          <a:bodyPr/>
          <a:lstStyle/>
          <a:p>
            <a:pPr algn="ctr"/>
            <a:r>
              <a:rPr lang="es-AR" b="1" dirty="0"/>
              <a:t>Diferentes tipos de diagramas UML</a:t>
            </a:r>
          </a:p>
        </p:txBody>
      </p:sp>
      <p:pic>
        <p:nvPicPr>
          <p:cNvPr id="4" name="Imagen 3">
            <a:extLst>
              <a:ext uri="{FF2B5EF4-FFF2-40B4-BE49-F238E27FC236}">
                <a16:creationId xmlns:a16="http://schemas.microsoft.com/office/drawing/2014/main" id="{91BAFB41-1983-6DB0-07F8-E8A9E5E26D2B}"/>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A97519F5-D1A3-276D-DFF0-8EED722FEE70}"/>
              </a:ext>
            </a:extLst>
          </p:cNvPr>
          <p:cNvSpPr>
            <a:spLocks noGrp="1"/>
          </p:cNvSpPr>
          <p:nvPr>
            <p:ph type="sldNum" sz="quarter" idx="12"/>
          </p:nvPr>
        </p:nvSpPr>
        <p:spPr/>
        <p:txBody>
          <a:bodyPr/>
          <a:lstStyle/>
          <a:p>
            <a:fld id="{6C8ECD1B-3F01-46F8-A46F-31A31EFC5ABF}" type="slidenum">
              <a:rPr lang="es-AR" smtClean="0"/>
              <a:t>7</a:t>
            </a:fld>
            <a:endParaRPr lang="es-AR"/>
          </a:p>
        </p:txBody>
      </p:sp>
      <p:pic>
        <p:nvPicPr>
          <p:cNvPr id="2052" name="Picture 4" descr="Tipos de Diagramas en UML | Tecnología y Synergix">
            <a:extLst>
              <a:ext uri="{FF2B5EF4-FFF2-40B4-BE49-F238E27FC236}">
                <a16:creationId xmlns:a16="http://schemas.microsoft.com/office/drawing/2014/main" id="{AB630BCC-AF97-4327-5B0B-C08936C04A4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14930" y="1959719"/>
            <a:ext cx="7023100" cy="42777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50366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EC11F4-0D2B-D7A8-F69C-E19E726ECA9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3401909-3F42-269D-DA51-C73FA4927B16}"/>
              </a:ext>
            </a:extLst>
          </p:cNvPr>
          <p:cNvSpPr>
            <a:spLocks noGrp="1"/>
          </p:cNvSpPr>
          <p:nvPr>
            <p:ph type="title"/>
          </p:nvPr>
        </p:nvSpPr>
        <p:spPr/>
        <p:txBody>
          <a:bodyPr/>
          <a:lstStyle/>
          <a:p>
            <a:r>
              <a:rPr lang="es-AR" b="1" dirty="0"/>
              <a:t>Diagrama de clases</a:t>
            </a:r>
          </a:p>
        </p:txBody>
      </p:sp>
      <p:pic>
        <p:nvPicPr>
          <p:cNvPr id="4" name="Imagen 3">
            <a:extLst>
              <a:ext uri="{FF2B5EF4-FFF2-40B4-BE49-F238E27FC236}">
                <a16:creationId xmlns:a16="http://schemas.microsoft.com/office/drawing/2014/main" id="{B3E8B250-8740-BAF9-A269-479B72A84E35}"/>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19155F55-579B-57A2-0206-69CE1D38F202}"/>
              </a:ext>
            </a:extLst>
          </p:cNvPr>
          <p:cNvSpPr>
            <a:spLocks noGrp="1"/>
          </p:cNvSpPr>
          <p:nvPr>
            <p:ph type="sldNum" sz="quarter" idx="12"/>
          </p:nvPr>
        </p:nvSpPr>
        <p:spPr/>
        <p:txBody>
          <a:bodyPr/>
          <a:lstStyle/>
          <a:p>
            <a:fld id="{6C8ECD1B-3F01-46F8-A46F-31A31EFC5ABF}" type="slidenum">
              <a:rPr lang="es-AR" smtClean="0"/>
              <a:t>8</a:t>
            </a:fld>
            <a:endParaRPr lang="es-AR"/>
          </a:p>
        </p:txBody>
      </p:sp>
      <p:sp>
        <p:nvSpPr>
          <p:cNvPr id="3" name="Marcador de contenido 2">
            <a:extLst>
              <a:ext uri="{FF2B5EF4-FFF2-40B4-BE49-F238E27FC236}">
                <a16:creationId xmlns:a16="http://schemas.microsoft.com/office/drawing/2014/main" id="{6ACD2EA5-4B5F-CC46-D32B-314BF3749B6B}"/>
              </a:ext>
            </a:extLst>
          </p:cNvPr>
          <p:cNvSpPr>
            <a:spLocks noGrp="1"/>
          </p:cNvSpPr>
          <p:nvPr>
            <p:ph idx="1"/>
          </p:nvPr>
        </p:nvSpPr>
        <p:spPr>
          <a:xfrm>
            <a:off x="1097280" y="1737360"/>
            <a:ext cx="10058400" cy="4568190"/>
          </a:xfrm>
        </p:spPr>
        <p:txBody>
          <a:bodyPr>
            <a:normAutofit/>
          </a:bodyPr>
          <a:lstStyle/>
          <a:p>
            <a:pPr marL="0" indent="0" algn="just">
              <a:buNone/>
            </a:pPr>
            <a:endParaRPr lang="es-ES" dirty="0"/>
          </a:p>
          <a:p>
            <a:pPr marL="0" indent="0" algn="just">
              <a:buNone/>
            </a:pPr>
            <a:r>
              <a:rPr lang="es-ES" dirty="0"/>
              <a:t>Un </a:t>
            </a:r>
            <a:r>
              <a:rPr lang="es-ES" b="1" dirty="0"/>
              <a:t>diagrama de clases </a:t>
            </a:r>
            <a:r>
              <a:rPr lang="es-ES" dirty="0"/>
              <a:t>es un tipo de </a:t>
            </a:r>
            <a:r>
              <a:rPr lang="es-ES" b="1" dirty="0"/>
              <a:t>diagrama de estructura</a:t>
            </a:r>
            <a:r>
              <a:rPr lang="es-ES" dirty="0"/>
              <a:t> estática que describe la estructura de un sistema mostrando las </a:t>
            </a:r>
            <a:r>
              <a:rPr lang="es-ES" b="1" dirty="0"/>
              <a:t>clases del sistema, sus atributos, operaciones (o métodos), y las relaciones entre los objetos </a:t>
            </a:r>
            <a:r>
              <a:rPr lang="es-AR" dirty="0"/>
              <a:t>(herencia, asociación, dependencia, etc.)</a:t>
            </a:r>
            <a:r>
              <a:rPr lang="es-ES" dirty="0"/>
              <a:t>.</a:t>
            </a:r>
          </a:p>
          <a:p>
            <a:pPr marL="0" indent="0">
              <a:buNone/>
            </a:pPr>
            <a:r>
              <a:rPr lang="es-ES" dirty="0"/>
              <a:t>Una clase se representa como un rectángulo dividido en 3 partes:</a:t>
            </a:r>
          </a:p>
          <a:p>
            <a:pPr>
              <a:buFont typeface="Arial" panose="020B0604020202020204" pitchFamily="34" charset="0"/>
              <a:buChar char="•"/>
            </a:pPr>
            <a:r>
              <a:rPr lang="es-ES" dirty="0"/>
              <a:t>Nombre de la clase.</a:t>
            </a:r>
          </a:p>
          <a:p>
            <a:pPr>
              <a:buFont typeface="Arial" panose="020B0604020202020204" pitchFamily="34" charset="0"/>
              <a:buChar char="•"/>
            </a:pPr>
            <a:r>
              <a:rPr lang="es-ES" dirty="0"/>
              <a:t>Atributos (propiedades o variables).</a:t>
            </a:r>
          </a:p>
          <a:p>
            <a:pPr>
              <a:buFont typeface="Arial" panose="020B0604020202020204" pitchFamily="34" charset="0"/>
              <a:buChar char="•"/>
            </a:pPr>
            <a:r>
              <a:rPr lang="es-ES" dirty="0"/>
              <a:t>Métodos (funciones o comportamientos).</a:t>
            </a:r>
          </a:p>
          <a:p>
            <a:pPr>
              <a:buFont typeface="Arial" panose="020B0604020202020204" pitchFamily="34" charset="0"/>
              <a:buChar char="•"/>
            </a:pPr>
            <a:endParaRPr lang="es-ES" dirty="0"/>
          </a:p>
        </p:txBody>
      </p:sp>
      <p:pic>
        <p:nvPicPr>
          <p:cNvPr id="3078" name="Picture 6" descr="Reglas de conversión entre el diagrama de clases y los grafos conceptuales  de Sowa">
            <a:extLst>
              <a:ext uri="{FF2B5EF4-FFF2-40B4-BE49-F238E27FC236}">
                <a16:creationId xmlns:a16="http://schemas.microsoft.com/office/drawing/2014/main" id="{A6503F1E-7D58-B092-C380-F2CA213911E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78880" y="4021455"/>
            <a:ext cx="4876800" cy="2257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28988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FEA9F8-DE03-8940-A816-CFE9F5F8A01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D2C0EB7-D7BC-A26B-9C62-9B53B82C8CF2}"/>
              </a:ext>
            </a:extLst>
          </p:cNvPr>
          <p:cNvSpPr>
            <a:spLocks noGrp="1"/>
          </p:cNvSpPr>
          <p:nvPr>
            <p:ph type="title"/>
          </p:nvPr>
        </p:nvSpPr>
        <p:spPr/>
        <p:txBody>
          <a:bodyPr/>
          <a:lstStyle/>
          <a:p>
            <a:r>
              <a:rPr lang="es-AR" b="1" dirty="0"/>
              <a:t>Diagrama de clases: Atributos</a:t>
            </a:r>
          </a:p>
        </p:txBody>
      </p:sp>
      <p:pic>
        <p:nvPicPr>
          <p:cNvPr id="4" name="Imagen 3">
            <a:extLst>
              <a:ext uri="{FF2B5EF4-FFF2-40B4-BE49-F238E27FC236}">
                <a16:creationId xmlns:a16="http://schemas.microsoft.com/office/drawing/2014/main" id="{091ECC1A-388B-4A8C-9368-86BA793353C3}"/>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CEBB0594-AC21-D273-5791-3FB97AC18F63}"/>
              </a:ext>
            </a:extLst>
          </p:cNvPr>
          <p:cNvSpPr>
            <a:spLocks noGrp="1"/>
          </p:cNvSpPr>
          <p:nvPr>
            <p:ph type="sldNum" sz="quarter" idx="12"/>
          </p:nvPr>
        </p:nvSpPr>
        <p:spPr/>
        <p:txBody>
          <a:bodyPr/>
          <a:lstStyle/>
          <a:p>
            <a:fld id="{6C8ECD1B-3F01-46F8-A46F-31A31EFC5ABF}" type="slidenum">
              <a:rPr lang="es-AR" smtClean="0"/>
              <a:t>9</a:t>
            </a:fld>
            <a:endParaRPr lang="es-AR"/>
          </a:p>
        </p:txBody>
      </p:sp>
      <p:sp>
        <p:nvSpPr>
          <p:cNvPr id="3" name="Marcador de contenido 2">
            <a:extLst>
              <a:ext uri="{FF2B5EF4-FFF2-40B4-BE49-F238E27FC236}">
                <a16:creationId xmlns:a16="http://schemas.microsoft.com/office/drawing/2014/main" id="{A8DC0F5B-CBA7-F633-3536-19544AFD7B1B}"/>
              </a:ext>
            </a:extLst>
          </p:cNvPr>
          <p:cNvSpPr>
            <a:spLocks noGrp="1"/>
          </p:cNvSpPr>
          <p:nvPr>
            <p:ph idx="1"/>
          </p:nvPr>
        </p:nvSpPr>
        <p:spPr>
          <a:xfrm>
            <a:off x="1097280" y="1737360"/>
            <a:ext cx="10058400" cy="4568190"/>
          </a:xfrm>
        </p:spPr>
        <p:txBody>
          <a:bodyPr>
            <a:normAutofit/>
          </a:bodyPr>
          <a:lstStyle/>
          <a:p>
            <a:pPr marL="0" indent="0" algn="just">
              <a:buNone/>
            </a:pPr>
            <a:endParaRPr lang="es-ES" dirty="0"/>
          </a:p>
          <a:p>
            <a:pPr marL="0" indent="0" algn="just">
              <a:buNone/>
            </a:pPr>
            <a:r>
              <a:rPr lang="es-ES" dirty="0"/>
              <a:t>Atributos de una clase:</a:t>
            </a:r>
          </a:p>
          <a:p>
            <a:pPr marL="0" indent="0" algn="just">
              <a:buNone/>
            </a:pPr>
            <a:br>
              <a:rPr lang="es-ES" dirty="0"/>
            </a:br>
            <a:r>
              <a:rPr lang="es-ES" dirty="0"/>
              <a:t>Los nombres de atributo son sustantivos cortos o frases nominales que describen el atributo. La sintaxis UML para un nombre de atributo incorpora información adicional al nombre, como la visibilidad, el tipo y el valor inicial del atributo.</a:t>
            </a:r>
          </a:p>
          <a:p>
            <a:pPr marL="0" indent="0">
              <a:buNone/>
            </a:pPr>
            <a:endParaRPr lang="en-US" dirty="0"/>
          </a:p>
          <a:p>
            <a:pPr>
              <a:buFont typeface="Arial" panose="020B0604020202020204" pitchFamily="34" charset="0"/>
              <a:buChar char="•"/>
            </a:pPr>
            <a:endParaRPr lang="en-US" dirty="0"/>
          </a:p>
          <a:p>
            <a:pPr>
              <a:buFont typeface="Arial" panose="020B0604020202020204" pitchFamily="34" charset="0"/>
              <a:buChar char="•"/>
            </a:pPr>
            <a:endParaRPr lang="es-ES" dirty="0"/>
          </a:p>
        </p:txBody>
      </p:sp>
      <p:pic>
        <p:nvPicPr>
          <p:cNvPr id="8" name="Imagen 7">
            <a:extLst>
              <a:ext uri="{FF2B5EF4-FFF2-40B4-BE49-F238E27FC236}">
                <a16:creationId xmlns:a16="http://schemas.microsoft.com/office/drawing/2014/main" id="{C446F896-D516-C7F0-9329-FFA511F34BF4}"/>
              </a:ext>
            </a:extLst>
          </p:cNvPr>
          <p:cNvPicPr>
            <a:picLocks noChangeAspect="1"/>
          </p:cNvPicPr>
          <p:nvPr/>
        </p:nvPicPr>
        <p:blipFill>
          <a:blip r:embed="rId4"/>
          <a:stretch>
            <a:fillRect/>
          </a:stretch>
        </p:blipFill>
        <p:spPr>
          <a:xfrm>
            <a:off x="7915275" y="4358138"/>
            <a:ext cx="2135158" cy="1758365"/>
          </a:xfrm>
          <a:prstGeom prst="rect">
            <a:avLst/>
          </a:prstGeom>
        </p:spPr>
      </p:pic>
      <p:pic>
        <p:nvPicPr>
          <p:cNvPr id="7" name="Imagen 6">
            <a:extLst>
              <a:ext uri="{FF2B5EF4-FFF2-40B4-BE49-F238E27FC236}">
                <a16:creationId xmlns:a16="http://schemas.microsoft.com/office/drawing/2014/main" id="{FFC3F310-027E-A2DB-4F2A-5BDFDEE49996}"/>
              </a:ext>
            </a:extLst>
          </p:cNvPr>
          <p:cNvPicPr>
            <a:picLocks noChangeAspect="1"/>
          </p:cNvPicPr>
          <p:nvPr/>
        </p:nvPicPr>
        <p:blipFill>
          <a:blip r:embed="rId5"/>
          <a:stretch>
            <a:fillRect/>
          </a:stretch>
        </p:blipFill>
        <p:spPr>
          <a:xfrm>
            <a:off x="1330642" y="3892867"/>
            <a:ext cx="9591675" cy="276225"/>
          </a:xfrm>
          <a:prstGeom prst="rect">
            <a:avLst/>
          </a:prstGeom>
        </p:spPr>
      </p:pic>
      <p:pic>
        <p:nvPicPr>
          <p:cNvPr id="10" name="Imagen 9">
            <a:extLst>
              <a:ext uri="{FF2B5EF4-FFF2-40B4-BE49-F238E27FC236}">
                <a16:creationId xmlns:a16="http://schemas.microsoft.com/office/drawing/2014/main" id="{FAA8F9DD-92A2-F284-4007-64F50C17136A}"/>
              </a:ext>
            </a:extLst>
          </p:cNvPr>
          <p:cNvPicPr>
            <a:picLocks noChangeAspect="1"/>
          </p:cNvPicPr>
          <p:nvPr/>
        </p:nvPicPr>
        <p:blipFill>
          <a:blip r:embed="rId6"/>
          <a:stretch>
            <a:fillRect/>
          </a:stretch>
        </p:blipFill>
        <p:spPr>
          <a:xfrm>
            <a:off x="2505075" y="4363726"/>
            <a:ext cx="3191828" cy="1752777"/>
          </a:xfrm>
          <a:prstGeom prst="rect">
            <a:avLst/>
          </a:prstGeom>
        </p:spPr>
      </p:pic>
    </p:spTree>
    <p:extLst>
      <p:ext uri="{BB962C8B-B14F-4D97-AF65-F5344CB8AC3E}">
        <p14:creationId xmlns:p14="http://schemas.microsoft.com/office/powerpoint/2010/main" val="13491863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06E84F-CA77-17B0-A2FC-BA0077317B6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F92150C-DF56-3DD0-7695-50EEE1C17B35}"/>
              </a:ext>
            </a:extLst>
          </p:cNvPr>
          <p:cNvSpPr>
            <a:spLocks noGrp="1"/>
          </p:cNvSpPr>
          <p:nvPr>
            <p:ph type="title"/>
          </p:nvPr>
        </p:nvSpPr>
        <p:spPr/>
        <p:txBody>
          <a:bodyPr/>
          <a:lstStyle/>
          <a:p>
            <a:r>
              <a:rPr lang="es-AR" b="1" dirty="0"/>
              <a:t>Diagrama de clases: Métodos</a:t>
            </a:r>
          </a:p>
        </p:txBody>
      </p:sp>
      <p:pic>
        <p:nvPicPr>
          <p:cNvPr id="4" name="Imagen 3">
            <a:extLst>
              <a:ext uri="{FF2B5EF4-FFF2-40B4-BE49-F238E27FC236}">
                <a16:creationId xmlns:a16="http://schemas.microsoft.com/office/drawing/2014/main" id="{CDA7B385-18CC-D1B3-59C9-E180D5A742A2}"/>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0FEC8061-517D-18C8-8544-6492BC25DCAD}"/>
              </a:ext>
            </a:extLst>
          </p:cNvPr>
          <p:cNvSpPr>
            <a:spLocks noGrp="1"/>
          </p:cNvSpPr>
          <p:nvPr>
            <p:ph type="sldNum" sz="quarter" idx="12"/>
          </p:nvPr>
        </p:nvSpPr>
        <p:spPr/>
        <p:txBody>
          <a:bodyPr/>
          <a:lstStyle/>
          <a:p>
            <a:fld id="{6C8ECD1B-3F01-46F8-A46F-31A31EFC5ABF}" type="slidenum">
              <a:rPr lang="es-AR" smtClean="0"/>
              <a:t>10</a:t>
            </a:fld>
            <a:endParaRPr lang="es-AR"/>
          </a:p>
        </p:txBody>
      </p:sp>
      <p:sp>
        <p:nvSpPr>
          <p:cNvPr id="3" name="Marcador de contenido 2">
            <a:extLst>
              <a:ext uri="{FF2B5EF4-FFF2-40B4-BE49-F238E27FC236}">
                <a16:creationId xmlns:a16="http://schemas.microsoft.com/office/drawing/2014/main" id="{4D50A3C7-6D75-8916-A33C-54A4C3DAE06A}"/>
              </a:ext>
            </a:extLst>
          </p:cNvPr>
          <p:cNvSpPr>
            <a:spLocks noGrp="1"/>
          </p:cNvSpPr>
          <p:nvPr>
            <p:ph idx="1"/>
          </p:nvPr>
        </p:nvSpPr>
        <p:spPr>
          <a:xfrm>
            <a:off x="1097280" y="1737360"/>
            <a:ext cx="10058400" cy="4568190"/>
          </a:xfrm>
        </p:spPr>
        <p:txBody>
          <a:bodyPr>
            <a:normAutofit/>
          </a:bodyPr>
          <a:lstStyle/>
          <a:p>
            <a:pPr marL="0" indent="0" algn="just">
              <a:buNone/>
            </a:pPr>
            <a:endParaRPr lang="es-ES" dirty="0"/>
          </a:p>
          <a:p>
            <a:pPr marL="0" indent="0" algn="just">
              <a:buNone/>
            </a:pPr>
            <a:r>
              <a:rPr lang="es-ES" dirty="0"/>
              <a:t>Métodos de una clase:</a:t>
            </a:r>
          </a:p>
          <a:p>
            <a:pPr marL="0" indent="0" algn="just">
              <a:buNone/>
            </a:pPr>
            <a:br>
              <a:rPr lang="es-ES" dirty="0"/>
            </a:br>
            <a:r>
              <a:rPr lang="es-ES" dirty="0"/>
              <a:t>Los métodos de una clase son funciones que pertenecen a esa clase y definen las acciones que los objetos de esa clase pueden realizar. Funcionan como los verbos de la clase, describiendo su comportamiento. Si el método es abstracto se muestra en </a:t>
            </a:r>
            <a:r>
              <a:rPr lang="es-ES" i="1" dirty="0"/>
              <a:t>cursiva</a:t>
            </a:r>
            <a:endParaRPr lang="en-US" i="1" dirty="0"/>
          </a:p>
          <a:p>
            <a:pPr marL="0" indent="0" algn="just">
              <a:buNone/>
            </a:pPr>
            <a:endParaRPr lang="es-ES" dirty="0"/>
          </a:p>
          <a:p>
            <a:pPr marL="0" indent="0" algn="just">
              <a:buNone/>
            </a:pPr>
            <a:endParaRPr lang="es-ES" dirty="0"/>
          </a:p>
          <a:p>
            <a:pPr marL="0" indent="0" algn="just">
              <a:buNone/>
            </a:pPr>
            <a:endParaRPr lang="es-ES" dirty="0"/>
          </a:p>
          <a:p>
            <a:pPr marL="0" indent="0">
              <a:buNone/>
            </a:pPr>
            <a:endParaRPr lang="en-US" dirty="0"/>
          </a:p>
          <a:p>
            <a:pPr>
              <a:buFont typeface="Arial" panose="020B0604020202020204" pitchFamily="34" charset="0"/>
              <a:buChar char="•"/>
            </a:pPr>
            <a:endParaRPr lang="es-ES" dirty="0"/>
          </a:p>
        </p:txBody>
      </p:sp>
      <p:pic>
        <p:nvPicPr>
          <p:cNvPr id="10" name="Imagen 9">
            <a:extLst>
              <a:ext uri="{FF2B5EF4-FFF2-40B4-BE49-F238E27FC236}">
                <a16:creationId xmlns:a16="http://schemas.microsoft.com/office/drawing/2014/main" id="{3B3EA48F-B20B-3C1C-E39E-B82410A810B9}"/>
              </a:ext>
            </a:extLst>
          </p:cNvPr>
          <p:cNvPicPr>
            <a:picLocks noChangeAspect="1"/>
          </p:cNvPicPr>
          <p:nvPr/>
        </p:nvPicPr>
        <p:blipFill>
          <a:blip r:embed="rId4"/>
          <a:stretch>
            <a:fillRect/>
          </a:stretch>
        </p:blipFill>
        <p:spPr>
          <a:xfrm>
            <a:off x="1097280" y="4021455"/>
            <a:ext cx="8429625" cy="257175"/>
          </a:xfrm>
          <a:prstGeom prst="rect">
            <a:avLst/>
          </a:prstGeom>
        </p:spPr>
      </p:pic>
      <p:pic>
        <p:nvPicPr>
          <p:cNvPr id="12" name="Imagen 11">
            <a:extLst>
              <a:ext uri="{FF2B5EF4-FFF2-40B4-BE49-F238E27FC236}">
                <a16:creationId xmlns:a16="http://schemas.microsoft.com/office/drawing/2014/main" id="{577EDFE9-E21A-977F-24FA-CBF51147BA35}"/>
              </a:ext>
            </a:extLst>
          </p:cNvPr>
          <p:cNvPicPr>
            <a:picLocks noChangeAspect="1"/>
          </p:cNvPicPr>
          <p:nvPr/>
        </p:nvPicPr>
        <p:blipFill>
          <a:blip r:embed="rId5"/>
          <a:stretch>
            <a:fillRect/>
          </a:stretch>
        </p:blipFill>
        <p:spPr>
          <a:xfrm>
            <a:off x="4467082" y="4374854"/>
            <a:ext cx="3318795" cy="1834472"/>
          </a:xfrm>
          <a:prstGeom prst="rect">
            <a:avLst/>
          </a:prstGeom>
        </p:spPr>
      </p:pic>
    </p:spTree>
    <p:extLst>
      <p:ext uri="{BB962C8B-B14F-4D97-AF65-F5344CB8AC3E}">
        <p14:creationId xmlns:p14="http://schemas.microsoft.com/office/powerpoint/2010/main" val="25018717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E408CC-BDEC-B86A-BD11-4211D471B97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F050803-B85A-A823-1A34-54BAC0938F48}"/>
              </a:ext>
            </a:extLst>
          </p:cNvPr>
          <p:cNvSpPr>
            <a:spLocks noGrp="1"/>
          </p:cNvSpPr>
          <p:nvPr>
            <p:ph type="title"/>
          </p:nvPr>
        </p:nvSpPr>
        <p:spPr/>
        <p:txBody>
          <a:bodyPr/>
          <a:lstStyle/>
          <a:p>
            <a:r>
              <a:rPr lang="es-AR" b="1" dirty="0"/>
              <a:t>Diagrama de clases: Modificadores</a:t>
            </a:r>
          </a:p>
        </p:txBody>
      </p:sp>
      <p:pic>
        <p:nvPicPr>
          <p:cNvPr id="4" name="Imagen 3">
            <a:extLst>
              <a:ext uri="{FF2B5EF4-FFF2-40B4-BE49-F238E27FC236}">
                <a16:creationId xmlns:a16="http://schemas.microsoft.com/office/drawing/2014/main" id="{50D1279A-36D2-63F2-7CC2-2BB155E02EDE}"/>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72DCE786-F0D6-8789-2B0D-C5A1B0501297}"/>
              </a:ext>
            </a:extLst>
          </p:cNvPr>
          <p:cNvSpPr>
            <a:spLocks noGrp="1"/>
          </p:cNvSpPr>
          <p:nvPr>
            <p:ph type="sldNum" sz="quarter" idx="12"/>
          </p:nvPr>
        </p:nvSpPr>
        <p:spPr/>
        <p:txBody>
          <a:bodyPr/>
          <a:lstStyle/>
          <a:p>
            <a:fld id="{6C8ECD1B-3F01-46F8-A46F-31A31EFC5ABF}" type="slidenum">
              <a:rPr lang="es-AR" smtClean="0"/>
              <a:t>11</a:t>
            </a:fld>
            <a:endParaRPr lang="es-AR"/>
          </a:p>
        </p:txBody>
      </p:sp>
      <p:sp>
        <p:nvSpPr>
          <p:cNvPr id="3" name="Marcador de contenido 2">
            <a:extLst>
              <a:ext uri="{FF2B5EF4-FFF2-40B4-BE49-F238E27FC236}">
                <a16:creationId xmlns:a16="http://schemas.microsoft.com/office/drawing/2014/main" id="{0ED9EB06-45C3-2441-3114-6B122A820B7F}"/>
              </a:ext>
            </a:extLst>
          </p:cNvPr>
          <p:cNvSpPr>
            <a:spLocks noGrp="1"/>
          </p:cNvSpPr>
          <p:nvPr>
            <p:ph idx="1"/>
          </p:nvPr>
        </p:nvSpPr>
        <p:spPr>
          <a:xfrm>
            <a:off x="1097280" y="1737360"/>
            <a:ext cx="10058400" cy="4568190"/>
          </a:xfrm>
        </p:spPr>
        <p:txBody>
          <a:bodyPr>
            <a:normAutofit fontScale="77500" lnSpcReduction="20000"/>
          </a:bodyPr>
          <a:lstStyle/>
          <a:p>
            <a:pPr marL="0" indent="0" algn="just">
              <a:buNone/>
            </a:pPr>
            <a:endParaRPr lang="es-AR" dirty="0"/>
          </a:p>
          <a:p>
            <a:pPr marL="0" indent="0" algn="just">
              <a:buNone/>
            </a:pPr>
            <a:r>
              <a:rPr lang="es-AR" dirty="0"/>
              <a:t>Modificadores de acceso (visibilidad):</a:t>
            </a:r>
          </a:p>
          <a:p>
            <a:pPr marL="0" indent="0" algn="just">
              <a:buNone/>
            </a:pPr>
            <a:endParaRPr lang="es-ES" dirty="0"/>
          </a:p>
          <a:p>
            <a:pPr marL="0" indent="0" algn="just">
              <a:buNone/>
            </a:pPr>
            <a:endParaRPr lang="es-ES" b="1" dirty="0"/>
          </a:p>
          <a:p>
            <a:pPr marL="0" indent="0" algn="just">
              <a:buNone/>
            </a:pPr>
            <a:endParaRPr lang="es-ES" b="1" dirty="0"/>
          </a:p>
          <a:p>
            <a:pPr marL="0" indent="0" algn="just">
              <a:buNone/>
            </a:pPr>
            <a:r>
              <a:rPr lang="es-ES" b="1" dirty="0" err="1"/>
              <a:t>Public</a:t>
            </a:r>
            <a:r>
              <a:rPr lang="es-ES" b="1" dirty="0"/>
              <a:t> </a:t>
            </a:r>
            <a:r>
              <a:rPr lang="es-ES" dirty="0"/>
              <a:t>(+): El miembro es accesible desde cualquier clase, dentro o fuera del paquete. </a:t>
            </a:r>
          </a:p>
          <a:p>
            <a:pPr marL="0" indent="0" algn="just">
              <a:buNone/>
            </a:pPr>
            <a:r>
              <a:rPr lang="es-ES" b="1" dirty="0" err="1"/>
              <a:t>Private</a:t>
            </a:r>
            <a:r>
              <a:rPr lang="es-ES" dirty="0"/>
              <a:t> (-): El miembro solo es accesible dentro de la misma clase. </a:t>
            </a:r>
          </a:p>
          <a:p>
            <a:pPr marL="0" indent="0" algn="just">
              <a:buNone/>
            </a:pPr>
            <a:r>
              <a:rPr lang="es-ES" b="1" dirty="0" err="1"/>
              <a:t>Protected</a:t>
            </a:r>
            <a:r>
              <a:rPr lang="es-ES" dirty="0"/>
              <a:t> (#): El miembro es accesible dentro de la clase, sus subclases (incluso en diferentes paquetes) y dentro del mismo paquete. </a:t>
            </a:r>
          </a:p>
          <a:p>
            <a:pPr marL="0" indent="0" algn="just">
              <a:buNone/>
            </a:pPr>
            <a:r>
              <a:rPr lang="es-ES" b="1" dirty="0"/>
              <a:t>Paquete</a:t>
            </a:r>
            <a:r>
              <a:rPr lang="es-ES" dirty="0"/>
              <a:t> (~): El miembro es accesible dentro de las clases del mismo paquete. </a:t>
            </a:r>
          </a:p>
          <a:p>
            <a:pPr marL="0" indent="0" algn="just">
              <a:buNone/>
            </a:pPr>
            <a:r>
              <a:rPr lang="es-ES" b="1" dirty="0"/>
              <a:t>Estático</a:t>
            </a:r>
            <a:r>
              <a:rPr lang="es-ES" dirty="0"/>
              <a:t> (subrayado): Aunque no es un modificador de acceso en sí mismo, los miembros estáticos (declarados con la palabra clave </a:t>
            </a:r>
            <a:r>
              <a:rPr lang="es-ES" dirty="0" err="1"/>
              <a:t>static</a:t>
            </a:r>
            <a:r>
              <a:rPr lang="es-ES" dirty="0"/>
              <a:t>) son accesibles a través de la clase, no de la instancia, y su visibilidad se especifica con uno de los modificadores de acceso mencionados. </a:t>
            </a:r>
          </a:p>
          <a:p>
            <a:pPr marL="0" indent="0" algn="just">
              <a:buNone/>
            </a:pPr>
            <a:r>
              <a:rPr lang="es-ES" b="1" dirty="0"/>
              <a:t>Derivado</a:t>
            </a:r>
            <a:r>
              <a:rPr lang="es-ES" dirty="0"/>
              <a:t> (/): Este término se usa a veces para describir el acceso a través de herencia. No es un modificador en sí mismo, pero indica que un miembro protegido puede ser accedido por las clases hijas. </a:t>
            </a:r>
          </a:p>
          <a:p>
            <a:pPr marL="0" indent="0" algn="just">
              <a:buNone/>
            </a:pPr>
            <a:endParaRPr lang="es-ES" dirty="0"/>
          </a:p>
        </p:txBody>
      </p:sp>
      <p:pic>
        <p:nvPicPr>
          <p:cNvPr id="4098" name="Picture 2">
            <a:extLst>
              <a:ext uri="{FF2B5EF4-FFF2-40B4-BE49-F238E27FC236}">
                <a16:creationId xmlns:a16="http://schemas.microsoft.com/office/drawing/2014/main" id="{6547AA34-53E6-539B-056D-8A1CEA54944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84845" y="1845927"/>
            <a:ext cx="1571625" cy="2000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51125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7DF17-FDF2-1260-641E-6016E2C6818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3B84742-480E-7D59-4E4F-0BDF8644EA1E}"/>
              </a:ext>
            </a:extLst>
          </p:cNvPr>
          <p:cNvSpPr>
            <a:spLocks noGrp="1"/>
          </p:cNvSpPr>
          <p:nvPr>
            <p:ph type="title"/>
          </p:nvPr>
        </p:nvSpPr>
        <p:spPr/>
        <p:txBody>
          <a:bodyPr/>
          <a:lstStyle/>
          <a:p>
            <a:r>
              <a:rPr lang="es-AR" b="1" dirty="0"/>
              <a:t>Diagrama de clases: Asociación</a:t>
            </a:r>
          </a:p>
        </p:txBody>
      </p:sp>
      <p:pic>
        <p:nvPicPr>
          <p:cNvPr id="4" name="Imagen 3">
            <a:extLst>
              <a:ext uri="{FF2B5EF4-FFF2-40B4-BE49-F238E27FC236}">
                <a16:creationId xmlns:a16="http://schemas.microsoft.com/office/drawing/2014/main" id="{6A515BFD-6976-F6AF-73D3-2AD31E465632}"/>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F3F88149-4A1D-7912-39E4-9A5706510E43}"/>
              </a:ext>
            </a:extLst>
          </p:cNvPr>
          <p:cNvSpPr>
            <a:spLocks noGrp="1"/>
          </p:cNvSpPr>
          <p:nvPr>
            <p:ph type="sldNum" sz="quarter" idx="12"/>
          </p:nvPr>
        </p:nvSpPr>
        <p:spPr/>
        <p:txBody>
          <a:bodyPr/>
          <a:lstStyle/>
          <a:p>
            <a:fld id="{6C8ECD1B-3F01-46F8-A46F-31A31EFC5ABF}" type="slidenum">
              <a:rPr lang="es-AR" smtClean="0"/>
              <a:t>12</a:t>
            </a:fld>
            <a:endParaRPr lang="es-AR"/>
          </a:p>
        </p:txBody>
      </p:sp>
      <p:sp>
        <p:nvSpPr>
          <p:cNvPr id="3" name="Marcador de contenido 2">
            <a:extLst>
              <a:ext uri="{FF2B5EF4-FFF2-40B4-BE49-F238E27FC236}">
                <a16:creationId xmlns:a16="http://schemas.microsoft.com/office/drawing/2014/main" id="{E23BE09B-6105-5D6A-EA19-3E4E98B87C0C}"/>
              </a:ext>
            </a:extLst>
          </p:cNvPr>
          <p:cNvSpPr>
            <a:spLocks noGrp="1"/>
          </p:cNvSpPr>
          <p:nvPr>
            <p:ph idx="1"/>
          </p:nvPr>
        </p:nvSpPr>
        <p:spPr>
          <a:xfrm>
            <a:off x="1097280" y="1737360"/>
            <a:ext cx="10058400" cy="4568190"/>
          </a:xfrm>
        </p:spPr>
        <p:txBody>
          <a:bodyPr>
            <a:normAutofit fontScale="85000" lnSpcReduction="20000"/>
          </a:bodyPr>
          <a:lstStyle/>
          <a:p>
            <a:pPr marL="0" indent="0" algn="just">
              <a:buNone/>
            </a:pPr>
            <a:r>
              <a:rPr lang="es-ES" dirty="0"/>
              <a:t>Los </a:t>
            </a:r>
            <a:r>
              <a:rPr lang="es-ES" b="1" dirty="0"/>
              <a:t>conectores</a:t>
            </a:r>
            <a:r>
              <a:rPr lang="es-ES" dirty="0"/>
              <a:t> definen conexiones entre dos o más instancias (</a:t>
            </a:r>
            <a:r>
              <a:rPr lang="es-ES" b="1" dirty="0"/>
              <a:t>asociación</a:t>
            </a:r>
            <a:r>
              <a:rPr lang="es-ES" dirty="0"/>
              <a:t>). La especificación permite que se comuniquen. Al contrario que las relaciones, como la asociación, los conectores no unen cualquier tipo de instancia, sino solo aquellas definidas como elementos de conexión. Los conectores se modelan como </a:t>
            </a:r>
            <a:r>
              <a:rPr lang="es-ES" b="1" dirty="0"/>
              <a:t>líneas con al menos dos finales</a:t>
            </a:r>
            <a:r>
              <a:rPr lang="es-ES" dirty="0"/>
              <a:t> que corresponden a las instancias participantes que asignan un tipo a los elementos susceptibles de conectarse.</a:t>
            </a:r>
          </a:p>
          <a:p>
            <a:pPr marL="0" indent="0" fontAlgn="base">
              <a:buNone/>
            </a:pPr>
            <a:r>
              <a:rPr lang="es-ES" b="1" i="1" dirty="0"/>
              <a:t>Rol</a:t>
            </a:r>
            <a:r>
              <a:rPr lang="es-ES" b="1" dirty="0"/>
              <a:t>, </a:t>
            </a:r>
            <a:r>
              <a:rPr lang="es-ES" dirty="0"/>
              <a:t>o nombre de la asociación, que describe la semántica de la relación en el sentido indicado. Por ejemplo, la asociación entre Persona y Empresa recibe el nombre de </a:t>
            </a:r>
            <a:r>
              <a:rPr lang="es-ES" i="1" dirty="0"/>
              <a:t>trabaja para</a:t>
            </a:r>
            <a:r>
              <a:rPr lang="es-ES" dirty="0"/>
              <a:t>, como rol en ese sentido.</a:t>
            </a:r>
          </a:p>
          <a:p>
            <a:pPr marL="0" indent="0" fontAlgn="base">
              <a:buNone/>
            </a:pPr>
            <a:r>
              <a:rPr lang="es-ES" b="1" i="1" dirty="0"/>
              <a:t>Multiplicidad</a:t>
            </a:r>
            <a:r>
              <a:rPr lang="es-ES" dirty="0"/>
              <a:t>, que describe la cardinalidad de la relación, es decir, especifica cuántas instancias de una clase están asociadas a una instancia de la otra clase. Los tipos de multiplicidad son: Uno a uno, uno a muchos y muchos a muchos.</a:t>
            </a:r>
          </a:p>
          <a:p>
            <a:pPr marL="0" indent="0" algn="just">
              <a:buNone/>
            </a:pPr>
            <a:endParaRPr lang="es-ES" dirty="0"/>
          </a:p>
          <a:p>
            <a:pPr>
              <a:buFont typeface="Arial" panose="020B0604020202020204" pitchFamily="34" charset="0"/>
              <a:buChar char="•"/>
            </a:pPr>
            <a:r>
              <a:rPr lang="es-ES" b="1" dirty="0"/>
              <a:t>0</a:t>
            </a:r>
            <a:r>
              <a:rPr lang="es-ES" dirty="0"/>
              <a:t> = La clase no desarrolla instancias (poco frecuente)</a:t>
            </a:r>
          </a:p>
          <a:p>
            <a:pPr>
              <a:buFont typeface="Arial" panose="020B0604020202020204" pitchFamily="34" charset="0"/>
              <a:buChar char="•"/>
            </a:pPr>
            <a:r>
              <a:rPr lang="es-ES" b="1" dirty="0"/>
              <a:t>0..1</a:t>
            </a:r>
            <a:r>
              <a:rPr lang="es-ES" dirty="0"/>
              <a:t> = Una o ninguna instancia</a:t>
            </a:r>
          </a:p>
          <a:p>
            <a:pPr>
              <a:buFont typeface="Arial" panose="020B0604020202020204" pitchFamily="34" charset="0"/>
              <a:buChar char="•"/>
            </a:pPr>
            <a:r>
              <a:rPr lang="es-ES" b="1" dirty="0"/>
              <a:t>1</a:t>
            </a:r>
            <a:r>
              <a:rPr lang="es-ES" dirty="0"/>
              <a:t> o </a:t>
            </a:r>
            <a:r>
              <a:rPr lang="es-ES" b="1" dirty="0"/>
              <a:t>1..1</a:t>
            </a:r>
            <a:r>
              <a:rPr lang="es-ES" dirty="0"/>
              <a:t> = Solo una instancia</a:t>
            </a:r>
          </a:p>
          <a:p>
            <a:pPr>
              <a:buFont typeface="Arial" panose="020B0604020202020204" pitchFamily="34" charset="0"/>
              <a:buChar char="•"/>
            </a:pPr>
            <a:r>
              <a:rPr lang="es-ES" b="1" dirty="0"/>
              <a:t>0..*</a:t>
            </a:r>
            <a:r>
              <a:rPr lang="es-ES" dirty="0"/>
              <a:t> o </a:t>
            </a:r>
            <a:r>
              <a:rPr lang="es-ES" b="1" dirty="0"/>
              <a:t>*</a:t>
            </a:r>
            <a:r>
              <a:rPr lang="es-ES" dirty="0"/>
              <a:t> = Ninguna instancia o varias con un valor máximo indefinido</a:t>
            </a:r>
          </a:p>
          <a:p>
            <a:pPr>
              <a:buFont typeface="Arial" panose="020B0604020202020204" pitchFamily="34" charset="0"/>
              <a:buChar char="•"/>
            </a:pPr>
            <a:r>
              <a:rPr lang="es-ES" b="1" dirty="0"/>
              <a:t>1..*</a:t>
            </a:r>
            <a:r>
              <a:rPr lang="es-ES" dirty="0"/>
              <a:t> = Una instancia o más con valor máximo indefinido </a:t>
            </a:r>
          </a:p>
        </p:txBody>
      </p:sp>
      <p:pic>
        <p:nvPicPr>
          <p:cNvPr id="3074" name="Picture 2" descr="Diagrama de Clases - manuel.cillero.es">
            <a:extLst>
              <a:ext uri="{FF2B5EF4-FFF2-40B4-BE49-F238E27FC236}">
                <a16:creationId xmlns:a16="http://schemas.microsoft.com/office/drawing/2014/main" id="{4A66305D-7EC8-04FA-FB97-FF27658C2B9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2702" y="4170469"/>
            <a:ext cx="4369781" cy="11706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91096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61563F-7CC0-3819-431F-A6492BAA277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504C46D-0D15-9DCD-9B64-6EE7E4E850CC}"/>
              </a:ext>
            </a:extLst>
          </p:cNvPr>
          <p:cNvSpPr>
            <a:spLocks noGrp="1"/>
          </p:cNvSpPr>
          <p:nvPr>
            <p:ph type="title"/>
          </p:nvPr>
        </p:nvSpPr>
        <p:spPr/>
        <p:txBody>
          <a:bodyPr>
            <a:normAutofit/>
          </a:bodyPr>
          <a:lstStyle/>
          <a:p>
            <a:r>
              <a:rPr lang="es-AR" b="1" dirty="0"/>
              <a:t>Diagrama de clases: Generalización y especialización</a:t>
            </a:r>
          </a:p>
        </p:txBody>
      </p:sp>
      <p:pic>
        <p:nvPicPr>
          <p:cNvPr id="4" name="Imagen 3">
            <a:extLst>
              <a:ext uri="{FF2B5EF4-FFF2-40B4-BE49-F238E27FC236}">
                <a16:creationId xmlns:a16="http://schemas.microsoft.com/office/drawing/2014/main" id="{2A6A9D59-545B-8235-F5C7-A89D3EBF832F}"/>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24308A92-F73F-2BB2-6DCF-DE1E4AB4761D}"/>
              </a:ext>
            </a:extLst>
          </p:cNvPr>
          <p:cNvSpPr>
            <a:spLocks noGrp="1"/>
          </p:cNvSpPr>
          <p:nvPr>
            <p:ph type="sldNum" sz="quarter" idx="12"/>
          </p:nvPr>
        </p:nvSpPr>
        <p:spPr/>
        <p:txBody>
          <a:bodyPr/>
          <a:lstStyle/>
          <a:p>
            <a:fld id="{6C8ECD1B-3F01-46F8-A46F-31A31EFC5ABF}" type="slidenum">
              <a:rPr lang="es-AR" smtClean="0"/>
              <a:t>13</a:t>
            </a:fld>
            <a:endParaRPr lang="es-AR"/>
          </a:p>
        </p:txBody>
      </p:sp>
      <p:sp>
        <p:nvSpPr>
          <p:cNvPr id="3" name="Marcador de contenido 2">
            <a:extLst>
              <a:ext uri="{FF2B5EF4-FFF2-40B4-BE49-F238E27FC236}">
                <a16:creationId xmlns:a16="http://schemas.microsoft.com/office/drawing/2014/main" id="{9EFD1035-8D02-0206-64D0-37377EA89EDA}"/>
              </a:ext>
            </a:extLst>
          </p:cNvPr>
          <p:cNvSpPr>
            <a:spLocks noGrp="1"/>
          </p:cNvSpPr>
          <p:nvPr>
            <p:ph idx="1"/>
          </p:nvPr>
        </p:nvSpPr>
        <p:spPr>
          <a:xfrm>
            <a:off x="1097280" y="1737360"/>
            <a:ext cx="10058400" cy="4568190"/>
          </a:xfrm>
        </p:spPr>
        <p:txBody>
          <a:bodyPr>
            <a:normAutofit/>
          </a:bodyPr>
          <a:lstStyle/>
          <a:p>
            <a:pPr marL="0" indent="0" algn="ctr">
              <a:buNone/>
            </a:pPr>
            <a:r>
              <a:rPr lang="es-ES" dirty="0"/>
              <a:t>En POO estas características nos permiten hacer uso de la herencia y el polimorfismo.</a:t>
            </a:r>
          </a:p>
          <a:p>
            <a:pPr marL="0" indent="0" algn="just">
              <a:buNone/>
            </a:pPr>
            <a:r>
              <a:rPr lang="es-ES" dirty="0"/>
              <a:t>La </a:t>
            </a:r>
            <a:r>
              <a:rPr lang="es-ES" b="1" dirty="0"/>
              <a:t>generalización</a:t>
            </a:r>
            <a:r>
              <a:rPr lang="es-ES" dirty="0"/>
              <a:t> nos permite considerar categorías generales de objetos que tienen propiedades comunes y luego definir subclases especializadas que heredan las propiedades de las categorías generales. La generalización nos permite definir características y operaciones generales de un objeto y nos permite crear versiones más especializadas de este objeto.</a:t>
            </a:r>
            <a:endParaRPr lang="es-AR" dirty="0"/>
          </a:p>
          <a:p>
            <a:pPr marL="0" indent="0" algn="just">
              <a:buNone/>
            </a:pPr>
            <a:r>
              <a:rPr lang="es-ES" dirty="0"/>
              <a:t>En la </a:t>
            </a:r>
            <a:r>
              <a:rPr lang="es-ES" b="1" dirty="0"/>
              <a:t>especialización</a:t>
            </a:r>
            <a:r>
              <a:rPr lang="es-ES" dirty="0"/>
              <a:t> de un objeto heredarán automáticamente todas las características del objeto más generalizado .</a:t>
            </a:r>
          </a:p>
          <a:p>
            <a:pPr marL="0" indent="0" algn="just">
              <a:buNone/>
            </a:pPr>
            <a:endParaRPr lang="es-ES" dirty="0"/>
          </a:p>
          <a:p>
            <a:pPr marL="0" indent="0" algn="just">
              <a:buNone/>
            </a:pPr>
            <a:endParaRPr lang="es-ES" dirty="0"/>
          </a:p>
          <a:p>
            <a:pPr marL="0" indent="0" algn="just">
              <a:buNone/>
            </a:pPr>
            <a:endParaRPr lang="es-ES" dirty="0"/>
          </a:p>
          <a:p>
            <a:pPr marL="0" indent="0" algn="just">
              <a:buNone/>
            </a:pPr>
            <a:endParaRPr lang="es-ES" dirty="0"/>
          </a:p>
          <a:p>
            <a:pPr marL="0" indent="0" algn="just">
              <a:buNone/>
            </a:pPr>
            <a:endParaRPr lang="es-ES" dirty="0"/>
          </a:p>
          <a:p>
            <a:pPr marL="0" indent="0" algn="just">
              <a:buNone/>
            </a:pPr>
            <a:endParaRPr lang="es-ES" dirty="0"/>
          </a:p>
          <a:p>
            <a:pPr marL="0" indent="0" algn="just">
              <a:buNone/>
            </a:pPr>
            <a:endParaRPr lang="es-ES" dirty="0"/>
          </a:p>
          <a:p>
            <a:pPr marL="0" indent="0" algn="just">
              <a:buNone/>
            </a:pPr>
            <a:endParaRPr lang="es-ES" dirty="0"/>
          </a:p>
        </p:txBody>
      </p:sp>
      <p:pic>
        <p:nvPicPr>
          <p:cNvPr id="7" name="Imagen 6">
            <a:extLst>
              <a:ext uri="{FF2B5EF4-FFF2-40B4-BE49-F238E27FC236}">
                <a16:creationId xmlns:a16="http://schemas.microsoft.com/office/drawing/2014/main" id="{C39DA09F-1522-6F5F-F16D-937CC779ED50}"/>
              </a:ext>
            </a:extLst>
          </p:cNvPr>
          <p:cNvPicPr>
            <a:picLocks noChangeAspect="1"/>
          </p:cNvPicPr>
          <p:nvPr/>
        </p:nvPicPr>
        <p:blipFill>
          <a:blip r:embed="rId4"/>
          <a:stretch>
            <a:fillRect/>
          </a:stretch>
        </p:blipFill>
        <p:spPr>
          <a:xfrm>
            <a:off x="4326255" y="3821107"/>
            <a:ext cx="3600450" cy="2484443"/>
          </a:xfrm>
          <a:prstGeom prst="rect">
            <a:avLst/>
          </a:prstGeom>
        </p:spPr>
      </p:pic>
    </p:spTree>
    <p:extLst>
      <p:ext uri="{BB962C8B-B14F-4D97-AF65-F5344CB8AC3E}">
        <p14:creationId xmlns:p14="http://schemas.microsoft.com/office/powerpoint/2010/main" val="40436868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D8937-2CAE-1653-118E-4DA247D44E8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3BD1B5C-B14A-3C39-1162-3F65CEAC24B9}"/>
              </a:ext>
            </a:extLst>
          </p:cNvPr>
          <p:cNvSpPr>
            <a:spLocks noGrp="1"/>
          </p:cNvSpPr>
          <p:nvPr>
            <p:ph type="title"/>
          </p:nvPr>
        </p:nvSpPr>
        <p:spPr/>
        <p:txBody>
          <a:bodyPr>
            <a:normAutofit/>
          </a:bodyPr>
          <a:lstStyle/>
          <a:p>
            <a:r>
              <a:rPr lang="es-AR" b="1" dirty="0"/>
              <a:t>Diagrama de clases: Herencia</a:t>
            </a:r>
          </a:p>
        </p:txBody>
      </p:sp>
      <p:pic>
        <p:nvPicPr>
          <p:cNvPr id="4" name="Imagen 3">
            <a:extLst>
              <a:ext uri="{FF2B5EF4-FFF2-40B4-BE49-F238E27FC236}">
                <a16:creationId xmlns:a16="http://schemas.microsoft.com/office/drawing/2014/main" id="{B0A5EF05-C61D-9BD8-0243-618DE19C6E03}"/>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5ACF50B4-B90F-2C8D-C031-22869CB8B2BC}"/>
              </a:ext>
            </a:extLst>
          </p:cNvPr>
          <p:cNvSpPr>
            <a:spLocks noGrp="1"/>
          </p:cNvSpPr>
          <p:nvPr>
            <p:ph type="sldNum" sz="quarter" idx="12"/>
          </p:nvPr>
        </p:nvSpPr>
        <p:spPr/>
        <p:txBody>
          <a:bodyPr/>
          <a:lstStyle/>
          <a:p>
            <a:fld id="{6C8ECD1B-3F01-46F8-A46F-31A31EFC5ABF}" type="slidenum">
              <a:rPr lang="es-AR" smtClean="0"/>
              <a:t>14</a:t>
            </a:fld>
            <a:endParaRPr lang="es-AR"/>
          </a:p>
        </p:txBody>
      </p:sp>
      <p:sp>
        <p:nvSpPr>
          <p:cNvPr id="3" name="Marcador de contenido 2">
            <a:extLst>
              <a:ext uri="{FF2B5EF4-FFF2-40B4-BE49-F238E27FC236}">
                <a16:creationId xmlns:a16="http://schemas.microsoft.com/office/drawing/2014/main" id="{FA84F63B-5DEA-F404-DCCC-EC2DC77B40DD}"/>
              </a:ext>
            </a:extLst>
          </p:cNvPr>
          <p:cNvSpPr>
            <a:spLocks noGrp="1"/>
          </p:cNvSpPr>
          <p:nvPr>
            <p:ph idx="1"/>
          </p:nvPr>
        </p:nvSpPr>
        <p:spPr>
          <a:xfrm>
            <a:off x="1154083" y="1791029"/>
            <a:ext cx="10058400" cy="2631440"/>
          </a:xfrm>
        </p:spPr>
        <p:txBody>
          <a:bodyPr>
            <a:normAutofit fontScale="92500" lnSpcReduction="10000"/>
          </a:bodyPr>
          <a:lstStyle/>
          <a:p>
            <a:pPr marL="0" indent="0" algn="just">
              <a:buNone/>
            </a:pPr>
            <a:r>
              <a:rPr lang="es-ES" dirty="0"/>
              <a:t>Esta relación se representa como una línea continua con una flecha hueca en el extremo que apunta a la superclase. La herencia permite reutilizar datos y comportamientos de la clase principal. Es útil para </a:t>
            </a:r>
            <a:r>
              <a:rPr lang="es-ES" b="1" dirty="0"/>
              <a:t>la generalización</a:t>
            </a:r>
            <a:r>
              <a:rPr lang="es-ES" dirty="0"/>
              <a:t>, ya que puede observar que varias clases comparten los mismos datos o comportamientos y los extrae en una clase principal. Por ejemplo, la clase Cliente como la clase Empleado son personas, por lo que conviene usar la clase general Persona. </a:t>
            </a:r>
          </a:p>
          <a:p>
            <a:pPr marL="0" indent="0" algn="just">
              <a:buNone/>
            </a:pPr>
            <a:r>
              <a:rPr lang="es-ES" dirty="0"/>
              <a:t>También es útil para </a:t>
            </a:r>
            <a:r>
              <a:rPr lang="es-ES" b="1" dirty="0"/>
              <a:t>la especialización</a:t>
            </a:r>
            <a:r>
              <a:rPr lang="es-ES" dirty="0"/>
              <a:t>, cuando se desea conservar la mayor parte del comportamiento de una clase principal, pero se desea hacer al menos una cosa diferente o añadir más datos. Un ejemplo de especialización es la clase Empleado. Un empleado es una persona, pero también tiene un ID único. Un cliente es una persona, pero solo tiene una tarjeta de crédito (no empleado).</a:t>
            </a:r>
          </a:p>
          <a:p>
            <a:pPr marL="0" indent="0" algn="just">
              <a:buNone/>
            </a:pPr>
            <a:endParaRPr lang="es-ES" dirty="0"/>
          </a:p>
          <a:p>
            <a:pPr marL="0" indent="0" algn="just">
              <a:buNone/>
            </a:pPr>
            <a:endParaRPr lang="es-ES" dirty="0"/>
          </a:p>
          <a:p>
            <a:pPr marL="0" indent="0" algn="just">
              <a:buNone/>
            </a:pPr>
            <a:endParaRPr lang="es-ES" dirty="0"/>
          </a:p>
          <a:p>
            <a:pPr marL="0" indent="0" algn="just">
              <a:buNone/>
            </a:pPr>
            <a:endParaRPr lang="es-ES" dirty="0"/>
          </a:p>
          <a:p>
            <a:pPr marL="0" indent="0" algn="just">
              <a:buNone/>
            </a:pPr>
            <a:endParaRPr lang="es-ES" dirty="0"/>
          </a:p>
          <a:p>
            <a:pPr marL="0" indent="0" algn="just">
              <a:buNone/>
            </a:pPr>
            <a:endParaRPr lang="es-ES" dirty="0"/>
          </a:p>
          <a:p>
            <a:pPr marL="0" indent="0" algn="just">
              <a:buNone/>
            </a:pPr>
            <a:endParaRPr lang="es-ES" dirty="0"/>
          </a:p>
          <a:p>
            <a:pPr marL="0" indent="0" algn="just">
              <a:buNone/>
            </a:pPr>
            <a:endParaRPr lang="es-ES" dirty="0"/>
          </a:p>
          <a:p>
            <a:pPr marL="0" indent="0" algn="just">
              <a:buNone/>
            </a:pPr>
            <a:endParaRPr lang="es-ES" dirty="0"/>
          </a:p>
          <a:p>
            <a:pPr marL="0" indent="0" algn="just">
              <a:buNone/>
            </a:pPr>
            <a:endParaRPr lang="es-ES" dirty="0"/>
          </a:p>
          <a:p>
            <a:pPr marL="0" indent="0" algn="just">
              <a:buNone/>
            </a:pPr>
            <a:endParaRPr lang="es-ES" dirty="0"/>
          </a:p>
          <a:p>
            <a:pPr marL="0" indent="0" algn="just">
              <a:buNone/>
            </a:pPr>
            <a:endParaRPr lang="es-ES" dirty="0"/>
          </a:p>
        </p:txBody>
      </p:sp>
      <p:pic>
        <p:nvPicPr>
          <p:cNvPr id="8196" name="Picture 4">
            <a:extLst>
              <a:ext uri="{FF2B5EF4-FFF2-40B4-BE49-F238E27FC236}">
                <a16:creationId xmlns:a16="http://schemas.microsoft.com/office/drawing/2014/main" id="{8DE7CBFE-089A-5FA7-A001-7CCD36F8506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39891" y="4262449"/>
            <a:ext cx="2086783" cy="18716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31246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4204D-00EF-9D56-8D76-8B8B655115F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2F92326-0918-B754-A093-C3353BF3E908}"/>
              </a:ext>
            </a:extLst>
          </p:cNvPr>
          <p:cNvSpPr>
            <a:spLocks noGrp="1"/>
          </p:cNvSpPr>
          <p:nvPr>
            <p:ph type="title"/>
          </p:nvPr>
        </p:nvSpPr>
        <p:spPr/>
        <p:txBody>
          <a:bodyPr>
            <a:normAutofit/>
          </a:bodyPr>
          <a:lstStyle/>
          <a:p>
            <a:r>
              <a:rPr lang="es-AR" b="1" dirty="0"/>
              <a:t>Diagrama de clases: Herencia</a:t>
            </a:r>
          </a:p>
        </p:txBody>
      </p:sp>
      <p:pic>
        <p:nvPicPr>
          <p:cNvPr id="4" name="Imagen 3">
            <a:extLst>
              <a:ext uri="{FF2B5EF4-FFF2-40B4-BE49-F238E27FC236}">
                <a16:creationId xmlns:a16="http://schemas.microsoft.com/office/drawing/2014/main" id="{A474D9AB-B7CD-E1AB-4470-BB8DA861201B}"/>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A6AAA161-340B-8A93-C31C-0075AC477B82}"/>
              </a:ext>
            </a:extLst>
          </p:cNvPr>
          <p:cNvSpPr>
            <a:spLocks noGrp="1"/>
          </p:cNvSpPr>
          <p:nvPr>
            <p:ph type="sldNum" sz="quarter" idx="12"/>
          </p:nvPr>
        </p:nvSpPr>
        <p:spPr/>
        <p:txBody>
          <a:bodyPr/>
          <a:lstStyle/>
          <a:p>
            <a:fld id="{6C8ECD1B-3F01-46F8-A46F-31A31EFC5ABF}" type="slidenum">
              <a:rPr lang="es-AR" smtClean="0"/>
              <a:t>15</a:t>
            </a:fld>
            <a:endParaRPr lang="es-AR"/>
          </a:p>
        </p:txBody>
      </p:sp>
      <p:pic>
        <p:nvPicPr>
          <p:cNvPr id="8194" name="Picture 2" descr="1.4 Herencia | POO en Java">
            <a:extLst>
              <a:ext uri="{FF2B5EF4-FFF2-40B4-BE49-F238E27FC236}">
                <a16:creationId xmlns:a16="http://schemas.microsoft.com/office/drawing/2014/main" id="{356BBDEB-B385-5508-6B8E-646873CB9B3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73230" y="1948359"/>
            <a:ext cx="7045539" cy="42771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43325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5C17E0-56D0-8D56-B174-2193BABA0A4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31F9FA4-60B7-1321-E448-61DB2400C932}"/>
              </a:ext>
            </a:extLst>
          </p:cNvPr>
          <p:cNvSpPr>
            <a:spLocks noGrp="1"/>
          </p:cNvSpPr>
          <p:nvPr>
            <p:ph type="title"/>
          </p:nvPr>
        </p:nvSpPr>
        <p:spPr/>
        <p:txBody>
          <a:bodyPr>
            <a:normAutofit/>
          </a:bodyPr>
          <a:lstStyle/>
          <a:p>
            <a:r>
              <a:rPr lang="es-AR" b="1" dirty="0"/>
              <a:t>Ejercicio</a:t>
            </a:r>
          </a:p>
        </p:txBody>
      </p:sp>
      <p:pic>
        <p:nvPicPr>
          <p:cNvPr id="4" name="Imagen 3">
            <a:extLst>
              <a:ext uri="{FF2B5EF4-FFF2-40B4-BE49-F238E27FC236}">
                <a16:creationId xmlns:a16="http://schemas.microsoft.com/office/drawing/2014/main" id="{E717717E-B3CC-5FE3-8911-3FCD392E25E5}"/>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61B24561-D6F5-7A61-7A39-DE201579697A}"/>
              </a:ext>
            </a:extLst>
          </p:cNvPr>
          <p:cNvSpPr>
            <a:spLocks noGrp="1"/>
          </p:cNvSpPr>
          <p:nvPr>
            <p:ph type="sldNum" sz="quarter" idx="12"/>
          </p:nvPr>
        </p:nvSpPr>
        <p:spPr/>
        <p:txBody>
          <a:bodyPr/>
          <a:lstStyle/>
          <a:p>
            <a:fld id="{6C8ECD1B-3F01-46F8-A46F-31A31EFC5ABF}" type="slidenum">
              <a:rPr lang="es-AR" smtClean="0"/>
              <a:t>16</a:t>
            </a:fld>
            <a:endParaRPr lang="es-AR"/>
          </a:p>
        </p:txBody>
      </p:sp>
      <p:sp>
        <p:nvSpPr>
          <p:cNvPr id="3" name="Marcador de contenido 2">
            <a:extLst>
              <a:ext uri="{FF2B5EF4-FFF2-40B4-BE49-F238E27FC236}">
                <a16:creationId xmlns:a16="http://schemas.microsoft.com/office/drawing/2014/main" id="{7AED987B-5684-4AA3-D6AB-2D8657074519}"/>
              </a:ext>
            </a:extLst>
          </p:cNvPr>
          <p:cNvSpPr>
            <a:spLocks noGrp="1"/>
          </p:cNvSpPr>
          <p:nvPr>
            <p:ph idx="1"/>
          </p:nvPr>
        </p:nvSpPr>
        <p:spPr>
          <a:xfrm>
            <a:off x="1154083" y="1791028"/>
            <a:ext cx="10058400" cy="4589224"/>
          </a:xfrm>
        </p:spPr>
        <p:txBody>
          <a:bodyPr>
            <a:normAutofit/>
          </a:bodyPr>
          <a:lstStyle/>
          <a:p>
            <a:pPr marL="0" indent="0" algn="just">
              <a:buNone/>
            </a:pPr>
            <a:r>
              <a:rPr lang="es-ES" dirty="0"/>
              <a:t>Queremos modelar el diagrama de clases de un sistema con las siguientes características: </a:t>
            </a:r>
          </a:p>
          <a:p>
            <a:pPr marL="0" indent="0" algn="just">
              <a:buNone/>
            </a:pPr>
            <a:r>
              <a:rPr lang="es-ES" dirty="0"/>
              <a:t>1) Una clase abstracta Animal, y dos clases hijas: Perro y Gato.</a:t>
            </a:r>
          </a:p>
          <a:p>
            <a:pPr marL="0" indent="0" algn="just">
              <a:buNone/>
            </a:pPr>
            <a:r>
              <a:rPr lang="es-ES" dirty="0"/>
              <a:t>2) Animal tiene un atributo nombre y un método abstracto </a:t>
            </a:r>
            <a:r>
              <a:rPr lang="es-ES" dirty="0" err="1"/>
              <a:t>hacerSonido</a:t>
            </a:r>
            <a:r>
              <a:rPr lang="es-ES" dirty="0"/>
              <a:t>().</a:t>
            </a:r>
          </a:p>
          <a:p>
            <a:pPr marL="292608" lvl="1" indent="0" algn="just">
              <a:buNone/>
            </a:pPr>
            <a:r>
              <a:rPr lang="es-ES" dirty="0"/>
              <a:t>Perro implementa </a:t>
            </a:r>
            <a:r>
              <a:rPr lang="es-ES" dirty="0" err="1"/>
              <a:t>hacerSonido</a:t>
            </a:r>
            <a:r>
              <a:rPr lang="es-ES" dirty="0"/>
              <a:t>() diciendo "Guau!".</a:t>
            </a:r>
          </a:p>
          <a:p>
            <a:pPr marL="292608" lvl="1" indent="0" algn="just">
              <a:buNone/>
            </a:pPr>
            <a:r>
              <a:rPr lang="es-ES" dirty="0"/>
              <a:t>Gato implementa </a:t>
            </a:r>
            <a:r>
              <a:rPr lang="es-ES" dirty="0" err="1"/>
              <a:t>hacerSonido</a:t>
            </a:r>
            <a:r>
              <a:rPr lang="es-ES" dirty="0"/>
              <a:t>() diciendo "Miau!".</a:t>
            </a:r>
          </a:p>
          <a:p>
            <a:pPr marL="0" indent="0" algn="just">
              <a:buNone/>
            </a:pPr>
            <a:r>
              <a:rPr lang="es-ES" dirty="0"/>
              <a:t>3) Agregar 2 atributos mas a la clase Animal.-</a:t>
            </a:r>
          </a:p>
          <a:p>
            <a:pPr marL="0" indent="0" algn="just">
              <a:buNone/>
            </a:pPr>
            <a:r>
              <a:rPr lang="es-ES" dirty="0"/>
              <a:t>4) Agregar 2 métodos mas a la clase Animal.-</a:t>
            </a:r>
          </a:p>
          <a:p>
            <a:pPr marL="0" indent="0" algn="just">
              <a:buNone/>
            </a:pPr>
            <a:r>
              <a:rPr lang="es-ES" dirty="0"/>
              <a:t>5) Agregar 1 atributo especifico a la clase Perro y otro a la clase Gato.-</a:t>
            </a:r>
          </a:p>
          <a:p>
            <a:pPr marL="0" indent="0" algn="just">
              <a:buNone/>
            </a:pPr>
            <a:r>
              <a:rPr lang="es-ES" dirty="0"/>
              <a:t>6) Agregar 1 método especifico a la clase Perro y otro a la clase Gato.-</a:t>
            </a:r>
          </a:p>
          <a:p>
            <a:pPr marL="0" indent="0" algn="just">
              <a:buNone/>
            </a:pPr>
            <a:endParaRPr lang="es-ES" sz="1400" dirty="0"/>
          </a:p>
          <a:p>
            <a:pPr marL="0" indent="0" algn="just">
              <a:buNone/>
            </a:pPr>
            <a:r>
              <a:rPr lang="es-ES" sz="1400" dirty="0"/>
              <a:t>Para diagramar Online: https://creately.com/es/lp/herramienta-de-diagrama-uml/</a:t>
            </a:r>
            <a:endParaRPr lang="es-ES" dirty="0"/>
          </a:p>
          <a:p>
            <a:pPr marL="0" indent="0" algn="just">
              <a:buNone/>
            </a:pPr>
            <a:endParaRPr lang="es-ES" dirty="0"/>
          </a:p>
          <a:p>
            <a:pPr marL="0" indent="0" algn="just">
              <a:buNone/>
            </a:pPr>
            <a:endParaRPr lang="es-ES" dirty="0"/>
          </a:p>
          <a:p>
            <a:pPr marL="0" indent="0" algn="just">
              <a:buNone/>
            </a:pPr>
            <a:endParaRPr lang="es-ES" dirty="0"/>
          </a:p>
          <a:p>
            <a:pPr marL="0" indent="0" algn="just">
              <a:buNone/>
            </a:pPr>
            <a:endParaRPr lang="es-ES" dirty="0"/>
          </a:p>
        </p:txBody>
      </p:sp>
    </p:spTree>
    <p:extLst>
      <p:ext uri="{BB962C8B-B14F-4D97-AF65-F5344CB8AC3E}">
        <p14:creationId xmlns:p14="http://schemas.microsoft.com/office/powerpoint/2010/main" val="26771514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CFB2B5-75AC-BD25-A7A7-F4966FEA4C7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2968EC5-E1BA-54BE-5D0B-BDDB5DB4F902}"/>
              </a:ext>
            </a:extLst>
          </p:cNvPr>
          <p:cNvSpPr>
            <a:spLocks noGrp="1"/>
          </p:cNvSpPr>
          <p:nvPr>
            <p:ph type="title"/>
          </p:nvPr>
        </p:nvSpPr>
        <p:spPr/>
        <p:txBody>
          <a:bodyPr>
            <a:normAutofit/>
          </a:bodyPr>
          <a:lstStyle/>
          <a:p>
            <a:r>
              <a:rPr lang="es-AR" b="1" dirty="0"/>
              <a:t>Repuesta ejercicio punto 1 y 2</a:t>
            </a:r>
          </a:p>
        </p:txBody>
      </p:sp>
      <p:pic>
        <p:nvPicPr>
          <p:cNvPr id="4" name="Imagen 3">
            <a:extLst>
              <a:ext uri="{FF2B5EF4-FFF2-40B4-BE49-F238E27FC236}">
                <a16:creationId xmlns:a16="http://schemas.microsoft.com/office/drawing/2014/main" id="{0BE2A3EE-262F-61FF-8AF2-05A929628EFF}"/>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820822E2-F5E3-41EB-F541-8D32DC263DD6}"/>
              </a:ext>
            </a:extLst>
          </p:cNvPr>
          <p:cNvSpPr>
            <a:spLocks noGrp="1"/>
          </p:cNvSpPr>
          <p:nvPr>
            <p:ph type="sldNum" sz="quarter" idx="12"/>
          </p:nvPr>
        </p:nvSpPr>
        <p:spPr/>
        <p:txBody>
          <a:bodyPr/>
          <a:lstStyle/>
          <a:p>
            <a:fld id="{6C8ECD1B-3F01-46F8-A46F-31A31EFC5ABF}" type="slidenum">
              <a:rPr lang="es-AR" smtClean="0"/>
              <a:t>17</a:t>
            </a:fld>
            <a:endParaRPr lang="es-AR"/>
          </a:p>
        </p:txBody>
      </p:sp>
      <p:sp>
        <p:nvSpPr>
          <p:cNvPr id="3" name="Marcador de contenido 2">
            <a:extLst>
              <a:ext uri="{FF2B5EF4-FFF2-40B4-BE49-F238E27FC236}">
                <a16:creationId xmlns:a16="http://schemas.microsoft.com/office/drawing/2014/main" id="{7D5629B5-4EA2-3A15-8D20-0DF7340C6848}"/>
              </a:ext>
            </a:extLst>
          </p:cNvPr>
          <p:cNvSpPr>
            <a:spLocks noGrp="1"/>
          </p:cNvSpPr>
          <p:nvPr>
            <p:ph idx="1"/>
          </p:nvPr>
        </p:nvSpPr>
        <p:spPr>
          <a:xfrm>
            <a:off x="1154083" y="1791028"/>
            <a:ext cx="10058400" cy="4426892"/>
          </a:xfrm>
        </p:spPr>
        <p:txBody>
          <a:bodyPr>
            <a:normAutofit/>
          </a:bodyPr>
          <a:lstStyle/>
          <a:p>
            <a:pPr marL="0" indent="0" algn="just">
              <a:buNone/>
            </a:pPr>
            <a:endParaRPr lang="es-ES" dirty="0"/>
          </a:p>
          <a:p>
            <a:pPr marL="0" indent="0" algn="just">
              <a:buNone/>
            </a:pPr>
            <a:endParaRPr lang="es-ES" dirty="0"/>
          </a:p>
          <a:p>
            <a:pPr marL="0" indent="0" algn="just">
              <a:buNone/>
            </a:pPr>
            <a:endParaRPr lang="es-ES" dirty="0"/>
          </a:p>
          <a:p>
            <a:pPr marL="0" indent="0" algn="just">
              <a:buNone/>
            </a:pPr>
            <a:endParaRPr lang="es-ES" dirty="0"/>
          </a:p>
          <a:p>
            <a:pPr marL="0" indent="0" algn="just">
              <a:buNone/>
            </a:pPr>
            <a:endParaRPr lang="es-ES" dirty="0"/>
          </a:p>
          <a:p>
            <a:pPr marL="0" indent="0" algn="just">
              <a:buNone/>
            </a:pPr>
            <a:endParaRPr lang="es-ES" dirty="0"/>
          </a:p>
        </p:txBody>
      </p:sp>
      <p:pic>
        <p:nvPicPr>
          <p:cNvPr id="7" name="Imagen 6">
            <a:extLst>
              <a:ext uri="{FF2B5EF4-FFF2-40B4-BE49-F238E27FC236}">
                <a16:creationId xmlns:a16="http://schemas.microsoft.com/office/drawing/2014/main" id="{4F32D20D-E93C-4A50-5483-63B288BD8091}"/>
              </a:ext>
            </a:extLst>
          </p:cNvPr>
          <p:cNvPicPr>
            <a:picLocks noChangeAspect="1"/>
          </p:cNvPicPr>
          <p:nvPr/>
        </p:nvPicPr>
        <p:blipFill>
          <a:blip r:embed="rId4"/>
          <a:stretch>
            <a:fillRect/>
          </a:stretch>
        </p:blipFill>
        <p:spPr>
          <a:xfrm>
            <a:off x="4197667" y="2132811"/>
            <a:ext cx="3857625" cy="3743325"/>
          </a:xfrm>
          <a:prstGeom prst="rect">
            <a:avLst/>
          </a:prstGeom>
        </p:spPr>
      </p:pic>
    </p:spTree>
    <p:extLst>
      <p:ext uri="{BB962C8B-B14F-4D97-AF65-F5344CB8AC3E}">
        <p14:creationId xmlns:p14="http://schemas.microsoft.com/office/powerpoint/2010/main" val="27193059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38F698-A292-07AB-7B93-C82D4B1E8D9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F22E6CC-FB68-3954-C0DC-14DB09C7F789}"/>
              </a:ext>
            </a:extLst>
          </p:cNvPr>
          <p:cNvSpPr>
            <a:spLocks noGrp="1"/>
          </p:cNvSpPr>
          <p:nvPr>
            <p:ph type="title"/>
          </p:nvPr>
        </p:nvSpPr>
        <p:spPr/>
        <p:txBody>
          <a:bodyPr/>
          <a:lstStyle/>
          <a:p>
            <a:r>
              <a:rPr lang="es-ES" b="1" dirty="0"/>
              <a:t>Datos primitivos y Datos </a:t>
            </a:r>
            <a:r>
              <a:rPr lang="es-ES" b="1" dirty="0" err="1"/>
              <a:t>wrapper</a:t>
            </a:r>
            <a:endParaRPr lang="es-AR" dirty="0"/>
          </a:p>
        </p:txBody>
      </p:sp>
      <p:pic>
        <p:nvPicPr>
          <p:cNvPr id="4" name="Imagen 3">
            <a:extLst>
              <a:ext uri="{FF2B5EF4-FFF2-40B4-BE49-F238E27FC236}">
                <a16:creationId xmlns:a16="http://schemas.microsoft.com/office/drawing/2014/main" id="{CB0CF3AF-502B-804F-A027-6C6BA0A1EBBA}"/>
              </a:ext>
            </a:extLst>
          </p:cNvPr>
          <p:cNvPicPr>
            <a:picLocks noChangeAspect="1"/>
          </p:cNvPicPr>
          <p:nvPr/>
        </p:nvPicPr>
        <p:blipFill>
          <a:blip r:embed="rId2"/>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30F81263-293D-59DC-1971-4B13A04048DD}"/>
              </a:ext>
            </a:extLst>
          </p:cNvPr>
          <p:cNvSpPr>
            <a:spLocks noGrp="1"/>
          </p:cNvSpPr>
          <p:nvPr>
            <p:ph type="sldNum" sz="quarter" idx="12"/>
          </p:nvPr>
        </p:nvSpPr>
        <p:spPr/>
        <p:txBody>
          <a:bodyPr/>
          <a:lstStyle/>
          <a:p>
            <a:fld id="{6C8ECD1B-3F01-46F8-A46F-31A31EFC5ABF}" type="slidenum">
              <a:rPr lang="es-AR" smtClean="0"/>
              <a:t>18</a:t>
            </a:fld>
            <a:endParaRPr lang="es-AR"/>
          </a:p>
        </p:txBody>
      </p:sp>
      <p:sp>
        <p:nvSpPr>
          <p:cNvPr id="3" name="Marcador de contenido 2">
            <a:extLst>
              <a:ext uri="{FF2B5EF4-FFF2-40B4-BE49-F238E27FC236}">
                <a16:creationId xmlns:a16="http://schemas.microsoft.com/office/drawing/2014/main" id="{FB39FBEB-1A2E-045C-B8CF-487C530F8D6B}"/>
              </a:ext>
            </a:extLst>
          </p:cNvPr>
          <p:cNvSpPr>
            <a:spLocks noGrp="1"/>
          </p:cNvSpPr>
          <p:nvPr>
            <p:ph idx="1"/>
          </p:nvPr>
        </p:nvSpPr>
        <p:spPr>
          <a:xfrm>
            <a:off x="1066800" y="1737360"/>
            <a:ext cx="10058400" cy="1453013"/>
          </a:xfrm>
        </p:spPr>
        <p:txBody>
          <a:bodyPr>
            <a:normAutofit/>
          </a:bodyPr>
          <a:lstStyle/>
          <a:p>
            <a:pPr marL="0" indent="0" algn="just">
              <a:buNone/>
            </a:pPr>
            <a:r>
              <a:rPr lang="es-ES" dirty="0"/>
              <a:t>En Java, los tipos de datos primitivos son datos básicos que no son objetos y no tienen métodos asociados. Los tipos envoltorio (</a:t>
            </a:r>
            <a:r>
              <a:rPr lang="es-ES" dirty="0" err="1"/>
              <a:t>wrapper</a:t>
            </a:r>
            <a:r>
              <a:rPr lang="es-ES" dirty="0"/>
              <a:t>) son clases que encapsulan estos tipos primitivos dentro de objetos, permitiendo su uso en contextos donde se requieren objetos, como colecciones</a:t>
            </a:r>
            <a:endParaRPr lang="es-AR" dirty="0"/>
          </a:p>
          <a:p>
            <a:pPr marL="0" indent="0">
              <a:buNone/>
            </a:pPr>
            <a:endParaRPr lang="es-AR" dirty="0"/>
          </a:p>
          <a:p>
            <a:pPr marL="0" indent="0">
              <a:buNone/>
            </a:pPr>
            <a:endParaRPr lang="es-AR" dirty="0"/>
          </a:p>
        </p:txBody>
      </p:sp>
      <p:pic>
        <p:nvPicPr>
          <p:cNvPr id="6" name="Imagen 5">
            <a:extLst>
              <a:ext uri="{FF2B5EF4-FFF2-40B4-BE49-F238E27FC236}">
                <a16:creationId xmlns:a16="http://schemas.microsoft.com/office/drawing/2014/main" id="{2351164B-9649-DEB9-8A58-3DC82E6E6BEC}"/>
              </a:ext>
            </a:extLst>
          </p:cNvPr>
          <p:cNvPicPr>
            <a:picLocks noChangeAspect="1"/>
          </p:cNvPicPr>
          <p:nvPr/>
        </p:nvPicPr>
        <p:blipFill>
          <a:blip r:embed="rId3"/>
          <a:stretch>
            <a:fillRect/>
          </a:stretch>
        </p:blipFill>
        <p:spPr>
          <a:xfrm>
            <a:off x="3263900" y="2636535"/>
            <a:ext cx="5664200" cy="3675657"/>
          </a:xfrm>
          <a:prstGeom prst="rect">
            <a:avLst/>
          </a:prstGeom>
        </p:spPr>
      </p:pic>
    </p:spTree>
    <p:extLst>
      <p:ext uri="{BB962C8B-B14F-4D97-AF65-F5344CB8AC3E}">
        <p14:creationId xmlns:p14="http://schemas.microsoft.com/office/powerpoint/2010/main" val="26927350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B5BF63-378F-3D11-6425-A95C671DA67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A49E568-80E5-6A05-C5A8-44FACFAC34E8}"/>
              </a:ext>
            </a:extLst>
          </p:cNvPr>
          <p:cNvSpPr>
            <a:spLocks noGrp="1"/>
          </p:cNvSpPr>
          <p:nvPr>
            <p:ph type="title"/>
          </p:nvPr>
        </p:nvSpPr>
        <p:spPr/>
        <p:txBody>
          <a:bodyPr/>
          <a:lstStyle/>
          <a:p>
            <a:r>
              <a:rPr lang="es-ES" b="1" dirty="0"/>
              <a:t>Datos primitivos y Datos </a:t>
            </a:r>
            <a:r>
              <a:rPr lang="es-ES" b="1" dirty="0" err="1"/>
              <a:t>wrapper</a:t>
            </a:r>
            <a:endParaRPr lang="es-AR" dirty="0"/>
          </a:p>
        </p:txBody>
      </p:sp>
      <p:pic>
        <p:nvPicPr>
          <p:cNvPr id="4" name="Imagen 3">
            <a:extLst>
              <a:ext uri="{FF2B5EF4-FFF2-40B4-BE49-F238E27FC236}">
                <a16:creationId xmlns:a16="http://schemas.microsoft.com/office/drawing/2014/main" id="{5158553F-7486-4415-7DB0-5E1FFAF79CFF}"/>
              </a:ext>
            </a:extLst>
          </p:cNvPr>
          <p:cNvPicPr>
            <a:picLocks noChangeAspect="1"/>
          </p:cNvPicPr>
          <p:nvPr/>
        </p:nvPicPr>
        <p:blipFill>
          <a:blip r:embed="rId2"/>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79B4BFF6-5644-A1EE-54F3-EFCB6428B44D}"/>
              </a:ext>
            </a:extLst>
          </p:cNvPr>
          <p:cNvSpPr>
            <a:spLocks noGrp="1"/>
          </p:cNvSpPr>
          <p:nvPr>
            <p:ph type="sldNum" sz="quarter" idx="12"/>
          </p:nvPr>
        </p:nvSpPr>
        <p:spPr/>
        <p:txBody>
          <a:bodyPr/>
          <a:lstStyle/>
          <a:p>
            <a:fld id="{6C8ECD1B-3F01-46F8-A46F-31A31EFC5ABF}" type="slidenum">
              <a:rPr lang="es-AR" smtClean="0"/>
              <a:t>19</a:t>
            </a:fld>
            <a:endParaRPr lang="es-AR"/>
          </a:p>
        </p:txBody>
      </p:sp>
      <p:pic>
        <p:nvPicPr>
          <p:cNvPr id="6146" name="Picture 2" descr="Tipos primitivos de datos | Mind Map">
            <a:extLst>
              <a:ext uri="{FF2B5EF4-FFF2-40B4-BE49-F238E27FC236}">
                <a16:creationId xmlns:a16="http://schemas.microsoft.com/office/drawing/2014/main" id="{4F223687-B368-31E9-ACB3-8655DCA432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6079" y="2110153"/>
            <a:ext cx="4940801" cy="2045845"/>
          </a:xfrm>
          <a:prstGeom prst="rect">
            <a:avLst/>
          </a:prstGeom>
          <a:noFill/>
          <a:extLst>
            <a:ext uri="{909E8E84-426E-40DD-AFC4-6F175D3DCCD1}">
              <a14:hiddenFill xmlns:a14="http://schemas.microsoft.com/office/drawing/2010/main">
                <a:solidFill>
                  <a:srgbClr val="FFFFFF"/>
                </a:solidFill>
              </a14:hiddenFill>
            </a:ext>
          </a:extLst>
        </p:spPr>
      </p:pic>
      <p:sp>
        <p:nvSpPr>
          <p:cNvPr id="3" name="Marcador de contenido 2">
            <a:extLst>
              <a:ext uri="{FF2B5EF4-FFF2-40B4-BE49-F238E27FC236}">
                <a16:creationId xmlns:a16="http://schemas.microsoft.com/office/drawing/2014/main" id="{6066F005-CF51-02A4-8D8C-53FB3639B6F4}"/>
              </a:ext>
            </a:extLst>
          </p:cNvPr>
          <p:cNvSpPr>
            <a:spLocks noGrp="1"/>
          </p:cNvSpPr>
          <p:nvPr>
            <p:ph idx="1"/>
          </p:nvPr>
        </p:nvSpPr>
        <p:spPr>
          <a:xfrm>
            <a:off x="1154083" y="4528790"/>
            <a:ext cx="10058400" cy="1453013"/>
          </a:xfrm>
        </p:spPr>
        <p:txBody>
          <a:bodyPr>
            <a:normAutofit fontScale="92500"/>
          </a:bodyPr>
          <a:lstStyle/>
          <a:p>
            <a:pPr marL="0" indent="0" algn="just">
              <a:buNone/>
            </a:pPr>
            <a:r>
              <a:rPr lang="es-AR" dirty="0"/>
              <a:t>Los datos tipo ENVOLTURA o WRAPPERS </a:t>
            </a:r>
            <a:r>
              <a:rPr lang="es-ES" dirty="0"/>
              <a:t>se utilizan para tratar los tipos de datos primitivos como objetos. Las colecciones en Java, como </a:t>
            </a:r>
            <a:r>
              <a:rPr lang="es-ES" dirty="0" err="1"/>
              <a:t>ArrayList</a:t>
            </a:r>
            <a:r>
              <a:rPr lang="es-ES" dirty="0"/>
              <a:t> o </a:t>
            </a:r>
            <a:r>
              <a:rPr lang="es-ES" dirty="0" err="1"/>
              <a:t>HashMap</a:t>
            </a:r>
            <a:r>
              <a:rPr lang="es-ES" dirty="0"/>
              <a:t>, solo pueden almacenar objetos, no tipos primitivos. Las clases </a:t>
            </a:r>
            <a:r>
              <a:rPr lang="es-ES" dirty="0" err="1"/>
              <a:t>wrapper</a:t>
            </a:r>
            <a:r>
              <a:rPr lang="es-ES" dirty="0"/>
              <a:t> permiten "envolver" un tipo primitivo (por ejemplo, un </a:t>
            </a:r>
            <a:r>
              <a:rPr lang="es-ES" dirty="0" err="1"/>
              <a:t>int</a:t>
            </a:r>
            <a:r>
              <a:rPr lang="es-ES" dirty="0"/>
              <a:t>) en un objeto </a:t>
            </a:r>
            <a:r>
              <a:rPr lang="es-ES" dirty="0" err="1"/>
              <a:t>Integer</a:t>
            </a:r>
            <a:r>
              <a:rPr lang="es-ES" dirty="0"/>
              <a:t>, facilita su inserción en colecciones y tambien facilita operaciones como la conversión de tipos (la clase </a:t>
            </a:r>
            <a:r>
              <a:rPr lang="es-ES" dirty="0" err="1"/>
              <a:t>Integer</a:t>
            </a:r>
            <a:r>
              <a:rPr lang="es-ES" dirty="0"/>
              <a:t> para convertir un entero a una cadena .</a:t>
            </a:r>
            <a:r>
              <a:rPr lang="es-ES" dirty="0" err="1"/>
              <a:t>toString</a:t>
            </a:r>
            <a:r>
              <a:rPr lang="es-ES" dirty="0"/>
              <a:t>()) y el manejo de valores nulos.</a:t>
            </a:r>
            <a:endParaRPr lang="es-AR" dirty="0"/>
          </a:p>
          <a:p>
            <a:endParaRPr lang="es-AR" dirty="0"/>
          </a:p>
          <a:p>
            <a:pPr marL="0" indent="0">
              <a:buNone/>
            </a:pPr>
            <a:endParaRPr lang="es-AR" dirty="0"/>
          </a:p>
          <a:p>
            <a:pPr marL="0" indent="0">
              <a:buNone/>
            </a:pPr>
            <a:endParaRPr lang="es-AR" dirty="0"/>
          </a:p>
        </p:txBody>
      </p:sp>
    </p:spTree>
    <p:extLst>
      <p:ext uri="{BB962C8B-B14F-4D97-AF65-F5344CB8AC3E}">
        <p14:creationId xmlns:p14="http://schemas.microsoft.com/office/powerpoint/2010/main" val="37941346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D3A6AF-A9F6-38AA-DE13-4617FC90BB3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7D1622A-946C-0E82-5D73-E881359A8868}"/>
              </a:ext>
            </a:extLst>
          </p:cNvPr>
          <p:cNvSpPr>
            <a:spLocks noGrp="1"/>
          </p:cNvSpPr>
          <p:nvPr>
            <p:ph type="title"/>
          </p:nvPr>
        </p:nvSpPr>
        <p:spPr/>
        <p:txBody>
          <a:bodyPr/>
          <a:lstStyle/>
          <a:p>
            <a:r>
              <a:rPr lang="es-ES" b="1" dirty="0"/>
              <a:t>Datos primitivos y Datos </a:t>
            </a:r>
            <a:r>
              <a:rPr lang="es-ES" b="1" dirty="0" err="1"/>
              <a:t>wrapper</a:t>
            </a:r>
            <a:endParaRPr lang="es-AR" dirty="0"/>
          </a:p>
        </p:txBody>
      </p:sp>
      <p:pic>
        <p:nvPicPr>
          <p:cNvPr id="4" name="Imagen 3">
            <a:extLst>
              <a:ext uri="{FF2B5EF4-FFF2-40B4-BE49-F238E27FC236}">
                <a16:creationId xmlns:a16="http://schemas.microsoft.com/office/drawing/2014/main" id="{4203EB0A-F029-6ED6-20A4-1A0858D1D584}"/>
              </a:ext>
            </a:extLst>
          </p:cNvPr>
          <p:cNvPicPr>
            <a:picLocks noChangeAspect="1"/>
          </p:cNvPicPr>
          <p:nvPr/>
        </p:nvPicPr>
        <p:blipFill>
          <a:blip r:embed="rId2"/>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C235ABB3-50E3-1F11-FB29-2CBE4C30F588}"/>
              </a:ext>
            </a:extLst>
          </p:cNvPr>
          <p:cNvSpPr>
            <a:spLocks noGrp="1"/>
          </p:cNvSpPr>
          <p:nvPr>
            <p:ph type="sldNum" sz="quarter" idx="12"/>
          </p:nvPr>
        </p:nvSpPr>
        <p:spPr/>
        <p:txBody>
          <a:bodyPr/>
          <a:lstStyle/>
          <a:p>
            <a:fld id="{6C8ECD1B-3F01-46F8-A46F-31A31EFC5ABF}" type="slidenum">
              <a:rPr lang="es-AR" smtClean="0"/>
              <a:t>20</a:t>
            </a:fld>
            <a:endParaRPr lang="es-AR"/>
          </a:p>
        </p:txBody>
      </p:sp>
      <p:pic>
        <p:nvPicPr>
          <p:cNvPr id="9" name="Imagen 8">
            <a:extLst>
              <a:ext uri="{FF2B5EF4-FFF2-40B4-BE49-F238E27FC236}">
                <a16:creationId xmlns:a16="http://schemas.microsoft.com/office/drawing/2014/main" id="{6D4B9DD8-4E1E-AD3F-9799-57AB4B0BBD91}"/>
              </a:ext>
            </a:extLst>
          </p:cNvPr>
          <p:cNvPicPr>
            <a:picLocks noChangeAspect="1"/>
          </p:cNvPicPr>
          <p:nvPr/>
        </p:nvPicPr>
        <p:blipFill>
          <a:blip r:embed="rId3"/>
          <a:stretch>
            <a:fillRect/>
          </a:stretch>
        </p:blipFill>
        <p:spPr>
          <a:xfrm>
            <a:off x="1494948" y="1913223"/>
            <a:ext cx="9263063" cy="4370699"/>
          </a:xfrm>
          <a:prstGeom prst="rect">
            <a:avLst/>
          </a:prstGeom>
        </p:spPr>
      </p:pic>
    </p:spTree>
    <p:extLst>
      <p:ext uri="{BB962C8B-B14F-4D97-AF65-F5344CB8AC3E}">
        <p14:creationId xmlns:p14="http://schemas.microsoft.com/office/powerpoint/2010/main" val="36937662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F9B6EA-861A-358A-6518-6782903E932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548A934-E7FA-12B6-4334-0FFF0FADD6A4}"/>
              </a:ext>
            </a:extLst>
          </p:cNvPr>
          <p:cNvSpPr>
            <a:spLocks noGrp="1"/>
          </p:cNvSpPr>
          <p:nvPr>
            <p:ph type="title"/>
          </p:nvPr>
        </p:nvSpPr>
        <p:spPr/>
        <p:txBody>
          <a:bodyPr/>
          <a:lstStyle/>
          <a:p>
            <a:r>
              <a:rPr lang="es-ES" b="1" dirty="0"/>
              <a:t>Constructores y destructores</a:t>
            </a:r>
            <a:r>
              <a:rPr lang="es-AR" dirty="0"/>
              <a:t>.</a:t>
            </a:r>
          </a:p>
        </p:txBody>
      </p:sp>
      <p:sp>
        <p:nvSpPr>
          <p:cNvPr id="3" name="Marcador de contenido 2">
            <a:extLst>
              <a:ext uri="{FF2B5EF4-FFF2-40B4-BE49-F238E27FC236}">
                <a16:creationId xmlns:a16="http://schemas.microsoft.com/office/drawing/2014/main" id="{16CB8FA8-EB4E-028C-406A-DC9859FDF7E5}"/>
              </a:ext>
            </a:extLst>
          </p:cNvPr>
          <p:cNvSpPr>
            <a:spLocks noGrp="1"/>
          </p:cNvSpPr>
          <p:nvPr>
            <p:ph idx="1"/>
          </p:nvPr>
        </p:nvSpPr>
        <p:spPr>
          <a:xfrm>
            <a:off x="1097280" y="1845734"/>
            <a:ext cx="10058400" cy="4428066"/>
          </a:xfrm>
        </p:spPr>
        <p:txBody>
          <a:bodyPr>
            <a:normAutofit/>
          </a:bodyPr>
          <a:lstStyle/>
          <a:p>
            <a:r>
              <a:rPr lang="es-AR" b="1" dirty="0"/>
              <a:t>Constructores en JAVA</a:t>
            </a:r>
            <a:r>
              <a:rPr lang="es-AR" dirty="0"/>
              <a:t>:</a:t>
            </a:r>
            <a:r>
              <a:rPr lang="es-ES" dirty="0"/>
              <a:t> </a:t>
            </a:r>
          </a:p>
          <a:p>
            <a:r>
              <a:rPr lang="es-ES" dirty="0"/>
              <a:t>Un </a:t>
            </a:r>
            <a:r>
              <a:rPr lang="es-ES" b="1" dirty="0"/>
              <a:t>constructor</a:t>
            </a:r>
            <a:r>
              <a:rPr lang="es-ES" dirty="0"/>
              <a:t> es un método especial que se utiliza para inicializar un objeto de una clase cuando se crea. </a:t>
            </a:r>
          </a:p>
          <a:p>
            <a:r>
              <a:rPr lang="es-ES" dirty="0"/>
              <a:t>Un </a:t>
            </a:r>
            <a:r>
              <a:rPr lang="es-ES" b="1" dirty="0"/>
              <a:t>destructor</a:t>
            </a:r>
            <a:r>
              <a:rPr lang="es-ES" dirty="0"/>
              <a:t>, en cambio, es un método que se utiliza para liberar los recursos que un objeto ha utilizado antes de que sea destruido. </a:t>
            </a:r>
          </a:p>
          <a:p>
            <a:r>
              <a:rPr lang="es-ES" b="1" dirty="0"/>
              <a:t>En Java, no existen destructores </a:t>
            </a:r>
            <a:r>
              <a:rPr lang="es-ES" dirty="0"/>
              <a:t>explícitos como en otros lenguajes como C++; en su lugar, Java utiliza el “</a:t>
            </a:r>
            <a:r>
              <a:rPr lang="es-ES" dirty="0" err="1"/>
              <a:t>garbage</a:t>
            </a:r>
            <a:r>
              <a:rPr lang="es-ES" dirty="0"/>
              <a:t> </a:t>
            </a:r>
            <a:r>
              <a:rPr lang="es-ES" dirty="0" err="1"/>
              <a:t>collection</a:t>
            </a:r>
            <a:r>
              <a:rPr lang="es-ES" dirty="0"/>
              <a:t>”  para liberar la memoria. </a:t>
            </a:r>
            <a:endParaRPr lang="es-AR" dirty="0"/>
          </a:p>
        </p:txBody>
      </p:sp>
      <p:pic>
        <p:nvPicPr>
          <p:cNvPr id="4" name="Imagen 3">
            <a:extLst>
              <a:ext uri="{FF2B5EF4-FFF2-40B4-BE49-F238E27FC236}">
                <a16:creationId xmlns:a16="http://schemas.microsoft.com/office/drawing/2014/main" id="{A5D1C1CB-8007-EF47-2EBE-5862317AB2D5}"/>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EADF1886-C436-EA16-5074-2DBFDB7AEB8B}"/>
              </a:ext>
            </a:extLst>
          </p:cNvPr>
          <p:cNvSpPr>
            <a:spLocks noGrp="1"/>
          </p:cNvSpPr>
          <p:nvPr>
            <p:ph type="sldNum" sz="quarter" idx="12"/>
          </p:nvPr>
        </p:nvSpPr>
        <p:spPr/>
        <p:txBody>
          <a:bodyPr/>
          <a:lstStyle/>
          <a:p>
            <a:fld id="{6C8ECD1B-3F01-46F8-A46F-31A31EFC5ABF}" type="slidenum">
              <a:rPr lang="es-AR" smtClean="0"/>
              <a:t>21</a:t>
            </a:fld>
            <a:endParaRPr lang="es-AR"/>
          </a:p>
        </p:txBody>
      </p:sp>
    </p:spTree>
    <p:extLst>
      <p:ext uri="{BB962C8B-B14F-4D97-AF65-F5344CB8AC3E}">
        <p14:creationId xmlns:p14="http://schemas.microsoft.com/office/powerpoint/2010/main" val="25486729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E9D42-4938-44F6-D3B7-BEE20650AEF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4BC35F7-8927-6343-8347-561AC82BF08B}"/>
              </a:ext>
            </a:extLst>
          </p:cNvPr>
          <p:cNvSpPr>
            <a:spLocks noGrp="1"/>
          </p:cNvSpPr>
          <p:nvPr>
            <p:ph type="title"/>
          </p:nvPr>
        </p:nvSpPr>
        <p:spPr/>
        <p:txBody>
          <a:bodyPr/>
          <a:lstStyle/>
          <a:p>
            <a:r>
              <a:rPr lang="es-ES" b="1" dirty="0"/>
              <a:t>Constructores y destructores</a:t>
            </a:r>
            <a:r>
              <a:rPr lang="es-AR" dirty="0"/>
              <a:t>.</a:t>
            </a:r>
          </a:p>
        </p:txBody>
      </p:sp>
      <p:sp>
        <p:nvSpPr>
          <p:cNvPr id="3" name="Marcador de contenido 2">
            <a:extLst>
              <a:ext uri="{FF2B5EF4-FFF2-40B4-BE49-F238E27FC236}">
                <a16:creationId xmlns:a16="http://schemas.microsoft.com/office/drawing/2014/main" id="{A0630DB0-25CC-6F34-07D6-FD2641413EF2}"/>
              </a:ext>
            </a:extLst>
          </p:cNvPr>
          <p:cNvSpPr>
            <a:spLocks noGrp="1"/>
          </p:cNvSpPr>
          <p:nvPr>
            <p:ph idx="1"/>
          </p:nvPr>
        </p:nvSpPr>
        <p:spPr>
          <a:xfrm>
            <a:off x="1097280" y="1845734"/>
            <a:ext cx="10058400" cy="4428066"/>
          </a:xfrm>
        </p:spPr>
        <p:txBody>
          <a:bodyPr>
            <a:normAutofit/>
          </a:bodyPr>
          <a:lstStyle/>
          <a:p>
            <a:r>
              <a:rPr lang="es-AR" dirty="0"/>
              <a:t>Características constructor:</a:t>
            </a:r>
          </a:p>
          <a:p>
            <a:pPr>
              <a:buFont typeface="Arial" panose="020B0604020202020204" pitchFamily="34" charset="0"/>
              <a:buChar char="•"/>
            </a:pPr>
            <a:r>
              <a:rPr lang="es-ES" dirty="0"/>
              <a:t>Se utilizan para inicializar los atributos de un objeto cuando se crea una nueva instancia de la clase.</a:t>
            </a:r>
          </a:p>
          <a:p>
            <a:pPr>
              <a:buFont typeface="Arial" panose="020B0604020202020204" pitchFamily="34" charset="0"/>
              <a:buChar char="•"/>
            </a:pPr>
            <a:r>
              <a:rPr lang="es-ES" dirty="0"/>
              <a:t>Tienen el mismo nombre que la clase.</a:t>
            </a:r>
          </a:p>
          <a:p>
            <a:pPr>
              <a:buFont typeface="Arial" panose="020B0604020202020204" pitchFamily="34" charset="0"/>
              <a:buChar char="•"/>
            </a:pPr>
            <a:r>
              <a:rPr lang="es-ES" dirty="0"/>
              <a:t>No tienen tipo de retorno (ni siquiera </a:t>
            </a:r>
            <a:r>
              <a:rPr lang="es-ES" dirty="0" err="1"/>
              <a:t>void</a:t>
            </a:r>
            <a:r>
              <a:rPr lang="es-ES" dirty="0"/>
              <a:t>).</a:t>
            </a:r>
          </a:p>
          <a:p>
            <a:pPr>
              <a:buFont typeface="Arial" panose="020B0604020202020204" pitchFamily="34" charset="0"/>
              <a:buChar char="•"/>
            </a:pPr>
            <a:r>
              <a:rPr lang="es-ES" dirty="0"/>
              <a:t>Se invocan automáticamente al usar la palabra clave new para crear un objeto.</a:t>
            </a:r>
          </a:p>
          <a:p>
            <a:pPr>
              <a:buFont typeface="Arial" panose="020B0604020202020204" pitchFamily="34" charset="0"/>
              <a:buChar char="•"/>
            </a:pPr>
            <a:r>
              <a:rPr lang="es-ES" dirty="0"/>
              <a:t>Pueden tener parámetros para recibir valores iniciales.</a:t>
            </a:r>
          </a:p>
          <a:p>
            <a:pPr>
              <a:buFont typeface="Arial" panose="020B0604020202020204" pitchFamily="34" charset="0"/>
              <a:buChar char="•"/>
            </a:pPr>
            <a:r>
              <a:rPr lang="es-ES" dirty="0"/>
              <a:t>Una clase puede tener múltiples constructores (sobrecarga de constructores).</a:t>
            </a:r>
            <a:endParaRPr lang="es-AR" dirty="0"/>
          </a:p>
        </p:txBody>
      </p:sp>
      <p:pic>
        <p:nvPicPr>
          <p:cNvPr id="4" name="Imagen 3">
            <a:extLst>
              <a:ext uri="{FF2B5EF4-FFF2-40B4-BE49-F238E27FC236}">
                <a16:creationId xmlns:a16="http://schemas.microsoft.com/office/drawing/2014/main" id="{471774DD-56CB-0635-CF12-0272B55BE6D9}"/>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190B1FB7-CCEA-77D9-C9CE-1FDD085A3939}"/>
              </a:ext>
            </a:extLst>
          </p:cNvPr>
          <p:cNvSpPr>
            <a:spLocks noGrp="1"/>
          </p:cNvSpPr>
          <p:nvPr>
            <p:ph type="sldNum" sz="quarter" idx="12"/>
          </p:nvPr>
        </p:nvSpPr>
        <p:spPr/>
        <p:txBody>
          <a:bodyPr/>
          <a:lstStyle/>
          <a:p>
            <a:fld id="{6C8ECD1B-3F01-46F8-A46F-31A31EFC5ABF}" type="slidenum">
              <a:rPr lang="es-AR" smtClean="0"/>
              <a:t>22</a:t>
            </a:fld>
            <a:endParaRPr lang="es-AR"/>
          </a:p>
        </p:txBody>
      </p:sp>
    </p:spTree>
    <p:extLst>
      <p:ext uri="{BB962C8B-B14F-4D97-AF65-F5344CB8AC3E}">
        <p14:creationId xmlns:p14="http://schemas.microsoft.com/office/powerpoint/2010/main" val="13911891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2AB37-B30A-2CD8-B614-832228B28E2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79AA809-5767-4B9D-EBBB-55A066CAAF60}"/>
              </a:ext>
            </a:extLst>
          </p:cNvPr>
          <p:cNvSpPr>
            <a:spLocks noGrp="1"/>
          </p:cNvSpPr>
          <p:nvPr>
            <p:ph type="title"/>
          </p:nvPr>
        </p:nvSpPr>
        <p:spPr/>
        <p:txBody>
          <a:bodyPr/>
          <a:lstStyle/>
          <a:p>
            <a:r>
              <a:rPr lang="es-ES" b="1" dirty="0"/>
              <a:t>Constructores y destructores</a:t>
            </a:r>
            <a:r>
              <a:rPr lang="es-AR" dirty="0"/>
              <a:t>.</a:t>
            </a:r>
          </a:p>
        </p:txBody>
      </p:sp>
      <p:pic>
        <p:nvPicPr>
          <p:cNvPr id="4" name="Imagen 3">
            <a:extLst>
              <a:ext uri="{FF2B5EF4-FFF2-40B4-BE49-F238E27FC236}">
                <a16:creationId xmlns:a16="http://schemas.microsoft.com/office/drawing/2014/main" id="{D8289906-F3F6-6BF3-4827-7E5DDD8DAFAB}"/>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BE4E52CB-E039-BE12-C2E2-39706B42FDBC}"/>
              </a:ext>
            </a:extLst>
          </p:cNvPr>
          <p:cNvSpPr>
            <a:spLocks noGrp="1"/>
          </p:cNvSpPr>
          <p:nvPr>
            <p:ph type="sldNum" sz="quarter" idx="12"/>
          </p:nvPr>
        </p:nvSpPr>
        <p:spPr/>
        <p:txBody>
          <a:bodyPr/>
          <a:lstStyle/>
          <a:p>
            <a:fld id="{6C8ECD1B-3F01-46F8-A46F-31A31EFC5ABF}" type="slidenum">
              <a:rPr lang="es-AR" smtClean="0"/>
              <a:t>23</a:t>
            </a:fld>
            <a:endParaRPr lang="es-AR"/>
          </a:p>
        </p:txBody>
      </p:sp>
      <p:pic>
        <p:nvPicPr>
          <p:cNvPr id="7" name="Imagen 6">
            <a:extLst>
              <a:ext uri="{FF2B5EF4-FFF2-40B4-BE49-F238E27FC236}">
                <a16:creationId xmlns:a16="http://schemas.microsoft.com/office/drawing/2014/main" id="{874EA455-7FA8-65DE-513A-582141010BA0}"/>
              </a:ext>
            </a:extLst>
          </p:cNvPr>
          <p:cNvPicPr>
            <a:picLocks noChangeAspect="1"/>
          </p:cNvPicPr>
          <p:nvPr/>
        </p:nvPicPr>
        <p:blipFill>
          <a:blip r:embed="rId4"/>
          <a:stretch>
            <a:fillRect/>
          </a:stretch>
        </p:blipFill>
        <p:spPr>
          <a:xfrm>
            <a:off x="7270963" y="1888040"/>
            <a:ext cx="4282861" cy="3314330"/>
          </a:xfrm>
          <a:prstGeom prst="rect">
            <a:avLst/>
          </a:prstGeom>
        </p:spPr>
      </p:pic>
      <p:pic>
        <p:nvPicPr>
          <p:cNvPr id="9" name="Imagen 8">
            <a:extLst>
              <a:ext uri="{FF2B5EF4-FFF2-40B4-BE49-F238E27FC236}">
                <a16:creationId xmlns:a16="http://schemas.microsoft.com/office/drawing/2014/main" id="{02B1EB43-A236-5AA4-AF65-6AE2E860ADF8}"/>
              </a:ext>
            </a:extLst>
          </p:cNvPr>
          <p:cNvPicPr>
            <a:picLocks noChangeAspect="1"/>
          </p:cNvPicPr>
          <p:nvPr/>
        </p:nvPicPr>
        <p:blipFill>
          <a:blip r:embed="rId5"/>
          <a:stretch>
            <a:fillRect/>
          </a:stretch>
        </p:blipFill>
        <p:spPr>
          <a:xfrm>
            <a:off x="415925" y="2891692"/>
            <a:ext cx="6855038" cy="1307027"/>
          </a:xfrm>
          <a:prstGeom prst="rect">
            <a:avLst/>
          </a:prstGeom>
        </p:spPr>
      </p:pic>
    </p:spTree>
    <p:extLst>
      <p:ext uri="{BB962C8B-B14F-4D97-AF65-F5344CB8AC3E}">
        <p14:creationId xmlns:p14="http://schemas.microsoft.com/office/powerpoint/2010/main" val="41476561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F76201-83DF-9363-AEAB-526E6626916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8FADA47-1AC4-E159-86DB-E321BC1FDF3F}"/>
              </a:ext>
            </a:extLst>
          </p:cNvPr>
          <p:cNvSpPr>
            <a:spLocks noGrp="1"/>
          </p:cNvSpPr>
          <p:nvPr>
            <p:ph type="title"/>
          </p:nvPr>
        </p:nvSpPr>
        <p:spPr/>
        <p:txBody>
          <a:bodyPr/>
          <a:lstStyle/>
          <a:p>
            <a:r>
              <a:rPr lang="es-ES" b="1" dirty="0"/>
              <a:t>Constructores y destructores</a:t>
            </a:r>
            <a:r>
              <a:rPr lang="es-AR" dirty="0"/>
              <a:t>.</a:t>
            </a:r>
          </a:p>
        </p:txBody>
      </p:sp>
      <p:sp>
        <p:nvSpPr>
          <p:cNvPr id="3" name="Marcador de contenido 2">
            <a:extLst>
              <a:ext uri="{FF2B5EF4-FFF2-40B4-BE49-F238E27FC236}">
                <a16:creationId xmlns:a16="http://schemas.microsoft.com/office/drawing/2014/main" id="{D15B1859-2D3B-2183-C18C-0E8597BECD5E}"/>
              </a:ext>
            </a:extLst>
          </p:cNvPr>
          <p:cNvSpPr>
            <a:spLocks noGrp="1"/>
          </p:cNvSpPr>
          <p:nvPr>
            <p:ph idx="1"/>
          </p:nvPr>
        </p:nvSpPr>
        <p:spPr>
          <a:xfrm>
            <a:off x="1097280" y="1845734"/>
            <a:ext cx="10058400" cy="4428066"/>
          </a:xfrm>
        </p:spPr>
        <p:txBody>
          <a:bodyPr>
            <a:normAutofit/>
          </a:bodyPr>
          <a:lstStyle/>
          <a:p>
            <a:pPr marL="0" indent="0">
              <a:buNone/>
            </a:pPr>
            <a:r>
              <a:rPr lang="es-AR" dirty="0"/>
              <a:t>Características destructor en Java:</a:t>
            </a:r>
          </a:p>
          <a:p>
            <a:pPr>
              <a:buFont typeface="Arial" panose="020B0604020202020204" pitchFamily="34" charset="0"/>
              <a:buChar char="•"/>
            </a:pPr>
            <a:r>
              <a:rPr lang="es-ES" dirty="0"/>
              <a:t>En Java, no se definen destructores explícitos como en C++.</a:t>
            </a:r>
          </a:p>
          <a:p>
            <a:pPr>
              <a:buFont typeface="Arial" panose="020B0604020202020204" pitchFamily="34" charset="0"/>
              <a:buChar char="•"/>
            </a:pPr>
            <a:r>
              <a:rPr lang="es-ES" dirty="0"/>
              <a:t>La memoria se gestiona automáticamente a través de la recolección de basura (</a:t>
            </a:r>
            <a:r>
              <a:rPr lang="es-ES" dirty="0" err="1"/>
              <a:t>garbage</a:t>
            </a:r>
            <a:r>
              <a:rPr lang="es-ES" dirty="0"/>
              <a:t> </a:t>
            </a:r>
            <a:r>
              <a:rPr lang="es-ES" dirty="0" err="1"/>
              <a:t>collection</a:t>
            </a:r>
            <a:r>
              <a:rPr lang="es-ES" dirty="0"/>
              <a:t>).</a:t>
            </a:r>
          </a:p>
          <a:p>
            <a:pPr>
              <a:buFont typeface="Arial" panose="020B0604020202020204" pitchFamily="34" charset="0"/>
              <a:buChar char="•"/>
            </a:pPr>
            <a:r>
              <a:rPr lang="es-ES" dirty="0"/>
              <a:t>El recolector de basura libera la memoria de los objetos que ya no están siendo utilizados.</a:t>
            </a:r>
          </a:p>
          <a:p>
            <a:pPr algn="just">
              <a:buFont typeface="Arial" panose="020B0604020202020204" pitchFamily="34" charset="0"/>
              <a:buChar char="•"/>
            </a:pPr>
            <a:r>
              <a:rPr lang="es-ES" dirty="0"/>
              <a:t>Se puede utilizar el método </a:t>
            </a:r>
            <a:r>
              <a:rPr lang="es-ES" dirty="0" err="1"/>
              <a:t>finalize</a:t>
            </a:r>
            <a:r>
              <a:rPr lang="es-ES" dirty="0"/>
              <a:t>() para realizar tareas de limpieza antes de que un objeto sea recolectado, pero no se considera un destructor propiamente dicho y su uso es desaconsejado en la programación moderna, se recomienda utilizar try-</a:t>
            </a:r>
            <a:r>
              <a:rPr lang="es-ES" dirty="0" err="1"/>
              <a:t>with</a:t>
            </a:r>
            <a:r>
              <a:rPr lang="es-ES" dirty="0"/>
              <a:t>-</a:t>
            </a:r>
            <a:r>
              <a:rPr lang="es-ES" dirty="0" err="1"/>
              <a:t>resources</a:t>
            </a:r>
            <a:r>
              <a:rPr lang="es-ES" dirty="0"/>
              <a:t> para la gestión de recursos.</a:t>
            </a:r>
            <a:endParaRPr lang="es-AR" dirty="0"/>
          </a:p>
        </p:txBody>
      </p:sp>
      <p:pic>
        <p:nvPicPr>
          <p:cNvPr id="4" name="Imagen 3">
            <a:extLst>
              <a:ext uri="{FF2B5EF4-FFF2-40B4-BE49-F238E27FC236}">
                <a16:creationId xmlns:a16="http://schemas.microsoft.com/office/drawing/2014/main" id="{4ACDCBCA-AACA-7B2F-B99A-E2D4E4B51EC7}"/>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7B8A3B0E-E7EB-1D16-1AF4-F397C2186E13}"/>
              </a:ext>
            </a:extLst>
          </p:cNvPr>
          <p:cNvSpPr>
            <a:spLocks noGrp="1"/>
          </p:cNvSpPr>
          <p:nvPr>
            <p:ph type="sldNum" sz="quarter" idx="12"/>
          </p:nvPr>
        </p:nvSpPr>
        <p:spPr/>
        <p:txBody>
          <a:bodyPr/>
          <a:lstStyle/>
          <a:p>
            <a:fld id="{6C8ECD1B-3F01-46F8-A46F-31A31EFC5ABF}" type="slidenum">
              <a:rPr lang="es-AR" smtClean="0"/>
              <a:t>24</a:t>
            </a:fld>
            <a:endParaRPr lang="es-AR"/>
          </a:p>
        </p:txBody>
      </p:sp>
    </p:spTree>
    <p:extLst>
      <p:ext uri="{BB962C8B-B14F-4D97-AF65-F5344CB8AC3E}">
        <p14:creationId xmlns:p14="http://schemas.microsoft.com/office/powerpoint/2010/main" val="20439909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8B5ABA-F3A4-AFD9-6D28-EF270DBDCD3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24FB4BA-8E22-899B-A56B-318A74AF13C7}"/>
              </a:ext>
            </a:extLst>
          </p:cNvPr>
          <p:cNvSpPr>
            <a:spLocks noGrp="1"/>
          </p:cNvSpPr>
          <p:nvPr>
            <p:ph type="title"/>
          </p:nvPr>
        </p:nvSpPr>
        <p:spPr/>
        <p:txBody>
          <a:bodyPr/>
          <a:lstStyle/>
          <a:p>
            <a:r>
              <a:rPr lang="es-ES" b="1" dirty="0"/>
              <a:t>Constructores y destructores</a:t>
            </a:r>
            <a:r>
              <a:rPr lang="es-AR" dirty="0"/>
              <a:t>.</a:t>
            </a:r>
          </a:p>
        </p:txBody>
      </p:sp>
      <p:pic>
        <p:nvPicPr>
          <p:cNvPr id="4" name="Imagen 3">
            <a:extLst>
              <a:ext uri="{FF2B5EF4-FFF2-40B4-BE49-F238E27FC236}">
                <a16:creationId xmlns:a16="http://schemas.microsoft.com/office/drawing/2014/main" id="{18DC974E-85C9-4C46-FE13-D745F9C1E26B}"/>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5CDF209E-B6F6-0D47-274F-16395D950CA7}"/>
              </a:ext>
            </a:extLst>
          </p:cNvPr>
          <p:cNvSpPr>
            <a:spLocks noGrp="1"/>
          </p:cNvSpPr>
          <p:nvPr>
            <p:ph type="sldNum" sz="quarter" idx="12"/>
          </p:nvPr>
        </p:nvSpPr>
        <p:spPr/>
        <p:txBody>
          <a:bodyPr/>
          <a:lstStyle/>
          <a:p>
            <a:fld id="{6C8ECD1B-3F01-46F8-A46F-31A31EFC5ABF}" type="slidenum">
              <a:rPr lang="es-AR" smtClean="0"/>
              <a:t>25</a:t>
            </a:fld>
            <a:endParaRPr lang="es-AR"/>
          </a:p>
        </p:txBody>
      </p:sp>
      <p:pic>
        <p:nvPicPr>
          <p:cNvPr id="7" name="Imagen 6">
            <a:extLst>
              <a:ext uri="{FF2B5EF4-FFF2-40B4-BE49-F238E27FC236}">
                <a16:creationId xmlns:a16="http://schemas.microsoft.com/office/drawing/2014/main" id="{A92B94F3-7D3B-DFB6-8F39-937899692F1D}"/>
              </a:ext>
            </a:extLst>
          </p:cNvPr>
          <p:cNvPicPr>
            <a:picLocks noChangeAspect="1"/>
          </p:cNvPicPr>
          <p:nvPr/>
        </p:nvPicPr>
        <p:blipFill>
          <a:blip r:embed="rId4"/>
          <a:stretch>
            <a:fillRect/>
          </a:stretch>
        </p:blipFill>
        <p:spPr>
          <a:xfrm>
            <a:off x="3446673" y="1871574"/>
            <a:ext cx="5298654" cy="4013626"/>
          </a:xfrm>
          <a:prstGeom prst="rect">
            <a:avLst/>
          </a:prstGeom>
        </p:spPr>
      </p:pic>
      <p:sp>
        <p:nvSpPr>
          <p:cNvPr id="6" name="Marcador de contenido 2">
            <a:extLst>
              <a:ext uri="{FF2B5EF4-FFF2-40B4-BE49-F238E27FC236}">
                <a16:creationId xmlns:a16="http://schemas.microsoft.com/office/drawing/2014/main" id="{33894B63-F9E4-D6B7-70FD-CD3D89C09672}"/>
              </a:ext>
            </a:extLst>
          </p:cNvPr>
          <p:cNvSpPr>
            <a:spLocks noGrp="1"/>
          </p:cNvSpPr>
          <p:nvPr>
            <p:ph idx="1"/>
          </p:nvPr>
        </p:nvSpPr>
        <p:spPr>
          <a:xfrm>
            <a:off x="1097280" y="1845734"/>
            <a:ext cx="10058400" cy="4428066"/>
          </a:xfrm>
        </p:spPr>
        <p:txBody>
          <a:bodyPr>
            <a:normAutofit fontScale="92500" lnSpcReduction="10000"/>
          </a:bodyPr>
          <a:lstStyle/>
          <a:p>
            <a:pPr marL="0" indent="0">
              <a:buNone/>
            </a:pPr>
            <a:endParaRPr lang="es-AR" dirty="0"/>
          </a:p>
          <a:p>
            <a:pPr marL="0" indent="0">
              <a:buNone/>
            </a:pPr>
            <a:endParaRPr lang="es-AR" dirty="0"/>
          </a:p>
          <a:p>
            <a:pPr marL="0" indent="0">
              <a:buNone/>
            </a:pPr>
            <a:endParaRPr lang="es-AR" dirty="0"/>
          </a:p>
          <a:p>
            <a:pPr marL="0" indent="0">
              <a:buNone/>
            </a:pPr>
            <a:endParaRPr lang="es-AR" dirty="0"/>
          </a:p>
          <a:p>
            <a:pPr marL="0" indent="0">
              <a:buNone/>
            </a:pPr>
            <a:endParaRPr lang="es-AR" dirty="0"/>
          </a:p>
          <a:p>
            <a:pPr marL="0" indent="0">
              <a:buNone/>
            </a:pPr>
            <a:endParaRPr lang="es-AR" dirty="0"/>
          </a:p>
          <a:p>
            <a:pPr marL="0" indent="0">
              <a:buNone/>
            </a:pPr>
            <a:endParaRPr lang="es-AR" dirty="0"/>
          </a:p>
          <a:p>
            <a:pPr marL="0" indent="0">
              <a:buNone/>
            </a:pPr>
            <a:endParaRPr lang="es-AR" dirty="0"/>
          </a:p>
          <a:p>
            <a:pPr marL="0" indent="0">
              <a:buNone/>
            </a:pPr>
            <a:endParaRPr lang="es-AR" dirty="0"/>
          </a:p>
          <a:p>
            <a:pPr marL="0" indent="0">
              <a:buNone/>
            </a:pPr>
            <a:endParaRPr lang="es-AR" dirty="0"/>
          </a:p>
          <a:p>
            <a:pPr marL="0" indent="0">
              <a:buNone/>
            </a:pPr>
            <a:r>
              <a:rPr lang="es-AR" dirty="0"/>
              <a:t>Deprecado en versiones modernas de java</a:t>
            </a:r>
          </a:p>
        </p:txBody>
      </p:sp>
    </p:spTree>
    <p:extLst>
      <p:ext uri="{BB962C8B-B14F-4D97-AF65-F5344CB8AC3E}">
        <p14:creationId xmlns:p14="http://schemas.microsoft.com/office/powerpoint/2010/main" val="9920822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95C519-F885-93BA-E740-C0D5A0687D6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787FEC5-1437-9D71-255A-1613367CC93A}"/>
              </a:ext>
            </a:extLst>
          </p:cNvPr>
          <p:cNvSpPr>
            <a:spLocks noGrp="1"/>
          </p:cNvSpPr>
          <p:nvPr>
            <p:ph type="title"/>
          </p:nvPr>
        </p:nvSpPr>
        <p:spPr/>
        <p:txBody>
          <a:bodyPr>
            <a:normAutofit/>
          </a:bodyPr>
          <a:lstStyle/>
          <a:p>
            <a:r>
              <a:rPr lang="es-AR" b="1" dirty="0"/>
              <a:t>Ejercicio</a:t>
            </a:r>
          </a:p>
        </p:txBody>
      </p:sp>
      <p:pic>
        <p:nvPicPr>
          <p:cNvPr id="4" name="Imagen 3">
            <a:extLst>
              <a:ext uri="{FF2B5EF4-FFF2-40B4-BE49-F238E27FC236}">
                <a16:creationId xmlns:a16="http://schemas.microsoft.com/office/drawing/2014/main" id="{544C83B5-3EB9-C971-9D59-0B40A22D1D40}"/>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240AA5C0-572B-3BA5-006A-F8E58B353752}"/>
              </a:ext>
            </a:extLst>
          </p:cNvPr>
          <p:cNvSpPr>
            <a:spLocks noGrp="1"/>
          </p:cNvSpPr>
          <p:nvPr>
            <p:ph type="sldNum" sz="quarter" idx="12"/>
          </p:nvPr>
        </p:nvSpPr>
        <p:spPr/>
        <p:txBody>
          <a:bodyPr/>
          <a:lstStyle/>
          <a:p>
            <a:fld id="{6C8ECD1B-3F01-46F8-A46F-31A31EFC5ABF}" type="slidenum">
              <a:rPr lang="es-AR" smtClean="0"/>
              <a:t>26</a:t>
            </a:fld>
            <a:endParaRPr lang="es-AR"/>
          </a:p>
        </p:txBody>
      </p:sp>
      <p:sp>
        <p:nvSpPr>
          <p:cNvPr id="3" name="Marcador de contenido 2">
            <a:extLst>
              <a:ext uri="{FF2B5EF4-FFF2-40B4-BE49-F238E27FC236}">
                <a16:creationId xmlns:a16="http://schemas.microsoft.com/office/drawing/2014/main" id="{4C139529-6223-07B3-08A1-1E6040626422}"/>
              </a:ext>
            </a:extLst>
          </p:cNvPr>
          <p:cNvSpPr>
            <a:spLocks noGrp="1"/>
          </p:cNvSpPr>
          <p:nvPr>
            <p:ph idx="1"/>
          </p:nvPr>
        </p:nvSpPr>
        <p:spPr>
          <a:xfrm>
            <a:off x="1154083" y="1791028"/>
            <a:ext cx="10058400" cy="4589224"/>
          </a:xfrm>
        </p:spPr>
        <p:txBody>
          <a:bodyPr>
            <a:normAutofit/>
          </a:bodyPr>
          <a:lstStyle/>
          <a:p>
            <a:pPr marL="0" indent="0" algn="just">
              <a:buNone/>
            </a:pPr>
            <a:r>
              <a:rPr lang="es-ES" dirty="0"/>
              <a:t>Programar en JAVA el ejercicio donde modelamos el diagrama de clases: </a:t>
            </a:r>
          </a:p>
          <a:p>
            <a:pPr marL="0" indent="0" algn="just">
              <a:buNone/>
            </a:pPr>
            <a:r>
              <a:rPr lang="es-ES" dirty="0"/>
              <a:t>1) Una clase abstracta Animal, y dos clases hijas: Perro y Gato.</a:t>
            </a:r>
          </a:p>
          <a:p>
            <a:pPr marL="0" indent="0" algn="just">
              <a:buNone/>
            </a:pPr>
            <a:r>
              <a:rPr lang="es-ES" dirty="0"/>
              <a:t>2) Animal tiene un atributo nombre y un método abstracto </a:t>
            </a:r>
            <a:r>
              <a:rPr lang="es-ES" dirty="0" err="1"/>
              <a:t>hacerSonido</a:t>
            </a:r>
            <a:r>
              <a:rPr lang="es-ES" dirty="0"/>
              <a:t>().</a:t>
            </a:r>
          </a:p>
          <a:p>
            <a:pPr marL="292608" lvl="1" indent="0" algn="just">
              <a:buNone/>
            </a:pPr>
            <a:r>
              <a:rPr lang="es-ES" dirty="0"/>
              <a:t>Perro implementa </a:t>
            </a:r>
            <a:r>
              <a:rPr lang="es-ES" dirty="0" err="1"/>
              <a:t>hacerSonido</a:t>
            </a:r>
            <a:r>
              <a:rPr lang="es-ES" dirty="0"/>
              <a:t>() diciendo "Guau!".</a:t>
            </a:r>
          </a:p>
          <a:p>
            <a:pPr marL="292608" lvl="1" indent="0" algn="just">
              <a:buNone/>
            </a:pPr>
            <a:r>
              <a:rPr lang="es-ES" dirty="0"/>
              <a:t>Gato implementa </a:t>
            </a:r>
            <a:r>
              <a:rPr lang="es-ES" dirty="0" err="1"/>
              <a:t>hacerSonido</a:t>
            </a:r>
            <a:r>
              <a:rPr lang="es-ES" dirty="0"/>
              <a:t>() diciendo "Miau!".</a:t>
            </a:r>
          </a:p>
          <a:p>
            <a:pPr marL="0" indent="0" algn="just">
              <a:buNone/>
            </a:pPr>
            <a:r>
              <a:rPr lang="es-ES" dirty="0"/>
              <a:t>3) Agregar 2 atributos mas a la clase Animal.-</a:t>
            </a:r>
          </a:p>
          <a:p>
            <a:pPr marL="0" indent="0" algn="just">
              <a:buNone/>
            </a:pPr>
            <a:r>
              <a:rPr lang="es-ES" dirty="0"/>
              <a:t>4) Agregar 2 métodos mas a la clase Animal.-</a:t>
            </a:r>
          </a:p>
          <a:p>
            <a:pPr marL="0" indent="0" algn="just">
              <a:buNone/>
            </a:pPr>
            <a:r>
              <a:rPr lang="es-ES" dirty="0"/>
              <a:t>5) Agregar 1 atributo especifico a la clase Perro y otro a la clase Gato.-</a:t>
            </a:r>
          </a:p>
          <a:p>
            <a:pPr marL="0" indent="0" algn="just">
              <a:buNone/>
            </a:pPr>
            <a:r>
              <a:rPr lang="es-ES" dirty="0"/>
              <a:t>6) Agregar 1 método especifico a la clase Perro y otro a la clase Gato.-</a:t>
            </a:r>
          </a:p>
          <a:p>
            <a:pPr marL="0" indent="0" algn="just">
              <a:buNone/>
            </a:pPr>
            <a:endParaRPr lang="es-ES" sz="1400" dirty="0"/>
          </a:p>
          <a:p>
            <a:pPr marL="0" indent="0" algn="just">
              <a:buNone/>
            </a:pPr>
            <a:r>
              <a:rPr lang="es-ES" sz="1400" dirty="0"/>
              <a:t>Para programar Online: https://www.onlinegdb.com/online_java</a:t>
            </a:r>
            <a:r>
              <a:rPr lang="es-ES" sz="1400"/>
              <a:t>_compiler</a:t>
            </a:r>
            <a:endParaRPr lang="es-ES" sz="1400" dirty="0"/>
          </a:p>
          <a:p>
            <a:pPr marL="0" indent="0" algn="just">
              <a:buNone/>
            </a:pPr>
            <a:endParaRPr lang="es-ES" dirty="0"/>
          </a:p>
          <a:p>
            <a:pPr marL="0" indent="0" algn="just">
              <a:buNone/>
            </a:pPr>
            <a:endParaRPr lang="es-ES" dirty="0"/>
          </a:p>
          <a:p>
            <a:pPr marL="0" indent="0" algn="just">
              <a:buNone/>
            </a:pPr>
            <a:endParaRPr lang="es-ES" dirty="0"/>
          </a:p>
          <a:p>
            <a:pPr marL="0" indent="0" algn="just">
              <a:buNone/>
            </a:pPr>
            <a:endParaRPr lang="es-ES" dirty="0"/>
          </a:p>
        </p:txBody>
      </p:sp>
    </p:spTree>
    <p:extLst>
      <p:ext uri="{BB962C8B-B14F-4D97-AF65-F5344CB8AC3E}">
        <p14:creationId xmlns:p14="http://schemas.microsoft.com/office/powerpoint/2010/main" val="3622197250"/>
      </p:ext>
    </p:extLst>
  </p:cSld>
  <p:clrMapOvr>
    <a:masterClrMapping/>
  </p:clrMapOvr>
</p:sld>
</file>

<file path=ppt/theme/theme1.xml><?xml version="1.0" encoding="utf-8"?>
<a:theme xmlns:a="http://schemas.openxmlformats.org/drawingml/2006/main" name="Retrospección">
  <a:themeElements>
    <a:clrScheme name="Azul cálido">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Retrospecció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ción">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4778</TotalTime>
  <Words>3033</Words>
  <Application>Microsoft Office PowerPoint</Application>
  <PresentationFormat>Panorámica</PresentationFormat>
  <Paragraphs>239</Paragraphs>
  <Slides>26</Slides>
  <Notes>21</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26</vt:i4>
      </vt:variant>
    </vt:vector>
  </HeadingPairs>
  <TitlesOfParts>
    <vt:vector size="30" baseType="lpstr">
      <vt:lpstr>Arial</vt:lpstr>
      <vt:lpstr>Calibri</vt:lpstr>
      <vt:lpstr>Calibri Light</vt:lpstr>
      <vt:lpstr>Retrospección</vt:lpstr>
      <vt:lpstr> PARADIGMA ORIENTADO A OBJETOS  Clase 3</vt:lpstr>
      <vt:lpstr>¿Qué vamos a ver hoy?</vt:lpstr>
      <vt:lpstr>UML</vt:lpstr>
      <vt:lpstr>UML</vt:lpstr>
      <vt:lpstr>UML</vt:lpstr>
      <vt:lpstr>¿Por qué necesitamos UML?</vt:lpstr>
      <vt:lpstr>Diferentes tipos de diagramas UML</vt:lpstr>
      <vt:lpstr>Diagrama de clases</vt:lpstr>
      <vt:lpstr>Diagrama de clases: Atributos</vt:lpstr>
      <vt:lpstr>Diagrama de clases: Métodos</vt:lpstr>
      <vt:lpstr>Diagrama de clases: Modificadores</vt:lpstr>
      <vt:lpstr>Diagrama de clases: Asociación</vt:lpstr>
      <vt:lpstr>Diagrama de clases: Generalización y especialización</vt:lpstr>
      <vt:lpstr>Diagrama de clases: Herencia</vt:lpstr>
      <vt:lpstr>Diagrama de clases: Herencia</vt:lpstr>
      <vt:lpstr>Ejercicio</vt:lpstr>
      <vt:lpstr>Repuesta ejercicio punto 1 y 2</vt:lpstr>
      <vt:lpstr>Datos primitivos y Datos wrapper</vt:lpstr>
      <vt:lpstr>Datos primitivos y Datos wrapper</vt:lpstr>
      <vt:lpstr>Datos primitivos y Datos wrapper</vt:lpstr>
      <vt:lpstr>Constructores y destructores.</vt:lpstr>
      <vt:lpstr>Constructores y destructores.</vt:lpstr>
      <vt:lpstr>Constructores y destructores.</vt:lpstr>
      <vt:lpstr>Constructores y destructores.</vt:lpstr>
      <vt:lpstr>Constructores y destructores.</vt:lpstr>
      <vt:lpstr>Ejercicio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Maximiliano</dc:creator>
  <cp:lastModifiedBy>maximiliano coedo</cp:lastModifiedBy>
  <cp:revision>47</cp:revision>
  <dcterms:created xsi:type="dcterms:W3CDTF">2025-03-04T22:20:11Z</dcterms:created>
  <dcterms:modified xsi:type="dcterms:W3CDTF">2025-09-01T19:14:28Z</dcterms:modified>
</cp:coreProperties>
</file>