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6" r:id="rId1"/>
  </p:sldMasterIdLst>
  <p:notesMasterIdLst>
    <p:notesMasterId r:id="rId20"/>
  </p:notesMasterIdLst>
  <p:sldIdLst>
    <p:sldId id="256" r:id="rId2"/>
    <p:sldId id="257" r:id="rId3"/>
    <p:sldId id="297" r:id="rId4"/>
    <p:sldId id="300" r:id="rId5"/>
    <p:sldId id="301" r:id="rId6"/>
    <p:sldId id="302" r:id="rId7"/>
    <p:sldId id="305" r:id="rId8"/>
    <p:sldId id="306" r:id="rId9"/>
    <p:sldId id="307" r:id="rId10"/>
    <p:sldId id="299" r:id="rId11"/>
    <p:sldId id="298" r:id="rId12"/>
    <p:sldId id="296" r:id="rId13"/>
    <p:sldId id="292" r:id="rId14"/>
    <p:sldId id="295" r:id="rId15"/>
    <p:sldId id="308" r:id="rId16"/>
    <p:sldId id="309" r:id="rId17"/>
    <p:sldId id="310" r:id="rId18"/>
    <p:sldId id="30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923" autoAdjust="0"/>
  </p:normalViewPr>
  <p:slideViewPr>
    <p:cSldViewPr snapToGrid="0">
      <p:cViewPr varScale="1">
        <p:scale>
          <a:sx n="107" d="100"/>
          <a:sy n="107" d="100"/>
        </p:scale>
        <p:origin x="7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F4B06C-CC8E-4D7C-B96D-EC7A919F13C4}" type="datetimeFigureOut">
              <a:rPr lang="es-AR" smtClean="0"/>
              <a:t>28/8/2026</a:t>
            </a:fld>
            <a:endParaRPr lang="es-AR"/>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C31C20-CFF6-4D02-9F93-8A584230D82D}" type="slidenum">
              <a:rPr lang="es-AR" smtClean="0"/>
              <a:t>‹Nº›</a:t>
            </a:fld>
            <a:endParaRPr lang="es-AR"/>
          </a:p>
        </p:txBody>
      </p:sp>
    </p:spTree>
    <p:extLst>
      <p:ext uri="{BB962C8B-B14F-4D97-AF65-F5344CB8AC3E}">
        <p14:creationId xmlns:p14="http://schemas.microsoft.com/office/powerpoint/2010/main" val="24121168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59C31C20-CFF6-4D02-9F93-8A584230D82D}" type="slidenum">
              <a:rPr lang="es-AR" smtClean="0"/>
              <a:t>2</a:t>
            </a:fld>
            <a:endParaRPr lang="es-AR"/>
          </a:p>
        </p:txBody>
      </p:sp>
    </p:spTree>
    <p:extLst>
      <p:ext uri="{BB962C8B-B14F-4D97-AF65-F5344CB8AC3E}">
        <p14:creationId xmlns:p14="http://schemas.microsoft.com/office/powerpoint/2010/main" val="22554104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83797-BB96-7277-02E9-C3A70E5E04B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8DA9BDF-2DA3-B068-2058-E11299DD0D6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9C30759-D383-694A-670C-078B73AB4D9B}"/>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91919EA9-C42A-B50A-6C32-8B34484E6B4A}"/>
              </a:ext>
            </a:extLst>
          </p:cNvPr>
          <p:cNvSpPr>
            <a:spLocks noGrp="1"/>
          </p:cNvSpPr>
          <p:nvPr>
            <p:ph type="sldNum" sz="quarter" idx="5"/>
          </p:nvPr>
        </p:nvSpPr>
        <p:spPr/>
        <p:txBody>
          <a:bodyPr/>
          <a:lstStyle/>
          <a:p>
            <a:fld id="{59C31C20-CFF6-4D02-9F93-8A584230D82D}" type="slidenum">
              <a:rPr lang="es-AR" smtClean="0"/>
              <a:t>3</a:t>
            </a:fld>
            <a:endParaRPr lang="es-AR"/>
          </a:p>
        </p:txBody>
      </p:sp>
    </p:spTree>
    <p:extLst>
      <p:ext uri="{BB962C8B-B14F-4D97-AF65-F5344CB8AC3E}">
        <p14:creationId xmlns:p14="http://schemas.microsoft.com/office/powerpoint/2010/main" val="19970147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8E94-E8CC-447A-59CE-12359A74342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3945B37-9B93-A42B-D320-3DB32C69378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C2D2C3A-617B-55E7-B1BB-FC38157AB260}"/>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02DC7688-1BD2-FDE0-0886-BC3351E06C53}"/>
              </a:ext>
            </a:extLst>
          </p:cNvPr>
          <p:cNvSpPr>
            <a:spLocks noGrp="1"/>
          </p:cNvSpPr>
          <p:nvPr>
            <p:ph type="sldNum" sz="quarter" idx="5"/>
          </p:nvPr>
        </p:nvSpPr>
        <p:spPr/>
        <p:txBody>
          <a:bodyPr/>
          <a:lstStyle/>
          <a:p>
            <a:fld id="{59C31C20-CFF6-4D02-9F93-8A584230D82D}" type="slidenum">
              <a:rPr lang="es-AR" smtClean="0"/>
              <a:t>4</a:t>
            </a:fld>
            <a:endParaRPr lang="es-AR"/>
          </a:p>
        </p:txBody>
      </p:sp>
    </p:spTree>
    <p:extLst>
      <p:ext uri="{BB962C8B-B14F-4D97-AF65-F5344CB8AC3E}">
        <p14:creationId xmlns:p14="http://schemas.microsoft.com/office/powerpoint/2010/main" val="39221123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47EFE-BB46-2B35-41FC-EACF306BF8C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7E7A000-0D49-BB56-7617-8708762BDE3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3E7F0FD-49C8-930C-AFCB-BFA40A74EAA0}"/>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93F80295-CF46-7D85-2B3C-F515BA4EC56C}"/>
              </a:ext>
            </a:extLst>
          </p:cNvPr>
          <p:cNvSpPr>
            <a:spLocks noGrp="1"/>
          </p:cNvSpPr>
          <p:nvPr>
            <p:ph type="sldNum" sz="quarter" idx="5"/>
          </p:nvPr>
        </p:nvSpPr>
        <p:spPr/>
        <p:txBody>
          <a:bodyPr/>
          <a:lstStyle/>
          <a:p>
            <a:fld id="{59C31C20-CFF6-4D02-9F93-8A584230D82D}" type="slidenum">
              <a:rPr lang="es-AR" smtClean="0"/>
              <a:t>5</a:t>
            </a:fld>
            <a:endParaRPr lang="es-AR"/>
          </a:p>
        </p:txBody>
      </p:sp>
    </p:spTree>
    <p:extLst>
      <p:ext uri="{BB962C8B-B14F-4D97-AF65-F5344CB8AC3E}">
        <p14:creationId xmlns:p14="http://schemas.microsoft.com/office/powerpoint/2010/main" val="30556414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B4D31-6C30-8CD2-8FAE-D75FD8C0271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140234B-8269-C751-A5B1-E51E12C255A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D84601F-EE47-90F4-BE79-EB5BFD863FC7}"/>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E208B998-E3B1-EE7B-D73D-70FB4379ECBC}"/>
              </a:ext>
            </a:extLst>
          </p:cNvPr>
          <p:cNvSpPr>
            <a:spLocks noGrp="1"/>
          </p:cNvSpPr>
          <p:nvPr>
            <p:ph type="sldNum" sz="quarter" idx="5"/>
          </p:nvPr>
        </p:nvSpPr>
        <p:spPr/>
        <p:txBody>
          <a:bodyPr/>
          <a:lstStyle/>
          <a:p>
            <a:fld id="{59C31C20-CFF6-4D02-9F93-8A584230D82D}" type="slidenum">
              <a:rPr lang="es-AR" smtClean="0"/>
              <a:t>6</a:t>
            </a:fld>
            <a:endParaRPr lang="es-AR"/>
          </a:p>
        </p:txBody>
      </p:sp>
    </p:spTree>
    <p:extLst>
      <p:ext uri="{BB962C8B-B14F-4D97-AF65-F5344CB8AC3E}">
        <p14:creationId xmlns:p14="http://schemas.microsoft.com/office/powerpoint/2010/main" val="31624160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E93EF-3F67-6763-BDFC-CB2E9FC33AC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2CC242F-C66A-E2FF-3192-25BEB31C99F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E05E0F9-0A9C-13D4-91D2-6422C67E48AF}"/>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78593C5A-5373-7D02-900C-82CEF66C18FB}"/>
              </a:ext>
            </a:extLst>
          </p:cNvPr>
          <p:cNvSpPr>
            <a:spLocks noGrp="1"/>
          </p:cNvSpPr>
          <p:nvPr>
            <p:ph type="sldNum" sz="quarter" idx="5"/>
          </p:nvPr>
        </p:nvSpPr>
        <p:spPr/>
        <p:txBody>
          <a:bodyPr/>
          <a:lstStyle/>
          <a:p>
            <a:fld id="{59C31C20-CFF6-4D02-9F93-8A584230D82D}" type="slidenum">
              <a:rPr lang="es-AR" smtClean="0"/>
              <a:t>7</a:t>
            </a:fld>
            <a:endParaRPr lang="es-AR"/>
          </a:p>
        </p:txBody>
      </p:sp>
    </p:spTree>
    <p:extLst>
      <p:ext uri="{BB962C8B-B14F-4D97-AF65-F5344CB8AC3E}">
        <p14:creationId xmlns:p14="http://schemas.microsoft.com/office/powerpoint/2010/main" val="41580196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C86A8-581F-B244-EDBE-502DBCD12F5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36C5794-CBB4-DC02-EB66-2F4D19CD6C4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23CEA30-D952-2365-756E-F5C503F111AC}"/>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94D2140B-2EF9-03AB-C910-99FA326EB713}"/>
              </a:ext>
            </a:extLst>
          </p:cNvPr>
          <p:cNvSpPr>
            <a:spLocks noGrp="1"/>
          </p:cNvSpPr>
          <p:nvPr>
            <p:ph type="sldNum" sz="quarter" idx="5"/>
          </p:nvPr>
        </p:nvSpPr>
        <p:spPr/>
        <p:txBody>
          <a:bodyPr/>
          <a:lstStyle/>
          <a:p>
            <a:fld id="{59C31C20-CFF6-4D02-9F93-8A584230D82D}" type="slidenum">
              <a:rPr lang="es-AR" smtClean="0"/>
              <a:t>8</a:t>
            </a:fld>
            <a:endParaRPr lang="es-AR"/>
          </a:p>
        </p:txBody>
      </p:sp>
    </p:spTree>
    <p:extLst>
      <p:ext uri="{BB962C8B-B14F-4D97-AF65-F5344CB8AC3E}">
        <p14:creationId xmlns:p14="http://schemas.microsoft.com/office/powerpoint/2010/main" val="37463138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DCFF9-488B-D69B-6A43-CD9C11692B3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FBB374C-1408-6EC6-86AD-FEC92CCFB1C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38E4C01-48B9-44F4-D8A2-1401C9C3349F}"/>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C96CE7A1-C815-DA87-A6B4-A68F904C66CB}"/>
              </a:ext>
            </a:extLst>
          </p:cNvPr>
          <p:cNvSpPr>
            <a:spLocks noGrp="1"/>
          </p:cNvSpPr>
          <p:nvPr>
            <p:ph type="sldNum" sz="quarter" idx="5"/>
          </p:nvPr>
        </p:nvSpPr>
        <p:spPr/>
        <p:txBody>
          <a:bodyPr/>
          <a:lstStyle/>
          <a:p>
            <a:fld id="{59C31C20-CFF6-4D02-9F93-8A584230D82D}" type="slidenum">
              <a:rPr lang="es-AR" smtClean="0"/>
              <a:t>9</a:t>
            </a:fld>
            <a:endParaRPr lang="es-AR"/>
          </a:p>
        </p:txBody>
      </p:sp>
    </p:spTree>
    <p:extLst>
      <p:ext uri="{BB962C8B-B14F-4D97-AF65-F5344CB8AC3E}">
        <p14:creationId xmlns:p14="http://schemas.microsoft.com/office/powerpoint/2010/main" val="25590923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92CE1-390A-DC47-9083-17755AB1E80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E0DF59A-965D-7E77-D0B4-E421AA57506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675DE4A-CE75-830E-1931-2202C3BA8A41}"/>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6DEDC82C-F138-8A58-61F5-F8A44DB4B920}"/>
              </a:ext>
            </a:extLst>
          </p:cNvPr>
          <p:cNvSpPr>
            <a:spLocks noGrp="1"/>
          </p:cNvSpPr>
          <p:nvPr>
            <p:ph type="sldNum" sz="quarter" idx="5"/>
          </p:nvPr>
        </p:nvSpPr>
        <p:spPr/>
        <p:txBody>
          <a:bodyPr/>
          <a:lstStyle/>
          <a:p>
            <a:fld id="{59C31C20-CFF6-4D02-9F93-8A584230D82D}" type="slidenum">
              <a:rPr lang="es-AR" smtClean="0"/>
              <a:t>10</a:t>
            </a:fld>
            <a:endParaRPr lang="es-AR"/>
          </a:p>
        </p:txBody>
      </p:sp>
    </p:spTree>
    <p:extLst>
      <p:ext uri="{BB962C8B-B14F-4D97-AF65-F5344CB8AC3E}">
        <p14:creationId xmlns:p14="http://schemas.microsoft.com/office/powerpoint/2010/main" val="31592841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553E9-136F-A75A-2926-ED149B11600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CBA89D0-9128-648C-1145-0FD8417D9F9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6BE500E-AE74-AC71-27F8-DE1B23288D9A}"/>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FF9C054A-5468-01A8-4500-8ED7FC732FCE}"/>
              </a:ext>
            </a:extLst>
          </p:cNvPr>
          <p:cNvSpPr>
            <a:spLocks noGrp="1"/>
          </p:cNvSpPr>
          <p:nvPr>
            <p:ph type="sldNum" sz="quarter" idx="5"/>
          </p:nvPr>
        </p:nvSpPr>
        <p:spPr/>
        <p:txBody>
          <a:bodyPr/>
          <a:lstStyle/>
          <a:p>
            <a:fld id="{59C31C20-CFF6-4D02-9F93-8A584230D82D}" type="slidenum">
              <a:rPr lang="es-AR" smtClean="0"/>
              <a:t>11</a:t>
            </a:fld>
            <a:endParaRPr lang="es-AR"/>
          </a:p>
        </p:txBody>
      </p:sp>
    </p:spTree>
    <p:extLst>
      <p:ext uri="{BB962C8B-B14F-4D97-AF65-F5344CB8AC3E}">
        <p14:creationId xmlns:p14="http://schemas.microsoft.com/office/powerpoint/2010/main" val="3480407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13CAF-57F9-3E14-B09D-F65D2DD3FAB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DD6AD94-50FF-A85E-E638-88AA437373E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C6D5BD8-9125-6300-1B36-8E3405B76067}"/>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DD4F7539-EAC4-EC5F-B1CE-9C6B91BA3529}"/>
              </a:ext>
            </a:extLst>
          </p:cNvPr>
          <p:cNvSpPr>
            <a:spLocks noGrp="1"/>
          </p:cNvSpPr>
          <p:nvPr>
            <p:ph type="sldNum" sz="quarter" idx="5"/>
          </p:nvPr>
        </p:nvSpPr>
        <p:spPr/>
        <p:txBody>
          <a:bodyPr/>
          <a:lstStyle/>
          <a:p>
            <a:fld id="{59C31C20-CFF6-4D02-9F93-8A584230D82D}" type="slidenum">
              <a:rPr lang="es-AR" smtClean="0"/>
              <a:t>12</a:t>
            </a:fld>
            <a:endParaRPr lang="es-AR"/>
          </a:p>
        </p:txBody>
      </p:sp>
    </p:spTree>
    <p:extLst>
      <p:ext uri="{BB962C8B-B14F-4D97-AF65-F5344CB8AC3E}">
        <p14:creationId xmlns:p14="http://schemas.microsoft.com/office/powerpoint/2010/main" val="40213290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BD846-5501-5D60-EEEB-BDEB2DD325B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1BEACE5-8E28-2E90-E561-92B4E5D4DFA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A87575B-397A-233F-E480-7480D1E55A35}"/>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B2E90E48-7765-FDF7-4ADC-7FC5938BCF75}"/>
              </a:ext>
            </a:extLst>
          </p:cNvPr>
          <p:cNvSpPr>
            <a:spLocks noGrp="1"/>
          </p:cNvSpPr>
          <p:nvPr>
            <p:ph type="sldNum" sz="quarter" idx="5"/>
          </p:nvPr>
        </p:nvSpPr>
        <p:spPr/>
        <p:txBody>
          <a:bodyPr/>
          <a:lstStyle/>
          <a:p>
            <a:fld id="{59C31C20-CFF6-4D02-9F93-8A584230D82D}" type="slidenum">
              <a:rPr lang="es-AR" smtClean="0"/>
              <a:t>13</a:t>
            </a:fld>
            <a:endParaRPr lang="es-AR"/>
          </a:p>
        </p:txBody>
      </p:sp>
    </p:spTree>
    <p:extLst>
      <p:ext uri="{BB962C8B-B14F-4D97-AF65-F5344CB8AC3E}">
        <p14:creationId xmlns:p14="http://schemas.microsoft.com/office/powerpoint/2010/main" val="39693732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E0AEB-4F2D-5C87-5198-B7B9CB5A8DA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8CE46CD-AC32-1C48-BC4E-D77848085A7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FEF3F4A-6BA6-28C3-551C-8D7A278E4646}"/>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93651D16-7F2A-CAE4-79E1-7DECF3235AC0}"/>
              </a:ext>
            </a:extLst>
          </p:cNvPr>
          <p:cNvSpPr>
            <a:spLocks noGrp="1"/>
          </p:cNvSpPr>
          <p:nvPr>
            <p:ph type="sldNum" sz="quarter" idx="5"/>
          </p:nvPr>
        </p:nvSpPr>
        <p:spPr/>
        <p:txBody>
          <a:bodyPr/>
          <a:lstStyle/>
          <a:p>
            <a:fld id="{59C31C20-CFF6-4D02-9F93-8A584230D82D}" type="slidenum">
              <a:rPr lang="es-AR" smtClean="0"/>
              <a:t>14</a:t>
            </a:fld>
            <a:endParaRPr lang="es-AR"/>
          </a:p>
        </p:txBody>
      </p:sp>
    </p:spTree>
    <p:extLst>
      <p:ext uri="{BB962C8B-B14F-4D97-AF65-F5344CB8AC3E}">
        <p14:creationId xmlns:p14="http://schemas.microsoft.com/office/powerpoint/2010/main" val="40653597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1337F-AEBF-21C0-4842-429699AFC7E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7F043E1-8249-C6AE-2684-902D6C64F55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AEA2EB5-B066-21D5-A586-5425F83697E1}"/>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345C908B-7C89-BB33-A491-89BF8B37D661}"/>
              </a:ext>
            </a:extLst>
          </p:cNvPr>
          <p:cNvSpPr>
            <a:spLocks noGrp="1"/>
          </p:cNvSpPr>
          <p:nvPr>
            <p:ph type="sldNum" sz="quarter" idx="5"/>
          </p:nvPr>
        </p:nvSpPr>
        <p:spPr/>
        <p:txBody>
          <a:bodyPr/>
          <a:lstStyle/>
          <a:p>
            <a:fld id="{59C31C20-CFF6-4D02-9F93-8A584230D82D}" type="slidenum">
              <a:rPr lang="es-AR" smtClean="0"/>
              <a:t>15</a:t>
            </a:fld>
            <a:endParaRPr lang="es-AR"/>
          </a:p>
        </p:txBody>
      </p:sp>
    </p:spTree>
    <p:extLst>
      <p:ext uri="{BB962C8B-B14F-4D97-AF65-F5344CB8AC3E}">
        <p14:creationId xmlns:p14="http://schemas.microsoft.com/office/powerpoint/2010/main" val="34675022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D194A-63F6-B52A-031E-BDAF5D7F3FE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56E5BFB-4C76-12EB-BBF4-61B4162757F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127F7FD-AE60-E5DC-EB9B-283F44DDAB7A}"/>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D327BCE9-0893-3AF9-847A-28417501F935}"/>
              </a:ext>
            </a:extLst>
          </p:cNvPr>
          <p:cNvSpPr>
            <a:spLocks noGrp="1"/>
          </p:cNvSpPr>
          <p:nvPr>
            <p:ph type="sldNum" sz="quarter" idx="5"/>
          </p:nvPr>
        </p:nvSpPr>
        <p:spPr/>
        <p:txBody>
          <a:bodyPr/>
          <a:lstStyle/>
          <a:p>
            <a:fld id="{59C31C20-CFF6-4D02-9F93-8A584230D82D}" type="slidenum">
              <a:rPr lang="es-AR" smtClean="0"/>
              <a:t>16</a:t>
            </a:fld>
            <a:endParaRPr lang="es-AR"/>
          </a:p>
        </p:txBody>
      </p:sp>
    </p:spTree>
    <p:extLst>
      <p:ext uri="{BB962C8B-B14F-4D97-AF65-F5344CB8AC3E}">
        <p14:creationId xmlns:p14="http://schemas.microsoft.com/office/powerpoint/2010/main" val="12938990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7B735C-0E1B-D1C3-9041-7855647A191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B371FCD-FB9D-8BD8-5D96-2413F47D2B6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FAE9754-C8F8-2DA7-3119-4285F530C822}"/>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30D1C702-988C-AC19-5BFB-12A8D4CF2839}"/>
              </a:ext>
            </a:extLst>
          </p:cNvPr>
          <p:cNvSpPr>
            <a:spLocks noGrp="1"/>
          </p:cNvSpPr>
          <p:nvPr>
            <p:ph type="sldNum" sz="quarter" idx="5"/>
          </p:nvPr>
        </p:nvSpPr>
        <p:spPr/>
        <p:txBody>
          <a:bodyPr/>
          <a:lstStyle/>
          <a:p>
            <a:fld id="{59C31C20-CFF6-4D02-9F93-8A584230D82D}" type="slidenum">
              <a:rPr lang="es-AR" smtClean="0"/>
              <a:t>17</a:t>
            </a:fld>
            <a:endParaRPr lang="es-AR"/>
          </a:p>
        </p:txBody>
      </p:sp>
    </p:spTree>
    <p:extLst>
      <p:ext uri="{BB962C8B-B14F-4D97-AF65-F5344CB8AC3E}">
        <p14:creationId xmlns:p14="http://schemas.microsoft.com/office/powerpoint/2010/main" val="36995122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F426F-73FE-1229-B6D4-92298BDD166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F94B0B5-8F7C-C0A9-4921-C39F94E2260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E5B2919-E83A-FC95-7B5F-2F70C33C20A2}"/>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665946D3-CA4D-3D8C-F63E-F6BDE69E90D0}"/>
              </a:ext>
            </a:extLst>
          </p:cNvPr>
          <p:cNvSpPr>
            <a:spLocks noGrp="1"/>
          </p:cNvSpPr>
          <p:nvPr>
            <p:ph type="sldNum" sz="quarter" idx="5"/>
          </p:nvPr>
        </p:nvSpPr>
        <p:spPr/>
        <p:txBody>
          <a:bodyPr/>
          <a:lstStyle/>
          <a:p>
            <a:fld id="{59C31C20-CFF6-4D02-9F93-8A584230D82D}" type="slidenum">
              <a:rPr lang="es-AR" smtClean="0"/>
              <a:t>18</a:t>
            </a:fld>
            <a:endParaRPr lang="es-AR"/>
          </a:p>
        </p:txBody>
      </p:sp>
    </p:spTree>
    <p:extLst>
      <p:ext uri="{BB962C8B-B14F-4D97-AF65-F5344CB8AC3E}">
        <p14:creationId xmlns:p14="http://schemas.microsoft.com/office/powerpoint/2010/main" val="11378772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A18B0E31-E166-4429-8D93-59E0EEE29F09}" type="datetime1">
              <a:rPr lang="es-AR" smtClean="0"/>
              <a:t>28/8/2026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6C8ECD1B-3F01-46F8-A46F-31A31EFC5ABF}" type="slidenum">
              <a:rPr lang="es-AR" smtClean="0"/>
              <a:t>‹Nº›</a:t>
            </a:fld>
            <a:endParaRPr lang="es-AR"/>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76940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332F0DB7-33C9-42EC-8ADD-109566451DAF}" type="datetime1">
              <a:rPr lang="es-AR" smtClean="0"/>
              <a:t>28/8/2026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6C8ECD1B-3F01-46F8-A46F-31A31EFC5ABF}" type="slidenum">
              <a:rPr lang="es-AR" smtClean="0"/>
              <a:t>‹Nº›</a:t>
            </a:fld>
            <a:endParaRPr lang="es-AR"/>
          </a:p>
        </p:txBody>
      </p:sp>
    </p:spTree>
    <p:extLst>
      <p:ext uri="{BB962C8B-B14F-4D97-AF65-F5344CB8AC3E}">
        <p14:creationId xmlns:p14="http://schemas.microsoft.com/office/powerpoint/2010/main" val="1285620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13C7C9E8-4407-43C8-A0A3-C92CF745C5E1}" type="datetime1">
              <a:rPr lang="es-AR" smtClean="0"/>
              <a:t>28/8/2026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6C8ECD1B-3F01-46F8-A46F-31A31EFC5ABF}" type="slidenum">
              <a:rPr lang="es-AR" smtClean="0"/>
              <a:t>‹Nº›</a:t>
            </a:fld>
            <a:endParaRPr lang="es-AR"/>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8163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451F62BB-1419-4B23-9372-BAECA7682902}" type="datetime1">
              <a:rPr lang="es-AR" smtClean="0"/>
              <a:t>28/8/2026</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6C8ECD1B-3F01-46F8-A46F-31A31EFC5ABF}" type="slidenum">
              <a:rPr lang="es-AR" smtClean="0"/>
              <a:t>‹Nº›</a:t>
            </a:fld>
            <a:endParaRPr lang="es-AR"/>
          </a:p>
        </p:txBody>
      </p:sp>
    </p:spTree>
    <p:extLst>
      <p:ext uri="{BB962C8B-B14F-4D97-AF65-F5344CB8AC3E}">
        <p14:creationId xmlns:p14="http://schemas.microsoft.com/office/powerpoint/2010/main" val="11552746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097280" y="2582335"/>
            <a:ext cx="4937760" cy="32867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217920" y="2582334"/>
            <a:ext cx="4937760" cy="32867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78A023DE-62F8-4ABA-9542-EFCF60082CDE}" type="datetime1">
              <a:rPr lang="es-AR" smtClean="0"/>
              <a:t>28/8/2026</a:t>
            </a:fld>
            <a:endParaRPr lang="es-AR"/>
          </a:p>
        </p:txBody>
      </p:sp>
      <p:sp>
        <p:nvSpPr>
          <p:cNvPr id="8" name="Footer Placeholder 7"/>
          <p:cNvSpPr>
            <a:spLocks noGrp="1"/>
          </p:cNvSpPr>
          <p:nvPr>
            <p:ph type="ftr" sz="quarter" idx="11"/>
          </p:nvPr>
        </p:nvSpPr>
        <p:spPr/>
        <p:txBody>
          <a:bodyPr/>
          <a:lstStyle/>
          <a:p>
            <a:endParaRPr lang="es-AR"/>
          </a:p>
        </p:txBody>
      </p:sp>
      <p:sp>
        <p:nvSpPr>
          <p:cNvPr id="9" name="Slide Number Placeholder 8"/>
          <p:cNvSpPr>
            <a:spLocks noGrp="1"/>
          </p:cNvSpPr>
          <p:nvPr>
            <p:ph type="sldNum" sz="quarter" idx="12"/>
          </p:nvPr>
        </p:nvSpPr>
        <p:spPr/>
        <p:txBody>
          <a:bodyPr/>
          <a:lstStyle/>
          <a:p>
            <a:fld id="{6C8ECD1B-3F01-46F8-A46F-31A31EFC5ABF}" type="slidenum">
              <a:rPr lang="es-AR" smtClean="0"/>
              <a:t>‹Nº›</a:t>
            </a:fld>
            <a:endParaRPr lang="es-AR"/>
          </a:p>
        </p:txBody>
      </p:sp>
    </p:spTree>
    <p:extLst>
      <p:ext uri="{BB962C8B-B14F-4D97-AF65-F5344CB8AC3E}">
        <p14:creationId xmlns:p14="http://schemas.microsoft.com/office/powerpoint/2010/main" val="16624377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0F147E75-8D9D-4E77-946F-E91CF384C506}" type="datetime1">
              <a:rPr lang="es-AR" smtClean="0"/>
              <a:t>28/8/2026</a:t>
            </a:fld>
            <a:endParaRPr lang="es-AR"/>
          </a:p>
        </p:txBody>
      </p:sp>
      <p:sp>
        <p:nvSpPr>
          <p:cNvPr id="4" name="Footer Placeholder 3"/>
          <p:cNvSpPr>
            <a:spLocks noGrp="1"/>
          </p:cNvSpPr>
          <p:nvPr>
            <p:ph type="ftr" sz="quarter" idx="11"/>
          </p:nvPr>
        </p:nvSpPr>
        <p:spPr/>
        <p:txBody>
          <a:bodyPr/>
          <a:lstStyle/>
          <a:p>
            <a:endParaRPr lang="es-AR"/>
          </a:p>
        </p:txBody>
      </p:sp>
      <p:sp>
        <p:nvSpPr>
          <p:cNvPr id="5" name="Slide Number Placeholder 4"/>
          <p:cNvSpPr>
            <a:spLocks noGrp="1"/>
          </p:cNvSpPr>
          <p:nvPr>
            <p:ph type="sldNum" sz="quarter" idx="12"/>
          </p:nvPr>
        </p:nvSpPr>
        <p:spPr/>
        <p:txBody>
          <a:bodyPr/>
          <a:lstStyle/>
          <a:p>
            <a:fld id="{6C8ECD1B-3F01-46F8-A46F-31A31EFC5ABF}" type="slidenum">
              <a:rPr lang="es-AR" smtClean="0"/>
              <a:t>‹Nº›</a:t>
            </a:fld>
            <a:endParaRPr lang="es-AR"/>
          </a:p>
        </p:txBody>
      </p:sp>
    </p:spTree>
    <p:extLst>
      <p:ext uri="{BB962C8B-B14F-4D97-AF65-F5344CB8AC3E}">
        <p14:creationId xmlns:p14="http://schemas.microsoft.com/office/powerpoint/2010/main" val="19806091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30DD0582-0E59-4C86-A105-E652692CA503}" type="datetime1">
              <a:rPr lang="es-AR" smtClean="0"/>
              <a:t>28/8/2026</a:t>
            </a:fld>
            <a:endParaRPr lang="es-A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s-AR"/>
          </a:p>
        </p:txBody>
      </p:sp>
      <p:sp>
        <p:nvSpPr>
          <p:cNvPr id="9" name="Slide Number Placeholder 8"/>
          <p:cNvSpPr>
            <a:spLocks noGrp="1"/>
          </p:cNvSpPr>
          <p:nvPr>
            <p:ph type="sldNum" sz="quarter" idx="12"/>
          </p:nvPr>
        </p:nvSpPr>
        <p:spPr/>
        <p:txBody>
          <a:bodyPr/>
          <a:lstStyle/>
          <a:p>
            <a:fld id="{6C8ECD1B-3F01-46F8-A46F-31A31EFC5ABF}" type="slidenum">
              <a:rPr lang="es-AR" smtClean="0"/>
              <a:t>‹Nº›</a:t>
            </a:fld>
            <a:endParaRPr lang="es-AR"/>
          </a:p>
        </p:txBody>
      </p:sp>
    </p:spTree>
    <p:extLst>
      <p:ext uri="{BB962C8B-B14F-4D97-AF65-F5344CB8AC3E}">
        <p14:creationId xmlns:p14="http://schemas.microsoft.com/office/powerpoint/2010/main" val="35548009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97121831-2A2E-4197-A959-861469F3C2FE}" type="datetime1">
              <a:rPr lang="es-AR" smtClean="0"/>
              <a:t>28/8/2026</a:t>
            </a:fld>
            <a:endParaRPr lang="es-AR"/>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s-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6C8ECD1B-3F01-46F8-A46F-31A31EFC5ABF}" type="slidenum">
              <a:rPr lang="es-AR" smtClean="0"/>
              <a:t>‹Nº›</a:t>
            </a:fld>
            <a:endParaRPr lang="es-AR"/>
          </a:p>
        </p:txBody>
      </p:sp>
    </p:spTree>
    <p:extLst>
      <p:ext uri="{BB962C8B-B14F-4D97-AF65-F5344CB8AC3E}">
        <p14:creationId xmlns:p14="http://schemas.microsoft.com/office/powerpoint/2010/main" val="3861838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D2318435-648D-4F03-BCE6-73CF2325A227}" type="datetime1">
              <a:rPr lang="es-AR" smtClean="0"/>
              <a:t>28/8/2026</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6C8ECD1B-3F01-46F8-A46F-31A31EFC5ABF}" type="slidenum">
              <a:rPr lang="es-AR" smtClean="0"/>
              <a:t>‹Nº›</a:t>
            </a:fld>
            <a:endParaRPr lang="es-AR"/>
          </a:p>
        </p:txBody>
      </p:sp>
    </p:spTree>
    <p:extLst>
      <p:ext uri="{BB962C8B-B14F-4D97-AF65-F5344CB8AC3E}">
        <p14:creationId xmlns:p14="http://schemas.microsoft.com/office/powerpoint/2010/main" val="6153648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7F9C3651-DCEB-4800-AC7F-34EF633FC578}" type="datetime1">
              <a:rPr lang="es-AR" smtClean="0"/>
              <a:t>28/8/2026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6C8ECD1B-3F01-46F8-A46F-31A31EFC5ABF}" type="slidenum">
              <a:rPr lang="es-AR" smtClean="0"/>
              <a:t>‹Nº›</a:t>
            </a:fld>
            <a:endParaRPr lang="es-AR"/>
          </a:p>
        </p:txBody>
      </p:sp>
    </p:spTree>
    <p:extLst>
      <p:ext uri="{BB962C8B-B14F-4D97-AF65-F5344CB8AC3E}">
        <p14:creationId xmlns:p14="http://schemas.microsoft.com/office/powerpoint/2010/main" val="21139181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EFBF54F7-4526-4ACE-92EA-B121D77744F9}" type="datetime1">
              <a:rPr lang="es-AR" smtClean="0"/>
              <a:t>28/8/2026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6C8ECD1B-3F01-46F8-A46F-31A31EFC5ABF}" type="slidenum">
              <a:rPr lang="es-AR" smtClean="0"/>
              <a:t>‹Nº›</a:t>
            </a:fld>
            <a:endParaRPr lang="es-AR"/>
          </a:p>
        </p:txBody>
      </p:sp>
    </p:spTree>
    <p:extLst>
      <p:ext uri="{BB962C8B-B14F-4D97-AF65-F5344CB8AC3E}">
        <p14:creationId xmlns:p14="http://schemas.microsoft.com/office/powerpoint/2010/main" val="16357896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7E5E7404-478C-4606-9AD3-7AD6EC75AF62}" type="datetime1">
              <a:rPr lang="es-AR" smtClean="0"/>
              <a:t>28/8/2026</a:t>
            </a:fld>
            <a:endParaRPr lang="es-AR"/>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s-A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6C8ECD1B-3F01-46F8-A46F-31A31EFC5ABF}" type="slidenum">
              <a:rPr lang="es-AR" smtClean="0"/>
              <a:t>‹Nº›</a:t>
            </a:fld>
            <a:endParaRPr lang="es-AR"/>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4683697"/>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gif"/></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jpe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FB78ED-15BE-C64C-6F6A-3F9A1780B36B}"/>
              </a:ext>
            </a:extLst>
          </p:cNvPr>
          <p:cNvSpPr>
            <a:spLocks noGrp="1"/>
          </p:cNvSpPr>
          <p:nvPr>
            <p:ph type="ctrTitle"/>
          </p:nvPr>
        </p:nvSpPr>
        <p:spPr/>
        <p:txBody>
          <a:bodyPr anchor="t">
            <a:normAutofit/>
          </a:bodyPr>
          <a:lstStyle/>
          <a:p>
            <a:br>
              <a:rPr lang="es-AR" sz="5400" dirty="0"/>
            </a:br>
            <a:r>
              <a:rPr lang="es-AR" sz="4800" dirty="0"/>
              <a:t>PARADIGMA ORIENTADO A OBJETOS</a:t>
            </a:r>
            <a:br>
              <a:rPr lang="es-AR" sz="5400" dirty="0"/>
            </a:br>
            <a:br>
              <a:rPr lang="es-AR" sz="6000" dirty="0"/>
            </a:br>
            <a:r>
              <a:rPr lang="es-AR" sz="4800" dirty="0"/>
              <a:t>Clase 4</a:t>
            </a:r>
          </a:p>
        </p:txBody>
      </p:sp>
      <p:sp>
        <p:nvSpPr>
          <p:cNvPr id="3" name="Subtítulo 2">
            <a:extLst>
              <a:ext uri="{FF2B5EF4-FFF2-40B4-BE49-F238E27FC236}">
                <a16:creationId xmlns:a16="http://schemas.microsoft.com/office/drawing/2014/main" id="{4CE69D2D-49C9-764A-9382-72122873E520}"/>
              </a:ext>
            </a:extLst>
          </p:cNvPr>
          <p:cNvSpPr>
            <a:spLocks noGrp="1"/>
          </p:cNvSpPr>
          <p:nvPr>
            <p:ph type="subTitle" idx="1"/>
          </p:nvPr>
        </p:nvSpPr>
        <p:spPr/>
        <p:txBody>
          <a:bodyPr/>
          <a:lstStyle/>
          <a:p>
            <a:r>
              <a:rPr lang="es-AR" dirty="0"/>
              <a:t>Ing. Maximiliano Coedo</a:t>
            </a:r>
          </a:p>
          <a:p>
            <a:r>
              <a:rPr lang="es-AR" dirty="0"/>
              <a:t>Email: mcoedo@uade.edu.ar</a:t>
            </a:r>
          </a:p>
        </p:txBody>
      </p:sp>
      <p:pic>
        <p:nvPicPr>
          <p:cNvPr id="5" name="Imagen 4">
            <a:extLst>
              <a:ext uri="{FF2B5EF4-FFF2-40B4-BE49-F238E27FC236}">
                <a16:creationId xmlns:a16="http://schemas.microsoft.com/office/drawing/2014/main" id="{5D1DAC32-DB33-3B3B-60B6-FD52556E458B}"/>
              </a:ext>
            </a:extLst>
          </p:cNvPr>
          <p:cNvPicPr>
            <a:picLocks noChangeAspect="1"/>
          </p:cNvPicPr>
          <p:nvPr/>
        </p:nvPicPr>
        <p:blipFill>
          <a:blip r:embed="rId2"/>
          <a:stretch>
            <a:fillRect/>
          </a:stretch>
        </p:blipFill>
        <p:spPr>
          <a:xfrm>
            <a:off x="10184257" y="757082"/>
            <a:ext cx="971423" cy="502297"/>
          </a:xfrm>
          <a:prstGeom prst="rect">
            <a:avLst/>
          </a:prstGeom>
        </p:spPr>
      </p:pic>
    </p:spTree>
    <p:extLst>
      <p:ext uri="{BB962C8B-B14F-4D97-AF65-F5344CB8AC3E}">
        <p14:creationId xmlns:p14="http://schemas.microsoft.com/office/powerpoint/2010/main" val="27641963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D1654074-BFA5-0824-1101-1D544D52443D}"/>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8D7E52AA-425A-C91D-D5B2-BAC74DD73A6B}"/>
              </a:ext>
            </a:extLst>
          </p:cNvPr>
          <p:cNvSpPr>
            <a:spLocks noGrp="1"/>
          </p:cNvSpPr>
          <p:nvPr>
            <p:ph type="sldNum" sz="quarter" idx="12"/>
          </p:nvPr>
        </p:nvSpPr>
        <p:spPr/>
        <p:txBody>
          <a:bodyPr/>
          <a:lstStyle/>
          <a:p>
            <a:fld id="{6C8ECD1B-3F01-46F8-A46F-31A31EFC5ABF}" type="slidenum">
              <a:rPr lang="es-AR" smtClean="0"/>
              <a:t>2</a:t>
            </a:fld>
            <a:endParaRPr lang="es-AR"/>
          </a:p>
        </p:txBody>
      </p:sp>
      <p:sp>
        <p:nvSpPr>
          <p:cNvPr id="6" name="Título 1">
            <a:extLst>
              <a:ext uri="{FF2B5EF4-FFF2-40B4-BE49-F238E27FC236}">
                <a16:creationId xmlns:a16="http://schemas.microsoft.com/office/drawing/2014/main" id="{2B76BCFD-E5A2-1510-26BC-F9751F991C80}"/>
              </a:ext>
            </a:extLst>
          </p:cNvPr>
          <p:cNvSpPr txBox="1">
            <a:spLocks/>
          </p:cNvSpPr>
          <p:nvPr/>
        </p:nvSpPr>
        <p:spPr>
          <a:xfrm>
            <a:off x="1249680" y="439003"/>
            <a:ext cx="10058400" cy="1450757"/>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s-ES" dirty="0"/>
              <a:t>¿Qué vamos a ver hoy?</a:t>
            </a:r>
            <a:endParaRPr lang="es-AR" dirty="0"/>
          </a:p>
        </p:txBody>
      </p:sp>
      <p:sp>
        <p:nvSpPr>
          <p:cNvPr id="12" name="Marcador de contenido 2">
            <a:extLst>
              <a:ext uri="{FF2B5EF4-FFF2-40B4-BE49-F238E27FC236}">
                <a16:creationId xmlns:a16="http://schemas.microsoft.com/office/drawing/2014/main" id="{32B357EB-94D8-B85D-8E63-CB7DFAD5BACD}"/>
              </a:ext>
            </a:extLst>
          </p:cNvPr>
          <p:cNvSpPr txBox="1">
            <a:spLocks/>
          </p:cNvSpPr>
          <p:nvPr/>
        </p:nvSpPr>
        <p:spPr>
          <a:xfrm>
            <a:off x="1097280" y="1889760"/>
            <a:ext cx="10058400" cy="402336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endParaRPr lang="es-AR" dirty="0"/>
          </a:p>
          <a:p>
            <a:r>
              <a:rPr lang="es-ES" sz="2800" dirty="0"/>
              <a:t>Diagramas de Clase (repaso)</a:t>
            </a:r>
          </a:p>
          <a:p>
            <a:r>
              <a:rPr lang="es-ES" sz="2800" dirty="0"/>
              <a:t>UML. Diagramas estáticos y dinámicos. </a:t>
            </a:r>
          </a:p>
          <a:p>
            <a:r>
              <a:rPr lang="es-ES" sz="2800" dirty="0"/>
              <a:t>Diagramas de Secuencia.</a:t>
            </a:r>
          </a:p>
          <a:p>
            <a:r>
              <a:rPr lang="es-ES" sz="2800" dirty="0"/>
              <a:t>Ejercicios Diagramas de Secuencia.</a:t>
            </a:r>
          </a:p>
          <a:p>
            <a:r>
              <a:rPr lang="es-ES" sz="2800" dirty="0"/>
              <a:t> </a:t>
            </a:r>
          </a:p>
          <a:p>
            <a:pPr marL="0" indent="0">
              <a:buFont typeface="Calibri" panose="020F0502020204030204" pitchFamily="34" charset="0"/>
              <a:buNone/>
            </a:pPr>
            <a:endParaRPr lang="es-AR" sz="2800" dirty="0"/>
          </a:p>
          <a:p>
            <a:pPr marL="0" indent="0">
              <a:buFont typeface="Calibri" panose="020F0502020204030204" pitchFamily="34" charset="0"/>
              <a:buNone/>
            </a:pPr>
            <a:endParaRPr lang="es-AR" dirty="0"/>
          </a:p>
        </p:txBody>
      </p:sp>
    </p:spTree>
    <p:extLst>
      <p:ext uri="{BB962C8B-B14F-4D97-AF65-F5344CB8AC3E}">
        <p14:creationId xmlns:p14="http://schemas.microsoft.com/office/powerpoint/2010/main" val="41627655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466C2-6AD6-42E5-A80B-D52BCE1CF77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29D58BD-56F9-A56A-993A-5F86683BB118}"/>
              </a:ext>
            </a:extLst>
          </p:cNvPr>
          <p:cNvSpPr>
            <a:spLocks noGrp="1"/>
          </p:cNvSpPr>
          <p:nvPr>
            <p:ph type="title"/>
          </p:nvPr>
        </p:nvSpPr>
        <p:spPr/>
        <p:txBody>
          <a:bodyPr/>
          <a:lstStyle/>
          <a:p>
            <a:r>
              <a:rPr lang="es-AR" dirty="0"/>
              <a:t>Diagramas Clases </a:t>
            </a:r>
          </a:p>
        </p:txBody>
      </p:sp>
      <p:sp>
        <p:nvSpPr>
          <p:cNvPr id="3" name="Marcador de contenido 2">
            <a:extLst>
              <a:ext uri="{FF2B5EF4-FFF2-40B4-BE49-F238E27FC236}">
                <a16:creationId xmlns:a16="http://schemas.microsoft.com/office/drawing/2014/main" id="{3B94D051-3C3A-35C9-CAE5-B99E7729DF9F}"/>
              </a:ext>
            </a:extLst>
          </p:cNvPr>
          <p:cNvSpPr>
            <a:spLocks noGrp="1"/>
          </p:cNvSpPr>
          <p:nvPr>
            <p:ph idx="1"/>
          </p:nvPr>
        </p:nvSpPr>
        <p:spPr>
          <a:xfrm>
            <a:off x="1097280" y="1845734"/>
            <a:ext cx="10058400" cy="3274907"/>
          </a:xfrm>
        </p:spPr>
        <p:txBody>
          <a:bodyPr>
            <a:normAutofit/>
          </a:bodyPr>
          <a:lstStyle/>
          <a:p>
            <a:pPr marL="0" indent="0" algn="ctr">
              <a:buNone/>
            </a:pPr>
            <a:r>
              <a:rPr lang="es-AR" dirty="0"/>
              <a:t>Repaso</a:t>
            </a:r>
          </a:p>
          <a:p>
            <a:pPr marL="0" indent="0" algn="ctr">
              <a:buNone/>
            </a:pPr>
            <a:endParaRPr lang="es-AR" dirty="0"/>
          </a:p>
          <a:p>
            <a:pPr marL="0" indent="0">
              <a:buNone/>
            </a:pPr>
            <a:r>
              <a:rPr lang="es-AR" dirty="0"/>
              <a:t>     Clase</a:t>
            </a:r>
          </a:p>
          <a:p>
            <a:pPr marL="0" indent="0">
              <a:buNone/>
            </a:pPr>
            <a:endParaRPr lang="es-AR" dirty="0"/>
          </a:p>
          <a:p>
            <a:pPr marL="0" indent="0">
              <a:buNone/>
            </a:pPr>
            <a:endParaRPr lang="es-AR" dirty="0"/>
          </a:p>
          <a:p>
            <a:pPr marL="0" indent="0">
              <a:buNone/>
            </a:pPr>
            <a:endParaRPr lang="es-AR" dirty="0"/>
          </a:p>
          <a:p>
            <a:pPr marL="0" indent="0">
              <a:buNone/>
            </a:pPr>
            <a:r>
              <a:rPr lang="es-AR" sz="1000" b="1" dirty="0"/>
              <a:t>				Ejemplo de relación Empresa-Empleado (asociación)</a:t>
            </a:r>
            <a:endParaRPr lang="es-AR" sz="1000" dirty="0"/>
          </a:p>
          <a:p>
            <a:pPr marL="0" indent="0" algn="ctr">
              <a:buNone/>
            </a:pPr>
            <a:endParaRPr lang="es-AR" dirty="0"/>
          </a:p>
          <a:p>
            <a:pPr marL="0" indent="0">
              <a:buNone/>
            </a:pPr>
            <a:endParaRPr lang="es-AR" dirty="0"/>
          </a:p>
          <a:p>
            <a:pPr marL="0" indent="0">
              <a:buNone/>
            </a:pPr>
            <a:endParaRPr lang="es-AR" dirty="0"/>
          </a:p>
        </p:txBody>
      </p:sp>
      <p:pic>
        <p:nvPicPr>
          <p:cNvPr id="4" name="Imagen 3">
            <a:extLst>
              <a:ext uri="{FF2B5EF4-FFF2-40B4-BE49-F238E27FC236}">
                <a16:creationId xmlns:a16="http://schemas.microsoft.com/office/drawing/2014/main" id="{04928073-E4FC-0912-B214-CD5D55DDEFA9}"/>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C23CD9B1-1C75-9CBA-99B5-597DFACDBF6B}"/>
              </a:ext>
            </a:extLst>
          </p:cNvPr>
          <p:cNvSpPr>
            <a:spLocks noGrp="1"/>
          </p:cNvSpPr>
          <p:nvPr>
            <p:ph type="sldNum" sz="quarter" idx="12"/>
          </p:nvPr>
        </p:nvSpPr>
        <p:spPr/>
        <p:txBody>
          <a:bodyPr/>
          <a:lstStyle/>
          <a:p>
            <a:fld id="{6C8ECD1B-3F01-46F8-A46F-31A31EFC5ABF}" type="slidenum">
              <a:rPr lang="es-AR" smtClean="0"/>
              <a:t>3</a:t>
            </a:fld>
            <a:endParaRPr lang="es-AR"/>
          </a:p>
        </p:txBody>
      </p:sp>
      <p:pic>
        <p:nvPicPr>
          <p:cNvPr id="1026" name="Picture 2" descr="Ejemplo de una clase">
            <a:extLst>
              <a:ext uri="{FF2B5EF4-FFF2-40B4-BE49-F238E27FC236}">
                <a16:creationId xmlns:a16="http://schemas.microsoft.com/office/drawing/2014/main" id="{A4D0D7CB-53C9-DEA1-F606-66334FDE8A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01327" y="2324098"/>
            <a:ext cx="1285875" cy="1533525"/>
          </a:xfrm>
          <a:prstGeom prst="rect">
            <a:avLst/>
          </a:prstGeom>
          <a:noFill/>
          <a:extLst>
            <a:ext uri="{909E8E84-426E-40DD-AFC4-6F175D3DCCD1}">
              <a14:hiddenFill xmlns:a14="http://schemas.microsoft.com/office/drawing/2010/main">
                <a:solidFill>
                  <a:srgbClr val="FFFFFF"/>
                </a:solidFill>
              </a14:hiddenFill>
            </a:ext>
          </a:extLst>
        </p:spPr>
      </p:pic>
      <p:pic>
        <p:nvPicPr>
          <p:cNvPr id="10" name="Imagen 9">
            <a:extLst>
              <a:ext uri="{FF2B5EF4-FFF2-40B4-BE49-F238E27FC236}">
                <a16:creationId xmlns:a16="http://schemas.microsoft.com/office/drawing/2014/main" id="{0809053C-E77B-C27A-CE36-4248D7B1A3F1}"/>
              </a:ext>
            </a:extLst>
          </p:cNvPr>
          <p:cNvPicPr>
            <a:picLocks noChangeAspect="1"/>
          </p:cNvPicPr>
          <p:nvPr/>
        </p:nvPicPr>
        <p:blipFill>
          <a:blip r:embed="rId5"/>
          <a:stretch>
            <a:fillRect/>
          </a:stretch>
        </p:blipFill>
        <p:spPr>
          <a:xfrm>
            <a:off x="8943195" y="2142875"/>
            <a:ext cx="1914525" cy="1971675"/>
          </a:xfrm>
          <a:prstGeom prst="rect">
            <a:avLst/>
          </a:prstGeom>
        </p:spPr>
      </p:pic>
      <p:pic>
        <p:nvPicPr>
          <p:cNvPr id="2050" name="Picture 2" descr="Ejemplo de relación Empresa-Empleado">
            <a:extLst>
              <a:ext uri="{FF2B5EF4-FFF2-40B4-BE49-F238E27FC236}">
                <a16:creationId xmlns:a16="http://schemas.microsoft.com/office/drawing/2014/main" id="{F14E07AE-BDBC-419C-014C-9446C285F2A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59580" y="3276598"/>
            <a:ext cx="3733800" cy="116205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Uso de relaciones - Parte 2 de 3 :: DESAC">
            <a:extLst>
              <a:ext uri="{FF2B5EF4-FFF2-40B4-BE49-F238E27FC236}">
                <a16:creationId xmlns:a16="http://schemas.microsoft.com/office/drawing/2014/main" id="{849F23C7-2D59-21C2-C3DB-F819D1C3EC9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050530" y="4114550"/>
            <a:ext cx="3105150" cy="1476375"/>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n 5" descr="Le logiciel de modélisation StartUml – Très Facile">
            <a:extLst>
              <a:ext uri="{FF2B5EF4-FFF2-40B4-BE49-F238E27FC236}">
                <a16:creationId xmlns:a16="http://schemas.microsoft.com/office/drawing/2014/main" id="{274EC09D-C12D-8784-A460-648EFF2BC563}"/>
              </a:ext>
            </a:extLst>
          </p:cNvPr>
          <p:cNvPicPr>
            <a:picLocks noChangeAspect="1"/>
          </p:cNvPicPr>
          <p:nvPr/>
        </p:nvPicPr>
        <p:blipFill>
          <a:blip r:embed="rId8"/>
          <a:stretch>
            <a:fillRect/>
          </a:stretch>
        </p:blipFill>
        <p:spPr>
          <a:xfrm>
            <a:off x="1097279" y="4438648"/>
            <a:ext cx="1939337" cy="1443797"/>
          </a:xfrm>
          <a:prstGeom prst="rect">
            <a:avLst/>
          </a:prstGeom>
        </p:spPr>
      </p:pic>
    </p:spTree>
    <p:extLst>
      <p:ext uri="{BB962C8B-B14F-4D97-AF65-F5344CB8AC3E}">
        <p14:creationId xmlns:p14="http://schemas.microsoft.com/office/powerpoint/2010/main" val="15544723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A86E2-F4E2-2F50-0BD1-6EC9F9E6DE7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4842BE0-3859-9171-3804-089E555A1770}"/>
              </a:ext>
            </a:extLst>
          </p:cNvPr>
          <p:cNvSpPr>
            <a:spLocks noGrp="1"/>
          </p:cNvSpPr>
          <p:nvPr>
            <p:ph type="title"/>
          </p:nvPr>
        </p:nvSpPr>
        <p:spPr/>
        <p:txBody>
          <a:bodyPr/>
          <a:lstStyle/>
          <a:p>
            <a:r>
              <a:rPr lang="es-AR" dirty="0"/>
              <a:t>Diagramas Clases </a:t>
            </a:r>
          </a:p>
        </p:txBody>
      </p:sp>
      <p:sp>
        <p:nvSpPr>
          <p:cNvPr id="3" name="Marcador de contenido 2">
            <a:extLst>
              <a:ext uri="{FF2B5EF4-FFF2-40B4-BE49-F238E27FC236}">
                <a16:creationId xmlns:a16="http://schemas.microsoft.com/office/drawing/2014/main" id="{12F73507-B6B0-F13D-84BB-FA1CCF6AC6B5}"/>
              </a:ext>
            </a:extLst>
          </p:cNvPr>
          <p:cNvSpPr>
            <a:spLocks noGrp="1"/>
          </p:cNvSpPr>
          <p:nvPr>
            <p:ph idx="1"/>
          </p:nvPr>
        </p:nvSpPr>
        <p:spPr>
          <a:xfrm>
            <a:off x="1097280" y="1845734"/>
            <a:ext cx="10058400" cy="3274907"/>
          </a:xfrm>
        </p:spPr>
        <p:txBody>
          <a:bodyPr>
            <a:normAutofit/>
          </a:bodyPr>
          <a:lstStyle/>
          <a:p>
            <a:r>
              <a:rPr lang="es-ES" dirty="0"/>
              <a:t>Tipos de relaciones</a:t>
            </a:r>
          </a:p>
          <a:p>
            <a:r>
              <a:rPr lang="es-ES" dirty="0"/>
              <a:t>Un diagrama de clases incluye los siguientes tipos de relaciones:</a:t>
            </a:r>
          </a:p>
          <a:p>
            <a:r>
              <a:rPr lang="es-ES" b="1" dirty="0"/>
              <a:t>Asociación.</a:t>
            </a:r>
            <a:endParaRPr lang="es-ES" dirty="0"/>
          </a:p>
          <a:p>
            <a:r>
              <a:rPr lang="es-ES" b="1" dirty="0"/>
              <a:t>Agregación.</a:t>
            </a:r>
            <a:endParaRPr lang="es-ES" dirty="0"/>
          </a:p>
          <a:p>
            <a:r>
              <a:rPr lang="es-ES" b="1" dirty="0"/>
              <a:t>Composición.</a:t>
            </a:r>
            <a:endParaRPr lang="es-ES" dirty="0"/>
          </a:p>
          <a:p>
            <a:r>
              <a:rPr lang="es-ES" b="1" dirty="0"/>
              <a:t>Dependencia.</a:t>
            </a:r>
            <a:endParaRPr lang="es-ES" dirty="0"/>
          </a:p>
          <a:p>
            <a:r>
              <a:rPr lang="es-ES" b="1" dirty="0"/>
              <a:t>Herencia.</a:t>
            </a:r>
            <a:endParaRPr lang="es-ES" dirty="0"/>
          </a:p>
          <a:p>
            <a:pPr marL="0" indent="0" algn="ctr">
              <a:buNone/>
            </a:pPr>
            <a:endParaRPr lang="es-AR" dirty="0"/>
          </a:p>
          <a:p>
            <a:pPr marL="0" indent="0" algn="ctr">
              <a:buNone/>
            </a:pPr>
            <a:endParaRPr lang="es-AR" dirty="0"/>
          </a:p>
          <a:p>
            <a:pPr marL="0" indent="0">
              <a:buNone/>
            </a:pPr>
            <a:endParaRPr lang="es-AR" dirty="0"/>
          </a:p>
          <a:p>
            <a:pPr marL="0" indent="0">
              <a:buNone/>
            </a:pPr>
            <a:endParaRPr lang="es-AR" dirty="0"/>
          </a:p>
          <a:p>
            <a:pPr marL="0" indent="0">
              <a:buNone/>
            </a:pPr>
            <a:endParaRPr lang="es-AR" dirty="0"/>
          </a:p>
        </p:txBody>
      </p:sp>
      <p:pic>
        <p:nvPicPr>
          <p:cNvPr id="4" name="Imagen 3">
            <a:extLst>
              <a:ext uri="{FF2B5EF4-FFF2-40B4-BE49-F238E27FC236}">
                <a16:creationId xmlns:a16="http://schemas.microsoft.com/office/drawing/2014/main" id="{6FCB5EC6-99B8-E595-371C-33F8B90C576C}"/>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8D05EEBB-2C44-658A-010F-D3BC3FDB9909}"/>
              </a:ext>
            </a:extLst>
          </p:cNvPr>
          <p:cNvSpPr>
            <a:spLocks noGrp="1"/>
          </p:cNvSpPr>
          <p:nvPr>
            <p:ph type="sldNum" sz="quarter" idx="12"/>
          </p:nvPr>
        </p:nvSpPr>
        <p:spPr/>
        <p:txBody>
          <a:bodyPr/>
          <a:lstStyle/>
          <a:p>
            <a:fld id="{6C8ECD1B-3F01-46F8-A46F-31A31EFC5ABF}" type="slidenum">
              <a:rPr lang="es-AR" smtClean="0"/>
              <a:t>4</a:t>
            </a:fld>
            <a:endParaRPr lang="es-AR"/>
          </a:p>
        </p:txBody>
      </p:sp>
    </p:spTree>
    <p:extLst>
      <p:ext uri="{BB962C8B-B14F-4D97-AF65-F5344CB8AC3E}">
        <p14:creationId xmlns:p14="http://schemas.microsoft.com/office/powerpoint/2010/main" val="14608187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6C446-F528-E44A-2656-6824C8EC910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4433DC7-D061-5D4E-CF49-6B5E687DF905}"/>
              </a:ext>
            </a:extLst>
          </p:cNvPr>
          <p:cNvSpPr>
            <a:spLocks noGrp="1"/>
          </p:cNvSpPr>
          <p:nvPr>
            <p:ph type="title"/>
          </p:nvPr>
        </p:nvSpPr>
        <p:spPr/>
        <p:txBody>
          <a:bodyPr/>
          <a:lstStyle/>
          <a:p>
            <a:r>
              <a:rPr lang="es-AR" dirty="0"/>
              <a:t>Diagramas Clases:</a:t>
            </a:r>
            <a:r>
              <a:rPr lang="es-ES" dirty="0"/>
              <a:t> Asociación</a:t>
            </a:r>
            <a:r>
              <a:rPr lang="es-AR" dirty="0"/>
              <a:t> </a:t>
            </a:r>
          </a:p>
        </p:txBody>
      </p:sp>
      <p:sp>
        <p:nvSpPr>
          <p:cNvPr id="3" name="Marcador de contenido 2">
            <a:extLst>
              <a:ext uri="{FF2B5EF4-FFF2-40B4-BE49-F238E27FC236}">
                <a16:creationId xmlns:a16="http://schemas.microsoft.com/office/drawing/2014/main" id="{7E9E43BF-F4A7-DF24-AE8C-93DD7A576DCF}"/>
              </a:ext>
            </a:extLst>
          </p:cNvPr>
          <p:cNvSpPr>
            <a:spLocks noGrp="1"/>
          </p:cNvSpPr>
          <p:nvPr>
            <p:ph idx="1"/>
          </p:nvPr>
        </p:nvSpPr>
        <p:spPr>
          <a:xfrm>
            <a:off x="1097280" y="1845734"/>
            <a:ext cx="10058400" cy="3274907"/>
          </a:xfrm>
        </p:spPr>
        <p:txBody>
          <a:bodyPr>
            <a:normAutofit/>
          </a:bodyPr>
          <a:lstStyle/>
          <a:p>
            <a:pPr marL="0" indent="0">
              <a:buNone/>
            </a:pPr>
            <a:endParaRPr lang="es-ES" dirty="0"/>
          </a:p>
          <a:p>
            <a:pPr marL="0" indent="0">
              <a:buNone/>
            </a:pPr>
            <a:endParaRPr lang="es-ES" dirty="0"/>
          </a:p>
          <a:p>
            <a:pPr marL="0" indent="0" algn="just">
              <a:buNone/>
            </a:pPr>
            <a:r>
              <a:rPr lang="es-ES" dirty="0"/>
              <a:t>Este tipo de relación es el más común y se utiliza para </a:t>
            </a:r>
            <a:r>
              <a:rPr lang="es-ES" b="1" dirty="0"/>
              <a:t>representar dependencia semántica</a:t>
            </a:r>
            <a:r>
              <a:rPr lang="es-ES" dirty="0"/>
              <a:t>. Se representa con una simple línea continua que une las clases que están incluidas en la asociación.</a:t>
            </a:r>
          </a:p>
          <a:p>
            <a:pPr marL="0" indent="0">
              <a:buNone/>
            </a:pPr>
            <a:r>
              <a:rPr lang="es-ES" dirty="0"/>
              <a:t>Un ejemplo de asociación podría ser: «</a:t>
            </a:r>
            <a:r>
              <a:rPr lang="es-ES" b="1" dirty="0"/>
              <a:t>Una mascota pertenece a una persona</a:t>
            </a:r>
            <a:r>
              <a:rPr lang="es-ES" dirty="0"/>
              <a:t>».</a:t>
            </a:r>
          </a:p>
          <a:p>
            <a:pPr marL="0" indent="0" algn="ctr">
              <a:buNone/>
            </a:pPr>
            <a:endParaRPr lang="es-AR" dirty="0"/>
          </a:p>
          <a:p>
            <a:pPr marL="0" indent="0" algn="ctr">
              <a:buNone/>
            </a:pPr>
            <a:endParaRPr lang="es-AR" dirty="0"/>
          </a:p>
          <a:p>
            <a:pPr marL="0" indent="0">
              <a:buNone/>
            </a:pPr>
            <a:endParaRPr lang="es-AR" dirty="0"/>
          </a:p>
          <a:p>
            <a:pPr marL="0" indent="0">
              <a:buNone/>
            </a:pPr>
            <a:endParaRPr lang="es-AR" dirty="0"/>
          </a:p>
          <a:p>
            <a:pPr marL="0" indent="0">
              <a:buNone/>
            </a:pPr>
            <a:endParaRPr lang="es-AR" dirty="0"/>
          </a:p>
        </p:txBody>
      </p:sp>
      <p:pic>
        <p:nvPicPr>
          <p:cNvPr id="4" name="Imagen 3">
            <a:extLst>
              <a:ext uri="{FF2B5EF4-FFF2-40B4-BE49-F238E27FC236}">
                <a16:creationId xmlns:a16="http://schemas.microsoft.com/office/drawing/2014/main" id="{5CD2B7A8-75C1-791A-ADE3-2D08B93CEDC5}"/>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270EC8DD-C1E8-3E42-1B15-B7073AA357DB}"/>
              </a:ext>
            </a:extLst>
          </p:cNvPr>
          <p:cNvSpPr>
            <a:spLocks noGrp="1"/>
          </p:cNvSpPr>
          <p:nvPr>
            <p:ph type="sldNum" sz="quarter" idx="12"/>
          </p:nvPr>
        </p:nvSpPr>
        <p:spPr/>
        <p:txBody>
          <a:bodyPr/>
          <a:lstStyle/>
          <a:p>
            <a:fld id="{6C8ECD1B-3F01-46F8-A46F-31A31EFC5ABF}" type="slidenum">
              <a:rPr lang="es-AR" smtClean="0"/>
              <a:t>5</a:t>
            </a:fld>
            <a:endParaRPr lang="es-AR"/>
          </a:p>
        </p:txBody>
      </p:sp>
      <p:pic>
        <p:nvPicPr>
          <p:cNvPr id="3078" name="Picture 6" descr="Ejemplo de asociación">
            <a:extLst>
              <a:ext uri="{FF2B5EF4-FFF2-40B4-BE49-F238E27FC236}">
                <a16:creationId xmlns:a16="http://schemas.microsoft.com/office/drawing/2014/main" id="{04DCF97B-5BCA-AA97-8425-E4B83EB4D60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10125" y="4611053"/>
            <a:ext cx="2571750" cy="1019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88019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8B6C3-D85B-F46A-842C-79466275921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0C5D4D7-BA20-8914-5F3A-6759C119BB54}"/>
              </a:ext>
            </a:extLst>
          </p:cNvPr>
          <p:cNvSpPr>
            <a:spLocks noGrp="1"/>
          </p:cNvSpPr>
          <p:nvPr>
            <p:ph type="title"/>
          </p:nvPr>
        </p:nvSpPr>
        <p:spPr/>
        <p:txBody>
          <a:bodyPr/>
          <a:lstStyle/>
          <a:p>
            <a:r>
              <a:rPr lang="es-AR" dirty="0"/>
              <a:t>Diagramas Clases: </a:t>
            </a:r>
            <a:r>
              <a:rPr lang="es-ES" dirty="0"/>
              <a:t>Agregación</a:t>
            </a:r>
            <a:r>
              <a:rPr lang="es-AR" dirty="0"/>
              <a:t> </a:t>
            </a:r>
          </a:p>
        </p:txBody>
      </p:sp>
      <p:sp>
        <p:nvSpPr>
          <p:cNvPr id="3" name="Marcador de contenido 2">
            <a:extLst>
              <a:ext uri="{FF2B5EF4-FFF2-40B4-BE49-F238E27FC236}">
                <a16:creationId xmlns:a16="http://schemas.microsoft.com/office/drawing/2014/main" id="{76ECE5CC-F007-66B3-D506-39EA6C92816F}"/>
              </a:ext>
            </a:extLst>
          </p:cNvPr>
          <p:cNvSpPr>
            <a:spLocks noGrp="1"/>
          </p:cNvSpPr>
          <p:nvPr>
            <p:ph idx="1"/>
          </p:nvPr>
        </p:nvSpPr>
        <p:spPr>
          <a:xfrm>
            <a:off x="1097279" y="1781860"/>
            <a:ext cx="10058400" cy="2990165"/>
          </a:xfrm>
        </p:spPr>
        <p:txBody>
          <a:bodyPr>
            <a:normAutofit/>
          </a:bodyPr>
          <a:lstStyle/>
          <a:p>
            <a:pPr marL="0" indent="0" algn="just">
              <a:buNone/>
            </a:pPr>
            <a:r>
              <a:rPr lang="es-ES" dirty="0"/>
              <a:t>Es una representación jerárquica que indica a un objeto y las partes que componen ese objeto. Es decir, representa relaciones en las que </a:t>
            </a:r>
            <a:r>
              <a:rPr lang="es-ES" b="1" dirty="0"/>
              <a:t>un objeto es parte de otro</a:t>
            </a:r>
            <a:r>
              <a:rPr lang="es-ES" dirty="0"/>
              <a:t>, pero aun así debe tener </a:t>
            </a:r>
            <a:r>
              <a:rPr lang="es-ES" b="1" dirty="0"/>
              <a:t>existencia en sí mismo</a:t>
            </a:r>
            <a:r>
              <a:rPr lang="es-ES" dirty="0"/>
              <a:t>.</a:t>
            </a:r>
          </a:p>
          <a:p>
            <a:pPr marL="0" indent="0" algn="just">
              <a:buNone/>
            </a:pPr>
            <a:r>
              <a:rPr lang="es-ES" dirty="0"/>
              <a:t>Se representa con una línea que tiene un rombo en la parte de la clase que es una agregación de la otra clase (es decir, en la clase que contiene las otras).</a:t>
            </a:r>
          </a:p>
          <a:p>
            <a:pPr marL="0" indent="0" algn="just">
              <a:buNone/>
            </a:pPr>
            <a:r>
              <a:rPr lang="es-ES" dirty="0"/>
              <a:t>Un ejemplo de esta relación podría ser: «Las mesas están formadas por tablas y tornillos o, dicho de otra manera, los tornillos y las tablas forman parte de una mesa». Como ves, el tornillo podría formar parte de más objetos, por lo que interesa especialmente su abstracción en otra clase.</a:t>
            </a:r>
            <a:endParaRPr lang="es-AR" dirty="0"/>
          </a:p>
          <a:p>
            <a:pPr marL="0" indent="0" algn="ctr">
              <a:buNone/>
            </a:pPr>
            <a:endParaRPr lang="es-AR" dirty="0"/>
          </a:p>
          <a:p>
            <a:pPr marL="0" indent="0">
              <a:buNone/>
            </a:pPr>
            <a:endParaRPr lang="es-AR" dirty="0"/>
          </a:p>
          <a:p>
            <a:pPr marL="0" indent="0">
              <a:buNone/>
            </a:pPr>
            <a:endParaRPr lang="es-AR" dirty="0"/>
          </a:p>
          <a:p>
            <a:pPr marL="0" indent="0">
              <a:buNone/>
            </a:pPr>
            <a:endParaRPr lang="es-AR" dirty="0"/>
          </a:p>
        </p:txBody>
      </p:sp>
      <p:pic>
        <p:nvPicPr>
          <p:cNvPr id="4" name="Imagen 3">
            <a:extLst>
              <a:ext uri="{FF2B5EF4-FFF2-40B4-BE49-F238E27FC236}">
                <a16:creationId xmlns:a16="http://schemas.microsoft.com/office/drawing/2014/main" id="{D954E185-D543-59F7-9E1A-FD3F5C86C953}"/>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AA1D1F4D-478F-7CAA-340E-3928202C077B}"/>
              </a:ext>
            </a:extLst>
          </p:cNvPr>
          <p:cNvSpPr>
            <a:spLocks noGrp="1"/>
          </p:cNvSpPr>
          <p:nvPr>
            <p:ph type="sldNum" sz="quarter" idx="12"/>
          </p:nvPr>
        </p:nvSpPr>
        <p:spPr/>
        <p:txBody>
          <a:bodyPr/>
          <a:lstStyle/>
          <a:p>
            <a:fld id="{6C8ECD1B-3F01-46F8-A46F-31A31EFC5ABF}" type="slidenum">
              <a:rPr lang="es-AR" smtClean="0"/>
              <a:t>6</a:t>
            </a:fld>
            <a:endParaRPr lang="es-AR"/>
          </a:p>
        </p:txBody>
      </p:sp>
      <p:pic>
        <p:nvPicPr>
          <p:cNvPr id="7170" name="Picture 2" descr="Ejemplo de agregación">
            <a:extLst>
              <a:ext uri="{FF2B5EF4-FFF2-40B4-BE49-F238E27FC236}">
                <a16:creationId xmlns:a16="http://schemas.microsoft.com/office/drawing/2014/main" id="{03F74EBC-4893-6DA9-091D-8902ECEBE8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74431" y="4414665"/>
            <a:ext cx="2243137" cy="18603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43964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CD81F-AA03-9177-5986-94D9C400452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C0E14B7-E697-898F-6821-6BAC4D650DF0}"/>
              </a:ext>
            </a:extLst>
          </p:cNvPr>
          <p:cNvSpPr>
            <a:spLocks noGrp="1"/>
          </p:cNvSpPr>
          <p:nvPr>
            <p:ph type="title"/>
          </p:nvPr>
        </p:nvSpPr>
        <p:spPr/>
        <p:txBody>
          <a:bodyPr/>
          <a:lstStyle/>
          <a:p>
            <a:r>
              <a:rPr lang="es-AR" dirty="0"/>
              <a:t>Diagramas Clases: Composición </a:t>
            </a:r>
          </a:p>
        </p:txBody>
      </p:sp>
      <p:sp>
        <p:nvSpPr>
          <p:cNvPr id="3" name="Marcador de contenido 2">
            <a:extLst>
              <a:ext uri="{FF2B5EF4-FFF2-40B4-BE49-F238E27FC236}">
                <a16:creationId xmlns:a16="http://schemas.microsoft.com/office/drawing/2014/main" id="{0B3A401F-7FBB-43D1-5576-B21E236AFA26}"/>
              </a:ext>
            </a:extLst>
          </p:cNvPr>
          <p:cNvSpPr>
            <a:spLocks noGrp="1"/>
          </p:cNvSpPr>
          <p:nvPr>
            <p:ph idx="1"/>
          </p:nvPr>
        </p:nvSpPr>
        <p:spPr>
          <a:xfrm>
            <a:off x="1097279" y="1781861"/>
            <a:ext cx="10058400" cy="1951940"/>
          </a:xfrm>
        </p:spPr>
        <p:txBody>
          <a:bodyPr>
            <a:normAutofit lnSpcReduction="10000"/>
          </a:bodyPr>
          <a:lstStyle/>
          <a:p>
            <a:pPr algn="just"/>
            <a:r>
              <a:rPr lang="es-ES" dirty="0"/>
              <a:t>La composición es similar a la agregación, representa una </a:t>
            </a:r>
            <a:r>
              <a:rPr lang="es-ES" b="1" dirty="0"/>
              <a:t>relación jerárquica entre un objeto y las partes que lo componen</a:t>
            </a:r>
            <a:r>
              <a:rPr lang="es-ES" dirty="0"/>
              <a:t>, </a:t>
            </a:r>
            <a:r>
              <a:rPr lang="es-ES" b="1" dirty="0"/>
              <a:t>pero de una forma más fuerte</a:t>
            </a:r>
            <a:r>
              <a:rPr lang="es-ES" dirty="0"/>
              <a:t>. En este caso, los elementos que forman parte no tienen sentido de existencia cuando el primero no existe. Es decir, cuando el elemento que contiene los otros desaparece, deben desaparecer todos ya que no tienen sentido por sí mismos, sino que dependen del elemento que componen. Además, suelen tener los mismos tiempos de vida. Los componentes no se comparten entre varios elementos, esta es otra de las diferencias con la agregación.</a:t>
            </a:r>
            <a:endParaRPr lang="es-AR" dirty="0"/>
          </a:p>
          <a:p>
            <a:pPr marL="0" indent="0">
              <a:buNone/>
            </a:pPr>
            <a:endParaRPr lang="es-AR" dirty="0"/>
          </a:p>
        </p:txBody>
      </p:sp>
      <p:pic>
        <p:nvPicPr>
          <p:cNvPr id="4" name="Imagen 3">
            <a:extLst>
              <a:ext uri="{FF2B5EF4-FFF2-40B4-BE49-F238E27FC236}">
                <a16:creationId xmlns:a16="http://schemas.microsoft.com/office/drawing/2014/main" id="{4970E20E-B240-BB57-3DDA-6A8182E46825}"/>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A89236F0-6155-0357-8B21-A9020BE710A5}"/>
              </a:ext>
            </a:extLst>
          </p:cNvPr>
          <p:cNvSpPr>
            <a:spLocks noGrp="1"/>
          </p:cNvSpPr>
          <p:nvPr>
            <p:ph type="sldNum" sz="quarter" idx="12"/>
          </p:nvPr>
        </p:nvSpPr>
        <p:spPr/>
        <p:txBody>
          <a:bodyPr/>
          <a:lstStyle/>
          <a:p>
            <a:fld id="{6C8ECD1B-3F01-46F8-A46F-31A31EFC5ABF}" type="slidenum">
              <a:rPr lang="es-AR" smtClean="0"/>
              <a:t>7</a:t>
            </a:fld>
            <a:endParaRPr lang="es-AR"/>
          </a:p>
        </p:txBody>
      </p:sp>
      <p:pic>
        <p:nvPicPr>
          <p:cNvPr id="8194" name="Picture 2" descr="Ejemplo de composición">
            <a:extLst>
              <a:ext uri="{FF2B5EF4-FFF2-40B4-BE49-F238E27FC236}">
                <a16:creationId xmlns:a16="http://schemas.microsoft.com/office/drawing/2014/main" id="{47D7DB26-F314-4333-EB91-7F2295C479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91675" y="3350247"/>
            <a:ext cx="1682973" cy="2631558"/>
          </a:xfrm>
          <a:prstGeom prst="rect">
            <a:avLst/>
          </a:prstGeom>
          <a:noFill/>
          <a:extLst>
            <a:ext uri="{909E8E84-426E-40DD-AFC4-6F175D3DCCD1}">
              <a14:hiddenFill xmlns:a14="http://schemas.microsoft.com/office/drawing/2010/main">
                <a:solidFill>
                  <a:srgbClr val="FFFFFF"/>
                </a:solidFill>
              </a14:hiddenFill>
            </a:ext>
          </a:extLst>
        </p:spPr>
      </p:pic>
      <p:sp>
        <p:nvSpPr>
          <p:cNvPr id="6" name="Marcador de contenido 2">
            <a:extLst>
              <a:ext uri="{FF2B5EF4-FFF2-40B4-BE49-F238E27FC236}">
                <a16:creationId xmlns:a16="http://schemas.microsoft.com/office/drawing/2014/main" id="{56F8E8E9-B7AF-F507-D929-779FC5B6D282}"/>
              </a:ext>
            </a:extLst>
          </p:cNvPr>
          <p:cNvSpPr txBox="1">
            <a:spLocks/>
          </p:cNvSpPr>
          <p:nvPr/>
        </p:nvSpPr>
        <p:spPr>
          <a:xfrm>
            <a:off x="1154083" y="3733801"/>
            <a:ext cx="8318623" cy="195194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r>
              <a:rPr lang="es-ES" dirty="0"/>
              <a:t>Se representa con una línea continua con un rombo relleno en la clase que es compuesta.</a:t>
            </a:r>
          </a:p>
          <a:p>
            <a:pPr algn="just"/>
            <a:r>
              <a:rPr lang="es-ES" dirty="0"/>
              <a:t>Un ejemplo de esta relación sería: «Un vuelo de una compañía aérea está compuesto por pasajeros, que es lo mismo que decir que un pasajero está asignado a un vuelo»</a:t>
            </a:r>
            <a:endParaRPr lang="es-AR" dirty="0"/>
          </a:p>
        </p:txBody>
      </p:sp>
    </p:spTree>
    <p:extLst>
      <p:ext uri="{BB962C8B-B14F-4D97-AF65-F5344CB8AC3E}">
        <p14:creationId xmlns:p14="http://schemas.microsoft.com/office/powerpoint/2010/main" val="41285866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1C593-6D44-E619-EFC7-3ABFF9B1A0C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CE8C4F4-56AB-C169-5CE7-4023D63FA51D}"/>
              </a:ext>
            </a:extLst>
          </p:cNvPr>
          <p:cNvSpPr>
            <a:spLocks noGrp="1"/>
          </p:cNvSpPr>
          <p:nvPr>
            <p:ph type="title"/>
          </p:nvPr>
        </p:nvSpPr>
        <p:spPr/>
        <p:txBody>
          <a:bodyPr/>
          <a:lstStyle/>
          <a:p>
            <a:r>
              <a:rPr lang="es-AR" dirty="0"/>
              <a:t>Diagramas Clases: Dependencia </a:t>
            </a:r>
          </a:p>
        </p:txBody>
      </p:sp>
      <p:sp>
        <p:nvSpPr>
          <p:cNvPr id="3" name="Marcador de contenido 2">
            <a:extLst>
              <a:ext uri="{FF2B5EF4-FFF2-40B4-BE49-F238E27FC236}">
                <a16:creationId xmlns:a16="http://schemas.microsoft.com/office/drawing/2014/main" id="{DCDDBA6A-9116-8C3C-9E52-9ED0056A2BB2}"/>
              </a:ext>
            </a:extLst>
          </p:cNvPr>
          <p:cNvSpPr>
            <a:spLocks noGrp="1"/>
          </p:cNvSpPr>
          <p:nvPr>
            <p:ph idx="1"/>
          </p:nvPr>
        </p:nvSpPr>
        <p:spPr>
          <a:xfrm>
            <a:off x="1097279" y="1781861"/>
            <a:ext cx="10058400" cy="1951940"/>
          </a:xfrm>
        </p:spPr>
        <p:txBody>
          <a:bodyPr>
            <a:normAutofit/>
          </a:bodyPr>
          <a:lstStyle/>
          <a:p>
            <a:endParaRPr lang="es-ES" dirty="0"/>
          </a:p>
          <a:p>
            <a:r>
              <a:rPr lang="es-ES" dirty="0"/>
              <a:t>Se utiliza este tipo de relación para </a:t>
            </a:r>
            <a:r>
              <a:rPr lang="es-ES" b="1" dirty="0"/>
              <a:t>representar que una clase requiere de otra para ofrecer sus funcionalidades</a:t>
            </a:r>
            <a:r>
              <a:rPr lang="es-ES" dirty="0"/>
              <a:t>. Es muy sencilla y se representa con una flecha discontinua que va desde la clase que necesita la utilidad de la otra flecha hasta esta misma.</a:t>
            </a:r>
          </a:p>
          <a:p>
            <a:pPr marL="0" indent="0">
              <a:buNone/>
            </a:pPr>
            <a:endParaRPr lang="es-AR" dirty="0"/>
          </a:p>
        </p:txBody>
      </p:sp>
      <p:pic>
        <p:nvPicPr>
          <p:cNvPr id="4" name="Imagen 3">
            <a:extLst>
              <a:ext uri="{FF2B5EF4-FFF2-40B4-BE49-F238E27FC236}">
                <a16:creationId xmlns:a16="http://schemas.microsoft.com/office/drawing/2014/main" id="{3E830F3C-874D-838B-512E-9DAB4A7144E0}"/>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99D142B1-D99B-A657-4B44-B8334FEFD13C}"/>
              </a:ext>
            </a:extLst>
          </p:cNvPr>
          <p:cNvSpPr>
            <a:spLocks noGrp="1"/>
          </p:cNvSpPr>
          <p:nvPr>
            <p:ph type="sldNum" sz="quarter" idx="12"/>
          </p:nvPr>
        </p:nvSpPr>
        <p:spPr/>
        <p:txBody>
          <a:bodyPr/>
          <a:lstStyle/>
          <a:p>
            <a:fld id="{6C8ECD1B-3F01-46F8-A46F-31A31EFC5ABF}" type="slidenum">
              <a:rPr lang="es-AR" smtClean="0"/>
              <a:t>8</a:t>
            </a:fld>
            <a:endParaRPr lang="es-AR"/>
          </a:p>
        </p:txBody>
      </p:sp>
      <p:pic>
        <p:nvPicPr>
          <p:cNvPr id="10242" name="Picture 2" descr="Ejemplo de dependencia">
            <a:extLst>
              <a:ext uri="{FF2B5EF4-FFF2-40B4-BE49-F238E27FC236}">
                <a16:creationId xmlns:a16="http://schemas.microsoft.com/office/drawing/2014/main" id="{3DCA6E06-26C6-D7D6-6FF8-61AF806F55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57658" y="3991892"/>
            <a:ext cx="4476683" cy="16088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05485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63D31-605F-B685-41B9-D793F4531F7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6A5CCEB-6AD5-804D-BD50-AFCCBFF562DE}"/>
              </a:ext>
            </a:extLst>
          </p:cNvPr>
          <p:cNvSpPr>
            <a:spLocks noGrp="1"/>
          </p:cNvSpPr>
          <p:nvPr>
            <p:ph type="title"/>
          </p:nvPr>
        </p:nvSpPr>
        <p:spPr/>
        <p:txBody>
          <a:bodyPr/>
          <a:lstStyle/>
          <a:p>
            <a:r>
              <a:rPr lang="es-AR" dirty="0"/>
              <a:t>Diagramas Clases: Herencia </a:t>
            </a:r>
          </a:p>
        </p:txBody>
      </p:sp>
      <p:sp>
        <p:nvSpPr>
          <p:cNvPr id="3" name="Marcador de contenido 2">
            <a:extLst>
              <a:ext uri="{FF2B5EF4-FFF2-40B4-BE49-F238E27FC236}">
                <a16:creationId xmlns:a16="http://schemas.microsoft.com/office/drawing/2014/main" id="{0F6DF5D8-A4B9-2031-7F6E-844A6E318FD0}"/>
              </a:ext>
            </a:extLst>
          </p:cNvPr>
          <p:cNvSpPr>
            <a:spLocks noGrp="1"/>
          </p:cNvSpPr>
          <p:nvPr>
            <p:ph idx="1"/>
          </p:nvPr>
        </p:nvSpPr>
        <p:spPr>
          <a:xfrm>
            <a:off x="1097279" y="1781861"/>
            <a:ext cx="10058400" cy="1951940"/>
          </a:xfrm>
        </p:spPr>
        <p:txBody>
          <a:bodyPr>
            <a:normAutofit/>
          </a:bodyPr>
          <a:lstStyle/>
          <a:p>
            <a:pPr marL="0" indent="0">
              <a:buNone/>
            </a:pPr>
            <a:endParaRPr lang="es-ES" dirty="0"/>
          </a:p>
          <a:p>
            <a:pPr marL="0" indent="0">
              <a:buNone/>
            </a:pPr>
            <a:r>
              <a:rPr lang="es-ES" dirty="0"/>
              <a:t>Este tipo de relaciones permiten que</a:t>
            </a:r>
            <a:r>
              <a:rPr lang="es-ES" b="1" dirty="0"/>
              <a:t> una clase</a:t>
            </a:r>
            <a:r>
              <a:rPr lang="es-ES" dirty="0"/>
              <a:t> </a:t>
            </a:r>
            <a:r>
              <a:rPr lang="es-ES" b="1" dirty="0"/>
              <a:t>(clase hija o subclase) reciba los atributos y métodos de otra clase</a:t>
            </a:r>
            <a:r>
              <a:rPr lang="es-ES" dirty="0"/>
              <a:t> </a:t>
            </a:r>
            <a:r>
              <a:rPr lang="es-ES" b="1" dirty="0"/>
              <a:t>(clase padre o superclase)</a:t>
            </a:r>
            <a:r>
              <a:rPr lang="es-ES" dirty="0"/>
              <a:t>. Estos atributos y métodos recibidos se suman a los que la clase tiene por sí misma. Se utiliza en relaciones «es un».</a:t>
            </a:r>
            <a:endParaRPr lang="es-AR" dirty="0"/>
          </a:p>
        </p:txBody>
      </p:sp>
      <p:pic>
        <p:nvPicPr>
          <p:cNvPr id="4" name="Imagen 3">
            <a:extLst>
              <a:ext uri="{FF2B5EF4-FFF2-40B4-BE49-F238E27FC236}">
                <a16:creationId xmlns:a16="http://schemas.microsoft.com/office/drawing/2014/main" id="{6A2CB1AF-6882-D858-149D-875AB4694BE2}"/>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CB7E1226-5A68-8FB9-1F8F-8B094F59D4F4}"/>
              </a:ext>
            </a:extLst>
          </p:cNvPr>
          <p:cNvSpPr>
            <a:spLocks noGrp="1"/>
          </p:cNvSpPr>
          <p:nvPr>
            <p:ph type="sldNum" sz="quarter" idx="12"/>
          </p:nvPr>
        </p:nvSpPr>
        <p:spPr/>
        <p:txBody>
          <a:bodyPr/>
          <a:lstStyle/>
          <a:p>
            <a:fld id="{6C8ECD1B-3F01-46F8-A46F-31A31EFC5ABF}" type="slidenum">
              <a:rPr lang="es-AR" smtClean="0"/>
              <a:t>9</a:t>
            </a:fld>
            <a:endParaRPr lang="es-AR"/>
          </a:p>
        </p:txBody>
      </p:sp>
      <p:pic>
        <p:nvPicPr>
          <p:cNvPr id="9218" name="Picture 2" descr="Ejemplo de herencia">
            <a:extLst>
              <a:ext uri="{FF2B5EF4-FFF2-40B4-BE49-F238E27FC236}">
                <a16:creationId xmlns:a16="http://schemas.microsoft.com/office/drawing/2014/main" id="{E98265C0-88EA-8A2B-2D9D-EA68908B4D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59604" y="3429000"/>
            <a:ext cx="3333750" cy="2781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19227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5B3E9-F45B-29A6-63CD-1BAB31A016F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C9B96F9-B074-AFA2-7F11-33ED9B24599E}"/>
              </a:ext>
            </a:extLst>
          </p:cNvPr>
          <p:cNvSpPr>
            <a:spLocks noGrp="1"/>
          </p:cNvSpPr>
          <p:nvPr>
            <p:ph type="title"/>
          </p:nvPr>
        </p:nvSpPr>
        <p:spPr/>
        <p:txBody>
          <a:bodyPr/>
          <a:lstStyle/>
          <a:p>
            <a:pPr algn="ctr"/>
            <a:r>
              <a:rPr lang="es-AR" dirty="0"/>
              <a:t>Trabajo practico 1</a:t>
            </a:r>
          </a:p>
        </p:txBody>
      </p:sp>
      <p:sp>
        <p:nvSpPr>
          <p:cNvPr id="3" name="Marcador de contenido 2">
            <a:extLst>
              <a:ext uri="{FF2B5EF4-FFF2-40B4-BE49-F238E27FC236}">
                <a16:creationId xmlns:a16="http://schemas.microsoft.com/office/drawing/2014/main" id="{6684D31C-E41A-BD70-6C3A-EAC0AC5114D8}"/>
              </a:ext>
            </a:extLst>
          </p:cNvPr>
          <p:cNvSpPr>
            <a:spLocks noGrp="1"/>
          </p:cNvSpPr>
          <p:nvPr>
            <p:ph idx="1"/>
          </p:nvPr>
        </p:nvSpPr>
        <p:spPr>
          <a:xfrm>
            <a:off x="1097280" y="1845734"/>
            <a:ext cx="10058400" cy="3274907"/>
          </a:xfrm>
        </p:spPr>
        <p:txBody>
          <a:bodyPr>
            <a:normAutofit fontScale="92500" lnSpcReduction="20000"/>
          </a:bodyPr>
          <a:lstStyle/>
          <a:p>
            <a:pPr marL="0" indent="0" algn="ctr">
              <a:buNone/>
            </a:pPr>
            <a:r>
              <a:rPr lang="es-AR" dirty="0"/>
              <a:t>Resolver el trabajo practico 1</a:t>
            </a:r>
          </a:p>
          <a:p>
            <a:pPr>
              <a:buFont typeface="Arial" panose="020B0604020202020204" pitchFamily="34" charset="0"/>
              <a:buChar char="•"/>
            </a:pPr>
            <a:r>
              <a:rPr lang="es-AR" dirty="0"/>
              <a:t>Grupos de 3 o 4 personas </a:t>
            </a:r>
          </a:p>
          <a:p>
            <a:pPr marL="292608" lvl="1" indent="0">
              <a:buNone/>
            </a:pPr>
            <a:r>
              <a:rPr lang="es-AR" dirty="0"/>
              <a:t>1) Se entrega </a:t>
            </a:r>
            <a:r>
              <a:rPr lang="es-AR" b="1" dirty="0"/>
              <a:t>diagrama de clases (starUML)</a:t>
            </a:r>
            <a:r>
              <a:rPr lang="es-AR" dirty="0"/>
              <a:t>con:</a:t>
            </a:r>
          </a:p>
          <a:p>
            <a:pPr lvl="1">
              <a:buFont typeface="Arial" panose="020B0604020202020204" pitchFamily="34" charset="0"/>
              <a:buChar char="•"/>
            </a:pPr>
            <a:r>
              <a:rPr lang="es-AR" dirty="0"/>
              <a:t>Nombre de clase.</a:t>
            </a:r>
          </a:p>
          <a:p>
            <a:pPr lvl="1">
              <a:buFont typeface="Arial" panose="020B0604020202020204" pitchFamily="34" charset="0"/>
              <a:buChar char="•"/>
            </a:pPr>
            <a:r>
              <a:rPr lang="es-AR" dirty="0"/>
              <a:t>Atributos: visibilidad, nombres representativos, tipo de datos. </a:t>
            </a:r>
          </a:p>
          <a:p>
            <a:pPr lvl="1">
              <a:buFont typeface="Arial" panose="020B0604020202020204" pitchFamily="34" charset="0"/>
              <a:buChar char="•"/>
            </a:pPr>
            <a:r>
              <a:rPr lang="es-AR" dirty="0"/>
              <a:t>Métodos: visibilidad, nombres representativos , tipo de datos de retorno y de parametría.</a:t>
            </a:r>
          </a:p>
          <a:p>
            <a:pPr lvl="1">
              <a:buFont typeface="Arial" panose="020B0604020202020204" pitchFamily="34" charset="0"/>
              <a:buChar char="•"/>
            </a:pPr>
            <a:r>
              <a:rPr lang="es-AR" dirty="0"/>
              <a:t>Relaciones (</a:t>
            </a:r>
            <a:r>
              <a:rPr lang="es-ES" dirty="0"/>
              <a:t>asociación, agregación, composición, dependencia, herencia</a:t>
            </a:r>
            <a:r>
              <a:rPr lang="es-AR" dirty="0"/>
              <a:t>), cardinalidad.</a:t>
            </a:r>
          </a:p>
          <a:p>
            <a:pPr marL="292608" lvl="1" indent="0">
              <a:buNone/>
            </a:pPr>
            <a:r>
              <a:rPr lang="es-AR" dirty="0"/>
              <a:t>2) Se entrega </a:t>
            </a:r>
            <a:r>
              <a:rPr lang="es-AR" b="1" dirty="0"/>
              <a:t>Código java (que compile) </a:t>
            </a:r>
            <a:r>
              <a:rPr lang="es-AR" dirty="0"/>
              <a:t>con:</a:t>
            </a:r>
          </a:p>
          <a:p>
            <a:pPr marL="578358" lvl="1" indent="-285750">
              <a:buFont typeface="Arial" panose="020B0604020202020204" pitchFamily="34" charset="0"/>
              <a:buChar char="•"/>
            </a:pPr>
            <a:r>
              <a:rPr lang="es-AR" dirty="0"/>
              <a:t>Código fuente de las clases diseñaron en el diagrama de clases respetando todo lo diagramado.</a:t>
            </a:r>
          </a:p>
          <a:p>
            <a:pPr marL="0" indent="0">
              <a:buNone/>
            </a:pPr>
            <a:r>
              <a:rPr lang="es-AR" dirty="0"/>
              <a:t>Cada grupo debe crear una carpeta en TEAMS con el nombre de los integrantes y grupo, luego cargar los archivos adentro de la carpeta.</a:t>
            </a:r>
          </a:p>
          <a:p>
            <a:pPr marL="0" indent="0">
              <a:buNone/>
            </a:pPr>
            <a:endParaRPr lang="es-AR" dirty="0"/>
          </a:p>
          <a:p>
            <a:pPr marL="0" indent="0">
              <a:buNone/>
            </a:pPr>
            <a:endParaRPr lang="es-AR" dirty="0"/>
          </a:p>
        </p:txBody>
      </p:sp>
      <p:pic>
        <p:nvPicPr>
          <p:cNvPr id="4" name="Imagen 3">
            <a:extLst>
              <a:ext uri="{FF2B5EF4-FFF2-40B4-BE49-F238E27FC236}">
                <a16:creationId xmlns:a16="http://schemas.microsoft.com/office/drawing/2014/main" id="{28240E0C-45A2-F2FB-6AFE-82B520FB566C}"/>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254FC3F7-F31F-A90A-ECBD-BCDAB4DCC3E0}"/>
              </a:ext>
            </a:extLst>
          </p:cNvPr>
          <p:cNvSpPr>
            <a:spLocks noGrp="1"/>
          </p:cNvSpPr>
          <p:nvPr>
            <p:ph type="sldNum" sz="quarter" idx="12"/>
          </p:nvPr>
        </p:nvSpPr>
        <p:spPr/>
        <p:txBody>
          <a:bodyPr/>
          <a:lstStyle/>
          <a:p>
            <a:fld id="{6C8ECD1B-3F01-46F8-A46F-31A31EFC5ABF}" type="slidenum">
              <a:rPr lang="es-AR" smtClean="0"/>
              <a:t>10</a:t>
            </a:fld>
            <a:endParaRPr lang="es-AR"/>
          </a:p>
        </p:txBody>
      </p:sp>
    </p:spTree>
    <p:extLst>
      <p:ext uri="{BB962C8B-B14F-4D97-AF65-F5344CB8AC3E}">
        <p14:creationId xmlns:p14="http://schemas.microsoft.com/office/powerpoint/2010/main" val="31137959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FAC72-096C-F3D0-F29A-0EBFCC71274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B39456D-9880-6C0F-621D-C265683868C3}"/>
              </a:ext>
            </a:extLst>
          </p:cNvPr>
          <p:cNvSpPr>
            <a:spLocks noGrp="1"/>
          </p:cNvSpPr>
          <p:nvPr>
            <p:ph type="title"/>
          </p:nvPr>
        </p:nvSpPr>
        <p:spPr/>
        <p:txBody>
          <a:bodyPr/>
          <a:lstStyle/>
          <a:p>
            <a:r>
              <a:rPr lang="es-AR" dirty="0"/>
              <a:t>Trabajo practico 1 </a:t>
            </a:r>
          </a:p>
        </p:txBody>
      </p:sp>
      <p:sp>
        <p:nvSpPr>
          <p:cNvPr id="3" name="Marcador de contenido 2">
            <a:extLst>
              <a:ext uri="{FF2B5EF4-FFF2-40B4-BE49-F238E27FC236}">
                <a16:creationId xmlns:a16="http://schemas.microsoft.com/office/drawing/2014/main" id="{ED8970E4-795A-385E-6064-5328E5767825}"/>
              </a:ext>
            </a:extLst>
          </p:cNvPr>
          <p:cNvSpPr>
            <a:spLocks noGrp="1"/>
          </p:cNvSpPr>
          <p:nvPr>
            <p:ph idx="1"/>
          </p:nvPr>
        </p:nvSpPr>
        <p:spPr/>
        <p:txBody>
          <a:bodyPr/>
          <a:lstStyle/>
          <a:p>
            <a:pPr algn="ctr"/>
            <a:r>
              <a:rPr lang="es-AR" dirty="0"/>
              <a:t>Consigna : </a:t>
            </a:r>
            <a:endParaRPr lang="es-ES" dirty="0"/>
          </a:p>
          <a:p>
            <a:endParaRPr lang="es-ES" dirty="0"/>
          </a:p>
          <a:p>
            <a:r>
              <a:rPr lang="es-AR" dirty="0"/>
              <a:t> </a:t>
            </a:r>
          </a:p>
          <a:p>
            <a:endParaRPr lang="es-AR" dirty="0"/>
          </a:p>
          <a:p>
            <a:endParaRPr lang="es-AR" dirty="0"/>
          </a:p>
          <a:p>
            <a:endParaRPr lang="es-AR" dirty="0"/>
          </a:p>
          <a:p>
            <a:pPr marL="0" indent="0">
              <a:buNone/>
            </a:pPr>
            <a:endParaRPr lang="es-AR" dirty="0"/>
          </a:p>
          <a:p>
            <a:pPr marL="0" indent="0">
              <a:buNone/>
            </a:pPr>
            <a:endParaRPr lang="es-AR" dirty="0"/>
          </a:p>
        </p:txBody>
      </p:sp>
      <p:pic>
        <p:nvPicPr>
          <p:cNvPr id="4" name="Imagen 3">
            <a:extLst>
              <a:ext uri="{FF2B5EF4-FFF2-40B4-BE49-F238E27FC236}">
                <a16:creationId xmlns:a16="http://schemas.microsoft.com/office/drawing/2014/main" id="{4550DC74-B98B-1F78-5A20-CD02CBE1BBB8}"/>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E2D021AB-1754-4F9F-F0FB-74C7FE64ABE2}"/>
              </a:ext>
            </a:extLst>
          </p:cNvPr>
          <p:cNvSpPr>
            <a:spLocks noGrp="1"/>
          </p:cNvSpPr>
          <p:nvPr>
            <p:ph type="sldNum" sz="quarter" idx="12"/>
          </p:nvPr>
        </p:nvSpPr>
        <p:spPr/>
        <p:txBody>
          <a:bodyPr/>
          <a:lstStyle/>
          <a:p>
            <a:fld id="{6C8ECD1B-3F01-46F8-A46F-31A31EFC5ABF}" type="slidenum">
              <a:rPr lang="es-AR" smtClean="0"/>
              <a:t>11</a:t>
            </a:fld>
            <a:endParaRPr lang="es-AR"/>
          </a:p>
        </p:txBody>
      </p:sp>
      <p:pic>
        <p:nvPicPr>
          <p:cNvPr id="8" name="Imagen 7" descr="Texto, Carta&#10;&#10;El contenido generado por IA puede ser incorrecto.">
            <a:extLst>
              <a:ext uri="{FF2B5EF4-FFF2-40B4-BE49-F238E27FC236}">
                <a16:creationId xmlns:a16="http://schemas.microsoft.com/office/drawing/2014/main" id="{8E55370A-B691-49B8-509D-8ACE50DA93F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83130" y="2328051"/>
            <a:ext cx="7886700" cy="3771900"/>
          </a:xfrm>
          <a:prstGeom prst="rect">
            <a:avLst/>
          </a:prstGeom>
        </p:spPr>
      </p:pic>
    </p:spTree>
    <p:extLst>
      <p:ext uri="{BB962C8B-B14F-4D97-AF65-F5344CB8AC3E}">
        <p14:creationId xmlns:p14="http://schemas.microsoft.com/office/powerpoint/2010/main" val="14291345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960A7-9D2E-79B5-5192-2A74326F29E9}"/>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9D09A7FD-C979-72F6-7886-F24DC5388F3A}"/>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CDF91392-0E58-F366-6084-6C94527A076A}"/>
              </a:ext>
            </a:extLst>
          </p:cNvPr>
          <p:cNvSpPr>
            <a:spLocks noGrp="1"/>
          </p:cNvSpPr>
          <p:nvPr>
            <p:ph type="sldNum" sz="quarter" idx="12"/>
          </p:nvPr>
        </p:nvSpPr>
        <p:spPr/>
        <p:txBody>
          <a:bodyPr/>
          <a:lstStyle/>
          <a:p>
            <a:fld id="{6C8ECD1B-3F01-46F8-A46F-31A31EFC5ABF}" type="slidenum">
              <a:rPr lang="es-AR" smtClean="0"/>
              <a:t>12</a:t>
            </a:fld>
            <a:endParaRPr lang="es-AR"/>
          </a:p>
        </p:txBody>
      </p:sp>
      <p:sp>
        <p:nvSpPr>
          <p:cNvPr id="6" name="Título 1">
            <a:extLst>
              <a:ext uri="{FF2B5EF4-FFF2-40B4-BE49-F238E27FC236}">
                <a16:creationId xmlns:a16="http://schemas.microsoft.com/office/drawing/2014/main" id="{CCCBDAE3-910A-C0E2-00DD-5C1FE57914EB}"/>
              </a:ext>
            </a:extLst>
          </p:cNvPr>
          <p:cNvSpPr txBox="1">
            <a:spLocks/>
          </p:cNvSpPr>
          <p:nvPr/>
        </p:nvSpPr>
        <p:spPr>
          <a:xfrm>
            <a:off x="1249680" y="439003"/>
            <a:ext cx="10058400" cy="1450757"/>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endParaRPr lang="es-AR" dirty="0"/>
          </a:p>
        </p:txBody>
      </p:sp>
      <p:sp>
        <p:nvSpPr>
          <p:cNvPr id="12" name="Marcador de contenido 2">
            <a:extLst>
              <a:ext uri="{FF2B5EF4-FFF2-40B4-BE49-F238E27FC236}">
                <a16:creationId xmlns:a16="http://schemas.microsoft.com/office/drawing/2014/main" id="{D409A440-F7F0-D09E-B8BB-51B304FBA7D6}"/>
              </a:ext>
            </a:extLst>
          </p:cNvPr>
          <p:cNvSpPr txBox="1">
            <a:spLocks/>
          </p:cNvSpPr>
          <p:nvPr/>
        </p:nvSpPr>
        <p:spPr>
          <a:xfrm>
            <a:off x="1097280" y="1889760"/>
            <a:ext cx="10058400" cy="402336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endParaRPr lang="es-AR" dirty="0"/>
          </a:p>
          <a:p>
            <a:endParaRPr lang="es-AR" dirty="0"/>
          </a:p>
          <a:p>
            <a:pPr algn="ctr"/>
            <a:endParaRPr lang="es-AR" dirty="0"/>
          </a:p>
          <a:p>
            <a:pPr algn="ctr"/>
            <a:r>
              <a:rPr lang="es-ES" sz="4400" dirty="0"/>
              <a:t>UML: Diagramas estáticos y dinámicos.</a:t>
            </a:r>
            <a:endParaRPr lang="es-AR" dirty="0"/>
          </a:p>
          <a:p>
            <a:pPr marL="0" indent="0">
              <a:buFont typeface="Calibri" panose="020F0502020204030204" pitchFamily="34" charset="0"/>
              <a:buNone/>
            </a:pPr>
            <a:endParaRPr lang="es-AR" dirty="0"/>
          </a:p>
        </p:txBody>
      </p:sp>
    </p:spTree>
    <p:extLst>
      <p:ext uri="{BB962C8B-B14F-4D97-AF65-F5344CB8AC3E}">
        <p14:creationId xmlns:p14="http://schemas.microsoft.com/office/powerpoint/2010/main" val="18359078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FABD1-043E-8F8C-1689-ED95DBB5013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3F2B33F-1B66-30D6-FB03-617A309C11EC}"/>
              </a:ext>
            </a:extLst>
          </p:cNvPr>
          <p:cNvSpPr>
            <a:spLocks noGrp="1"/>
          </p:cNvSpPr>
          <p:nvPr>
            <p:ph type="title"/>
          </p:nvPr>
        </p:nvSpPr>
        <p:spPr/>
        <p:txBody>
          <a:bodyPr/>
          <a:lstStyle/>
          <a:p>
            <a:r>
              <a:rPr lang="es-AR" dirty="0"/>
              <a:t>Diagramas UML </a:t>
            </a:r>
          </a:p>
        </p:txBody>
      </p:sp>
      <p:pic>
        <p:nvPicPr>
          <p:cNvPr id="4" name="Imagen 3">
            <a:extLst>
              <a:ext uri="{FF2B5EF4-FFF2-40B4-BE49-F238E27FC236}">
                <a16:creationId xmlns:a16="http://schemas.microsoft.com/office/drawing/2014/main" id="{00EFE8FF-1638-5EC6-8295-217612E01FE5}"/>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4CD6C133-DC78-F73C-36F7-745E2BE31227}"/>
              </a:ext>
            </a:extLst>
          </p:cNvPr>
          <p:cNvSpPr>
            <a:spLocks noGrp="1"/>
          </p:cNvSpPr>
          <p:nvPr>
            <p:ph type="sldNum" sz="quarter" idx="12"/>
          </p:nvPr>
        </p:nvSpPr>
        <p:spPr/>
        <p:txBody>
          <a:bodyPr/>
          <a:lstStyle/>
          <a:p>
            <a:fld id="{6C8ECD1B-3F01-46F8-A46F-31A31EFC5ABF}" type="slidenum">
              <a:rPr lang="es-AR" smtClean="0"/>
              <a:t>13</a:t>
            </a:fld>
            <a:endParaRPr lang="es-AR"/>
          </a:p>
        </p:txBody>
      </p:sp>
      <p:pic>
        <p:nvPicPr>
          <p:cNvPr id="6" name="Picture 4" descr="Tipos de Diagramas en UML | Tecnología y Synergix">
            <a:extLst>
              <a:ext uri="{FF2B5EF4-FFF2-40B4-BE49-F238E27FC236}">
                <a16:creationId xmlns:a16="http://schemas.microsoft.com/office/drawing/2014/main" id="{839D4143-EECE-7F6C-3829-60276BA348A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14930" y="1959719"/>
            <a:ext cx="7023100" cy="42777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76804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90579-C921-1995-4744-F4D4B51FDDCD}"/>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7C26988A-3F43-4E57-31F1-2A8A322B3BBA}"/>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4CFD4F4E-F668-636F-30DC-793643EAFC67}"/>
              </a:ext>
            </a:extLst>
          </p:cNvPr>
          <p:cNvSpPr>
            <a:spLocks noGrp="1"/>
          </p:cNvSpPr>
          <p:nvPr>
            <p:ph type="sldNum" sz="quarter" idx="12"/>
          </p:nvPr>
        </p:nvSpPr>
        <p:spPr/>
        <p:txBody>
          <a:bodyPr/>
          <a:lstStyle/>
          <a:p>
            <a:fld id="{6C8ECD1B-3F01-46F8-A46F-31A31EFC5ABF}" type="slidenum">
              <a:rPr lang="es-AR" smtClean="0"/>
              <a:t>14</a:t>
            </a:fld>
            <a:endParaRPr lang="es-AR"/>
          </a:p>
        </p:txBody>
      </p:sp>
      <p:sp>
        <p:nvSpPr>
          <p:cNvPr id="6" name="Título 1">
            <a:extLst>
              <a:ext uri="{FF2B5EF4-FFF2-40B4-BE49-F238E27FC236}">
                <a16:creationId xmlns:a16="http://schemas.microsoft.com/office/drawing/2014/main" id="{F6D58B28-3A7C-F818-C4DD-C7793902BE7B}"/>
              </a:ext>
            </a:extLst>
          </p:cNvPr>
          <p:cNvSpPr txBox="1">
            <a:spLocks/>
          </p:cNvSpPr>
          <p:nvPr/>
        </p:nvSpPr>
        <p:spPr>
          <a:xfrm>
            <a:off x="1249680" y="439003"/>
            <a:ext cx="10058400" cy="1450757"/>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endParaRPr lang="es-AR" dirty="0"/>
          </a:p>
        </p:txBody>
      </p:sp>
      <p:sp>
        <p:nvSpPr>
          <p:cNvPr id="12" name="Marcador de contenido 2">
            <a:extLst>
              <a:ext uri="{FF2B5EF4-FFF2-40B4-BE49-F238E27FC236}">
                <a16:creationId xmlns:a16="http://schemas.microsoft.com/office/drawing/2014/main" id="{D6F3CFE4-2613-36BC-3C7D-CE948B401435}"/>
              </a:ext>
            </a:extLst>
          </p:cNvPr>
          <p:cNvSpPr txBox="1">
            <a:spLocks/>
          </p:cNvSpPr>
          <p:nvPr/>
        </p:nvSpPr>
        <p:spPr>
          <a:xfrm>
            <a:off x="1097280" y="1889760"/>
            <a:ext cx="10058400" cy="402336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endParaRPr lang="es-AR" dirty="0"/>
          </a:p>
          <a:p>
            <a:endParaRPr lang="es-AR" dirty="0"/>
          </a:p>
          <a:p>
            <a:pPr algn="ctr"/>
            <a:endParaRPr lang="es-AR" dirty="0"/>
          </a:p>
          <a:p>
            <a:pPr algn="ctr"/>
            <a:r>
              <a:rPr lang="es-ES" sz="4400" dirty="0"/>
              <a:t>Diagramas de Secuencia.</a:t>
            </a:r>
            <a:endParaRPr lang="es-AR" dirty="0"/>
          </a:p>
          <a:p>
            <a:pPr marL="0" indent="0">
              <a:buFont typeface="Calibri" panose="020F0502020204030204" pitchFamily="34" charset="0"/>
              <a:buNone/>
            </a:pPr>
            <a:endParaRPr lang="es-AR" dirty="0"/>
          </a:p>
        </p:txBody>
      </p:sp>
    </p:spTree>
    <p:extLst>
      <p:ext uri="{BB962C8B-B14F-4D97-AF65-F5344CB8AC3E}">
        <p14:creationId xmlns:p14="http://schemas.microsoft.com/office/powerpoint/2010/main" val="8033552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0CF29-FC6C-25B7-6404-38D10D02C9D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5B8F24F-DE80-7312-DD1A-A10E611D6C76}"/>
              </a:ext>
            </a:extLst>
          </p:cNvPr>
          <p:cNvSpPr>
            <a:spLocks noGrp="1"/>
          </p:cNvSpPr>
          <p:nvPr>
            <p:ph type="title"/>
          </p:nvPr>
        </p:nvSpPr>
        <p:spPr/>
        <p:txBody>
          <a:bodyPr/>
          <a:lstStyle/>
          <a:p>
            <a:r>
              <a:rPr lang="es-AR" dirty="0"/>
              <a:t>Diagrama de Secuencia</a:t>
            </a:r>
          </a:p>
        </p:txBody>
      </p:sp>
      <p:pic>
        <p:nvPicPr>
          <p:cNvPr id="4" name="Imagen 3">
            <a:extLst>
              <a:ext uri="{FF2B5EF4-FFF2-40B4-BE49-F238E27FC236}">
                <a16:creationId xmlns:a16="http://schemas.microsoft.com/office/drawing/2014/main" id="{6A5790E0-F3CB-674A-D857-C1AB4B7E1F57}"/>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18F68591-01BC-B487-3DE3-E89E95730C17}"/>
              </a:ext>
            </a:extLst>
          </p:cNvPr>
          <p:cNvSpPr>
            <a:spLocks noGrp="1"/>
          </p:cNvSpPr>
          <p:nvPr>
            <p:ph type="sldNum" sz="quarter" idx="12"/>
          </p:nvPr>
        </p:nvSpPr>
        <p:spPr/>
        <p:txBody>
          <a:bodyPr/>
          <a:lstStyle/>
          <a:p>
            <a:fld id="{6C8ECD1B-3F01-46F8-A46F-31A31EFC5ABF}" type="slidenum">
              <a:rPr lang="es-AR" smtClean="0"/>
              <a:t>15</a:t>
            </a:fld>
            <a:endParaRPr lang="es-AR"/>
          </a:p>
        </p:txBody>
      </p:sp>
      <p:sp>
        <p:nvSpPr>
          <p:cNvPr id="7" name="Marcador de contenido 2">
            <a:extLst>
              <a:ext uri="{FF2B5EF4-FFF2-40B4-BE49-F238E27FC236}">
                <a16:creationId xmlns:a16="http://schemas.microsoft.com/office/drawing/2014/main" id="{6A677C75-A91C-C049-0088-DAAC1B35EDE1}"/>
              </a:ext>
            </a:extLst>
          </p:cNvPr>
          <p:cNvSpPr>
            <a:spLocks noGrp="1"/>
          </p:cNvSpPr>
          <p:nvPr>
            <p:ph idx="1"/>
          </p:nvPr>
        </p:nvSpPr>
        <p:spPr>
          <a:xfrm>
            <a:off x="1154083" y="2746882"/>
            <a:ext cx="10058400" cy="2209431"/>
          </a:xfrm>
        </p:spPr>
        <p:txBody>
          <a:bodyPr>
            <a:normAutofit fontScale="77500" lnSpcReduction="20000"/>
          </a:bodyPr>
          <a:lstStyle/>
          <a:p>
            <a:pPr algn="just" fontAlgn="ctr"/>
            <a:r>
              <a:rPr lang="es-ES" sz="3500" dirty="0"/>
              <a:t>Un diagrama de secuencia es una representación gráfica dentro del Lenguaje Unificado de Modelado (UML) que muestra las interacciones entre objetos en un sistema, ordenándolas cronológicamente según el tiempo. Este diagrama visualiza cómo los objetos se comunican entre sí mediante mensajes para completar una tarea o caso de uso específico, utilizando líneas de vida verticales para cada objeto y flechas horizontales para los mensajes. </a:t>
            </a:r>
          </a:p>
          <a:p>
            <a:endParaRPr lang="es-AR" dirty="0"/>
          </a:p>
        </p:txBody>
      </p:sp>
    </p:spTree>
    <p:extLst>
      <p:ext uri="{BB962C8B-B14F-4D97-AF65-F5344CB8AC3E}">
        <p14:creationId xmlns:p14="http://schemas.microsoft.com/office/powerpoint/2010/main" val="37075656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ABB09-D6C7-DA43-7920-48B80F8685A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5FAFBCC-BFD4-5935-D425-C78AF97D5E1C}"/>
              </a:ext>
            </a:extLst>
          </p:cNvPr>
          <p:cNvSpPr>
            <a:spLocks noGrp="1"/>
          </p:cNvSpPr>
          <p:nvPr>
            <p:ph type="title"/>
          </p:nvPr>
        </p:nvSpPr>
        <p:spPr/>
        <p:txBody>
          <a:bodyPr/>
          <a:lstStyle/>
          <a:p>
            <a:r>
              <a:rPr lang="es-AR" dirty="0"/>
              <a:t>Diagrama de Secuencia</a:t>
            </a:r>
          </a:p>
        </p:txBody>
      </p:sp>
      <p:pic>
        <p:nvPicPr>
          <p:cNvPr id="4" name="Imagen 3">
            <a:extLst>
              <a:ext uri="{FF2B5EF4-FFF2-40B4-BE49-F238E27FC236}">
                <a16:creationId xmlns:a16="http://schemas.microsoft.com/office/drawing/2014/main" id="{062ADAE6-7BE1-A31B-1FA4-F2D698C98614}"/>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678CF4C1-BE3D-C837-FF66-9CFC30F5C388}"/>
              </a:ext>
            </a:extLst>
          </p:cNvPr>
          <p:cNvSpPr>
            <a:spLocks noGrp="1"/>
          </p:cNvSpPr>
          <p:nvPr>
            <p:ph type="sldNum" sz="quarter" idx="12"/>
          </p:nvPr>
        </p:nvSpPr>
        <p:spPr/>
        <p:txBody>
          <a:bodyPr/>
          <a:lstStyle/>
          <a:p>
            <a:fld id="{6C8ECD1B-3F01-46F8-A46F-31A31EFC5ABF}" type="slidenum">
              <a:rPr lang="es-AR" smtClean="0"/>
              <a:t>16</a:t>
            </a:fld>
            <a:endParaRPr lang="es-AR"/>
          </a:p>
        </p:txBody>
      </p:sp>
      <p:pic>
        <p:nvPicPr>
          <p:cNvPr id="11268" name="Picture 4" descr="GENERACIÓN DEL DIAGRAMA DE SECUENCIAS DE UML 2.1.1 DESDE ESQUEMAS  PRECONCEPTUALES">
            <a:extLst>
              <a:ext uri="{FF2B5EF4-FFF2-40B4-BE49-F238E27FC236}">
                <a16:creationId xmlns:a16="http://schemas.microsoft.com/office/drawing/2014/main" id="{A35D1257-E60B-216A-806E-95DBEA5D57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7280" y="2009775"/>
            <a:ext cx="4876800" cy="3505200"/>
          </a:xfrm>
          <a:prstGeom prst="rect">
            <a:avLst/>
          </a:prstGeom>
          <a:noFill/>
          <a:extLst>
            <a:ext uri="{909E8E84-426E-40DD-AFC4-6F175D3DCCD1}">
              <a14:hiddenFill xmlns:a14="http://schemas.microsoft.com/office/drawing/2010/main">
                <a:solidFill>
                  <a:srgbClr val="FFFFFF"/>
                </a:solidFill>
              </a14:hiddenFill>
            </a:ext>
          </a:extLst>
        </p:spPr>
      </p:pic>
      <p:pic>
        <p:nvPicPr>
          <p:cNvPr id="12290" name="Picture 2" descr="Diagrama de Secuencia del Sistema (DSS)">
            <a:extLst>
              <a:ext uri="{FF2B5EF4-FFF2-40B4-BE49-F238E27FC236}">
                <a16:creationId xmlns:a16="http://schemas.microsoft.com/office/drawing/2014/main" id="{15E9CDCC-8033-5EDE-6061-48949A2FF59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24600" y="2100262"/>
            <a:ext cx="4762500" cy="3324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14286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EB0C8-BDFB-8E51-55B7-33D2D8621FA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74D226B-EC66-228C-8964-71C070271FD5}"/>
              </a:ext>
            </a:extLst>
          </p:cNvPr>
          <p:cNvSpPr>
            <a:spLocks noGrp="1"/>
          </p:cNvSpPr>
          <p:nvPr>
            <p:ph type="title"/>
          </p:nvPr>
        </p:nvSpPr>
        <p:spPr/>
        <p:txBody>
          <a:bodyPr/>
          <a:lstStyle/>
          <a:p>
            <a:r>
              <a:rPr lang="es-AR" dirty="0"/>
              <a:t>Diagrama de Secuencia: elementos</a:t>
            </a:r>
          </a:p>
        </p:txBody>
      </p:sp>
      <p:pic>
        <p:nvPicPr>
          <p:cNvPr id="4" name="Imagen 3">
            <a:extLst>
              <a:ext uri="{FF2B5EF4-FFF2-40B4-BE49-F238E27FC236}">
                <a16:creationId xmlns:a16="http://schemas.microsoft.com/office/drawing/2014/main" id="{F87E126F-13B9-A38C-62EA-F0F7CF429872}"/>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E77C69AC-36F7-8889-5DCD-009F5AFCD52A}"/>
              </a:ext>
            </a:extLst>
          </p:cNvPr>
          <p:cNvSpPr>
            <a:spLocks noGrp="1"/>
          </p:cNvSpPr>
          <p:nvPr>
            <p:ph type="sldNum" sz="quarter" idx="12"/>
          </p:nvPr>
        </p:nvSpPr>
        <p:spPr/>
        <p:txBody>
          <a:bodyPr/>
          <a:lstStyle/>
          <a:p>
            <a:fld id="{6C8ECD1B-3F01-46F8-A46F-31A31EFC5ABF}" type="slidenum">
              <a:rPr lang="es-AR" smtClean="0"/>
              <a:t>17</a:t>
            </a:fld>
            <a:endParaRPr lang="es-AR"/>
          </a:p>
        </p:txBody>
      </p:sp>
      <p:sp>
        <p:nvSpPr>
          <p:cNvPr id="7" name="Marcador de contenido 2">
            <a:extLst>
              <a:ext uri="{FF2B5EF4-FFF2-40B4-BE49-F238E27FC236}">
                <a16:creationId xmlns:a16="http://schemas.microsoft.com/office/drawing/2014/main" id="{31E8D989-AFE8-8395-85FE-E10686D3D1F4}"/>
              </a:ext>
            </a:extLst>
          </p:cNvPr>
          <p:cNvSpPr>
            <a:spLocks noGrp="1"/>
          </p:cNvSpPr>
          <p:nvPr>
            <p:ph idx="1"/>
          </p:nvPr>
        </p:nvSpPr>
        <p:spPr>
          <a:xfrm>
            <a:off x="1097280" y="1845734"/>
            <a:ext cx="10058400" cy="4614051"/>
          </a:xfrm>
        </p:spPr>
        <p:txBody>
          <a:bodyPr>
            <a:normAutofit fontScale="77500" lnSpcReduction="20000"/>
          </a:bodyPr>
          <a:lstStyle/>
          <a:p>
            <a:pPr algn="just"/>
            <a:r>
              <a:rPr lang="es-ES" sz="2400" b="1" u="sng" dirty="0"/>
              <a:t>Elementos:</a:t>
            </a:r>
          </a:p>
          <a:p>
            <a:pPr algn="just"/>
            <a:br>
              <a:rPr lang="es-ES" b="1" dirty="0"/>
            </a:br>
            <a:r>
              <a:rPr lang="es-ES" b="1" dirty="0"/>
              <a:t>Objetos/Actores: </a:t>
            </a:r>
            <a:r>
              <a:rPr lang="es-ES" dirty="0"/>
              <a:t>Representados en la parte superior del diagrama, pueden ser objetos del sistema o entidades externas (actores) que inician una interacción. </a:t>
            </a:r>
          </a:p>
          <a:p>
            <a:pPr algn="just"/>
            <a:r>
              <a:rPr lang="es-ES" b="1" dirty="0"/>
              <a:t>Líneas de vida: </a:t>
            </a:r>
            <a:r>
              <a:rPr lang="es-ES" dirty="0"/>
              <a:t>Son líneas de puntos verticales que se extienden hacia abajo desde cada objeto o actor. Indican el tiempo durante el cual un objeto está activo en la interacción. </a:t>
            </a:r>
          </a:p>
          <a:p>
            <a:pPr algn="just"/>
            <a:r>
              <a:rPr lang="es-ES" b="1" dirty="0"/>
              <a:t>Mensajes: </a:t>
            </a:r>
            <a:r>
              <a:rPr lang="es-ES" dirty="0"/>
              <a:t>Flechas horizontales que conectan las líneas de vida. Muestran la comunicación o el intercambio de datos entre los objetos, indicando el orden temporal de las interacciones. </a:t>
            </a:r>
          </a:p>
          <a:p>
            <a:pPr algn="just"/>
            <a:r>
              <a:rPr lang="es-ES" b="1" dirty="0"/>
              <a:t>Activaciones/Barras de vida: </a:t>
            </a:r>
            <a:r>
              <a:rPr lang="es-ES" dirty="0"/>
              <a:t>Rectángulos verticales sobre las líneas de vida que indican el período en el que un objeto está ejecutando una acción o procesando un mensaje </a:t>
            </a:r>
          </a:p>
          <a:p>
            <a:pPr algn="just"/>
            <a:r>
              <a:rPr lang="es-ES" b="1" u="sng" dirty="0"/>
              <a:t>¿Para qué se utiliza?</a:t>
            </a:r>
          </a:p>
          <a:p>
            <a:pPr algn="just"/>
            <a:r>
              <a:rPr lang="es-ES" b="1" dirty="0"/>
              <a:t>Diseño y documentación: </a:t>
            </a:r>
            <a:r>
              <a:rPr lang="es-ES" dirty="0"/>
              <a:t>Sirve para diseñar, documentar y validar la arquitectura, interfaz y lógica de un sistema. </a:t>
            </a:r>
          </a:p>
          <a:p>
            <a:pPr algn="just"/>
            <a:r>
              <a:rPr lang="es-ES" b="1" dirty="0"/>
              <a:t>Análisis de sistemas: </a:t>
            </a:r>
            <a:r>
              <a:rPr lang="es-ES" dirty="0"/>
              <a:t>Ayuda a los equipos a analizar sistemas existentes o a diseñar futuros sistemas. </a:t>
            </a:r>
          </a:p>
          <a:p>
            <a:pPr algn="just"/>
            <a:r>
              <a:rPr lang="es-ES" b="1" dirty="0"/>
              <a:t>Entendimiento del flujo: </a:t>
            </a:r>
            <a:r>
              <a:rPr lang="es-ES" dirty="0"/>
              <a:t>Ofrece una perspectiva cronológica del comportamiento dinámico de un sistema y el flujo de información. </a:t>
            </a:r>
          </a:p>
          <a:p>
            <a:pPr algn="just"/>
            <a:r>
              <a:rPr lang="es-ES" b="1" dirty="0"/>
              <a:t>Identificación de problemas: </a:t>
            </a:r>
            <a:r>
              <a:rPr lang="es-ES" dirty="0"/>
              <a:t>Facilita la identificación de cuellos de botella y puntos de decisión en un proceso</a:t>
            </a:r>
            <a:r>
              <a:rPr lang="es-AR" dirty="0"/>
              <a:t>.</a:t>
            </a:r>
          </a:p>
        </p:txBody>
      </p:sp>
    </p:spTree>
    <p:extLst>
      <p:ext uri="{BB962C8B-B14F-4D97-AF65-F5344CB8AC3E}">
        <p14:creationId xmlns:p14="http://schemas.microsoft.com/office/powerpoint/2010/main" val="298196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E1251-B8AF-D718-B140-3388FA3FA79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E383B4F-BC26-4CC0-8B91-87997AC89273}"/>
              </a:ext>
            </a:extLst>
          </p:cNvPr>
          <p:cNvSpPr>
            <a:spLocks noGrp="1"/>
          </p:cNvSpPr>
          <p:nvPr>
            <p:ph type="title"/>
          </p:nvPr>
        </p:nvSpPr>
        <p:spPr/>
        <p:txBody>
          <a:bodyPr/>
          <a:lstStyle/>
          <a:p>
            <a:r>
              <a:rPr lang="es-AR" dirty="0"/>
              <a:t>Diagrama de Secuencia</a:t>
            </a:r>
          </a:p>
        </p:txBody>
      </p:sp>
      <p:pic>
        <p:nvPicPr>
          <p:cNvPr id="4" name="Imagen 3">
            <a:extLst>
              <a:ext uri="{FF2B5EF4-FFF2-40B4-BE49-F238E27FC236}">
                <a16:creationId xmlns:a16="http://schemas.microsoft.com/office/drawing/2014/main" id="{9D5D7772-0038-A4C2-DA22-CE4F6856F35F}"/>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61F55C0C-0BCE-72C9-837F-6A0A1F2C7BEA}"/>
              </a:ext>
            </a:extLst>
          </p:cNvPr>
          <p:cNvSpPr>
            <a:spLocks noGrp="1"/>
          </p:cNvSpPr>
          <p:nvPr>
            <p:ph type="sldNum" sz="quarter" idx="12"/>
          </p:nvPr>
        </p:nvSpPr>
        <p:spPr/>
        <p:txBody>
          <a:bodyPr/>
          <a:lstStyle/>
          <a:p>
            <a:fld id="{6C8ECD1B-3F01-46F8-A46F-31A31EFC5ABF}" type="slidenum">
              <a:rPr lang="es-AR" smtClean="0"/>
              <a:t>18</a:t>
            </a:fld>
            <a:endParaRPr lang="es-AR"/>
          </a:p>
        </p:txBody>
      </p:sp>
      <p:pic>
        <p:nvPicPr>
          <p:cNvPr id="6146" name="Picture 2" descr="3.1.2.- Ejercicio resuelto 1 (&quot;Generar pedido&quot;)(Elaboración de un diagrama  de secuencias).">
            <a:extLst>
              <a:ext uri="{FF2B5EF4-FFF2-40B4-BE49-F238E27FC236}">
                <a16:creationId xmlns:a16="http://schemas.microsoft.com/office/drawing/2014/main" id="{8E282E9A-CD9A-9D01-FD00-9117A738DE2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0400" y="1819670"/>
            <a:ext cx="5981700" cy="4484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0881229"/>
      </p:ext>
    </p:extLst>
  </p:cSld>
  <p:clrMapOvr>
    <a:masterClrMapping/>
  </p:clrMapOvr>
</p:sld>
</file>

<file path=ppt/theme/theme1.xml><?xml version="1.0" encoding="utf-8"?>
<a:theme xmlns:a="http://schemas.openxmlformats.org/drawingml/2006/main" name="Retrospección">
  <a:themeElements>
    <a:clrScheme name="Azul cálido">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Retrospecció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ción">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10429</TotalTime>
  <Words>1030</Words>
  <Application>Microsoft Office PowerPoint</Application>
  <PresentationFormat>Panorámica</PresentationFormat>
  <Paragraphs>130</Paragraphs>
  <Slides>18</Slides>
  <Notes>17</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18</vt:i4>
      </vt:variant>
    </vt:vector>
  </HeadingPairs>
  <TitlesOfParts>
    <vt:vector size="22" baseType="lpstr">
      <vt:lpstr>Arial</vt:lpstr>
      <vt:lpstr>Calibri</vt:lpstr>
      <vt:lpstr>Calibri Light</vt:lpstr>
      <vt:lpstr>Retrospección</vt:lpstr>
      <vt:lpstr> PARADIGMA ORIENTADO A OBJETOS  Clase 4</vt:lpstr>
      <vt:lpstr>Presentación de PowerPoint</vt:lpstr>
      <vt:lpstr>Diagramas Clases </vt:lpstr>
      <vt:lpstr>Diagramas Clases </vt:lpstr>
      <vt:lpstr>Diagramas Clases: Asociación </vt:lpstr>
      <vt:lpstr>Diagramas Clases: Agregación </vt:lpstr>
      <vt:lpstr>Diagramas Clases: Composición </vt:lpstr>
      <vt:lpstr>Diagramas Clases: Dependencia </vt:lpstr>
      <vt:lpstr>Diagramas Clases: Herencia </vt:lpstr>
      <vt:lpstr>Trabajo practico 1</vt:lpstr>
      <vt:lpstr>Trabajo practico 1 </vt:lpstr>
      <vt:lpstr>Presentación de PowerPoint</vt:lpstr>
      <vt:lpstr>Diagramas UML </vt:lpstr>
      <vt:lpstr>Presentación de PowerPoint</vt:lpstr>
      <vt:lpstr>Diagrama de Secuencia</vt:lpstr>
      <vt:lpstr>Diagrama de Secuencia</vt:lpstr>
      <vt:lpstr>Diagrama de Secuencia: elementos</vt:lpstr>
      <vt:lpstr>Diagrama de Secuencia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Maximiliano</dc:creator>
  <cp:lastModifiedBy>maximiliano coedo</cp:lastModifiedBy>
  <cp:revision>48</cp:revision>
  <dcterms:created xsi:type="dcterms:W3CDTF">2025-03-04T22:20:11Z</dcterms:created>
  <dcterms:modified xsi:type="dcterms:W3CDTF">2026-08-28T19:33:28Z</dcterms:modified>
</cp:coreProperties>
</file>